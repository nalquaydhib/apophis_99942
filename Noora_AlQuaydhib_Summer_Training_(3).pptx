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9" r:id="rId3"/>
  </p:sldMasterIdLst>
  <p:notesMasterIdLst>
    <p:notesMasterId r:id="rId2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73" r:id="rId21"/>
    <p:sldId id="274" r:id="rId22"/>
  </p:sldIdLst>
  <p:sldSz cx="12192000" cy="6858000"/>
  <p:notesSz cx="6858000" cy="12192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7E8FF"/>
    <a:srgbClr val="EFFBFF"/>
    <a:srgbClr val="EDF1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3F18019F-0D7F-44A6-9491-1058076FFA4A}">
  <a:tblStyle styleId="{3F18019F-0D7F-44A6-9491-1058076FFA4A}"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79" d="100"/>
          <a:sy n="79" d="100"/>
        </p:scale>
        <p:origin x="821"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5.xml"/><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theme" Target="theme/theme1.xml"/><Relationship Id="rId3" Type="http://schemas.openxmlformats.org/officeDocument/2006/relationships/slideMaster" Target="slideMasters/slideMaster1.xml"/><Relationship Id="rId21" Type="http://schemas.openxmlformats.org/officeDocument/2006/relationships/slide" Target="slides/slide18.xml"/><Relationship Id="rId7" Type="http://schemas.openxmlformats.org/officeDocument/2006/relationships/slide" Target="slides/slide4.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3.xml"/><Relationship Id="rId20" Type="http://schemas.openxmlformats.org/officeDocument/2006/relationships/slide" Target="slides/slide17.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notesMaster" Target="notesMasters/notesMaster1.xml"/><Relationship Id="rId10" Type="http://schemas.openxmlformats.org/officeDocument/2006/relationships/slide" Target="slides/slide7.xml"/><Relationship Id="rId19" Type="http://schemas.openxmlformats.org/officeDocument/2006/relationships/slide" Target="slides/slide16.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914400"/>
            <a:ext cx="4572225" cy="4572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5791200"/>
            <a:ext cx="5486400" cy="54864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hf dt="0"/>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
        <p:cNvGrpSpPr/>
        <p:nvPr/>
      </p:nvGrpSpPr>
      <p:grpSpPr>
        <a:xfrm>
          <a:off x="0" y="0"/>
          <a:ext cx="0" cy="0"/>
          <a:chOff x="0" y="0"/>
          <a:chExt cx="0" cy="0"/>
        </a:xfrm>
      </p:grpSpPr>
      <p:sp>
        <p:nvSpPr>
          <p:cNvPr id="8" name="Google Shape;8;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 name="Google Shape;9;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0" name="Google Shape;10;p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
        <p:cNvGrpSpPr/>
        <p:nvPr/>
      </p:nvGrpSpPr>
      <p:grpSpPr>
        <a:xfrm>
          <a:off x="0" y="0"/>
          <a:ext cx="0" cy="0"/>
          <a:chOff x="0" y="0"/>
          <a:chExt cx="0" cy="0"/>
        </a:xfrm>
      </p:grpSpPr>
      <p:sp>
        <p:nvSpPr>
          <p:cNvPr id="21" name="Google Shape;21;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2" name="Google Shape;22;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3" name="Google Shape;23;p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2</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
        <p:cNvGrpSpPr/>
        <p:nvPr/>
      </p:nvGrpSpPr>
      <p:grpSpPr>
        <a:xfrm>
          <a:off x="0" y="0"/>
          <a:ext cx="0" cy="0"/>
          <a:chOff x="0" y="0"/>
          <a:chExt cx="0" cy="0"/>
        </a:xfrm>
      </p:grpSpPr>
      <p:sp>
        <p:nvSpPr>
          <p:cNvPr id="44" name="Google Shape;44;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 name="Google Shape;45;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6" name="Google Shape;46;p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3</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
        <p:cNvGrpSpPr/>
        <p:nvPr/>
      </p:nvGrpSpPr>
      <p:grpSpPr>
        <a:xfrm>
          <a:off x="0" y="0"/>
          <a:ext cx="0" cy="0"/>
          <a:chOff x="0" y="0"/>
          <a:chExt cx="0" cy="0"/>
        </a:xfrm>
      </p:grpSpPr>
      <p:sp>
        <p:nvSpPr>
          <p:cNvPr id="93" name="Google Shape;93;p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4" name="Google Shape;94;p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95" name="Google Shape;95;p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4</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9" name="Google Shape;159;p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160" name="Google Shape;160;p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5</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2"/>
        <p:cNvGrpSpPr/>
        <p:nvPr/>
      </p:nvGrpSpPr>
      <p:grpSpPr>
        <a:xfrm>
          <a:off x="0" y="0"/>
          <a:ext cx="0" cy="0"/>
          <a:chOff x="0" y="0"/>
          <a:chExt cx="0" cy="0"/>
        </a:xfrm>
      </p:grpSpPr>
      <p:sp>
        <p:nvSpPr>
          <p:cNvPr id="203" name="Google Shape;203;p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4" name="Google Shape;204;p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205" name="Google Shape;205;p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6</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7:notes"/>
          <p:cNvSpPr txBox="1">
            <a:spLocks noGrp="1"/>
          </p:cNvSpPr>
          <p:nvPr>
            <p:ph type="body" idx="1"/>
          </p:nvPr>
        </p:nvSpPr>
        <p:spPr>
          <a:xfrm>
            <a:off x="685800" y="5791200"/>
            <a:ext cx="5486400" cy="54864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60" name="Google Shape;260;p7:notes"/>
          <p:cNvSpPr>
            <a:spLocks noGrp="1" noRot="1" noChangeAspect="1"/>
          </p:cNvSpPr>
          <p:nvPr>
            <p:ph type="sldImg" idx="2"/>
          </p:nvPr>
        </p:nvSpPr>
        <p:spPr>
          <a:xfrm>
            <a:off x="-635000" y="914400"/>
            <a:ext cx="8128000" cy="4572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6"/>
        <p:cNvGrpSpPr/>
        <p:nvPr/>
      </p:nvGrpSpPr>
      <p:grpSpPr>
        <a:xfrm>
          <a:off x="0" y="0"/>
          <a:ext cx="0" cy="0"/>
          <a:chOff x="0" y="0"/>
          <a:chExt cx="0" cy="0"/>
        </a:xfrm>
      </p:grpSpPr>
      <p:sp>
        <p:nvSpPr>
          <p:cNvPr id="337" name="Google Shape;337;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38" name="Google Shape;338;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39" name="Google Shape;339;p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8</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3"/>
        <p:cNvGrpSpPr/>
        <p:nvPr/>
      </p:nvGrpSpPr>
      <p:grpSpPr>
        <a:xfrm>
          <a:off x="0" y="0"/>
          <a:ext cx="0" cy="0"/>
          <a:chOff x="0" y="0"/>
          <a:chExt cx="0" cy="0"/>
        </a:xfrm>
      </p:grpSpPr>
      <p:sp>
        <p:nvSpPr>
          <p:cNvPr id="364" name="Google Shape;364;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5" name="Google Shape;365;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366" name="Google Shape;366;p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9</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19" name="Google Shape;419;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20" name="Google Shape;420;p10: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10</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9"/>
        <p:cNvGrpSpPr/>
        <p:nvPr/>
      </p:nvGrpSpPr>
      <p:grpSpPr>
        <a:xfrm>
          <a:off x="0" y="0"/>
          <a:ext cx="0" cy="0"/>
          <a:chOff x="0" y="0"/>
          <a:chExt cx="0" cy="0"/>
        </a:xfrm>
      </p:grpSpPr>
      <p:sp>
        <p:nvSpPr>
          <p:cNvPr id="450" name="Google Shape;450;p1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51" name="Google Shape;451;p1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52" name="Google Shape;452;p11: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11</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1"/>
        <p:cNvGrpSpPr/>
        <p:nvPr/>
      </p:nvGrpSpPr>
      <p:grpSpPr>
        <a:xfrm>
          <a:off x="0" y="0"/>
          <a:ext cx="0" cy="0"/>
          <a:chOff x="0" y="0"/>
          <a:chExt cx="0" cy="0"/>
        </a:xfrm>
      </p:grpSpPr>
      <p:sp>
        <p:nvSpPr>
          <p:cNvPr id="482" name="Google Shape;482;p1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83" name="Google Shape;483;p1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484" name="Google Shape;484;p12: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12</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p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23" name="Google Shape;523;p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24" name="Google Shape;524;p1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13</a:t>
            </a:fld>
            <a:endParaRPr sz="1800">
              <a:solidFill>
                <a:schemeClr val="dk1"/>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3"/>
        <p:cNvGrpSpPr/>
        <p:nvPr/>
      </p:nvGrpSpPr>
      <p:grpSpPr>
        <a:xfrm>
          <a:off x="0" y="0"/>
          <a:ext cx="0" cy="0"/>
          <a:chOff x="0" y="0"/>
          <a:chExt cx="0" cy="0"/>
        </a:xfrm>
      </p:grpSpPr>
      <p:sp>
        <p:nvSpPr>
          <p:cNvPr id="564" name="Google Shape;564;p1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565" name="Google Shape;565;p1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566" name="Google Shape;566;p14: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14</a:t>
            </a:fld>
            <a:endParaRPr sz="1800">
              <a:solidFill>
                <a:schemeClr val="dk1"/>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6"/>
        <p:cNvGrpSpPr/>
        <p:nvPr/>
      </p:nvGrpSpPr>
      <p:grpSpPr>
        <a:xfrm>
          <a:off x="0" y="0"/>
          <a:ext cx="0" cy="0"/>
          <a:chOff x="0" y="0"/>
          <a:chExt cx="0" cy="0"/>
        </a:xfrm>
      </p:grpSpPr>
      <p:sp>
        <p:nvSpPr>
          <p:cNvPr id="607" name="Google Shape;607;p1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08" name="Google Shape;608;p1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09" name="Google Shape;609;p15: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15</a:t>
            </a:fld>
            <a:endParaRPr sz="1800">
              <a:solidFill>
                <a:schemeClr val="dk1"/>
              </a:solidFill>
              <a:latin typeface="Arial"/>
              <a:ea typeface="Arial"/>
              <a:cs typeface="Arial"/>
              <a:sym typeface="Aria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3"/>
        <p:cNvGrpSpPr/>
        <p:nvPr/>
      </p:nvGrpSpPr>
      <p:grpSpPr>
        <a:xfrm>
          <a:off x="0" y="0"/>
          <a:ext cx="0" cy="0"/>
          <a:chOff x="0" y="0"/>
          <a:chExt cx="0" cy="0"/>
        </a:xfrm>
      </p:grpSpPr>
      <p:sp>
        <p:nvSpPr>
          <p:cNvPr id="634" name="Google Shape;634;p1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5" name="Google Shape;635;p1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36" name="Google Shape;636;p16: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16</a:t>
            </a:fld>
            <a:endParaRPr sz="1800">
              <a:solidFill>
                <a:schemeClr val="dk1"/>
              </a:solidFill>
              <a:latin typeface="Arial"/>
              <a:ea typeface="Arial"/>
              <a:cs typeface="Arial"/>
              <a:sym typeface="Aria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3"/>
        <p:cNvGrpSpPr/>
        <p:nvPr/>
      </p:nvGrpSpPr>
      <p:grpSpPr>
        <a:xfrm>
          <a:off x="0" y="0"/>
          <a:ext cx="0" cy="0"/>
          <a:chOff x="0" y="0"/>
          <a:chExt cx="0" cy="0"/>
        </a:xfrm>
      </p:grpSpPr>
      <p:sp>
        <p:nvSpPr>
          <p:cNvPr id="644" name="Google Shape;644;p1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45" name="Google Shape;645;p1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46" name="Google Shape;646;p17: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17</a:t>
            </a:fld>
            <a:endParaRPr sz="1800">
              <a:solidFill>
                <a:schemeClr val="dk1"/>
              </a:solidFill>
              <a:latin typeface="Arial"/>
              <a:ea typeface="Arial"/>
              <a:cs typeface="Arial"/>
              <a:sym typeface="Aria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Google Shape;665;p1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66" name="Google Shape;666;p1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67" name="Google Shape;667;p18: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18</a:t>
            </a:fld>
            <a:endParaRPr sz="1800">
              <a:solidFill>
                <a:schemeClr val="dk1"/>
              </a:solidFill>
              <a:latin typeface="Arial"/>
              <a:ea typeface="Arial"/>
              <a:cs typeface="Arial"/>
              <a:sym typeface="Arial"/>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4"/>
        <p:cNvGrpSpPr/>
        <p:nvPr/>
      </p:nvGrpSpPr>
      <p:grpSpPr>
        <a:xfrm>
          <a:off x="0" y="0"/>
          <a:ext cx="0" cy="0"/>
          <a:chOff x="0" y="0"/>
          <a:chExt cx="0" cy="0"/>
        </a:xfrm>
      </p:grpSpPr>
      <p:sp>
        <p:nvSpPr>
          <p:cNvPr id="695" name="Google Shape;695;p1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96" name="Google Shape;696;p1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Arial"/>
              <a:ea typeface="Arial"/>
              <a:cs typeface="Arial"/>
              <a:sym typeface="Arial"/>
            </a:endParaRPr>
          </a:p>
        </p:txBody>
      </p:sp>
      <p:sp>
        <p:nvSpPr>
          <p:cNvPr id="697" name="Google Shape;697;p19: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fld id="{00000000-1234-1234-1234-123412341234}" type="slidenum">
              <a:rPr lang="en-US" sz="1800">
                <a:solidFill>
                  <a:schemeClr val="dk1"/>
                </a:solidFill>
                <a:latin typeface="Arial"/>
                <a:ea typeface="Arial"/>
                <a:cs typeface="Arial"/>
                <a:sym typeface="Arial"/>
              </a:rPr>
              <a:t>19</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6"/>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48"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5.png"/><Relationship Id="rId4" Type="http://schemas.microsoft.com/office/2007/relationships/hdphoto" Target="../media/hdphoto1.wdp"/></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5.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8" Type="http://schemas.openxmlformats.org/officeDocument/2006/relationships/image" Target="../media/image8.jpg"/><Relationship Id="rId13" Type="http://schemas.openxmlformats.org/officeDocument/2006/relationships/image" Target="../media/image13.jpg"/><Relationship Id="rId3" Type="http://schemas.openxmlformats.org/officeDocument/2006/relationships/image" Target="../media/image4.png"/><Relationship Id="rId7" Type="http://schemas.openxmlformats.org/officeDocument/2006/relationships/image" Target="../media/image7.png"/><Relationship Id="rId12" Type="http://schemas.openxmlformats.org/officeDocument/2006/relationships/image" Target="../media/image12.jpg"/><Relationship Id="rId2" Type="http://schemas.openxmlformats.org/officeDocument/2006/relationships/notesSlide" Target="../notesSlides/notesSlide5.xml"/><Relationship Id="rId16" Type="http://schemas.openxmlformats.org/officeDocument/2006/relationships/image" Target="../media/image16.jpg"/><Relationship Id="rId1" Type="http://schemas.openxmlformats.org/officeDocument/2006/relationships/slideLayout" Target="../slideLayouts/slideLayout1.xml"/><Relationship Id="rId6" Type="http://schemas.openxmlformats.org/officeDocument/2006/relationships/image" Target="../media/image6.png"/><Relationship Id="rId11" Type="http://schemas.openxmlformats.org/officeDocument/2006/relationships/image" Target="../media/image11.jpg"/><Relationship Id="rId5" Type="http://schemas.openxmlformats.org/officeDocument/2006/relationships/image" Target="../media/image5.png"/><Relationship Id="rId15" Type="http://schemas.openxmlformats.org/officeDocument/2006/relationships/image" Target="../media/image15.jpg"/><Relationship Id="rId10" Type="http://schemas.openxmlformats.org/officeDocument/2006/relationships/image" Target="../media/image10.jpg"/><Relationship Id="rId4" Type="http://schemas.microsoft.com/office/2007/relationships/hdphoto" Target="../media/hdphoto1.wdp"/><Relationship Id="rId9" Type="http://schemas.openxmlformats.org/officeDocument/2006/relationships/image" Target="../media/image9.jpg"/><Relationship Id="rId14" Type="http://schemas.openxmlformats.org/officeDocument/2006/relationships/image" Target="../media/image14.jpg"/></Relationships>
</file>

<file path=ppt/slides/_rels/slide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9.png"/><Relationship Id="rId4" Type="http://schemas.openxmlformats.org/officeDocument/2006/relationships/image" Target="../media/image18.jpg"/></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5.pn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5.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5.png"/><Relationship Id="rId4" Type="http://schemas.microsoft.com/office/2007/relationships/hdphoto" Target="../media/hdphoto1.wdp"/></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1.xml"/><Relationship Id="rId5" Type="http://schemas.openxmlformats.org/officeDocument/2006/relationships/image" Target="../media/image5.png"/><Relationship Id="rId4" Type="http://schemas.microsoft.com/office/2007/relationships/hdphoto" Target="../media/hdphoto1.wdp"/></Relationships>
</file>

<file path=ppt/slides/_rels/slide1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4.xml"/><Relationship Id="rId1" Type="http://schemas.openxmlformats.org/officeDocument/2006/relationships/slideLayout" Target="../slideLayouts/slideLayout1.xml"/><Relationship Id="rId5" Type="http://schemas.openxmlformats.org/officeDocument/2006/relationships/image" Target="../media/image5.png"/><Relationship Id="rId4" Type="http://schemas.microsoft.com/office/2007/relationships/hdphoto" Target="../media/hdphoto1.wdp"/></Relationships>
</file>

<file path=ppt/slides/_rels/slide15.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5.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23.png"/></Relationships>
</file>

<file path=ppt/slides/_rels/slide16.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8.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9.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Shape 11"/>
        <p:cNvGrpSpPr/>
        <p:nvPr/>
      </p:nvGrpSpPr>
      <p:grpSpPr>
        <a:xfrm>
          <a:off x="0" y="0"/>
          <a:ext cx="0" cy="0"/>
          <a:chOff x="0" y="0"/>
          <a:chExt cx="0" cy="0"/>
        </a:xfrm>
      </p:grpSpPr>
      <p:pic>
        <p:nvPicPr>
          <p:cNvPr id="12" name="Google Shape;12;p3" descr="/home/claude/work/a2/hero_title.jpg"/>
          <p:cNvPicPr preferRelativeResize="0"/>
          <p:nvPr/>
        </p:nvPicPr>
        <p:blipFill rotWithShape="1">
          <a:blip r:embed="rId3">
            <a:alphaModFix amt="70000"/>
          </a:blip>
          <a:srcRect/>
          <a:stretch/>
        </p:blipFill>
        <p:spPr>
          <a:xfrm>
            <a:off x="0" y="0"/>
            <a:ext cx="12191695" cy="6858000"/>
          </a:xfrm>
          <a:prstGeom prst="rect">
            <a:avLst/>
          </a:prstGeom>
          <a:noFill/>
          <a:ln>
            <a:noFill/>
          </a:ln>
        </p:spPr>
      </p:pic>
      <p:sp>
        <p:nvSpPr>
          <p:cNvPr id="13" name="Google Shape;13;p3"/>
          <p:cNvSpPr/>
          <p:nvPr/>
        </p:nvSpPr>
        <p:spPr>
          <a:xfrm>
            <a:off x="868680" y="3882280"/>
            <a:ext cx="822960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B0F0"/>
              </a:buClr>
              <a:buSzPts val="1200"/>
              <a:buFont typeface="Courier New"/>
              <a:buNone/>
            </a:pPr>
            <a:r>
              <a:rPr lang="en-US" sz="1200" b="1" i="0" u="none" strike="noStrike" cap="none" dirty="0">
                <a:solidFill>
                  <a:srgbClr val="00B0F0"/>
                </a:solidFill>
                <a:latin typeface="Courier New"/>
                <a:ea typeface="Courier New"/>
                <a:cs typeface="Courier New"/>
                <a:sym typeface="Courier New"/>
              </a:rPr>
              <a:t>SSA SUMMER TRAINING | JULY - AUGUST 2026</a:t>
            </a:r>
            <a:endParaRPr sz="1200" b="0" i="0" u="none" strike="noStrike" cap="none" dirty="0">
              <a:solidFill>
                <a:srgbClr val="00B0F0"/>
              </a:solidFill>
              <a:latin typeface="Courier New"/>
              <a:ea typeface="Courier New"/>
              <a:cs typeface="Courier New"/>
              <a:sym typeface="Courier New"/>
            </a:endParaRPr>
          </a:p>
        </p:txBody>
      </p:sp>
      <p:sp>
        <p:nvSpPr>
          <p:cNvPr id="14" name="Google Shape;14;p3"/>
          <p:cNvSpPr/>
          <p:nvPr/>
        </p:nvSpPr>
        <p:spPr>
          <a:xfrm>
            <a:off x="868680" y="4339480"/>
            <a:ext cx="12847320" cy="530352"/>
          </a:xfrm>
          <a:prstGeom prst="rect">
            <a:avLst/>
          </a:prstGeom>
          <a:noFill/>
          <a:ln>
            <a:noFill/>
          </a:ln>
        </p:spPr>
        <p:txBody>
          <a:bodyPr spcFirstLastPara="1" wrap="square" lIns="0" tIns="0" rIns="0" bIns="0" anchor="t" anchorCtr="0">
            <a:noAutofit/>
          </a:bodyPr>
          <a:lstStyle/>
          <a:p>
            <a:pPr marL="0" marR="0" lvl="0" indent="0" algn="l" rtl="0">
              <a:lnSpc>
                <a:spcPct val="94000"/>
              </a:lnSpc>
              <a:spcBef>
                <a:spcPts val="0"/>
              </a:spcBef>
              <a:spcAft>
                <a:spcPts val="0"/>
              </a:spcAft>
              <a:buClr>
                <a:srgbClr val="FFFFFF"/>
              </a:buClr>
              <a:buSzPts val="3800"/>
              <a:buFont typeface="Arial"/>
              <a:buNone/>
            </a:pPr>
            <a:r>
              <a:rPr lang="en-US" sz="3800" b="1" i="0" u="none" strike="noStrike" cap="none" dirty="0">
                <a:solidFill>
                  <a:srgbClr val="FFFFFF"/>
                </a:solidFill>
                <a:latin typeface="29LT Adir" panose="00000506000000000000" pitchFamily="50" charset="-78"/>
                <a:cs typeface="29LT Adir" panose="00000506000000000000" pitchFamily="50" charset="-78"/>
                <a:sym typeface="Arial"/>
              </a:rPr>
              <a:t>Noora </a:t>
            </a:r>
            <a:r>
              <a:rPr lang="en-US" sz="3800" b="1" i="0" u="none" strike="noStrike" cap="none" dirty="0" err="1">
                <a:solidFill>
                  <a:srgbClr val="FFFFFF"/>
                </a:solidFill>
                <a:latin typeface="29LT Adir" panose="00000506000000000000" pitchFamily="50" charset="-78"/>
                <a:cs typeface="29LT Adir" panose="00000506000000000000" pitchFamily="50" charset="-78"/>
                <a:sym typeface="Arial"/>
              </a:rPr>
              <a:t>AlQuaydhib</a:t>
            </a:r>
            <a:r>
              <a:rPr lang="en-US" sz="3800" b="1" i="0" u="none" strike="noStrike" cap="none" dirty="0">
                <a:solidFill>
                  <a:srgbClr val="FFFFFF"/>
                </a:solidFill>
                <a:latin typeface="29LT Adir" panose="00000506000000000000" pitchFamily="50" charset="-78"/>
                <a:cs typeface="29LT Adir" panose="00000506000000000000" pitchFamily="50" charset="-78"/>
                <a:sym typeface="Arial"/>
              </a:rPr>
              <a:t> Summer Training Summary</a:t>
            </a:r>
            <a:endParaRPr sz="3800" b="0" i="0" u="none" strike="noStrike" cap="none"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5" name="Google Shape;15;p3"/>
          <p:cNvSpPr/>
          <p:nvPr/>
        </p:nvSpPr>
        <p:spPr>
          <a:xfrm>
            <a:off x="868680" y="4888120"/>
            <a:ext cx="8961120" cy="36576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1450"/>
              <a:buFont typeface="Arial"/>
              <a:buNone/>
            </a:pPr>
            <a:r>
              <a:rPr lang="en-US" sz="1450" b="0" i="0" u="none" strike="noStrike" cap="none" dirty="0">
                <a:solidFill>
                  <a:schemeClr val="lt1"/>
                </a:solidFill>
                <a:latin typeface="29LT Adir" panose="00000506000000000000" pitchFamily="50" charset="-78"/>
                <a:cs typeface="29LT Adir" panose="00000506000000000000" pitchFamily="50" charset="-78"/>
                <a:sym typeface="Arial"/>
              </a:rPr>
              <a:t>Scientific Gap Assessment and Payload Recommendation for RAMSES Mission for Asteroid (99942) Apophis</a:t>
            </a:r>
            <a:endParaRPr sz="1450" b="0" i="0" u="none" strike="noStrike" cap="none" dirty="0">
              <a:solidFill>
                <a:schemeClr val="lt1"/>
              </a:solidFill>
              <a:latin typeface="29LT Adir" panose="00000506000000000000" pitchFamily="50" charset="-78"/>
              <a:cs typeface="29LT Adir" panose="00000506000000000000" pitchFamily="50" charset="-78"/>
              <a:sym typeface="Arial"/>
            </a:endParaRPr>
          </a:p>
        </p:txBody>
      </p:sp>
      <p:sp>
        <p:nvSpPr>
          <p:cNvPr id="16" name="Google Shape;16;p3"/>
          <p:cNvSpPr/>
          <p:nvPr/>
        </p:nvSpPr>
        <p:spPr>
          <a:xfrm>
            <a:off x="868680" y="5820808"/>
            <a:ext cx="1920240" cy="9144"/>
          </a:xfrm>
          <a:prstGeom prst="rect">
            <a:avLst/>
          </a:prstGeom>
          <a:solidFill>
            <a:srgbClr val="3B4A6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7" name="Google Shape;17;p3"/>
          <p:cNvSpPr/>
          <p:nvPr/>
        </p:nvSpPr>
        <p:spPr>
          <a:xfrm>
            <a:off x="868680" y="5912248"/>
            <a:ext cx="73152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chemeClr val="lt1"/>
              </a:buClr>
              <a:buSzPts val="1200"/>
              <a:buFont typeface="Arial"/>
              <a:buNone/>
            </a:pPr>
            <a:r>
              <a:rPr lang="en-US" sz="1200" dirty="0">
                <a:solidFill>
                  <a:schemeClr val="lt1"/>
                </a:solidFill>
                <a:latin typeface="29LT Adir" panose="00000506000000000000" pitchFamily="50" charset="-78"/>
                <a:cs typeface="29LT Adir" panose="00000506000000000000" pitchFamily="50" charset="-78"/>
                <a:sym typeface="Arial"/>
              </a:rPr>
              <a:t>Supervised by  Najla AlAhmadi  &amp;  Rawan </a:t>
            </a:r>
            <a:r>
              <a:rPr lang="en-US" sz="1200" dirty="0" err="1">
                <a:solidFill>
                  <a:schemeClr val="lt1"/>
                </a:solidFill>
                <a:latin typeface="29LT Adir" panose="00000506000000000000" pitchFamily="50" charset="-78"/>
                <a:cs typeface="29LT Adir" panose="00000506000000000000" pitchFamily="50" charset="-78"/>
                <a:sym typeface="Arial"/>
              </a:rPr>
              <a:t>AlRayes</a:t>
            </a:r>
            <a:endParaRPr sz="1200" dirty="0">
              <a:solidFill>
                <a:schemeClr val="lt1"/>
              </a:solidFill>
              <a:latin typeface="29LT Adir" panose="00000506000000000000" pitchFamily="50" charset="-78"/>
              <a:cs typeface="29LT Adir" panose="00000506000000000000" pitchFamily="50" charset="-78"/>
              <a:sym typeface="Arial"/>
            </a:endParaRPr>
          </a:p>
        </p:txBody>
      </p:sp>
      <p:pic>
        <p:nvPicPr>
          <p:cNvPr id="18" name="Google Shape;18;p3" descr="/home/claude/work/a2/logo_white.png"/>
          <p:cNvPicPr preferRelativeResize="0"/>
          <p:nvPr/>
        </p:nvPicPr>
        <p:blipFill rotWithShape="1">
          <a:blip r:embed="rId4">
            <a:alphaModFix/>
          </a:blip>
          <a:srcRect/>
          <a:stretch/>
        </p:blipFill>
        <p:spPr>
          <a:xfrm>
            <a:off x="10353104" y="452014"/>
            <a:ext cx="1520245" cy="641200"/>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Shape 24"/>
        <p:cNvGrpSpPr/>
        <p:nvPr/>
      </p:nvGrpSpPr>
      <p:grpSpPr>
        <a:xfrm>
          <a:off x="0" y="0"/>
          <a:ext cx="0" cy="0"/>
          <a:chOff x="0" y="0"/>
          <a:chExt cx="0" cy="0"/>
        </a:xfrm>
      </p:grpSpPr>
      <p:pic>
        <p:nvPicPr>
          <p:cNvPr id="25" name="Google Shape;25;p4" descr="/home/claude/work/a2/half_right.png"/>
          <p:cNvPicPr preferRelativeResize="0"/>
          <p:nvPr/>
        </p:nvPicPr>
        <p:blipFill rotWithShape="1">
          <a:blip r:embed="rId3">
            <a:alphaModFix/>
          </a:blip>
          <a:srcRect/>
          <a:stretch/>
        </p:blipFill>
        <p:spPr>
          <a:xfrm rot="10800000">
            <a:off x="-1" y="310896"/>
            <a:ext cx="5765403" cy="5843016"/>
          </a:xfrm>
          <a:prstGeom prst="rect">
            <a:avLst/>
          </a:prstGeom>
          <a:noFill/>
          <a:ln>
            <a:noFill/>
          </a:ln>
        </p:spPr>
      </p:pic>
      <p:pic>
        <p:nvPicPr>
          <p:cNvPr id="26" name="Google Shape;26;p4" descr="/home/claude/work/a2/logo_white.png"/>
          <p:cNvPicPr preferRelativeResize="0"/>
          <p:nvPr/>
        </p:nvPicPr>
        <p:blipFill rotWithShape="1">
          <a:blip r:embed="rId4">
            <a:alphaModFix/>
          </a:blip>
          <a:srcRect/>
          <a:stretch/>
        </p:blipFill>
        <p:spPr>
          <a:xfrm>
            <a:off x="10797385" y="310896"/>
            <a:ext cx="1133856" cy="478231"/>
          </a:xfrm>
          <a:prstGeom prst="rect">
            <a:avLst/>
          </a:prstGeom>
          <a:noFill/>
          <a:ln>
            <a:noFill/>
          </a:ln>
        </p:spPr>
      </p:pic>
      <p:sp>
        <p:nvSpPr>
          <p:cNvPr id="27" name="Google Shape;27;p4"/>
          <p:cNvSpPr/>
          <p:nvPr/>
        </p:nvSpPr>
        <p:spPr>
          <a:xfrm>
            <a:off x="5308203" y="1795277"/>
            <a:ext cx="6400800" cy="472966"/>
          </a:xfrm>
          <a:prstGeom prst="rect">
            <a:avLst/>
          </a:prstGeom>
          <a:noFill/>
          <a:ln>
            <a:noFill/>
          </a:ln>
        </p:spPr>
        <p:txBody>
          <a:bodyPr spcFirstLastPara="1" wrap="square" lIns="0" tIns="0" rIns="0" bIns="0" anchor="ctr" anchorCtr="0">
            <a:noAutofit/>
          </a:bodyPr>
          <a:lstStyle/>
          <a:p>
            <a:pPr marL="0" marR="0" lvl="0" indent="0" algn="l" rtl="0">
              <a:lnSpc>
                <a:spcPct val="92000"/>
              </a:lnSpc>
              <a:spcBef>
                <a:spcPts val="0"/>
              </a:spcBef>
              <a:spcAft>
                <a:spcPts val="0"/>
              </a:spcAft>
              <a:buClr>
                <a:srgbClr val="FFFFFF"/>
              </a:buClr>
              <a:buSzPts val="3000"/>
              <a:buFont typeface="Arial"/>
              <a:buNone/>
            </a:pPr>
            <a:r>
              <a:rPr lang="en-US" sz="3000" b="1" dirty="0">
                <a:solidFill>
                  <a:srgbClr val="FFFFFF"/>
                </a:solidFill>
                <a:latin typeface="29LT Adir" panose="00000506000000000000" pitchFamily="50" charset="-78"/>
                <a:cs typeface="29LT Adir" panose="00000506000000000000" pitchFamily="50" charset="-78"/>
                <a:sym typeface="Arial"/>
              </a:rPr>
              <a:t>Context </a:t>
            </a:r>
            <a:endParaRPr sz="30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8" name="Google Shape;28;p4"/>
          <p:cNvSpPr/>
          <p:nvPr/>
        </p:nvSpPr>
        <p:spPr>
          <a:xfrm>
            <a:off x="5308203" y="2551823"/>
            <a:ext cx="457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B0F0"/>
              </a:buClr>
              <a:buSzPts val="1200"/>
              <a:buFont typeface="Courier New"/>
              <a:buNone/>
            </a:pPr>
            <a:r>
              <a:rPr lang="en-US" sz="1800" b="1">
                <a:solidFill>
                  <a:srgbClr val="00B0F0"/>
                </a:solidFill>
                <a:latin typeface="29LT Adir" panose="00000506000000000000" pitchFamily="50" charset="-78"/>
                <a:ea typeface="Courier New"/>
                <a:cs typeface="29LT Adir" panose="00000506000000000000" pitchFamily="50" charset="-78"/>
                <a:sym typeface="Courier New"/>
              </a:rPr>
              <a:t>01</a:t>
            </a:r>
            <a:endParaRPr sz="1800">
              <a:solidFill>
                <a:srgbClr val="00B0F0"/>
              </a:solidFill>
              <a:latin typeface="29LT Adir" panose="00000506000000000000" pitchFamily="50" charset="-78"/>
              <a:ea typeface="Courier New"/>
              <a:cs typeface="29LT Adir" panose="00000506000000000000" pitchFamily="50" charset="-78"/>
              <a:sym typeface="Courier New"/>
            </a:endParaRPr>
          </a:p>
        </p:txBody>
      </p:sp>
      <p:sp>
        <p:nvSpPr>
          <p:cNvPr id="29" name="Google Shape;29;p4"/>
          <p:cNvSpPr>
            <a:spLocks/>
          </p:cNvSpPr>
          <p:nvPr/>
        </p:nvSpPr>
        <p:spPr>
          <a:xfrm>
            <a:off x="5811123" y="2513871"/>
            <a:ext cx="5120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800"/>
              <a:buFont typeface="Courier New"/>
              <a:buNone/>
            </a:pPr>
            <a:r>
              <a:rPr lang="en-US" sz="1800" dirty="0">
                <a:solidFill>
                  <a:srgbClr val="FFFFFF"/>
                </a:solidFill>
                <a:latin typeface="Courier New"/>
                <a:ea typeface="Courier New"/>
                <a:cs typeface="Courier New"/>
                <a:sym typeface="Courier New"/>
              </a:rPr>
              <a:t>The Event</a:t>
            </a:r>
            <a:endParaRPr sz="1800" dirty="0">
              <a:solidFill>
                <a:schemeClr val="dk1"/>
              </a:solidFill>
              <a:latin typeface="Courier New"/>
              <a:ea typeface="Courier New"/>
              <a:cs typeface="Courier New"/>
              <a:sym typeface="Courier New"/>
            </a:endParaRPr>
          </a:p>
        </p:txBody>
      </p:sp>
      <p:sp>
        <p:nvSpPr>
          <p:cNvPr id="30" name="Google Shape;30;p4"/>
          <p:cNvSpPr/>
          <p:nvPr/>
        </p:nvSpPr>
        <p:spPr>
          <a:xfrm>
            <a:off x="5811123" y="2788191"/>
            <a:ext cx="5349240" cy="566928"/>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Clr>
                <a:srgbClr val="BDC5D5"/>
              </a:buClr>
              <a:buSzPts val="1400"/>
              <a:buFont typeface="Arial"/>
              <a:buNone/>
            </a:pPr>
            <a:r>
              <a:rPr lang="en-US" sz="1400" dirty="0">
                <a:solidFill>
                  <a:srgbClr val="BDC5D5"/>
                </a:solidFill>
                <a:latin typeface="29LT Adir" panose="00000506000000000000" pitchFamily="50" charset="-78"/>
                <a:cs typeface="29LT Adir" panose="00000506000000000000" pitchFamily="50" charset="-78"/>
                <a:sym typeface="Arial"/>
              </a:rPr>
              <a:t>On 13 April 2029. Apophis passes within ~32,000 km from earth, closer than geostationary satellites, visible to the naked eye.</a:t>
            </a:r>
            <a:endParaRPr sz="1400" dirty="0">
              <a:solidFill>
                <a:srgbClr val="BDC5D5"/>
              </a:solidFill>
              <a:latin typeface="29LT Adir" panose="00000506000000000000" pitchFamily="50" charset="-78"/>
              <a:cs typeface="29LT Adir" panose="00000506000000000000" pitchFamily="50" charset="-78"/>
              <a:sym typeface="Arial"/>
            </a:endParaRPr>
          </a:p>
        </p:txBody>
      </p:sp>
      <p:sp>
        <p:nvSpPr>
          <p:cNvPr id="31" name="Google Shape;31;p4"/>
          <p:cNvSpPr/>
          <p:nvPr/>
        </p:nvSpPr>
        <p:spPr>
          <a:xfrm>
            <a:off x="5308203" y="3428271"/>
            <a:ext cx="5852160" cy="9144"/>
          </a:xfrm>
          <a:prstGeom prst="rect">
            <a:avLst/>
          </a:prstGeom>
          <a:solidFill>
            <a:srgbClr val="1E27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2" name="Google Shape;32;p4"/>
          <p:cNvSpPr/>
          <p:nvPr/>
        </p:nvSpPr>
        <p:spPr>
          <a:xfrm>
            <a:off x="5308203" y="3521087"/>
            <a:ext cx="457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B0F0"/>
              </a:buClr>
              <a:buSzPts val="1200"/>
              <a:buFont typeface="Courier New"/>
              <a:buNone/>
            </a:pPr>
            <a:r>
              <a:rPr lang="en-US" sz="1800" b="1">
                <a:solidFill>
                  <a:srgbClr val="00B0F0"/>
                </a:solidFill>
                <a:latin typeface="29LT Adir" panose="00000506000000000000" pitchFamily="50" charset="-78"/>
                <a:ea typeface="Courier New"/>
                <a:cs typeface="29LT Adir" panose="00000506000000000000" pitchFamily="50" charset="-78"/>
                <a:sym typeface="Courier New"/>
              </a:rPr>
              <a:t>02</a:t>
            </a:r>
            <a:endParaRPr sz="1800">
              <a:solidFill>
                <a:srgbClr val="00B0F0"/>
              </a:solidFill>
              <a:latin typeface="29LT Adir" panose="00000506000000000000" pitchFamily="50" charset="-78"/>
              <a:ea typeface="Courier New"/>
              <a:cs typeface="29LT Adir" panose="00000506000000000000" pitchFamily="50" charset="-78"/>
              <a:sym typeface="Courier New"/>
            </a:endParaRPr>
          </a:p>
        </p:txBody>
      </p:sp>
      <p:sp>
        <p:nvSpPr>
          <p:cNvPr id="33" name="Google Shape;33;p4"/>
          <p:cNvSpPr/>
          <p:nvPr/>
        </p:nvSpPr>
        <p:spPr>
          <a:xfrm>
            <a:off x="5811123" y="3471720"/>
            <a:ext cx="5120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800"/>
              <a:buFont typeface="Courier New"/>
              <a:buNone/>
            </a:pPr>
            <a:r>
              <a:rPr lang="en-US" sz="1800" dirty="0">
                <a:solidFill>
                  <a:srgbClr val="FFFFFF"/>
                </a:solidFill>
                <a:latin typeface="Courier New"/>
                <a:ea typeface="Courier New"/>
                <a:cs typeface="Courier New"/>
                <a:sym typeface="Courier New"/>
              </a:rPr>
              <a:t>The RAMSES Mission</a:t>
            </a:r>
            <a:endParaRPr sz="1800" dirty="0">
              <a:solidFill>
                <a:schemeClr val="dk1"/>
              </a:solidFill>
              <a:latin typeface="Courier New"/>
              <a:ea typeface="Courier New"/>
              <a:cs typeface="Courier New"/>
              <a:sym typeface="Courier New"/>
            </a:endParaRPr>
          </a:p>
        </p:txBody>
      </p:sp>
      <p:sp>
        <p:nvSpPr>
          <p:cNvPr id="34" name="Google Shape;34;p4"/>
          <p:cNvSpPr/>
          <p:nvPr/>
        </p:nvSpPr>
        <p:spPr>
          <a:xfrm>
            <a:off x="5811123" y="3757455"/>
            <a:ext cx="5349240" cy="566928"/>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Clr>
                <a:srgbClr val="BDC5D5"/>
              </a:buClr>
              <a:buSzPts val="1400"/>
              <a:buFont typeface="Arial"/>
              <a:buNone/>
            </a:pPr>
            <a:r>
              <a:rPr lang="en-US" sz="1400" dirty="0">
                <a:solidFill>
                  <a:srgbClr val="BDC5D5"/>
                </a:solidFill>
                <a:latin typeface="29LT Adir" panose="00000506000000000000" pitchFamily="50" charset="-78"/>
                <a:cs typeface="29LT Adir" panose="00000506000000000000" pitchFamily="50" charset="-78"/>
                <a:sym typeface="Arial"/>
              </a:rPr>
              <a:t>An international collaboration between ESA and JAXA. Currently under development and planned to launch in spring 2028, to arrive to Apophis in February 2029.</a:t>
            </a:r>
            <a:endParaRPr sz="1400" dirty="0">
              <a:solidFill>
                <a:srgbClr val="BDC5D5"/>
              </a:solidFill>
              <a:latin typeface="29LT Adir" panose="00000506000000000000" pitchFamily="50" charset="-78"/>
              <a:cs typeface="29LT Adir" panose="00000506000000000000" pitchFamily="50" charset="-78"/>
              <a:sym typeface="Arial"/>
            </a:endParaRPr>
          </a:p>
        </p:txBody>
      </p:sp>
      <p:sp>
        <p:nvSpPr>
          <p:cNvPr id="35" name="Google Shape;35;p4"/>
          <p:cNvSpPr/>
          <p:nvPr/>
        </p:nvSpPr>
        <p:spPr>
          <a:xfrm>
            <a:off x="5308203" y="4549343"/>
            <a:ext cx="457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B0F0"/>
              </a:buClr>
              <a:buSzPts val="1200"/>
              <a:buFont typeface="Courier New"/>
              <a:buNone/>
            </a:pPr>
            <a:r>
              <a:rPr lang="en-US" sz="1800" b="1" dirty="0">
                <a:solidFill>
                  <a:srgbClr val="00B0F0"/>
                </a:solidFill>
                <a:latin typeface="29LT Adir" panose="00000506000000000000" pitchFamily="50" charset="-78"/>
                <a:ea typeface="Courier New"/>
                <a:cs typeface="29LT Adir" panose="00000506000000000000" pitchFamily="50" charset="-78"/>
                <a:sym typeface="Courier New"/>
              </a:rPr>
              <a:t>03</a:t>
            </a:r>
            <a:endParaRPr sz="1800" dirty="0">
              <a:solidFill>
                <a:srgbClr val="00B0F0"/>
              </a:solidFill>
              <a:latin typeface="29LT Adir" panose="00000506000000000000" pitchFamily="50" charset="-78"/>
              <a:ea typeface="Courier New"/>
              <a:cs typeface="29LT Adir" panose="00000506000000000000" pitchFamily="50" charset="-78"/>
              <a:sym typeface="Courier New"/>
            </a:endParaRPr>
          </a:p>
        </p:txBody>
      </p:sp>
      <p:sp>
        <p:nvSpPr>
          <p:cNvPr id="36" name="Google Shape;36;p4"/>
          <p:cNvSpPr/>
          <p:nvPr/>
        </p:nvSpPr>
        <p:spPr>
          <a:xfrm>
            <a:off x="5811123" y="4726719"/>
            <a:ext cx="5349240" cy="566928"/>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Clr>
                <a:schemeClr val="dk1"/>
              </a:buClr>
              <a:buSzPts val="1400"/>
              <a:buFont typeface="Calibri"/>
              <a:buNone/>
            </a:pPr>
            <a:endParaRPr sz="1400">
              <a:solidFill>
                <a:srgbClr val="BDC5D5"/>
              </a:solidFill>
              <a:latin typeface="Arial"/>
              <a:ea typeface="Arial"/>
              <a:cs typeface="Arial"/>
              <a:sym typeface="Arial"/>
            </a:endParaRPr>
          </a:p>
        </p:txBody>
      </p:sp>
      <p:sp>
        <p:nvSpPr>
          <p:cNvPr id="37" name="Google Shape;37;p4"/>
          <p:cNvSpPr/>
          <p:nvPr/>
        </p:nvSpPr>
        <p:spPr>
          <a:xfrm>
            <a:off x="5308203" y="4512848"/>
            <a:ext cx="5852160" cy="9144"/>
          </a:xfrm>
          <a:prstGeom prst="rect">
            <a:avLst/>
          </a:prstGeom>
          <a:solidFill>
            <a:srgbClr val="1E274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8" name="Google Shape;38;p4"/>
          <p:cNvSpPr/>
          <p:nvPr/>
        </p:nvSpPr>
        <p:spPr>
          <a:xfrm>
            <a:off x="5308203" y="4731644"/>
            <a:ext cx="457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1200"/>
              <a:buFont typeface="Calibri"/>
              <a:buNone/>
            </a:pPr>
            <a:endParaRPr sz="1800">
              <a:solidFill>
                <a:srgbClr val="00B0F0"/>
              </a:solidFill>
              <a:latin typeface="29LT Adir" panose="00000506000000000000" pitchFamily="50" charset="-78"/>
              <a:ea typeface="Courier New"/>
              <a:cs typeface="29LT Adir" panose="00000506000000000000" pitchFamily="50" charset="-78"/>
              <a:sym typeface="Courier New"/>
            </a:endParaRPr>
          </a:p>
        </p:txBody>
      </p:sp>
      <p:sp>
        <p:nvSpPr>
          <p:cNvPr id="39" name="Google Shape;39;p4"/>
          <p:cNvSpPr/>
          <p:nvPr/>
        </p:nvSpPr>
        <p:spPr>
          <a:xfrm>
            <a:off x="5811123" y="4546586"/>
            <a:ext cx="5120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800"/>
              <a:buFont typeface="Courier New"/>
              <a:buNone/>
            </a:pPr>
            <a:r>
              <a:rPr lang="en-US" sz="1800" dirty="0">
                <a:solidFill>
                  <a:srgbClr val="FFFFFF"/>
                </a:solidFill>
                <a:latin typeface="Courier New"/>
                <a:ea typeface="Courier New"/>
                <a:cs typeface="Courier New"/>
                <a:sym typeface="Courier New"/>
              </a:rPr>
              <a:t>The Goal</a:t>
            </a:r>
            <a:endParaRPr sz="1800" dirty="0">
              <a:solidFill>
                <a:schemeClr val="dk1"/>
              </a:solidFill>
              <a:latin typeface="Courier New"/>
              <a:ea typeface="Courier New"/>
              <a:cs typeface="Courier New"/>
              <a:sym typeface="Courier New"/>
            </a:endParaRPr>
          </a:p>
        </p:txBody>
      </p:sp>
      <p:sp>
        <p:nvSpPr>
          <p:cNvPr id="40" name="Google Shape;40;p4"/>
          <p:cNvSpPr/>
          <p:nvPr/>
        </p:nvSpPr>
        <p:spPr>
          <a:xfrm>
            <a:off x="5811123" y="4820913"/>
            <a:ext cx="5349240" cy="566928"/>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Clr>
                <a:srgbClr val="BDC5D5"/>
              </a:buClr>
              <a:buSzPts val="1400"/>
              <a:buFont typeface="Arial"/>
              <a:buNone/>
            </a:pPr>
            <a:r>
              <a:rPr lang="en-US" sz="1400" dirty="0">
                <a:solidFill>
                  <a:srgbClr val="BDC5D5"/>
                </a:solidFill>
                <a:latin typeface="29LT Adir" panose="00000506000000000000" pitchFamily="50" charset="-78"/>
                <a:cs typeface="29LT Adir" panose="00000506000000000000" pitchFamily="50" charset="-78"/>
                <a:sym typeface="Arial"/>
              </a:rPr>
              <a:t>An SSA instrument converts observer status into participant status on a joint ESA–JAXA mission.</a:t>
            </a:r>
            <a:endParaRPr sz="1400" dirty="0">
              <a:solidFill>
                <a:srgbClr val="BDC5D5"/>
              </a:solidFill>
              <a:latin typeface="29LT Adir" panose="00000506000000000000" pitchFamily="50" charset="-78"/>
              <a:cs typeface="29LT Adir" panose="00000506000000000000" pitchFamily="50" charset="-78"/>
              <a:sym typeface="Arial"/>
            </a:endParaRPr>
          </a:p>
        </p:txBody>
      </p:sp>
      <p:sp>
        <p:nvSpPr>
          <p:cNvPr id="41" name="Google Shape;41;p4"/>
          <p:cNvSpPr/>
          <p:nvPr/>
        </p:nvSpPr>
        <p:spPr>
          <a:xfrm>
            <a:off x="10881360" y="6272784"/>
            <a:ext cx="694944"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4607C"/>
              </a:buClr>
              <a:buSzPts val="1000"/>
              <a:buFont typeface="Arial"/>
              <a:buNone/>
            </a:pPr>
            <a:r>
              <a:rPr lang="en-US" sz="1000">
                <a:solidFill>
                  <a:srgbClr val="54607C"/>
                </a:solidFill>
                <a:latin typeface="Arial"/>
                <a:ea typeface="Arial"/>
                <a:cs typeface="Arial"/>
                <a:sym typeface="Arial"/>
              </a:rPr>
              <a:t>1</a:t>
            </a:r>
            <a:endParaRPr sz="1000">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D9E1EF"/>
        </a:solidFill>
        <a:effectLst/>
      </p:bgPr>
    </p:bg>
    <p:spTree>
      <p:nvGrpSpPr>
        <p:cNvPr id="1" name="Shape 47"/>
        <p:cNvGrpSpPr/>
        <p:nvPr/>
      </p:nvGrpSpPr>
      <p:grpSpPr>
        <a:xfrm>
          <a:off x="0" y="0"/>
          <a:ext cx="0" cy="0"/>
          <a:chOff x="0" y="0"/>
          <a:chExt cx="0" cy="0"/>
        </a:xfrm>
      </p:grpSpPr>
      <p:pic>
        <p:nvPicPr>
          <p:cNvPr id="48" name="Google Shape;48;p5" descr="/home/claude/work/a2/light_wash.jpg"/>
          <p:cNvPicPr preferRelativeResize="0"/>
          <p:nvPr/>
        </p:nvPicPr>
        <p:blipFill rotWithShape="1">
          <a:blip r:embed="rId3">
            <a:alphaModFix/>
            <a:extLst>
              <a:ext uri="{BEBA8EAE-BF5A-486C-A8C5-ECC9F3942E4B}">
                <a14:imgProps xmlns:a14="http://schemas.microsoft.com/office/drawing/2010/main">
                  <a14:imgLayer r:embed="rId4">
                    <a14:imgEffect>
                      <a14:brightnessContrast contrast="40000"/>
                    </a14:imgEffect>
                  </a14:imgLayer>
                </a14:imgProps>
              </a:ext>
            </a:extLst>
          </a:blip>
          <a:srcRect/>
          <a:stretch/>
        </p:blipFill>
        <p:spPr>
          <a:xfrm>
            <a:off x="0" y="-9331"/>
            <a:ext cx="12191695" cy="6858000"/>
          </a:xfrm>
          <a:prstGeom prst="rect">
            <a:avLst/>
          </a:prstGeom>
          <a:noFill/>
          <a:ln>
            <a:noFill/>
          </a:ln>
        </p:spPr>
      </p:pic>
      <p:sp>
        <p:nvSpPr>
          <p:cNvPr id="49" name="Google Shape;49;p5"/>
          <p:cNvSpPr/>
          <p:nvPr/>
        </p:nvSpPr>
        <p:spPr>
          <a:xfrm>
            <a:off x="5337048" y="1486924"/>
            <a:ext cx="6531102" cy="4052874"/>
          </a:xfrm>
          <a:prstGeom prst="roundRect">
            <a:avLst>
              <a:gd name="adj" fmla="val 5625"/>
            </a:avLst>
          </a:prstGeom>
          <a:solidFill>
            <a:srgbClr val="FFFFFF"/>
          </a:solidFill>
          <a:ln w="19050" cap="flat" cmpd="sng">
            <a:solidFill>
              <a:srgbClr val="00B0F0"/>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50" name="Google Shape;50;p5"/>
          <p:cNvSpPr/>
          <p:nvPr/>
        </p:nvSpPr>
        <p:spPr>
          <a:xfrm>
            <a:off x="658368" y="530352"/>
            <a:ext cx="9052560" cy="472966"/>
          </a:xfrm>
          <a:prstGeom prst="rect">
            <a:avLst/>
          </a:prstGeom>
          <a:noFill/>
          <a:ln>
            <a:noFill/>
          </a:ln>
        </p:spPr>
        <p:txBody>
          <a:bodyPr spcFirstLastPara="1" wrap="square" lIns="0" tIns="0" rIns="0" bIns="0" anchor="ctr" anchorCtr="0">
            <a:noAutofit/>
          </a:bodyPr>
          <a:lstStyle/>
          <a:p>
            <a:pPr marL="0" marR="0" lvl="0" indent="0" algn="l" rtl="0">
              <a:lnSpc>
                <a:spcPct val="92000"/>
              </a:lnSpc>
              <a:spcBef>
                <a:spcPts val="0"/>
              </a:spcBef>
              <a:spcAft>
                <a:spcPts val="0"/>
              </a:spcAft>
              <a:buClr>
                <a:srgbClr val="13234C"/>
              </a:buClr>
              <a:buSzPts val="3000"/>
              <a:buFont typeface="Arial"/>
              <a:buNone/>
            </a:pPr>
            <a:r>
              <a:rPr lang="en-US" sz="3000" b="1" dirty="0">
                <a:solidFill>
                  <a:srgbClr val="13234C"/>
                </a:solidFill>
                <a:latin typeface="29LT Adir" panose="00000506000000000000" pitchFamily="50" charset="-78"/>
                <a:cs typeface="29LT Adir" panose="00000506000000000000" pitchFamily="50" charset="-78"/>
                <a:sym typeface="Arial"/>
              </a:rPr>
              <a:t>Study Objective &amp; Scope</a:t>
            </a:r>
            <a:endParaRPr sz="30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51" name="Google Shape;51;p5"/>
          <p:cNvSpPr/>
          <p:nvPr/>
        </p:nvSpPr>
        <p:spPr>
          <a:xfrm>
            <a:off x="1609344" y="1005057"/>
            <a:ext cx="9052560" cy="329184"/>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4C5468"/>
              </a:buClr>
              <a:buSzPts val="1600"/>
              <a:buFont typeface="Arial"/>
              <a:buNone/>
            </a:pPr>
            <a:r>
              <a:rPr lang="en-US" sz="1600" dirty="0">
                <a:solidFill>
                  <a:srgbClr val="4C5468"/>
                </a:solidFill>
                <a:latin typeface="29LT Adir" panose="00000506000000000000" pitchFamily="50" charset="-78"/>
                <a:cs typeface="29LT Adir" panose="00000506000000000000" pitchFamily="50" charset="-78"/>
                <a:sym typeface="Arial"/>
              </a:rPr>
              <a:t>The second phase of a two-part study. The first selected the mission; this one determines the contribution.</a:t>
            </a:r>
            <a:endParaRPr sz="1600" dirty="0">
              <a:solidFill>
                <a:schemeClr val="dk1"/>
              </a:solidFill>
              <a:latin typeface="29LT Adir" panose="00000506000000000000" pitchFamily="50" charset="-78"/>
              <a:cs typeface="29LT Adir" panose="00000506000000000000" pitchFamily="50" charset="-78"/>
              <a:sym typeface="Arial"/>
            </a:endParaRPr>
          </a:p>
        </p:txBody>
      </p:sp>
      <p:sp>
        <p:nvSpPr>
          <p:cNvPr id="52" name="Google Shape;52;p5"/>
          <p:cNvSpPr/>
          <p:nvPr/>
        </p:nvSpPr>
        <p:spPr>
          <a:xfrm>
            <a:off x="658368" y="1736469"/>
            <a:ext cx="45262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C5468"/>
              </a:buClr>
              <a:buSzPts val="1000"/>
              <a:buFont typeface="Courier New"/>
              <a:buNone/>
            </a:pPr>
            <a:r>
              <a:rPr lang="en-US" sz="1000" b="1" dirty="0">
                <a:solidFill>
                  <a:srgbClr val="4C5468"/>
                </a:solidFill>
                <a:latin typeface="Courier New"/>
                <a:ea typeface="Courier New"/>
                <a:cs typeface="Courier New"/>
                <a:sym typeface="Courier New"/>
              </a:rPr>
              <a:t>WHERE THIS STUDY SITS</a:t>
            </a:r>
            <a:endParaRPr sz="1000" dirty="0">
              <a:solidFill>
                <a:schemeClr val="dk1"/>
              </a:solidFill>
              <a:latin typeface="Courier New"/>
              <a:ea typeface="Courier New"/>
              <a:cs typeface="Courier New"/>
              <a:sym typeface="Courier New"/>
            </a:endParaRPr>
          </a:p>
        </p:txBody>
      </p:sp>
      <p:sp>
        <p:nvSpPr>
          <p:cNvPr id="53" name="Google Shape;53;p5"/>
          <p:cNvSpPr/>
          <p:nvPr/>
        </p:nvSpPr>
        <p:spPr>
          <a:xfrm>
            <a:off x="550926" y="2065653"/>
            <a:ext cx="3988689" cy="1463040"/>
          </a:xfrm>
          <a:prstGeom prst="roundRect">
            <a:avLst>
              <a:gd name="adj" fmla="val 5625"/>
            </a:avLst>
          </a:prstGeom>
          <a:solidFill>
            <a:srgbClr val="FFFFFF"/>
          </a:solidFill>
          <a:ln w="9525" cap="flat" cmpd="sng">
            <a:solidFill>
              <a:srgbClr val="C4CFE0"/>
            </a:solidFill>
            <a:prstDash val="solid"/>
            <a:round/>
            <a:headEnd type="none" w="sm" len="sm"/>
            <a:tailEnd type="none" w="sm" len="sm"/>
          </a:ln>
          <a:effectLst>
            <a:outerShdw blurRad="127000" dist="25400" dir="5400000" algn="bl" rotWithShape="0">
              <a:srgbClr val="0B1226">
                <a:alpha val="10196"/>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54" name="Google Shape;54;p5"/>
          <p:cNvSpPr/>
          <p:nvPr/>
        </p:nvSpPr>
        <p:spPr>
          <a:xfrm>
            <a:off x="522351" y="2285109"/>
            <a:ext cx="3941064"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4C5468"/>
              </a:buClr>
              <a:buSzPts val="1000"/>
              <a:buFont typeface="Courier New"/>
              <a:buNone/>
            </a:pPr>
            <a:r>
              <a:rPr lang="en-US" sz="1000" b="1">
                <a:solidFill>
                  <a:srgbClr val="4C5468"/>
                </a:solidFill>
                <a:latin typeface="Courier New"/>
                <a:ea typeface="Courier New"/>
                <a:cs typeface="Courier New"/>
                <a:sym typeface="Courier New"/>
              </a:rPr>
              <a:t>PHASE 1 — COMPLETED</a:t>
            </a:r>
            <a:endParaRPr sz="1000">
              <a:solidFill>
                <a:schemeClr val="dk1"/>
              </a:solidFill>
              <a:latin typeface="Courier New"/>
              <a:ea typeface="Courier New"/>
              <a:cs typeface="Courier New"/>
              <a:sym typeface="Courier New"/>
            </a:endParaRPr>
          </a:p>
        </p:txBody>
      </p:sp>
      <p:sp>
        <p:nvSpPr>
          <p:cNvPr id="55" name="Google Shape;55;p5"/>
          <p:cNvSpPr/>
          <p:nvPr/>
        </p:nvSpPr>
        <p:spPr>
          <a:xfrm>
            <a:off x="531876" y="2522853"/>
            <a:ext cx="3941064"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3234C"/>
              </a:buClr>
              <a:buSzPts val="1800"/>
              <a:buFont typeface="Arial"/>
              <a:buNone/>
            </a:pPr>
            <a:r>
              <a:rPr lang="en-US" sz="1800" b="1" dirty="0">
                <a:solidFill>
                  <a:srgbClr val="13234C"/>
                </a:solidFill>
                <a:latin typeface="29LT Adir" panose="00000506000000000000" pitchFamily="50" charset="-78"/>
                <a:cs typeface="29LT Adir" panose="00000506000000000000" pitchFamily="50" charset="-78"/>
                <a:sym typeface="Arial"/>
              </a:rPr>
              <a:t>Asteroid Mission Study</a:t>
            </a:r>
            <a:endParaRPr sz="18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56" name="Google Shape;56;p5"/>
          <p:cNvSpPr/>
          <p:nvPr/>
        </p:nvSpPr>
        <p:spPr>
          <a:xfrm>
            <a:off x="579501" y="2925189"/>
            <a:ext cx="3941064" cy="457200"/>
          </a:xfrm>
          <a:prstGeom prst="rect">
            <a:avLst/>
          </a:prstGeom>
          <a:noFill/>
          <a:ln>
            <a:noFill/>
          </a:ln>
        </p:spPr>
        <p:txBody>
          <a:bodyPr spcFirstLastPara="1" wrap="square" lIns="0" tIns="0" rIns="0" bIns="0" anchor="t" anchorCtr="0">
            <a:noAutofit/>
          </a:bodyPr>
          <a:lstStyle/>
          <a:p>
            <a:pPr marL="0" marR="0" lvl="0" indent="0" algn="ctr" rtl="0">
              <a:lnSpc>
                <a:spcPct val="112000"/>
              </a:lnSpc>
              <a:spcBef>
                <a:spcPts val="0"/>
              </a:spcBef>
              <a:spcAft>
                <a:spcPts val="0"/>
              </a:spcAft>
              <a:buClr>
                <a:srgbClr val="151B29"/>
              </a:buClr>
              <a:buSzPts val="1200"/>
              <a:buFont typeface="Arial"/>
              <a:buNone/>
            </a:pPr>
            <a:r>
              <a:rPr lang="en-US" sz="1200" dirty="0">
                <a:solidFill>
                  <a:srgbClr val="151B29"/>
                </a:solidFill>
                <a:latin typeface="29LT Adir" panose="00000506000000000000" pitchFamily="50" charset="-78"/>
                <a:cs typeface="29LT Adir" panose="00000506000000000000" pitchFamily="50" charset="-78"/>
                <a:sym typeface="Arial"/>
              </a:rPr>
              <a:t>11 missions benchmarked  → 2 prioritized → RAMSES selected.</a:t>
            </a:r>
            <a:endParaRPr sz="1200" dirty="0">
              <a:solidFill>
                <a:schemeClr val="dk1"/>
              </a:solidFill>
              <a:latin typeface="29LT Adir" panose="00000506000000000000" pitchFamily="50" charset="-78"/>
              <a:cs typeface="29LT Adir" panose="00000506000000000000" pitchFamily="50" charset="-78"/>
              <a:sym typeface="Arial"/>
            </a:endParaRPr>
          </a:p>
        </p:txBody>
      </p:sp>
      <p:sp>
        <p:nvSpPr>
          <p:cNvPr id="57" name="Google Shape;57;p5"/>
          <p:cNvSpPr/>
          <p:nvPr/>
        </p:nvSpPr>
        <p:spPr>
          <a:xfrm>
            <a:off x="2363724" y="3656709"/>
            <a:ext cx="201168" cy="237744"/>
          </a:xfrm>
          <a:prstGeom prst="downArrow">
            <a:avLst>
              <a:gd name="adj1" fmla="val 50000"/>
              <a:gd name="adj2" fmla="val 50000"/>
            </a:avLst>
          </a:prstGeom>
          <a:solidFill>
            <a:srgbClr val="A8B3C6"/>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58" name="Google Shape;58;p5"/>
          <p:cNvSpPr/>
          <p:nvPr/>
        </p:nvSpPr>
        <p:spPr>
          <a:xfrm>
            <a:off x="516638" y="4040757"/>
            <a:ext cx="3988688" cy="1463040"/>
          </a:xfrm>
          <a:prstGeom prst="roundRect">
            <a:avLst>
              <a:gd name="adj" fmla="val 5625"/>
            </a:avLst>
          </a:prstGeom>
          <a:solidFill>
            <a:srgbClr val="FFFFFF"/>
          </a:solidFill>
          <a:ln w="19050" cap="flat" cmpd="sng">
            <a:solidFill>
              <a:srgbClr val="00B0F0"/>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59" name="Google Shape;59;p5"/>
          <p:cNvSpPr/>
          <p:nvPr/>
        </p:nvSpPr>
        <p:spPr>
          <a:xfrm>
            <a:off x="493776" y="4260213"/>
            <a:ext cx="3941064" cy="20116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8A33D"/>
              </a:buClr>
              <a:buSzPts val="1000"/>
              <a:buFont typeface="Courier New"/>
              <a:buNone/>
            </a:pPr>
            <a:r>
              <a:rPr lang="en-US" sz="1000" b="1">
                <a:solidFill>
                  <a:srgbClr val="E8A33D"/>
                </a:solidFill>
                <a:latin typeface="Courier New"/>
                <a:ea typeface="Courier New"/>
                <a:cs typeface="Courier New"/>
                <a:sym typeface="Courier New"/>
              </a:rPr>
              <a:t>PHASE 2 — THIS STUDY</a:t>
            </a:r>
            <a:endParaRPr sz="1000">
              <a:solidFill>
                <a:srgbClr val="E8A33D"/>
              </a:solidFill>
              <a:latin typeface="Courier New"/>
              <a:ea typeface="Courier New"/>
              <a:cs typeface="Courier New"/>
              <a:sym typeface="Courier New"/>
            </a:endParaRPr>
          </a:p>
        </p:txBody>
      </p:sp>
      <p:sp>
        <p:nvSpPr>
          <p:cNvPr id="60" name="Google Shape;60;p5"/>
          <p:cNvSpPr/>
          <p:nvPr/>
        </p:nvSpPr>
        <p:spPr>
          <a:xfrm>
            <a:off x="493776" y="4497957"/>
            <a:ext cx="3941064"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3234C"/>
              </a:buClr>
              <a:buSzPts val="1800"/>
              <a:buFont typeface="Arial"/>
              <a:buNone/>
            </a:pPr>
            <a:r>
              <a:rPr lang="en-US" sz="1800" b="1" dirty="0">
                <a:solidFill>
                  <a:srgbClr val="13234C"/>
                </a:solidFill>
                <a:latin typeface="29LT Adir" panose="00000506000000000000" pitchFamily="50" charset="-78"/>
                <a:cs typeface="29LT Adir" panose="00000506000000000000" pitchFamily="50" charset="-78"/>
                <a:sym typeface="Arial"/>
              </a:rPr>
              <a:t>Payload Study</a:t>
            </a:r>
            <a:endParaRPr sz="18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61" name="Google Shape;61;p5"/>
          <p:cNvSpPr/>
          <p:nvPr/>
        </p:nvSpPr>
        <p:spPr>
          <a:xfrm>
            <a:off x="493776" y="4900293"/>
            <a:ext cx="3941064" cy="365760"/>
          </a:xfrm>
          <a:prstGeom prst="rect">
            <a:avLst/>
          </a:prstGeom>
          <a:noFill/>
          <a:ln>
            <a:noFill/>
          </a:ln>
        </p:spPr>
        <p:txBody>
          <a:bodyPr spcFirstLastPara="1" wrap="square" lIns="0" tIns="0" rIns="0" bIns="0" anchor="t" anchorCtr="0">
            <a:noAutofit/>
          </a:bodyPr>
          <a:lstStyle/>
          <a:p>
            <a:pPr marL="0" marR="0" lvl="0" indent="0" algn="ctr" rtl="0">
              <a:spcBef>
                <a:spcPts val="0"/>
              </a:spcBef>
              <a:spcAft>
                <a:spcPts val="0"/>
              </a:spcAft>
              <a:buClr>
                <a:srgbClr val="151B29"/>
              </a:buClr>
              <a:buSzPts val="1400"/>
              <a:buFont typeface="Arial"/>
              <a:buNone/>
            </a:pPr>
            <a:r>
              <a:rPr lang="en-US" sz="1400">
                <a:solidFill>
                  <a:srgbClr val="151B29"/>
                </a:solidFill>
                <a:latin typeface="29LT Adir" panose="00000506000000000000" pitchFamily="50" charset="-78"/>
                <a:cs typeface="29LT Adir" panose="00000506000000000000" pitchFamily="50" charset="-78"/>
                <a:sym typeface="Arial"/>
              </a:rPr>
              <a:t>What payload to put on the mission?</a:t>
            </a:r>
            <a:endParaRPr sz="1400">
              <a:solidFill>
                <a:schemeClr val="dk1"/>
              </a:solidFill>
              <a:latin typeface="29LT Adir" panose="00000506000000000000" pitchFamily="50" charset="-78"/>
              <a:cs typeface="29LT Adir" panose="00000506000000000000" pitchFamily="50" charset="-78"/>
              <a:sym typeface="Arial"/>
            </a:endParaRPr>
          </a:p>
        </p:txBody>
      </p:sp>
      <p:sp>
        <p:nvSpPr>
          <p:cNvPr id="62" name="Google Shape;62;p5"/>
          <p:cNvSpPr/>
          <p:nvPr/>
        </p:nvSpPr>
        <p:spPr>
          <a:xfrm>
            <a:off x="5623560" y="1736469"/>
            <a:ext cx="58978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B0F0"/>
              </a:buClr>
              <a:buSzPts val="1000"/>
              <a:buFont typeface="Arial"/>
              <a:buNone/>
            </a:pPr>
            <a:r>
              <a:rPr lang="en-US" sz="1000" b="1">
                <a:solidFill>
                  <a:srgbClr val="00B0F0"/>
                </a:solidFill>
                <a:latin typeface="Arial"/>
                <a:ea typeface="Arial"/>
                <a:cs typeface="Arial"/>
                <a:sym typeface="Arial"/>
              </a:rPr>
              <a:t>OBJECTIVE</a:t>
            </a:r>
            <a:endParaRPr sz="1000">
              <a:solidFill>
                <a:srgbClr val="00B0F0"/>
              </a:solidFill>
              <a:latin typeface="Calibri"/>
              <a:ea typeface="Calibri"/>
              <a:cs typeface="Calibri"/>
              <a:sym typeface="Calibri"/>
            </a:endParaRPr>
          </a:p>
        </p:txBody>
      </p:sp>
      <p:sp>
        <p:nvSpPr>
          <p:cNvPr id="63" name="Google Shape;63;p5"/>
          <p:cNvSpPr/>
          <p:nvPr/>
        </p:nvSpPr>
        <p:spPr>
          <a:xfrm>
            <a:off x="5623560" y="2065653"/>
            <a:ext cx="5897880" cy="1463040"/>
          </a:xfrm>
          <a:prstGeom prst="roundRect">
            <a:avLst>
              <a:gd name="adj" fmla="val 5000"/>
            </a:avLst>
          </a:prstGeom>
          <a:solidFill>
            <a:srgbClr val="101E42"/>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4" name="Google Shape;64;p5"/>
          <p:cNvSpPr/>
          <p:nvPr/>
        </p:nvSpPr>
        <p:spPr>
          <a:xfrm>
            <a:off x="5934456" y="2065653"/>
            <a:ext cx="5276088" cy="1463040"/>
          </a:xfrm>
          <a:prstGeom prst="rect">
            <a:avLst/>
          </a:prstGeom>
          <a:noFill/>
          <a:ln>
            <a:noFill/>
          </a:ln>
        </p:spPr>
        <p:txBody>
          <a:bodyPr spcFirstLastPara="1" wrap="square" lIns="0" tIns="0" rIns="0" bIns="0" anchor="ctr" anchorCtr="0">
            <a:noAutofit/>
          </a:bodyPr>
          <a:lstStyle/>
          <a:p>
            <a:pPr marL="0" marR="0" lvl="0" indent="0" algn="ctr" rtl="0">
              <a:lnSpc>
                <a:spcPct val="124000"/>
              </a:lnSpc>
              <a:spcBef>
                <a:spcPts val="0"/>
              </a:spcBef>
              <a:spcAft>
                <a:spcPts val="0"/>
              </a:spcAft>
              <a:buClr>
                <a:srgbClr val="E7ECF7"/>
              </a:buClr>
              <a:buSzPts val="1800"/>
              <a:buFont typeface="Arial"/>
              <a:buNone/>
            </a:pPr>
            <a:r>
              <a:rPr lang="en-US" sz="1800">
                <a:solidFill>
                  <a:srgbClr val="E7ECF7"/>
                </a:solidFill>
                <a:latin typeface="29LT Adir" panose="00000506000000000000" pitchFamily="50" charset="-78"/>
                <a:cs typeface="29LT Adir" panose="00000506000000000000" pitchFamily="50" charset="-78"/>
                <a:sym typeface="Arial"/>
              </a:rPr>
              <a:t>Identify the knowledge gap where an additional payload would most increase the scientific return of RAMSES</a:t>
            </a:r>
            <a:endParaRPr sz="1800">
              <a:solidFill>
                <a:schemeClr val="dk1"/>
              </a:solidFill>
              <a:latin typeface="29LT Adir" panose="00000506000000000000" pitchFamily="50" charset="-78"/>
              <a:cs typeface="29LT Adir" panose="00000506000000000000" pitchFamily="50" charset="-78"/>
              <a:sym typeface="Arial"/>
            </a:endParaRPr>
          </a:p>
        </p:txBody>
      </p:sp>
      <p:sp>
        <p:nvSpPr>
          <p:cNvPr id="65" name="Google Shape;65;p5"/>
          <p:cNvSpPr/>
          <p:nvPr/>
        </p:nvSpPr>
        <p:spPr>
          <a:xfrm>
            <a:off x="5623560" y="3711573"/>
            <a:ext cx="58978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B0F0"/>
              </a:buClr>
              <a:buSzPts val="1000"/>
              <a:buFont typeface="Arial"/>
              <a:buNone/>
            </a:pPr>
            <a:r>
              <a:rPr lang="en-US" sz="1000" b="1">
                <a:solidFill>
                  <a:srgbClr val="00B0F0"/>
                </a:solidFill>
                <a:latin typeface="Arial"/>
                <a:ea typeface="Arial"/>
                <a:cs typeface="Arial"/>
                <a:sym typeface="Arial"/>
              </a:rPr>
              <a:t>SCOPE</a:t>
            </a:r>
            <a:endParaRPr sz="1000">
              <a:solidFill>
                <a:srgbClr val="00B0F0"/>
              </a:solidFill>
              <a:latin typeface="Calibri"/>
              <a:ea typeface="Calibri"/>
              <a:cs typeface="Calibri"/>
              <a:sym typeface="Calibri"/>
            </a:endParaRPr>
          </a:p>
        </p:txBody>
      </p:sp>
      <p:sp>
        <p:nvSpPr>
          <p:cNvPr id="66" name="Google Shape;66;p5"/>
          <p:cNvSpPr/>
          <p:nvPr/>
        </p:nvSpPr>
        <p:spPr>
          <a:xfrm>
            <a:off x="10881360" y="6272784"/>
            <a:ext cx="694944"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79839A"/>
              </a:buClr>
              <a:buSzPts val="1000"/>
              <a:buFont typeface="Arial"/>
              <a:buNone/>
            </a:pPr>
            <a:r>
              <a:rPr lang="en-US" sz="1000">
                <a:solidFill>
                  <a:srgbClr val="79839A"/>
                </a:solidFill>
                <a:latin typeface="Arial"/>
                <a:ea typeface="Arial"/>
                <a:cs typeface="Arial"/>
                <a:sym typeface="Arial"/>
              </a:rPr>
              <a:t>2</a:t>
            </a:r>
            <a:endParaRPr sz="1000">
              <a:solidFill>
                <a:schemeClr val="dk1"/>
              </a:solidFill>
              <a:latin typeface="Calibri"/>
              <a:ea typeface="Calibri"/>
              <a:cs typeface="Calibri"/>
              <a:sym typeface="Calibri"/>
            </a:endParaRPr>
          </a:p>
        </p:txBody>
      </p:sp>
      <p:pic>
        <p:nvPicPr>
          <p:cNvPr id="67" name="Google Shape;67;p5" descr="/home/claude/work/a2/logo_dark.png"/>
          <p:cNvPicPr preferRelativeResize="0"/>
          <p:nvPr/>
        </p:nvPicPr>
        <p:blipFill rotWithShape="1">
          <a:blip r:embed="rId5">
            <a:alphaModFix/>
          </a:blip>
          <a:srcRect/>
          <a:stretch/>
        </p:blipFill>
        <p:spPr>
          <a:xfrm>
            <a:off x="10616340" y="122984"/>
            <a:ext cx="1450538" cy="814736"/>
          </a:xfrm>
          <a:prstGeom prst="rect">
            <a:avLst/>
          </a:prstGeom>
          <a:noFill/>
          <a:ln>
            <a:noFill/>
          </a:ln>
        </p:spPr>
      </p:pic>
      <p:cxnSp>
        <p:nvCxnSpPr>
          <p:cNvPr id="68" name="Google Shape;68;p5"/>
          <p:cNvCxnSpPr>
            <a:stCxn id="58" idx="3"/>
          </p:cNvCxnSpPr>
          <p:nvPr/>
        </p:nvCxnSpPr>
        <p:spPr>
          <a:xfrm rot="10800000" flipH="1">
            <a:off x="4505326" y="1810677"/>
            <a:ext cx="831600" cy="2961600"/>
          </a:xfrm>
          <a:prstGeom prst="straightConnector1">
            <a:avLst/>
          </a:prstGeom>
          <a:noFill/>
          <a:ln w="19050" cap="flat" cmpd="sng">
            <a:solidFill>
              <a:srgbClr val="00B0F0"/>
            </a:solidFill>
            <a:prstDash val="solid"/>
            <a:miter lim="8000"/>
            <a:headEnd type="none" w="sm" len="sm"/>
            <a:tailEnd type="none" w="sm" len="sm"/>
          </a:ln>
          <a:effectLst>
            <a:outerShdw blurRad="50800" dist="38100" dir="8100000" algn="tr" rotWithShape="0">
              <a:srgbClr val="000000">
                <a:alpha val="40000"/>
              </a:srgbClr>
            </a:outerShdw>
          </a:effectLst>
        </p:spPr>
      </p:cxnSp>
      <p:cxnSp>
        <p:nvCxnSpPr>
          <p:cNvPr id="69" name="Google Shape;69;p5"/>
          <p:cNvCxnSpPr>
            <a:stCxn id="70" idx="4"/>
          </p:cNvCxnSpPr>
          <p:nvPr/>
        </p:nvCxnSpPr>
        <p:spPr>
          <a:xfrm>
            <a:off x="4527373" y="4787098"/>
            <a:ext cx="809700" cy="479100"/>
          </a:xfrm>
          <a:prstGeom prst="straightConnector1">
            <a:avLst/>
          </a:prstGeom>
          <a:noFill/>
          <a:ln w="19050" cap="flat" cmpd="sng">
            <a:solidFill>
              <a:srgbClr val="00B0F0"/>
            </a:solidFill>
            <a:prstDash val="solid"/>
            <a:miter lim="8000"/>
            <a:headEnd type="none" w="sm" len="sm"/>
            <a:tailEnd type="none" w="sm" len="sm"/>
          </a:ln>
          <a:effectLst>
            <a:outerShdw blurRad="50800" dist="38100" dir="8100000" algn="tr" rotWithShape="0">
              <a:srgbClr val="000000">
                <a:alpha val="40000"/>
              </a:srgbClr>
            </a:outerShdw>
          </a:effectLst>
        </p:spPr>
      </p:cxnSp>
      <p:cxnSp>
        <p:nvCxnSpPr>
          <p:cNvPr id="71" name="Google Shape;71;p5"/>
          <p:cNvCxnSpPr>
            <a:endCxn id="72" idx="0"/>
          </p:cNvCxnSpPr>
          <p:nvPr/>
        </p:nvCxnSpPr>
        <p:spPr>
          <a:xfrm rot="10800000" flipH="1">
            <a:off x="5287908" y="1880513"/>
            <a:ext cx="38100" cy="3368400"/>
          </a:xfrm>
          <a:prstGeom prst="straightConnector1">
            <a:avLst/>
          </a:prstGeom>
          <a:noFill/>
          <a:ln w="19050" cap="flat" cmpd="sng">
            <a:solidFill>
              <a:srgbClr val="00B0F0"/>
            </a:solidFill>
            <a:prstDash val="solid"/>
            <a:miter lim="8000"/>
            <a:headEnd type="none" w="sm" len="sm"/>
            <a:tailEnd type="none" w="sm" len="sm"/>
          </a:ln>
        </p:spPr>
      </p:cxnSp>
      <p:sp>
        <p:nvSpPr>
          <p:cNvPr id="72" name="Google Shape;72;p5"/>
          <p:cNvSpPr/>
          <p:nvPr/>
        </p:nvSpPr>
        <p:spPr>
          <a:xfrm rot="503822" flipH="1">
            <a:off x="4730875" y="1864436"/>
            <a:ext cx="752267" cy="2999334"/>
          </a:xfrm>
          <a:prstGeom prst="triangle">
            <a:avLst>
              <a:gd name="adj" fmla="val 50000"/>
            </a:avLst>
          </a:prstGeom>
          <a:solidFill>
            <a:srgbClr val="18B5F0"/>
          </a:solidFill>
          <a:ln w="12700" cap="flat" cmpd="sng">
            <a:solidFill>
              <a:srgbClr val="18B5F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0" name="Google Shape;70;p5"/>
          <p:cNvSpPr/>
          <p:nvPr/>
        </p:nvSpPr>
        <p:spPr>
          <a:xfrm rot="-10572091">
            <a:off x="4517271" y="4811329"/>
            <a:ext cx="740815" cy="280420"/>
          </a:xfrm>
          <a:prstGeom prst="triangle">
            <a:avLst>
              <a:gd name="adj" fmla="val 26491"/>
            </a:avLst>
          </a:prstGeom>
          <a:solidFill>
            <a:srgbClr val="18B5F0"/>
          </a:solidFill>
          <a:ln w="12700" cap="flat" cmpd="sng">
            <a:solidFill>
              <a:srgbClr val="18B5F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3" name="Google Shape;73;p5"/>
          <p:cNvSpPr/>
          <p:nvPr/>
        </p:nvSpPr>
        <p:spPr>
          <a:xfrm rot="-10436494">
            <a:off x="5078444" y="4887978"/>
            <a:ext cx="179981" cy="280420"/>
          </a:xfrm>
          <a:prstGeom prst="triangle">
            <a:avLst>
              <a:gd name="adj" fmla="val 26491"/>
            </a:avLst>
          </a:prstGeom>
          <a:solidFill>
            <a:srgbClr val="18B5F0"/>
          </a:solidFill>
          <a:ln w="12700" cap="flat" cmpd="sng">
            <a:solidFill>
              <a:srgbClr val="18B5F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4" name="Google Shape;74;p5"/>
          <p:cNvSpPr/>
          <p:nvPr/>
        </p:nvSpPr>
        <p:spPr>
          <a:xfrm rot="1882426" flipH="1">
            <a:off x="5059564" y="4925793"/>
            <a:ext cx="194028" cy="211160"/>
          </a:xfrm>
          <a:prstGeom prst="triangle">
            <a:avLst>
              <a:gd name="adj" fmla="val 26491"/>
            </a:avLst>
          </a:prstGeom>
          <a:solidFill>
            <a:srgbClr val="18B5F0"/>
          </a:solidFill>
          <a:ln w="12700" cap="flat" cmpd="sng">
            <a:solidFill>
              <a:srgbClr val="18B5F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75" name="Google Shape;75;p5"/>
          <p:cNvCxnSpPr/>
          <p:nvPr/>
        </p:nvCxnSpPr>
        <p:spPr>
          <a:xfrm rot="10800000" flipH="1">
            <a:off x="5298947" y="2052528"/>
            <a:ext cx="39503" cy="3177323"/>
          </a:xfrm>
          <a:prstGeom prst="straightConnector1">
            <a:avLst/>
          </a:prstGeom>
          <a:noFill/>
          <a:ln w="19050" cap="flat" cmpd="sng">
            <a:solidFill>
              <a:srgbClr val="00B0F0"/>
            </a:solidFill>
            <a:prstDash val="solid"/>
            <a:miter lim="8000"/>
            <a:headEnd type="none" w="sm" len="sm"/>
            <a:tailEnd type="none" w="sm" len="sm"/>
          </a:ln>
        </p:spPr>
      </p:cxnSp>
      <p:cxnSp>
        <p:nvCxnSpPr>
          <p:cNvPr id="76" name="Google Shape;76;p5"/>
          <p:cNvCxnSpPr/>
          <p:nvPr/>
        </p:nvCxnSpPr>
        <p:spPr>
          <a:xfrm rot="10800000" flipH="1">
            <a:off x="5318251" y="1967557"/>
            <a:ext cx="20009" cy="3262294"/>
          </a:xfrm>
          <a:prstGeom prst="straightConnector1">
            <a:avLst/>
          </a:prstGeom>
          <a:noFill/>
          <a:ln w="19050" cap="flat" cmpd="sng">
            <a:solidFill>
              <a:srgbClr val="00B0F0"/>
            </a:solidFill>
            <a:prstDash val="solid"/>
            <a:miter lim="8000"/>
            <a:headEnd type="none" w="sm" len="sm"/>
            <a:tailEnd type="none" w="sm" len="sm"/>
          </a:ln>
        </p:spPr>
      </p:cxnSp>
      <p:cxnSp>
        <p:nvCxnSpPr>
          <p:cNvPr id="77" name="Google Shape;77;p5"/>
          <p:cNvCxnSpPr/>
          <p:nvPr/>
        </p:nvCxnSpPr>
        <p:spPr>
          <a:xfrm rot="10800000" flipH="1">
            <a:off x="5318251" y="2011976"/>
            <a:ext cx="7620" cy="3236932"/>
          </a:xfrm>
          <a:prstGeom prst="straightConnector1">
            <a:avLst/>
          </a:prstGeom>
          <a:noFill/>
          <a:ln w="19050" cap="flat" cmpd="sng">
            <a:solidFill>
              <a:srgbClr val="00B0F0"/>
            </a:solidFill>
            <a:prstDash val="solid"/>
            <a:miter lim="8000"/>
            <a:headEnd type="none" w="sm" len="sm"/>
            <a:tailEnd type="none" w="sm" len="sm"/>
          </a:ln>
        </p:spPr>
      </p:cxnSp>
      <p:sp>
        <p:nvSpPr>
          <p:cNvPr id="78" name="Google Shape;78;p5"/>
          <p:cNvSpPr/>
          <p:nvPr/>
        </p:nvSpPr>
        <p:spPr>
          <a:xfrm rot="1408918" flipH="1">
            <a:off x="5215200" y="5051620"/>
            <a:ext cx="115042" cy="151175"/>
          </a:xfrm>
          <a:prstGeom prst="triangle">
            <a:avLst>
              <a:gd name="adj" fmla="val 26491"/>
            </a:avLst>
          </a:prstGeom>
          <a:solidFill>
            <a:srgbClr val="18B5F0"/>
          </a:solidFill>
          <a:ln w="12700" cap="flat" cmpd="sng">
            <a:solidFill>
              <a:srgbClr val="18B5F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79" name="Google Shape;79;p5"/>
          <p:cNvSpPr/>
          <p:nvPr/>
        </p:nvSpPr>
        <p:spPr>
          <a:xfrm rot="1408918" flipH="1">
            <a:off x="5181530" y="5019524"/>
            <a:ext cx="115042" cy="151175"/>
          </a:xfrm>
          <a:prstGeom prst="triangle">
            <a:avLst>
              <a:gd name="adj" fmla="val 26491"/>
            </a:avLst>
          </a:prstGeom>
          <a:solidFill>
            <a:srgbClr val="18B5F0"/>
          </a:solidFill>
          <a:ln w="12700" cap="flat" cmpd="sng">
            <a:solidFill>
              <a:srgbClr val="18B5F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0" name="Google Shape;80;p5"/>
          <p:cNvSpPr/>
          <p:nvPr/>
        </p:nvSpPr>
        <p:spPr>
          <a:xfrm rot="1408918" flipH="1">
            <a:off x="5188193" y="4939964"/>
            <a:ext cx="115042" cy="151175"/>
          </a:xfrm>
          <a:prstGeom prst="triangle">
            <a:avLst>
              <a:gd name="adj" fmla="val 26491"/>
            </a:avLst>
          </a:prstGeom>
          <a:solidFill>
            <a:srgbClr val="18B5F0"/>
          </a:solidFill>
          <a:ln w="12700" cap="flat" cmpd="sng">
            <a:solidFill>
              <a:srgbClr val="18B5F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1" name="Google Shape;81;p5"/>
          <p:cNvSpPr/>
          <p:nvPr/>
        </p:nvSpPr>
        <p:spPr>
          <a:xfrm rot="1408918" flipH="1">
            <a:off x="5194856" y="4860404"/>
            <a:ext cx="115042" cy="151175"/>
          </a:xfrm>
          <a:prstGeom prst="triangle">
            <a:avLst>
              <a:gd name="adj" fmla="val 26491"/>
            </a:avLst>
          </a:prstGeom>
          <a:solidFill>
            <a:srgbClr val="18B5F0"/>
          </a:solidFill>
          <a:ln w="12700" cap="flat" cmpd="sng">
            <a:solidFill>
              <a:srgbClr val="18B5F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2" name="Google Shape;82;p5"/>
          <p:cNvSpPr/>
          <p:nvPr/>
        </p:nvSpPr>
        <p:spPr>
          <a:xfrm rot="1408918" flipH="1">
            <a:off x="5201519" y="4780844"/>
            <a:ext cx="115042" cy="151175"/>
          </a:xfrm>
          <a:prstGeom prst="triangle">
            <a:avLst>
              <a:gd name="adj" fmla="val 26491"/>
            </a:avLst>
          </a:prstGeom>
          <a:solidFill>
            <a:srgbClr val="18B5F0"/>
          </a:solidFill>
          <a:ln w="12700" cap="flat" cmpd="sng">
            <a:solidFill>
              <a:srgbClr val="18B5F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3" name="Google Shape;83;p5"/>
          <p:cNvSpPr/>
          <p:nvPr/>
        </p:nvSpPr>
        <p:spPr>
          <a:xfrm rot="1408918" flipH="1">
            <a:off x="5208182" y="4701284"/>
            <a:ext cx="115042" cy="151175"/>
          </a:xfrm>
          <a:prstGeom prst="triangle">
            <a:avLst>
              <a:gd name="adj" fmla="val 26491"/>
            </a:avLst>
          </a:prstGeom>
          <a:solidFill>
            <a:srgbClr val="18B5F0"/>
          </a:solidFill>
          <a:ln w="12700" cap="flat" cmpd="sng">
            <a:solidFill>
              <a:srgbClr val="18B5F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4" name="Google Shape;84;p5"/>
          <p:cNvSpPr/>
          <p:nvPr/>
        </p:nvSpPr>
        <p:spPr>
          <a:xfrm rot="1408918" flipH="1">
            <a:off x="5214845" y="4621724"/>
            <a:ext cx="115042" cy="151175"/>
          </a:xfrm>
          <a:prstGeom prst="triangle">
            <a:avLst>
              <a:gd name="adj" fmla="val 26491"/>
            </a:avLst>
          </a:prstGeom>
          <a:solidFill>
            <a:srgbClr val="18B5F0"/>
          </a:solidFill>
          <a:ln w="12700" cap="flat" cmpd="sng">
            <a:solidFill>
              <a:srgbClr val="18B5F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5" name="Google Shape;85;p5"/>
          <p:cNvSpPr/>
          <p:nvPr/>
        </p:nvSpPr>
        <p:spPr>
          <a:xfrm rot="1408918" flipH="1">
            <a:off x="5221508" y="4542164"/>
            <a:ext cx="115042" cy="151175"/>
          </a:xfrm>
          <a:prstGeom prst="triangle">
            <a:avLst>
              <a:gd name="adj" fmla="val 26491"/>
            </a:avLst>
          </a:prstGeom>
          <a:solidFill>
            <a:srgbClr val="18B5F0"/>
          </a:solidFill>
          <a:ln w="12700" cap="flat" cmpd="sng">
            <a:solidFill>
              <a:srgbClr val="18B5F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
        <p:nvSpPr>
          <p:cNvPr id="86" name="Google Shape;86;p5"/>
          <p:cNvSpPr/>
          <p:nvPr/>
        </p:nvSpPr>
        <p:spPr>
          <a:xfrm rot="1408918" flipH="1">
            <a:off x="5228171" y="4462604"/>
            <a:ext cx="115042" cy="151175"/>
          </a:xfrm>
          <a:prstGeom prst="triangle">
            <a:avLst>
              <a:gd name="adj" fmla="val 26491"/>
            </a:avLst>
          </a:prstGeom>
          <a:solidFill>
            <a:srgbClr val="18B5F0"/>
          </a:solidFill>
          <a:ln w="12700" cap="flat" cmpd="sng">
            <a:solidFill>
              <a:srgbClr val="18B5F0"/>
            </a:solidFill>
            <a:prstDash val="solid"/>
            <a:miter lim="8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cxnSp>
        <p:nvCxnSpPr>
          <p:cNvPr id="87" name="Google Shape;87;p5"/>
          <p:cNvCxnSpPr>
            <a:stCxn id="79" idx="1"/>
          </p:cNvCxnSpPr>
          <p:nvPr/>
        </p:nvCxnSpPr>
        <p:spPr>
          <a:xfrm rot="10800000" flipH="1">
            <a:off x="5277832" y="2216360"/>
            <a:ext cx="21000" cy="2895600"/>
          </a:xfrm>
          <a:prstGeom prst="straightConnector1">
            <a:avLst/>
          </a:prstGeom>
          <a:noFill/>
          <a:ln w="19050" cap="flat" cmpd="sng">
            <a:solidFill>
              <a:srgbClr val="00B0F0"/>
            </a:solidFill>
            <a:prstDash val="solid"/>
            <a:miter lim="8000"/>
            <a:headEnd type="none" w="sm" len="sm"/>
            <a:tailEnd type="none" w="sm" len="sm"/>
          </a:ln>
        </p:spPr>
      </p:cxnSp>
      <p:sp>
        <p:nvSpPr>
          <p:cNvPr id="88" name="Google Shape;88;p5"/>
          <p:cNvSpPr/>
          <p:nvPr/>
        </p:nvSpPr>
        <p:spPr>
          <a:xfrm>
            <a:off x="531876" y="5731693"/>
            <a:ext cx="11374374" cy="725408"/>
          </a:xfrm>
          <a:prstGeom prst="roundRect">
            <a:avLst>
              <a:gd name="adj" fmla="val 7843"/>
            </a:avLst>
          </a:prstGeom>
          <a:solidFill>
            <a:srgbClr val="101E42"/>
          </a:solidFill>
          <a:ln w="9525" cap="flat" cmpd="sng">
            <a:solidFill>
              <a:schemeClr val="lt1"/>
            </a:solidFill>
            <a:prstDash val="solid"/>
            <a:round/>
            <a:headEnd type="none" w="sm" len="sm"/>
            <a:tailEnd type="none" w="sm" len="sm"/>
          </a:ln>
          <a:effectLst>
            <a:outerShdw blurRad="50800" dist="38100" dir="5400000" algn="t"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sz="2400">
              <a:solidFill>
                <a:schemeClr val="dk1"/>
              </a:solidFill>
              <a:latin typeface="Calibri"/>
              <a:ea typeface="Calibri"/>
              <a:cs typeface="Calibri"/>
              <a:sym typeface="Calibri"/>
            </a:endParaRPr>
          </a:p>
        </p:txBody>
      </p:sp>
      <p:sp>
        <p:nvSpPr>
          <p:cNvPr id="89" name="Google Shape;89;p5"/>
          <p:cNvSpPr/>
          <p:nvPr/>
        </p:nvSpPr>
        <p:spPr>
          <a:xfrm>
            <a:off x="3177540" y="5819364"/>
            <a:ext cx="5394960" cy="256032"/>
          </a:xfrm>
          <a:prstGeom prst="rect">
            <a:avLst/>
          </a:prstGeom>
          <a:solidFill>
            <a:srgbClr val="101E42"/>
          </a:solidFill>
          <a:ln>
            <a:noFill/>
          </a:ln>
        </p:spPr>
        <p:txBody>
          <a:bodyPr spcFirstLastPara="1" wrap="square" lIns="0" tIns="0" rIns="0" bIns="0" anchor="ctr" anchorCtr="0">
            <a:noAutofit/>
          </a:bodyPr>
          <a:lstStyle/>
          <a:p>
            <a:pPr marL="0" marR="0" lvl="0" indent="0" algn="ctr" rtl="0">
              <a:spcBef>
                <a:spcPts val="0"/>
              </a:spcBef>
              <a:spcAft>
                <a:spcPts val="0"/>
              </a:spcAft>
              <a:buClr>
                <a:srgbClr val="00B0F0"/>
              </a:buClr>
              <a:buSzPts val="1800"/>
              <a:buFont typeface="Arial"/>
              <a:buNone/>
            </a:pPr>
            <a:r>
              <a:rPr lang="en-US" sz="1800">
                <a:solidFill>
                  <a:srgbClr val="00B0F0"/>
                </a:solidFill>
                <a:latin typeface="29LT Adir" panose="00000506000000000000" pitchFamily="50" charset="-78"/>
                <a:cs typeface="29LT Adir" panose="00000506000000000000" pitchFamily="50" charset="-78"/>
                <a:sym typeface="Arial"/>
              </a:rPr>
              <a:t>The question is no longer whether to participate.</a:t>
            </a:r>
            <a:endParaRPr sz="1800">
              <a:solidFill>
                <a:srgbClr val="00B0F0"/>
              </a:solidFill>
              <a:latin typeface="29LT Adir" panose="00000506000000000000" pitchFamily="50" charset="-78"/>
              <a:ea typeface="Calibri"/>
              <a:cs typeface="29LT Adir" panose="00000506000000000000" pitchFamily="50" charset="-78"/>
              <a:sym typeface="Calibri"/>
            </a:endParaRPr>
          </a:p>
        </p:txBody>
      </p:sp>
      <p:sp>
        <p:nvSpPr>
          <p:cNvPr id="90" name="Google Shape;90;p5"/>
          <p:cNvSpPr/>
          <p:nvPr/>
        </p:nvSpPr>
        <p:spPr>
          <a:xfrm>
            <a:off x="1273940" y="6146776"/>
            <a:ext cx="10022709" cy="161395"/>
          </a:xfrm>
          <a:prstGeom prst="rect">
            <a:avLst/>
          </a:prstGeom>
          <a:solidFill>
            <a:srgbClr val="101E42"/>
          </a:solidFill>
          <a:ln>
            <a:noFill/>
          </a:ln>
        </p:spPr>
        <p:txBody>
          <a:bodyPr spcFirstLastPara="1" wrap="square" lIns="0" tIns="0" rIns="0" bIns="0" anchor="t" anchorCtr="0">
            <a:noAutofit/>
          </a:bodyPr>
          <a:lstStyle/>
          <a:p>
            <a:pPr marL="0" marR="0" lvl="0" indent="0" algn="ctr" rtl="0">
              <a:lnSpc>
                <a:spcPct val="110000"/>
              </a:lnSpc>
              <a:spcBef>
                <a:spcPts val="0"/>
              </a:spcBef>
              <a:spcAft>
                <a:spcPts val="0"/>
              </a:spcAft>
              <a:buClr>
                <a:schemeClr val="lt1"/>
              </a:buClr>
              <a:buSzPts val="1100"/>
              <a:buFont typeface="Arial"/>
              <a:buNone/>
            </a:pPr>
            <a:r>
              <a:rPr lang="en-US" sz="1100">
                <a:solidFill>
                  <a:schemeClr val="lt1"/>
                </a:solidFill>
                <a:latin typeface="29LT Adir" panose="00000506000000000000" pitchFamily="50" charset="-78"/>
                <a:cs typeface="29LT Adir" panose="00000506000000000000" pitchFamily="50" charset="-78"/>
                <a:sym typeface="Arial"/>
              </a:rPr>
              <a:t>Phase 1 settled the mission. What remains is to put a specific  technically credible contribution on the table while the build phase can still accommodate it.</a:t>
            </a:r>
            <a:endParaRPr sz="1100">
              <a:solidFill>
                <a:schemeClr val="lt1"/>
              </a:solidFill>
              <a:latin typeface="29LT Adir" panose="00000506000000000000" pitchFamily="50" charset="-78"/>
              <a:ea typeface="Calibri"/>
              <a:cs typeface="29LT Adir" panose="00000506000000000000" pitchFamily="50" charset="-78"/>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9E1EF"/>
        </a:solidFill>
        <a:effectLst/>
      </p:bgPr>
    </p:bg>
    <p:spTree>
      <p:nvGrpSpPr>
        <p:cNvPr id="1" name="Shape 96"/>
        <p:cNvGrpSpPr/>
        <p:nvPr/>
      </p:nvGrpSpPr>
      <p:grpSpPr>
        <a:xfrm>
          <a:off x="0" y="0"/>
          <a:ext cx="0" cy="0"/>
          <a:chOff x="0" y="0"/>
          <a:chExt cx="0" cy="0"/>
        </a:xfrm>
      </p:grpSpPr>
      <p:pic>
        <p:nvPicPr>
          <p:cNvPr id="97" name="Google Shape;97;p6" descr="/home/claude/work/a2/light_wash.jpg"/>
          <p:cNvPicPr preferRelativeResize="0"/>
          <p:nvPr/>
        </p:nvPicPr>
        <p:blipFill rotWithShape="1">
          <a:blip r:embed="rId3">
            <a:alphaModFix/>
            <a:extLst>
              <a:ext uri="{BEBA8EAE-BF5A-486C-A8C5-ECC9F3942E4B}">
                <a14:imgProps xmlns:a14="http://schemas.microsoft.com/office/drawing/2010/main">
                  <a14:imgLayer r:embed="rId4">
                    <a14:imgEffect>
                      <a14:brightnessContrast contrast="40000"/>
                    </a14:imgEffect>
                  </a14:imgLayer>
                </a14:imgProps>
              </a:ext>
            </a:extLst>
          </a:blip>
          <a:srcRect/>
          <a:stretch/>
        </p:blipFill>
        <p:spPr>
          <a:xfrm>
            <a:off x="0" y="-219456"/>
            <a:ext cx="12191695" cy="6858000"/>
          </a:xfrm>
          <a:prstGeom prst="rect">
            <a:avLst/>
          </a:prstGeom>
          <a:noFill/>
          <a:ln>
            <a:noFill/>
          </a:ln>
        </p:spPr>
      </p:pic>
      <p:sp>
        <p:nvSpPr>
          <p:cNvPr id="98" name="Google Shape;98;p6"/>
          <p:cNvSpPr/>
          <p:nvPr/>
        </p:nvSpPr>
        <p:spPr>
          <a:xfrm>
            <a:off x="658368" y="530352"/>
            <a:ext cx="9052560" cy="472966"/>
          </a:xfrm>
          <a:prstGeom prst="rect">
            <a:avLst/>
          </a:prstGeom>
          <a:noFill/>
          <a:ln>
            <a:noFill/>
          </a:ln>
        </p:spPr>
        <p:txBody>
          <a:bodyPr spcFirstLastPara="1" wrap="square" lIns="0" tIns="0" rIns="0" bIns="0" anchor="ctr" anchorCtr="0">
            <a:noAutofit/>
          </a:bodyPr>
          <a:lstStyle/>
          <a:p>
            <a:pPr marL="0" marR="0" lvl="0" indent="0" algn="l" rtl="0">
              <a:lnSpc>
                <a:spcPct val="92000"/>
              </a:lnSpc>
              <a:spcBef>
                <a:spcPts val="0"/>
              </a:spcBef>
              <a:spcAft>
                <a:spcPts val="0"/>
              </a:spcAft>
              <a:buClr>
                <a:srgbClr val="13234C"/>
              </a:buClr>
              <a:buSzPts val="3000"/>
              <a:buFont typeface="Arial"/>
              <a:buNone/>
            </a:pPr>
            <a:r>
              <a:rPr lang="en-US" sz="3000" b="1" dirty="0">
                <a:solidFill>
                  <a:srgbClr val="13234C"/>
                </a:solidFill>
                <a:latin typeface="29LT Adir" panose="00000506000000000000" pitchFamily="50" charset="-78"/>
                <a:cs typeface="29LT Adir" panose="00000506000000000000" pitchFamily="50" charset="-78"/>
                <a:sym typeface="Arial"/>
              </a:rPr>
              <a:t>RAMSES Mission Overview</a:t>
            </a:r>
            <a:endParaRPr sz="30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99" name="Google Shape;99;p6"/>
          <p:cNvSpPr/>
          <p:nvPr/>
        </p:nvSpPr>
        <p:spPr>
          <a:xfrm>
            <a:off x="658368" y="1058182"/>
            <a:ext cx="9052560" cy="3291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4C5468"/>
              </a:buClr>
              <a:buSzPts val="1400"/>
              <a:buFont typeface="Arial"/>
              <a:buNone/>
            </a:pPr>
            <a:r>
              <a:rPr lang="en-US" sz="1400" dirty="0">
                <a:solidFill>
                  <a:srgbClr val="4C5468"/>
                </a:solidFill>
                <a:latin typeface="29LT Adir" panose="00000506000000000000" pitchFamily="50" charset="-78"/>
                <a:cs typeface="29LT Adir" panose="00000506000000000000" pitchFamily="50" charset="-78"/>
                <a:sym typeface="Arial"/>
              </a:rPr>
              <a:t>Rapid Apophis Mission for Space Safety , joint ESA–JAXA planetary </a:t>
            </a:r>
            <a:r>
              <a:rPr lang="en-US" sz="1400" dirty="0" err="1">
                <a:solidFill>
                  <a:srgbClr val="4C5468"/>
                </a:solidFill>
                <a:latin typeface="29LT Adir" panose="00000506000000000000" pitchFamily="50" charset="-78"/>
                <a:cs typeface="29LT Adir" panose="00000506000000000000" pitchFamily="50" charset="-78"/>
                <a:sym typeface="Arial"/>
              </a:rPr>
              <a:t>defence</a:t>
            </a:r>
            <a:r>
              <a:rPr lang="en-US" sz="1400" dirty="0">
                <a:solidFill>
                  <a:srgbClr val="4C5468"/>
                </a:solidFill>
                <a:latin typeface="29LT Adir" panose="00000506000000000000" pitchFamily="50" charset="-78"/>
                <a:cs typeface="29LT Adir" panose="00000506000000000000" pitchFamily="50" charset="-78"/>
                <a:sym typeface="Arial"/>
              </a:rPr>
              <a:t> mission.</a:t>
            </a:r>
            <a:endParaRPr sz="1400" dirty="0">
              <a:solidFill>
                <a:schemeClr val="dk1"/>
              </a:solidFill>
              <a:latin typeface="29LT Adir" panose="00000506000000000000" pitchFamily="50" charset="-78"/>
              <a:cs typeface="29LT Adir" panose="00000506000000000000" pitchFamily="50" charset="-78"/>
              <a:sym typeface="Arial"/>
            </a:endParaRPr>
          </a:p>
        </p:txBody>
      </p:sp>
      <p:sp>
        <p:nvSpPr>
          <p:cNvPr id="100" name="Google Shape;100;p6"/>
          <p:cNvSpPr/>
          <p:nvPr/>
        </p:nvSpPr>
        <p:spPr>
          <a:xfrm>
            <a:off x="658368" y="1664208"/>
            <a:ext cx="461772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B0F0"/>
              </a:buClr>
              <a:buSzPts val="900"/>
              <a:buFont typeface="Arial"/>
              <a:buNone/>
            </a:pPr>
            <a:r>
              <a:rPr lang="en-US" sz="1200" b="1">
                <a:solidFill>
                  <a:schemeClr val="accent1">
                    <a:lumMod val="50000"/>
                  </a:schemeClr>
                </a:solidFill>
                <a:latin typeface="Courier New" panose="02070309020205020404" pitchFamily="49" charset="0"/>
                <a:cs typeface="Courier New" panose="02070309020205020404" pitchFamily="49" charset="0"/>
                <a:sym typeface="Arial"/>
              </a:rPr>
              <a:t>TARGET &amp; TIMELINE</a:t>
            </a:r>
            <a:endParaRPr sz="1200">
              <a:solidFill>
                <a:schemeClr val="accent1">
                  <a:lumMod val="50000"/>
                </a:schemeClr>
              </a:solidFill>
              <a:latin typeface="Courier New" panose="02070309020205020404" pitchFamily="49" charset="0"/>
              <a:ea typeface="Calibri"/>
              <a:cs typeface="Courier New" panose="02070309020205020404" pitchFamily="49" charset="0"/>
              <a:sym typeface="Calibri"/>
            </a:endParaRPr>
          </a:p>
        </p:txBody>
      </p:sp>
      <p:sp>
        <p:nvSpPr>
          <p:cNvPr id="101" name="Google Shape;101;p6"/>
          <p:cNvSpPr/>
          <p:nvPr/>
        </p:nvSpPr>
        <p:spPr>
          <a:xfrm>
            <a:off x="658368" y="1975104"/>
            <a:ext cx="4617720" cy="2395728"/>
          </a:xfrm>
          <a:prstGeom prst="roundRect">
            <a:avLst>
              <a:gd name="adj" fmla="val 3435"/>
            </a:avLst>
          </a:prstGeom>
          <a:solidFill>
            <a:srgbClr val="FFFFFF"/>
          </a:solidFill>
          <a:ln w="9525" cap="flat" cmpd="sng">
            <a:solidFill>
              <a:srgbClr val="C4CFE0"/>
            </a:solidFill>
            <a:prstDash val="solid"/>
            <a:round/>
            <a:headEnd type="none" w="sm" len="sm"/>
            <a:tailEnd type="none" w="sm" len="sm"/>
          </a:ln>
          <a:effectLst>
            <a:outerShdw blurRad="127000" dist="25400" dir="5400000" algn="bl" rotWithShape="0">
              <a:srgbClr val="0B1226">
                <a:alpha val="1019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02" name="Google Shape;102;p6"/>
          <p:cNvSpPr/>
          <p:nvPr/>
        </p:nvSpPr>
        <p:spPr>
          <a:xfrm>
            <a:off x="950976" y="2157984"/>
            <a:ext cx="1234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C5468"/>
              </a:buClr>
              <a:buSzPts val="1000"/>
              <a:buFont typeface="Arial"/>
              <a:buNone/>
            </a:pPr>
            <a:r>
              <a:rPr lang="en-US" sz="1100">
                <a:solidFill>
                  <a:srgbClr val="4C5468"/>
                </a:solidFill>
                <a:latin typeface="29LT Adir" panose="00000506000000000000" pitchFamily="50" charset="-78"/>
                <a:cs typeface="29LT Adir" panose="00000506000000000000" pitchFamily="50" charset="-78"/>
                <a:sym typeface="Arial"/>
              </a:rPr>
              <a:t>Designation</a:t>
            </a:r>
            <a:endParaRPr sz="11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03" name="Google Shape;103;p6"/>
          <p:cNvSpPr/>
          <p:nvPr/>
        </p:nvSpPr>
        <p:spPr>
          <a:xfrm>
            <a:off x="2231136" y="2157984"/>
            <a:ext cx="2743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51B29"/>
              </a:buClr>
              <a:buSzPts val="1050"/>
              <a:buFont typeface="Arial"/>
              <a:buNone/>
            </a:pPr>
            <a:r>
              <a:rPr lang="en-US" sz="1200" dirty="0">
                <a:solidFill>
                  <a:srgbClr val="151B29"/>
                </a:solidFill>
                <a:latin typeface="29LT Adir" panose="00000506000000000000" pitchFamily="50" charset="-78"/>
                <a:cs typeface="29LT Adir" panose="00000506000000000000" pitchFamily="50" charset="-78"/>
                <a:sym typeface="Arial"/>
              </a:rPr>
              <a:t>Asteroid (99942) Apophis</a:t>
            </a:r>
            <a:endParaRPr sz="12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04" name="Google Shape;104;p6"/>
          <p:cNvSpPr/>
          <p:nvPr/>
        </p:nvSpPr>
        <p:spPr>
          <a:xfrm>
            <a:off x="950976" y="2459736"/>
            <a:ext cx="4032504" cy="9144"/>
          </a:xfrm>
          <a:prstGeom prst="rect">
            <a:avLst/>
          </a:prstGeom>
          <a:solidFill>
            <a:srgbClr val="D3DB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05" name="Google Shape;105;p6"/>
          <p:cNvSpPr/>
          <p:nvPr/>
        </p:nvSpPr>
        <p:spPr>
          <a:xfrm>
            <a:off x="950976" y="2519172"/>
            <a:ext cx="1234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C5468"/>
              </a:buClr>
              <a:buSzPts val="1000"/>
              <a:buFont typeface="Arial"/>
              <a:buNone/>
            </a:pPr>
            <a:r>
              <a:rPr lang="en-US" sz="1100">
                <a:solidFill>
                  <a:srgbClr val="4C5468"/>
                </a:solidFill>
                <a:latin typeface="29LT Adir" panose="00000506000000000000" pitchFamily="50" charset="-78"/>
                <a:cs typeface="29LT Adir" panose="00000506000000000000" pitchFamily="50" charset="-78"/>
                <a:sym typeface="Arial"/>
              </a:rPr>
              <a:t>Size</a:t>
            </a:r>
            <a:endParaRPr sz="11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06" name="Google Shape;106;p6"/>
          <p:cNvSpPr/>
          <p:nvPr/>
        </p:nvSpPr>
        <p:spPr>
          <a:xfrm>
            <a:off x="2231136" y="2519172"/>
            <a:ext cx="2743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51B29"/>
              </a:buClr>
              <a:buSzPts val="1050"/>
              <a:buFont typeface="Arial"/>
              <a:buNone/>
            </a:pPr>
            <a:r>
              <a:rPr lang="en-US" sz="1200">
                <a:solidFill>
                  <a:srgbClr val="151B29"/>
                </a:solidFill>
                <a:latin typeface="29LT Adir" panose="00000506000000000000" pitchFamily="50" charset="-78"/>
                <a:cs typeface="29LT Adir" panose="00000506000000000000" pitchFamily="50" charset="-78"/>
                <a:sym typeface="Arial"/>
              </a:rPr>
              <a:t>~375 m across</a:t>
            </a:r>
            <a:endParaRPr sz="12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07" name="Google Shape;107;p6"/>
          <p:cNvSpPr/>
          <p:nvPr/>
        </p:nvSpPr>
        <p:spPr>
          <a:xfrm>
            <a:off x="950976" y="2820924"/>
            <a:ext cx="4032504" cy="9144"/>
          </a:xfrm>
          <a:prstGeom prst="rect">
            <a:avLst/>
          </a:prstGeom>
          <a:solidFill>
            <a:srgbClr val="D3DB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08" name="Google Shape;108;p6"/>
          <p:cNvSpPr/>
          <p:nvPr/>
        </p:nvSpPr>
        <p:spPr>
          <a:xfrm>
            <a:off x="950976" y="2880360"/>
            <a:ext cx="1234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C5468"/>
              </a:buClr>
              <a:buSzPts val="1000"/>
              <a:buFont typeface="Arial"/>
              <a:buNone/>
            </a:pPr>
            <a:r>
              <a:rPr lang="en-US" sz="1100">
                <a:solidFill>
                  <a:srgbClr val="4C5468"/>
                </a:solidFill>
                <a:latin typeface="29LT Adir" panose="00000506000000000000" pitchFamily="50" charset="-78"/>
                <a:cs typeface="29LT Adir" panose="00000506000000000000" pitchFamily="50" charset="-78"/>
                <a:sym typeface="Arial"/>
              </a:rPr>
              <a:t>Taxonomy</a:t>
            </a:r>
            <a:endParaRPr sz="11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09" name="Google Shape;109;p6"/>
          <p:cNvSpPr/>
          <p:nvPr/>
        </p:nvSpPr>
        <p:spPr>
          <a:xfrm>
            <a:off x="2231136" y="2880360"/>
            <a:ext cx="2743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51B29"/>
              </a:buClr>
              <a:buSzPts val="1050"/>
              <a:buFont typeface="Arial"/>
              <a:buNone/>
            </a:pPr>
            <a:r>
              <a:rPr lang="en-US" sz="1200">
                <a:solidFill>
                  <a:srgbClr val="151B29"/>
                </a:solidFill>
                <a:latin typeface="29LT Adir" panose="00000506000000000000" pitchFamily="50" charset="-78"/>
                <a:cs typeface="29LT Adir" panose="00000506000000000000" pitchFamily="50" charset="-78"/>
                <a:sym typeface="Arial"/>
              </a:rPr>
              <a:t>Sq type, LL chondrite analogue</a:t>
            </a:r>
            <a:endParaRPr sz="12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10" name="Google Shape;110;p6"/>
          <p:cNvSpPr/>
          <p:nvPr/>
        </p:nvSpPr>
        <p:spPr>
          <a:xfrm>
            <a:off x="950976" y="3182112"/>
            <a:ext cx="4032504" cy="9144"/>
          </a:xfrm>
          <a:prstGeom prst="rect">
            <a:avLst/>
          </a:prstGeom>
          <a:solidFill>
            <a:srgbClr val="D3DB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11" name="Google Shape;111;p6"/>
          <p:cNvSpPr/>
          <p:nvPr/>
        </p:nvSpPr>
        <p:spPr>
          <a:xfrm>
            <a:off x="950976" y="3241548"/>
            <a:ext cx="1234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C5468"/>
              </a:buClr>
              <a:buSzPts val="1000"/>
              <a:buFont typeface="Arial"/>
              <a:buNone/>
            </a:pPr>
            <a:r>
              <a:rPr lang="en-US" sz="1100">
                <a:solidFill>
                  <a:srgbClr val="4C5468"/>
                </a:solidFill>
                <a:latin typeface="29LT Adir" panose="00000506000000000000" pitchFamily="50" charset="-78"/>
                <a:cs typeface="29LT Adir" panose="00000506000000000000" pitchFamily="50" charset="-78"/>
                <a:sym typeface="Arial"/>
              </a:rPr>
              <a:t>Launch</a:t>
            </a:r>
            <a:endParaRPr sz="11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12" name="Google Shape;112;p6"/>
          <p:cNvSpPr/>
          <p:nvPr/>
        </p:nvSpPr>
        <p:spPr>
          <a:xfrm>
            <a:off x="2231136" y="3241548"/>
            <a:ext cx="2743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200">
                <a:solidFill>
                  <a:srgbClr val="151B29"/>
                </a:solidFill>
                <a:latin typeface="29LT Adir" panose="00000506000000000000" pitchFamily="50" charset="-78"/>
                <a:cs typeface="29LT Adir" panose="00000506000000000000" pitchFamily="50" charset="-78"/>
                <a:sym typeface="Arial"/>
              </a:rPr>
              <a:t>Spring 2028, H3 Rocket, Tanegashima</a:t>
            </a:r>
            <a:endParaRPr sz="12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13" name="Google Shape;113;p6"/>
          <p:cNvSpPr/>
          <p:nvPr/>
        </p:nvSpPr>
        <p:spPr>
          <a:xfrm>
            <a:off x="950976" y="3543300"/>
            <a:ext cx="4032504" cy="9144"/>
          </a:xfrm>
          <a:prstGeom prst="rect">
            <a:avLst/>
          </a:prstGeom>
          <a:solidFill>
            <a:srgbClr val="D3DB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14" name="Google Shape;114;p6"/>
          <p:cNvSpPr/>
          <p:nvPr/>
        </p:nvSpPr>
        <p:spPr>
          <a:xfrm>
            <a:off x="950976" y="3602736"/>
            <a:ext cx="1234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C5468"/>
              </a:buClr>
              <a:buSzPts val="1000"/>
              <a:buFont typeface="Arial"/>
              <a:buNone/>
            </a:pPr>
            <a:r>
              <a:rPr lang="en-US" sz="1100">
                <a:solidFill>
                  <a:srgbClr val="4C5468"/>
                </a:solidFill>
                <a:latin typeface="29LT Adir" panose="00000506000000000000" pitchFamily="50" charset="-78"/>
                <a:cs typeface="29LT Adir" panose="00000506000000000000" pitchFamily="50" charset="-78"/>
                <a:sym typeface="Arial"/>
              </a:rPr>
              <a:t>Arrival</a:t>
            </a:r>
            <a:endParaRPr sz="11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15" name="Google Shape;115;p6"/>
          <p:cNvSpPr/>
          <p:nvPr/>
        </p:nvSpPr>
        <p:spPr>
          <a:xfrm>
            <a:off x="2231136" y="3602736"/>
            <a:ext cx="2743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51B29"/>
              </a:buClr>
              <a:buSzPts val="1050"/>
              <a:buFont typeface="Arial"/>
              <a:buNone/>
            </a:pPr>
            <a:r>
              <a:rPr lang="en-US" sz="1200">
                <a:solidFill>
                  <a:srgbClr val="151B29"/>
                </a:solidFill>
                <a:latin typeface="29LT Adir" panose="00000506000000000000" pitchFamily="50" charset="-78"/>
                <a:cs typeface="29LT Adir" panose="00000506000000000000" pitchFamily="50" charset="-78"/>
                <a:sym typeface="Arial"/>
              </a:rPr>
              <a:t>February 2029</a:t>
            </a:r>
            <a:endParaRPr sz="12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16" name="Google Shape;116;p6"/>
          <p:cNvSpPr/>
          <p:nvPr/>
        </p:nvSpPr>
        <p:spPr>
          <a:xfrm>
            <a:off x="950976" y="3904488"/>
            <a:ext cx="4032504" cy="9144"/>
          </a:xfrm>
          <a:prstGeom prst="rect">
            <a:avLst/>
          </a:prstGeom>
          <a:solidFill>
            <a:srgbClr val="D3DBE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17" name="Google Shape;117;p6"/>
          <p:cNvSpPr/>
          <p:nvPr/>
        </p:nvSpPr>
        <p:spPr>
          <a:xfrm>
            <a:off x="950976" y="3963924"/>
            <a:ext cx="12344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C5468"/>
              </a:buClr>
              <a:buSzPts val="1000"/>
              <a:buFont typeface="Arial"/>
              <a:buNone/>
            </a:pPr>
            <a:r>
              <a:rPr lang="en-US" sz="1100">
                <a:solidFill>
                  <a:srgbClr val="4C5468"/>
                </a:solidFill>
                <a:latin typeface="29LT Adir" panose="00000506000000000000" pitchFamily="50" charset="-78"/>
                <a:cs typeface="29LT Adir" panose="00000506000000000000" pitchFamily="50" charset="-78"/>
                <a:sym typeface="Arial"/>
              </a:rPr>
              <a:t>Close flyby</a:t>
            </a:r>
            <a:endParaRPr sz="11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18" name="Google Shape;118;p6"/>
          <p:cNvSpPr/>
          <p:nvPr/>
        </p:nvSpPr>
        <p:spPr>
          <a:xfrm>
            <a:off x="2231136" y="3963924"/>
            <a:ext cx="274320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51B29"/>
              </a:buClr>
              <a:buSzPts val="1050"/>
              <a:buFont typeface="Arial"/>
              <a:buNone/>
            </a:pPr>
            <a:r>
              <a:rPr lang="en-US" sz="1200">
                <a:solidFill>
                  <a:srgbClr val="151B29"/>
                </a:solidFill>
                <a:latin typeface="29LT Adir" panose="00000506000000000000" pitchFamily="50" charset="-78"/>
                <a:cs typeface="29LT Adir" panose="00000506000000000000" pitchFamily="50" charset="-78"/>
                <a:sym typeface="Arial"/>
              </a:rPr>
              <a:t>13 April 2029, ~32,000 km</a:t>
            </a:r>
            <a:endParaRPr sz="12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19" name="Google Shape;119;p6"/>
          <p:cNvSpPr/>
          <p:nvPr/>
        </p:nvSpPr>
        <p:spPr>
          <a:xfrm>
            <a:off x="5715000" y="1664208"/>
            <a:ext cx="580644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chemeClr val="dk1"/>
              </a:buClr>
              <a:buSzPts val="900"/>
              <a:buFont typeface="Calibri"/>
              <a:buNone/>
            </a:pPr>
            <a:endParaRPr sz="1200">
              <a:solidFill>
                <a:schemeClr val="accent1">
                  <a:lumMod val="50000"/>
                </a:schemeClr>
              </a:solidFill>
              <a:latin typeface="Courier New" panose="02070309020205020404" pitchFamily="49" charset="0"/>
              <a:ea typeface="Calibri"/>
              <a:cs typeface="Courier New" panose="02070309020205020404" pitchFamily="49" charset="0"/>
              <a:sym typeface="Calibri"/>
            </a:endParaRPr>
          </a:p>
        </p:txBody>
      </p:sp>
      <p:sp>
        <p:nvSpPr>
          <p:cNvPr id="120" name="Google Shape;120;p6"/>
          <p:cNvSpPr/>
          <p:nvPr/>
        </p:nvSpPr>
        <p:spPr>
          <a:xfrm>
            <a:off x="5715000" y="1975104"/>
            <a:ext cx="5806440" cy="2395728"/>
          </a:xfrm>
          <a:prstGeom prst="roundRect">
            <a:avLst>
              <a:gd name="adj" fmla="val 3435"/>
            </a:avLst>
          </a:prstGeom>
          <a:solidFill>
            <a:srgbClr val="FFFFFF"/>
          </a:solidFill>
          <a:ln w="9525" cap="flat" cmpd="sng">
            <a:solidFill>
              <a:srgbClr val="C4CFE0"/>
            </a:solidFill>
            <a:prstDash val="solid"/>
            <a:round/>
            <a:headEnd type="none" w="sm" len="sm"/>
            <a:tailEnd type="none" w="sm" len="sm"/>
          </a:ln>
          <a:effectLst>
            <a:outerShdw blurRad="127000" dist="25400" dir="5400000" algn="bl" rotWithShape="0">
              <a:srgbClr val="0B1226">
                <a:alpha val="1019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21" name="Google Shape;121;p6"/>
          <p:cNvSpPr/>
          <p:nvPr/>
        </p:nvSpPr>
        <p:spPr>
          <a:xfrm>
            <a:off x="5989320" y="2194560"/>
            <a:ext cx="310896" cy="310896"/>
          </a:xfrm>
          <a:prstGeom prst="ellipse">
            <a:avLst/>
          </a:prstGeom>
          <a:solidFill>
            <a:srgbClr val="13234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29LT Adir" panose="00000506000000000000" pitchFamily="50" charset="-78"/>
              <a:ea typeface="Courier New"/>
              <a:cs typeface="29LT Adir" panose="00000506000000000000" pitchFamily="50" charset="-78"/>
              <a:sym typeface="Courier New"/>
            </a:endParaRPr>
          </a:p>
        </p:txBody>
      </p:sp>
      <p:sp>
        <p:nvSpPr>
          <p:cNvPr id="122" name="Google Shape;122;p6"/>
          <p:cNvSpPr/>
          <p:nvPr/>
        </p:nvSpPr>
        <p:spPr>
          <a:xfrm>
            <a:off x="5989320" y="2194560"/>
            <a:ext cx="310896"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ourier New"/>
              <a:buNone/>
            </a:pPr>
            <a:r>
              <a:rPr lang="en-US" sz="1100" b="1" dirty="0">
                <a:solidFill>
                  <a:srgbClr val="FFFFFF"/>
                </a:solidFill>
                <a:latin typeface="29LT Adir" panose="00000506000000000000" pitchFamily="50" charset="-78"/>
                <a:ea typeface="Courier New"/>
                <a:cs typeface="29LT Adir" panose="00000506000000000000" pitchFamily="50" charset="-78"/>
                <a:sym typeface="Courier New"/>
              </a:rPr>
              <a:t>O1</a:t>
            </a:r>
            <a:endParaRPr sz="1100" dirty="0">
              <a:solidFill>
                <a:schemeClr val="dk1"/>
              </a:solidFill>
              <a:latin typeface="29LT Adir" panose="00000506000000000000" pitchFamily="50" charset="-78"/>
              <a:ea typeface="Courier New"/>
              <a:cs typeface="29LT Adir" panose="00000506000000000000" pitchFamily="50" charset="-78"/>
              <a:sym typeface="Courier New"/>
            </a:endParaRPr>
          </a:p>
        </p:txBody>
      </p:sp>
      <p:sp>
        <p:nvSpPr>
          <p:cNvPr id="123" name="Google Shape;123;p6"/>
          <p:cNvSpPr/>
          <p:nvPr/>
        </p:nvSpPr>
        <p:spPr>
          <a:xfrm>
            <a:off x="6409944" y="2157984"/>
            <a:ext cx="48006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250"/>
              <a:buFont typeface="Arial"/>
              <a:buNone/>
            </a:pPr>
            <a:r>
              <a:rPr lang="en-US" dirty="0">
                <a:solidFill>
                  <a:srgbClr val="13234C"/>
                </a:solidFill>
                <a:latin typeface="29LT Adir" panose="00000506000000000000" pitchFamily="50" charset="-78"/>
                <a:cs typeface="29LT Adir" panose="00000506000000000000" pitchFamily="50" charset="-78"/>
                <a:sym typeface="Arial"/>
              </a:rPr>
              <a:t>Shape, orbit and rotation</a:t>
            </a:r>
            <a:endParaRPr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24" name="Google Shape;124;p6"/>
          <p:cNvSpPr/>
          <p:nvPr/>
        </p:nvSpPr>
        <p:spPr>
          <a:xfrm>
            <a:off x="6409944" y="2386584"/>
            <a:ext cx="48006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4C5468"/>
              </a:buClr>
              <a:buSzPts val="950"/>
              <a:buFont typeface="Arial"/>
              <a:buNone/>
            </a:pPr>
            <a:r>
              <a:rPr lang="en-US" sz="1050">
                <a:solidFill>
                  <a:srgbClr val="4C5468"/>
                </a:solidFill>
                <a:latin typeface="29LT Adir" panose="00000506000000000000" pitchFamily="50" charset="-78"/>
                <a:cs typeface="29LT Adir" panose="00000506000000000000" pitchFamily="50" charset="-78"/>
                <a:sym typeface="Arial"/>
              </a:rPr>
              <a:t>Before-and-after survey of shape, surface, orbit, rotation and orientation.</a:t>
            </a:r>
            <a:endParaRPr sz="105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25" name="Google Shape;125;p6"/>
          <p:cNvSpPr/>
          <p:nvPr/>
        </p:nvSpPr>
        <p:spPr>
          <a:xfrm>
            <a:off x="5989320" y="2743200"/>
            <a:ext cx="310896" cy="310896"/>
          </a:xfrm>
          <a:prstGeom prst="ellipse">
            <a:avLst/>
          </a:prstGeom>
          <a:solidFill>
            <a:srgbClr val="13234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29LT Adir" panose="00000506000000000000" pitchFamily="50" charset="-78"/>
              <a:ea typeface="Courier New"/>
              <a:cs typeface="29LT Adir" panose="00000506000000000000" pitchFamily="50" charset="-78"/>
              <a:sym typeface="Courier New"/>
            </a:endParaRPr>
          </a:p>
        </p:txBody>
      </p:sp>
      <p:sp>
        <p:nvSpPr>
          <p:cNvPr id="126" name="Google Shape;126;p6"/>
          <p:cNvSpPr/>
          <p:nvPr/>
        </p:nvSpPr>
        <p:spPr>
          <a:xfrm>
            <a:off x="5989320" y="2743200"/>
            <a:ext cx="310896"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ourier New"/>
              <a:buNone/>
            </a:pPr>
            <a:r>
              <a:rPr lang="en-US" sz="1100" b="1">
                <a:solidFill>
                  <a:srgbClr val="FFFFFF"/>
                </a:solidFill>
                <a:latin typeface="29LT Adir" panose="00000506000000000000" pitchFamily="50" charset="-78"/>
                <a:ea typeface="Courier New"/>
                <a:cs typeface="29LT Adir" panose="00000506000000000000" pitchFamily="50" charset="-78"/>
                <a:sym typeface="Courier New"/>
              </a:rPr>
              <a:t>O2</a:t>
            </a:r>
            <a:endParaRPr sz="1100">
              <a:solidFill>
                <a:schemeClr val="dk1"/>
              </a:solidFill>
              <a:latin typeface="29LT Adir" panose="00000506000000000000" pitchFamily="50" charset="-78"/>
              <a:ea typeface="Courier New"/>
              <a:cs typeface="29LT Adir" panose="00000506000000000000" pitchFamily="50" charset="-78"/>
              <a:sym typeface="Courier New"/>
            </a:endParaRPr>
          </a:p>
        </p:txBody>
      </p:sp>
      <p:sp>
        <p:nvSpPr>
          <p:cNvPr id="127" name="Google Shape;127;p6"/>
          <p:cNvSpPr/>
          <p:nvPr/>
        </p:nvSpPr>
        <p:spPr>
          <a:xfrm>
            <a:off x="6409944" y="2706624"/>
            <a:ext cx="48006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250"/>
              <a:buFont typeface="Arial"/>
              <a:buNone/>
            </a:pPr>
            <a:r>
              <a:rPr lang="en-US">
                <a:solidFill>
                  <a:srgbClr val="13234C"/>
                </a:solidFill>
                <a:latin typeface="29LT Adir" panose="00000506000000000000" pitchFamily="50" charset="-78"/>
                <a:cs typeface="29LT Adir" panose="00000506000000000000" pitchFamily="50" charset="-78"/>
                <a:sym typeface="Arial"/>
              </a:rPr>
              <a:t>Composition and interior</a:t>
            </a:r>
            <a:endParaRPr>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28" name="Google Shape;128;p6"/>
          <p:cNvSpPr/>
          <p:nvPr/>
        </p:nvSpPr>
        <p:spPr>
          <a:xfrm>
            <a:off x="6409944" y="2935224"/>
            <a:ext cx="48006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4C5468"/>
              </a:buClr>
              <a:buSzPts val="950"/>
              <a:buFont typeface="Arial"/>
              <a:buNone/>
            </a:pPr>
            <a:r>
              <a:rPr lang="en-US" sz="1050">
                <a:solidFill>
                  <a:srgbClr val="4C5468"/>
                </a:solidFill>
                <a:latin typeface="29LT Adir" panose="00000506000000000000" pitchFamily="50" charset="-78"/>
                <a:cs typeface="29LT Adir" panose="00000506000000000000" pitchFamily="50" charset="-78"/>
                <a:sym typeface="Arial"/>
              </a:rPr>
              <a:t>Composition, interior structure, cohesion, mass, density and porosity.</a:t>
            </a:r>
            <a:endParaRPr sz="105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29" name="Google Shape;129;p6"/>
          <p:cNvSpPr/>
          <p:nvPr/>
        </p:nvSpPr>
        <p:spPr>
          <a:xfrm>
            <a:off x="5989320" y="3291840"/>
            <a:ext cx="310896" cy="310896"/>
          </a:xfrm>
          <a:prstGeom prst="ellipse">
            <a:avLst/>
          </a:prstGeom>
          <a:solidFill>
            <a:srgbClr val="13234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29LT Adir" panose="00000506000000000000" pitchFamily="50" charset="-78"/>
              <a:ea typeface="Courier New"/>
              <a:cs typeface="29LT Adir" panose="00000506000000000000" pitchFamily="50" charset="-78"/>
              <a:sym typeface="Courier New"/>
            </a:endParaRPr>
          </a:p>
        </p:txBody>
      </p:sp>
      <p:sp>
        <p:nvSpPr>
          <p:cNvPr id="130" name="Google Shape;130;p6"/>
          <p:cNvSpPr/>
          <p:nvPr/>
        </p:nvSpPr>
        <p:spPr>
          <a:xfrm>
            <a:off x="5989320" y="3291840"/>
            <a:ext cx="310896"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ourier New"/>
              <a:buNone/>
            </a:pPr>
            <a:r>
              <a:rPr lang="en-US" sz="1100" b="1">
                <a:solidFill>
                  <a:srgbClr val="FFFFFF"/>
                </a:solidFill>
                <a:latin typeface="29LT Adir" panose="00000506000000000000" pitchFamily="50" charset="-78"/>
                <a:ea typeface="Courier New"/>
                <a:cs typeface="29LT Adir" panose="00000506000000000000" pitchFamily="50" charset="-78"/>
                <a:sym typeface="Courier New"/>
              </a:rPr>
              <a:t>O3</a:t>
            </a:r>
            <a:endParaRPr sz="1100">
              <a:solidFill>
                <a:schemeClr val="dk1"/>
              </a:solidFill>
              <a:latin typeface="29LT Adir" panose="00000506000000000000" pitchFamily="50" charset="-78"/>
              <a:ea typeface="Courier New"/>
              <a:cs typeface="29LT Adir" panose="00000506000000000000" pitchFamily="50" charset="-78"/>
              <a:sym typeface="Courier New"/>
            </a:endParaRPr>
          </a:p>
        </p:txBody>
      </p:sp>
      <p:sp>
        <p:nvSpPr>
          <p:cNvPr id="131" name="Google Shape;131;p6"/>
          <p:cNvSpPr/>
          <p:nvPr/>
        </p:nvSpPr>
        <p:spPr>
          <a:xfrm>
            <a:off x="6409944" y="3255264"/>
            <a:ext cx="48006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250"/>
              <a:buFont typeface="Arial"/>
              <a:buNone/>
            </a:pPr>
            <a:r>
              <a:rPr lang="en-US">
                <a:solidFill>
                  <a:srgbClr val="13234C"/>
                </a:solidFill>
                <a:latin typeface="29LT Adir" panose="00000506000000000000" pitchFamily="50" charset="-78"/>
                <a:cs typeface="29LT Adir" panose="00000506000000000000" pitchFamily="50" charset="-78"/>
                <a:sym typeface="Arial"/>
              </a:rPr>
              <a:t>Tidal response</a:t>
            </a:r>
            <a:endParaRPr>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32" name="Google Shape;132;p6"/>
          <p:cNvSpPr/>
          <p:nvPr/>
        </p:nvSpPr>
        <p:spPr>
          <a:xfrm>
            <a:off x="6409944" y="3483864"/>
            <a:ext cx="48006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4C5468"/>
              </a:buClr>
              <a:buSzPts val="950"/>
              <a:buFont typeface="Arial"/>
              <a:buNone/>
            </a:pPr>
            <a:r>
              <a:rPr lang="en-US" sz="1050">
                <a:solidFill>
                  <a:srgbClr val="4C5468"/>
                </a:solidFill>
                <a:latin typeface="29LT Adir" panose="00000506000000000000" pitchFamily="50" charset="-78"/>
                <a:cs typeface="29LT Adir" panose="00000506000000000000" pitchFamily="50" charset="-78"/>
                <a:sym typeface="Arial"/>
              </a:rPr>
              <a:t>How the asteroid responds to Earth's tidal forces.</a:t>
            </a:r>
            <a:endParaRPr sz="105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33" name="Google Shape;133;p6"/>
          <p:cNvSpPr/>
          <p:nvPr/>
        </p:nvSpPr>
        <p:spPr>
          <a:xfrm>
            <a:off x="5989320" y="3840480"/>
            <a:ext cx="310896" cy="310896"/>
          </a:xfrm>
          <a:prstGeom prst="ellipse">
            <a:avLst/>
          </a:prstGeom>
          <a:solidFill>
            <a:srgbClr val="13234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29LT Adir" panose="00000506000000000000" pitchFamily="50" charset="-78"/>
              <a:ea typeface="Courier New"/>
              <a:cs typeface="29LT Adir" panose="00000506000000000000" pitchFamily="50" charset="-78"/>
              <a:sym typeface="Courier New"/>
            </a:endParaRPr>
          </a:p>
        </p:txBody>
      </p:sp>
      <p:sp>
        <p:nvSpPr>
          <p:cNvPr id="134" name="Google Shape;134;p6"/>
          <p:cNvSpPr/>
          <p:nvPr/>
        </p:nvSpPr>
        <p:spPr>
          <a:xfrm>
            <a:off x="5989320" y="3840480"/>
            <a:ext cx="310896"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Courier New"/>
              <a:buNone/>
            </a:pPr>
            <a:r>
              <a:rPr lang="en-US" sz="1100" b="1">
                <a:solidFill>
                  <a:srgbClr val="FFFFFF"/>
                </a:solidFill>
                <a:latin typeface="29LT Adir" panose="00000506000000000000" pitchFamily="50" charset="-78"/>
                <a:ea typeface="Courier New"/>
                <a:cs typeface="29LT Adir" panose="00000506000000000000" pitchFamily="50" charset="-78"/>
                <a:sym typeface="Courier New"/>
              </a:rPr>
              <a:t>O4</a:t>
            </a:r>
            <a:endParaRPr sz="1100">
              <a:solidFill>
                <a:schemeClr val="dk1"/>
              </a:solidFill>
              <a:latin typeface="29LT Adir" panose="00000506000000000000" pitchFamily="50" charset="-78"/>
              <a:ea typeface="Courier New"/>
              <a:cs typeface="29LT Adir" panose="00000506000000000000" pitchFamily="50" charset="-78"/>
              <a:sym typeface="Courier New"/>
            </a:endParaRPr>
          </a:p>
        </p:txBody>
      </p:sp>
      <p:sp>
        <p:nvSpPr>
          <p:cNvPr id="135" name="Google Shape;135;p6"/>
          <p:cNvSpPr/>
          <p:nvPr/>
        </p:nvSpPr>
        <p:spPr>
          <a:xfrm>
            <a:off x="6409944" y="3803904"/>
            <a:ext cx="48006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250"/>
              <a:buFont typeface="Arial"/>
              <a:buNone/>
            </a:pPr>
            <a:r>
              <a:rPr lang="en-US">
                <a:solidFill>
                  <a:srgbClr val="13234C"/>
                </a:solidFill>
                <a:latin typeface="29LT Adir" panose="00000506000000000000" pitchFamily="50" charset="-78"/>
                <a:cs typeface="29LT Adir" panose="00000506000000000000" pitchFamily="50" charset="-78"/>
                <a:sym typeface="Arial"/>
              </a:rPr>
              <a:t>Solar System science</a:t>
            </a:r>
            <a:endParaRPr>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36" name="Google Shape;136;p6"/>
          <p:cNvSpPr/>
          <p:nvPr/>
        </p:nvSpPr>
        <p:spPr>
          <a:xfrm>
            <a:off x="6409944" y="4032504"/>
            <a:ext cx="48006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4C5468"/>
              </a:buClr>
              <a:buSzPts val="950"/>
              <a:buFont typeface="Arial"/>
              <a:buNone/>
            </a:pPr>
            <a:r>
              <a:rPr lang="en-US" sz="1050">
                <a:solidFill>
                  <a:srgbClr val="4C5468"/>
                </a:solidFill>
                <a:latin typeface="29LT Adir" panose="00000506000000000000" pitchFamily="50" charset="-78"/>
                <a:cs typeface="29LT Adir" panose="00000506000000000000" pitchFamily="50" charset="-78"/>
                <a:sym typeface="Arial"/>
              </a:rPr>
              <a:t>Insight into the formation and evolution of the Solar System.</a:t>
            </a:r>
            <a:endParaRPr sz="105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37" name="Google Shape;137;p6"/>
          <p:cNvSpPr/>
          <p:nvPr/>
        </p:nvSpPr>
        <p:spPr>
          <a:xfrm>
            <a:off x="658368" y="4553712"/>
            <a:ext cx="8229600" cy="2560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3234C"/>
              </a:buClr>
              <a:buSzPts val="1350"/>
              <a:buFont typeface="Arial"/>
              <a:buNone/>
            </a:pPr>
            <a:r>
              <a:rPr lang="en-US" sz="1350" b="1" dirty="0">
                <a:solidFill>
                  <a:srgbClr val="13234C"/>
                </a:solidFill>
                <a:latin typeface="Courier New" panose="02070309020205020404" pitchFamily="49" charset="0"/>
                <a:cs typeface="Courier New" panose="02070309020205020404" pitchFamily="49" charset="0"/>
                <a:sym typeface="Arial"/>
              </a:rPr>
              <a:t>Payload architecture: three platforms, twelve confirmed instruments</a:t>
            </a:r>
            <a:endParaRPr sz="1350" dirty="0">
              <a:solidFill>
                <a:schemeClr val="dk1"/>
              </a:solidFill>
              <a:latin typeface="Courier New" panose="02070309020205020404" pitchFamily="49" charset="0"/>
              <a:ea typeface="Calibri"/>
              <a:cs typeface="Courier New" panose="02070309020205020404" pitchFamily="49" charset="0"/>
              <a:sym typeface="Calibri"/>
            </a:endParaRPr>
          </a:p>
        </p:txBody>
      </p:sp>
      <p:sp>
        <p:nvSpPr>
          <p:cNvPr id="138" name="Google Shape;138;p6"/>
          <p:cNvSpPr/>
          <p:nvPr/>
        </p:nvSpPr>
        <p:spPr>
          <a:xfrm>
            <a:off x="658368" y="4901184"/>
            <a:ext cx="3490874" cy="1280160"/>
          </a:xfrm>
          <a:prstGeom prst="roundRect">
            <a:avLst>
              <a:gd name="adj" fmla="val 6429"/>
            </a:avLst>
          </a:prstGeom>
          <a:solidFill>
            <a:srgbClr val="FFFFFF"/>
          </a:solidFill>
          <a:ln w="9525" cap="flat" cmpd="sng">
            <a:solidFill>
              <a:srgbClr val="C4CFE0"/>
            </a:solidFill>
            <a:prstDash val="solid"/>
            <a:round/>
            <a:headEnd type="none" w="sm" len="sm"/>
            <a:tailEnd type="none" w="sm" len="sm"/>
          </a:ln>
          <a:effectLst>
            <a:outerShdw blurRad="127000" dist="25400" dir="5400000" algn="bl" rotWithShape="0">
              <a:srgbClr val="0B1226">
                <a:alpha val="1019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39" name="Google Shape;139;p6"/>
          <p:cNvSpPr/>
          <p:nvPr/>
        </p:nvSpPr>
        <p:spPr>
          <a:xfrm>
            <a:off x="914400" y="5047488"/>
            <a:ext cx="297881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3234C"/>
              </a:buClr>
              <a:buSzPts val="1400"/>
              <a:buFont typeface="Arial"/>
              <a:buNone/>
            </a:pPr>
            <a:r>
              <a:rPr lang="en-US">
                <a:solidFill>
                  <a:srgbClr val="13234C"/>
                </a:solidFill>
                <a:latin typeface="29LT Adir" panose="00000506000000000000" pitchFamily="50" charset="-78"/>
                <a:cs typeface="29LT Adir" panose="00000506000000000000" pitchFamily="50" charset="-78"/>
                <a:sym typeface="Arial"/>
              </a:rPr>
              <a:t>Main Orbiter</a:t>
            </a:r>
            <a:endParaRPr>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40" name="Google Shape;140;p6"/>
          <p:cNvSpPr/>
          <p:nvPr/>
        </p:nvSpPr>
        <p:spPr>
          <a:xfrm>
            <a:off x="781234" y="5297304"/>
            <a:ext cx="1298448" cy="256032"/>
          </a:xfrm>
          <a:prstGeom prst="roundRect">
            <a:avLst>
              <a:gd name="adj" fmla="val 17857"/>
            </a:avLst>
          </a:prstGeom>
          <a:solidFill>
            <a:srgbClr val="6DD9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41" name="Google Shape;141;p6"/>
          <p:cNvSpPr/>
          <p:nvPr/>
        </p:nvSpPr>
        <p:spPr>
          <a:xfrm>
            <a:off x="816742" y="5297308"/>
            <a:ext cx="1298448"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3234C"/>
              </a:buClr>
              <a:buSzPts val="800"/>
              <a:buFont typeface="Arial"/>
              <a:buNone/>
            </a:pPr>
            <a:r>
              <a:rPr lang="en-US" sz="1000" b="1">
                <a:solidFill>
                  <a:srgbClr val="13234C"/>
                </a:solidFill>
                <a:latin typeface="29LT Adir" panose="00000506000000000000" pitchFamily="50" charset="-78"/>
                <a:cs typeface="29LT Adir" panose="00000506000000000000" pitchFamily="50" charset="-78"/>
                <a:sym typeface="Arial"/>
              </a:rPr>
              <a:t>6</a:t>
            </a:r>
            <a:r>
              <a:rPr lang="en-US" sz="1000">
                <a:solidFill>
                  <a:srgbClr val="000000"/>
                </a:solidFill>
                <a:latin typeface="29LT Adir" panose="00000506000000000000" pitchFamily="50" charset="-78"/>
                <a:cs typeface="29LT Adir" panose="00000506000000000000" pitchFamily="50" charset="-78"/>
                <a:sym typeface="Arial"/>
              </a:rPr>
              <a:t>   </a:t>
            </a:r>
            <a:r>
              <a:rPr lang="en-US" sz="1000">
                <a:solidFill>
                  <a:srgbClr val="002060"/>
                </a:solidFill>
                <a:latin typeface="29LT Adir" panose="00000506000000000000" pitchFamily="50" charset="-78"/>
                <a:cs typeface="29LT Adir" panose="00000506000000000000" pitchFamily="50" charset="-78"/>
                <a:sym typeface="Arial"/>
              </a:rPr>
              <a:t>INSTRUMENTS</a:t>
            </a:r>
            <a:endParaRPr sz="1000">
              <a:solidFill>
                <a:srgbClr val="002060"/>
              </a:solidFill>
              <a:latin typeface="29LT Adir" panose="00000506000000000000" pitchFamily="50" charset="-78"/>
              <a:ea typeface="Calibri"/>
              <a:cs typeface="29LT Adir" panose="00000506000000000000" pitchFamily="50" charset="-78"/>
              <a:sym typeface="Calibri"/>
            </a:endParaRPr>
          </a:p>
        </p:txBody>
      </p:sp>
      <p:sp>
        <p:nvSpPr>
          <p:cNvPr id="142" name="Google Shape;142;p6"/>
          <p:cNvSpPr/>
          <p:nvPr/>
        </p:nvSpPr>
        <p:spPr>
          <a:xfrm>
            <a:off x="914400" y="5724144"/>
            <a:ext cx="2978810" cy="384048"/>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4C5468"/>
              </a:buClr>
              <a:buSzPts val="900"/>
              <a:buFont typeface="Arial"/>
              <a:buNone/>
            </a:pPr>
            <a:r>
              <a:rPr lang="en-US" sz="900">
                <a:solidFill>
                  <a:srgbClr val="4C5468"/>
                </a:solidFill>
                <a:latin typeface="29LT Adir" panose="00000506000000000000" pitchFamily="50" charset="-78"/>
                <a:cs typeface="29LT Adir" panose="00000506000000000000" pitchFamily="50" charset="-78"/>
                <a:sym typeface="Arial"/>
              </a:rPr>
              <a:t>AFC (×2)  ·  CHANCES  ·  HAMLET  ·  TIRI  ·  RSE  ·  RPS</a:t>
            </a:r>
            <a:endParaRPr sz="9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43" name="Google Shape;143;p6"/>
          <p:cNvSpPr/>
          <p:nvPr/>
        </p:nvSpPr>
        <p:spPr>
          <a:xfrm>
            <a:off x="4350410" y="4901184"/>
            <a:ext cx="3490874" cy="1280160"/>
          </a:xfrm>
          <a:prstGeom prst="roundRect">
            <a:avLst>
              <a:gd name="adj" fmla="val 6429"/>
            </a:avLst>
          </a:prstGeom>
          <a:solidFill>
            <a:srgbClr val="FFFFFF"/>
          </a:solidFill>
          <a:ln w="9525" cap="flat" cmpd="sng">
            <a:solidFill>
              <a:srgbClr val="C4CFE0"/>
            </a:solidFill>
            <a:prstDash val="solid"/>
            <a:round/>
            <a:headEnd type="none" w="sm" len="sm"/>
            <a:tailEnd type="none" w="sm" len="sm"/>
          </a:ln>
          <a:effectLst>
            <a:outerShdw blurRad="127000" dist="25400" dir="5400000" algn="bl" rotWithShape="0">
              <a:srgbClr val="0B1226">
                <a:alpha val="1019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44" name="Google Shape;144;p6"/>
          <p:cNvSpPr/>
          <p:nvPr/>
        </p:nvSpPr>
        <p:spPr>
          <a:xfrm>
            <a:off x="4606442" y="5047488"/>
            <a:ext cx="297881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3234C"/>
              </a:buClr>
              <a:buSzPts val="1400"/>
              <a:buFont typeface="Arial"/>
              <a:buNone/>
            </a:pPr>
            <a:r>
              <a:rPr lang="en-US">
                <a:solidFill>
                  <a:srgbClr val="13234C"/>
                </a:solidFill>
                <a:latin typeface="29LT Adir" panose="00000506000000000000" pitchFamily="50" charset="-78"/>
                <a:cs typeface="29LT Adir" panose="00000506000000000000" pitchFamily="50" charset="-78"/>
                <a:sym typeface="Arial"/>
              </a:rPr>
              <a:t>Farinella: orbiter CubeSat</a:t>
            </a:r>
            <a:endParaRPr>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45" name="Google Shape;145;p6"/>
          <p:cNvSpPr/>
          <p:nvPr/>
        </p:nvSpPr>
        <p:spPr>
          <a:xfrm>
            <a:off x="4526544" y="5306182"/>
            <a:ext cx="1298448" cy="256032"/>
          </a:xfrm>
          <a:prstGeom prst="roundRect">
            <a:avLst>
              <a:gd name="adj" fmla="val 17857"/>
            </a:avLst>
          </a:prstGeom>
          <a:solidFill>
            <a:srgbClr val="6DD9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46" name="Google Shape;146;p6"/>
          <p:cNvSpPr/>
          <p:nvPr/>
        </p:nvSpPr>
        <p:spPr>
          <a:xfrm>
            <a:off x="4508784" y="5297308"/>
            <a:ext cx="1298448"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3234C"/>
              </a:buClr>
              <a:buSzPts val="800"/>
              <a:buFont typeface="Arial"/>
              <a:buNone/>
            </a:pPr>
            <a:r>
              <a:rPr lang="en-US" sz="1000" b="1">
                <a:solidFill>
                  <a:srgbClr val="13234C"/>
                </a:solidFill>
                <a:latin typeface="29LT Adir" panose="00000506000000000000" pitchFamily="50" charset="-78"/>
                <a:cs typeface="29LT Adir" panose="00000506000000000000" pitchFamily="50" charset="-78"/>
                <a:sym typeface="Arial"/>
              </a:rPr>
              <a:t>3</a:t>
            </a:r>
            <a:r>
              <a:rPr lang="en-US" sz="1000">
                <a:solidFill>
                  <a:srgbClr val="000000"/>
                </a:solidFill>
                <a:latin typeface="29LT Adir" panose="00000506000000000000" pitchFamily="50" charset="-78"/>
                <a:cs typeface="29LT Adir" panose="00000506000000000000" pitchFamily="50" charset="-78"/>
                <a:sym typeface="Arial"/>
              </a:rPr>
              <a:t>   </a:t>
            </a:r>
            <a:r>
              <a:rPr lang="en-US" sz="1000">
                <a:solidFill>
                  <a:srgbClr val="002060"/>
                </a:solidFill>
                <a:latin typeface="29LT Adir" panose="00000506000000000000" pitchFamily="50" charset="-78"/>
                <a:cs typeface="29LT Adir" panose="00000506000000000000" pitchFamily="50" charset="-78"/>
                <a:sym typeface="Arial"/>
              </a:rPr>
              <a:t>INSTRUMENTS</a:t>
            </a:r>
            <a:endParaRPr sz="1000">
              <a:solidFill>
                <a:srgbClr val="002060"/>
              </a:solidFill>
              <a:latin typeface="29LT Adir" panose="00000506000000000000" pitchFamily="50" charset="-78"/>
              <a:ea typeface="Calibri"/>
              <a:cs typeface="29LT Adir" panose="00000506000000000000" pitchFamily="50" charset="-78"/>
              <a:sym typeface="Calibri"/>
            </a:endParaRPr>
          </a:p>
        </p:txBody>
      </p:sp>
      <p:sp>
        <p:nvSpPr>
          <p:cNvPr id="147" name="Google Shape;147;p6"/>
          <p:cNvSpPr/>
          <p:nvPr/>
        </p:nvSpPr>
        <p:spPr>
          <a:xfrm>
            <a:off x="4606442" y="5724144"/>
            <a:ext cx="2978810" cy="384048"/>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4C5468"/>
              </a:buClr>
              <a:buSzPts val="900"/>
              <a:buFont typeface="Arial"/>
              <a:buNone/>
            </a:pPr>
            <a:r>
              <a:rPr lang="en-US" sz="900">
                <a:solidFill>
                  <a:srgbClr val="4C5468"/>
                </a:solidFill>
                <a:latin typeface="29LT Adir" panose="00000506000000000000" pitchFamily="50" charset="-78"/>
                <a:cs typeface="29LT Adir" panose="00000506000000000000" pitchFamily="50" charset="-78"/>
                <a:sym typeface="Arial"/>
              </a:rPr>
              <a:t>HORUS  ·  Low-frequency radar  ·  VISTA</a:t>
            </a:r>
            <a:endParaRPr sz="9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48" name="Google Shape;148;p6"/>
          <p:cNvSpPr/>
          <p:nvPr/>
        </p:nvSpPr>
        <p:spPr>
          <a:xfrm>
            <a:off x="8042453" y="4901184"/>
            <a:ext cx="3490874" cy="1280160"/>
          </a:xfrm>
          <a:prstGeom prst="roundRect">
            <a:avLst>
              <a:gd name="adj" fmla="val 6429"/>
            </a:avLst>
          </a:prstGeom>
          <a:solidFill>
            <a:srgbClr val="FFFFFF"/>
          </a:solidFill>
          <a:ln w="9525" cap="flat" cmpd="sng">
            <a:solidFill>
              <a:srgbClr val="C4CFE0"/>
            </a:solidFill>
            <a:prstDash val="solid"/>
            <a:round/>
            <a:headEnd type="none" w="sm" len="sm"/>
            <a:tailEnd type="none" w="sm" len="sm"/>
          </a:ln>
          <a:effectLst>
            <a:outerShdw blurRad="127000" dist="25400" dir="5400000" algn="bl" rotWithShape="0">
              <a:srgbClr val="0B1226">
                <a:alpha val="1019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49" name="Google Shape;149;p6"/>
          <p:cNvSpPr/>
          <p:nvPr/>
        </p:nvSpPr>
        <p:spPr>
          <a:xfrm>
            <a:off x="8298485" y="5047488"/>
            <a:ext cx="2978810" cy="29260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13234C"/>
              </a:buClr>
              <a:buSzPts val="1400"/>
              <a:buFont typeface="Arial"/>
              <a:buNone/>
            </a:pPr>
            <a:r>
              <a:rPr lang="en-US">
                <a:solidFill>
                  <a:srgbClr val="13234C"/>
                </a:solidFill>
                <a:latin typeface="29LT Adir" panose="00000506000000000000" pitchFamily="50" charset="-78"/>
                <a:cs typeface="29LT Adir" panose="00000506000000000000" pitchFamily="50" charset="-78"/>
                <a:sym typeface="Arial"/>
              </a:rPr>
              <a:t>Don Quijote: lander CubeSat</a:t>
            </a:r>
            <a:endParaRPr>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50" name="Google Shape;150;p6"/>
          <p:cNvSpPr/>
          <p:nvPr/>
        </p:nvSpPr>
        <p:spPr>
          <a:xfrm>
            <a:off x="8191949" y="5306186"/>
            <a:ext cx="1298448" cy="256032"/>
          </a:xfrm>
          <a:prstGeom prst="roundRect">
            <a:avLst>
              <a:gd name="adj" fmla="val 17857"/>
            </a:avLst>
          </a:prstGeom>
          <a:solidFill>
            <a:srgbClr val="6DD9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51" name="Google Shape;151;p6"/>
          <p:cNvSpPr/>
          <p:nvPr/>
        </p:nvSpPr>
        <p:spPr>
          <a:xfrm>
            <a:off x="8147563" y="5315060"/>
            <a:ext cx="1298448"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3234C"/>
              </a:buClr>
              <a:buSzPts val="800"/>
              <a:buFont typeface="Arial"/>
              <a:buNone/>
            </a:pPr>
            <a:r>
              <a:rPr lang="en-US" sz="1000" b="1">
                <a:solidFill>
                  <a:srgbClr val="13234C"/>
                </a:solidFill>
                <a:latin typeface="29LT Adir" panose="00000506000000000000" pitchFamily="50" charset="-78"/>
                <a:cs typeface="29LT Adir" panose="00000506000000000000" pitchFamily="50" charset="-78"/>
                <a:sym typeface="Arial"/>
              </a:rPr>
              <a:t>3</a:t>
            </a:r>
            <a:r>
              <a:rPr lang="en-US" sz="1000">
                <a:solidFill>
                  <a:srgbClr val="000000"/>
                </a:solidFill>
                <a:latin typeface="29LT Adir" panose="00000506000000000000" pitchFamily="50" charset="-78"/>
                <a:cs typeface="29LT Adir" panose="00000506000000000000" pitchFamily="50" charset="-78"/>
                <a:sym typeface="Arial"/>
              </a:rPr>
              <a:t>   </a:t>
            </a:r>
            <a:r>
              <a:rPr lang="en-US" sz="1000">
                <a:solidFill>
                  <a:srgbClr val="002060"/>
                </a:solidFill>
                <a:latin typeface="29LT Adir" panose="00000506000000000000" pitchFamily="50" charset="-78"/>
                <a:cs typeface="29LT Adir" panose="00000506000000000000" pitchFamily="50" charset="-78"/>
                <a:sym typeface="Arial"/>
              </a:rPr>
              <a:t>INSTRUMENTS</a:t>
            </a:r>
            <a:endParaRPr sz="1000">
              <a:solidFill>
                <a:srgbClr val="002060"/>
              </a:solidFill>
              <a:latin typeface="29LT Adir" panose="00000506000000000000" pitchFamily="50" charset="-78"/>
              <a:ea typeface="Calibri"/>
              <a:cs typeface="29LT Adir" panose="00000506000000000000" pitchFamily="50" charset="-78"/>
              <a:sym typeface="Calibri"/>
            </a:endParaRPr>
          </a:p>
        </p:txBody>
      </p:sp>
      <p:sp>
        <p:nvSpPr>
          <p:cNvPr id="152" name="Google Shape;152;p6"/>
          <p:cNvSpPr/>
          <p:nvPr/>
        </p:nvSpPr>
        <p:spPr>
          <a:xfrm>
            <a:off x="8298485" y="5724144"/>
            <a:ext cx="2978810" cy="384048"/>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4C5468"/>
              </a:buClr>
              <a:buSzPts val="900"/>
              <a:buFont typeface="Arial"/>
              <a:buNone/>
            </a:pPr>
            <a:r>
              <a:rPr lang="en-US" sz="900">
                <a:solidFill>
                  <a:srgbClr val="4C5468"/>
                </a:solidFill>
                <a:latin typeface="29LT Adir" panose="00000506000000000000" pitchFamily="50" charset="-78"/>
                <a:cs typeface="29LT Adir" panose="00000506000000000000" pitchFamily="50" charset="-78"/>
                <a:sym typeface="Arial"/>
              </a:rPr>
              <a:t>SIA  ·  Gravimeter  ·  MARIE</a:t>
            </a:r>
            <a:endParaRPr sz="9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53" name="Google Shape;153;p6"/>
          <p:cNvSpPr/>
          <p:nvPr/>
        </p:nvSpPr>
        <p:spPr>
          <a:xfrm>
            <a:off x="10881360" y="6272784"/>
            <a:ext cx="694944"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79839A"/>
              </a:buClr>
              <a:buSzPts val="1000"/>
              <a:buFont typeface="Arial"/>
              <a:buNone/>
            </a:pPr>
            <a:r>
              <a:rPr lang="en-US" sz="1000">
                <a:solidFill>
                  <a:srgbClr val="79839A"/>
                </a:solidFill>
                <a:latin typeface="Arial"/>
                <a:ea typeface="Arial"/>
                <a:cs typeface="Arial"/>
                <a:sym typeface="Arial"/>
              </a:rPr>
              <a:t>3</a:t>
            </a:r>
            <a:endParaRPr sz="1000">
              <a:solidFill>
                <a:schemeClr val="dk1"/>
              </a:solidFill>
              <a:latin typeface="Calibri"/>
              <a:ea typeface="Calibri"/>
              <a:cs typeface="Calibri"/>
              <a:sym typeface="Calibri"/>
            </a:endParaRPr>
          </a:p>
        </p:txBody>
      </p:sp>
      <p:pic>
        <p:nvPicPr>
          <p:cNvPr id="154" name="Google Shape;154;p6" descr="/home/claude/work/a2/logo_dark.png"/>
          <p:cNvPicPr preferRelativeResize="0"/>
          <p:nvPr/>
        </p:nvPicPr>
        <p:blipFill rotWithShape="1">
          <a:blip r:embed="rId5">
            <a:alphaModFix/>
          </a:blip>
          <a:srcRect/>
          <a:stretch/>
        </p:blipFill>
        <p:spPr>
          <a:xfrm>
            <a:off x="10616340" y="122984"/>
            <a:ext cx="1450538" cy="814736"/>
          </a:xfrm>
          <a:prstGeom prst="rect">
            <a:avLst/>
          </a:prstGeom>
          <a:noFill/>
          <a:ln>
            <a:noFill/>
          </a:ln>
        </p:spPr>
      </p:pic>
      <p:sp>
        <p:nvSpPr>
          <p:cNvPr id="155" name="Google Shape;155;p6"/>
          <p:cNvSpPr txBox="1"/>
          <p:nvPr/>
        </p:nvSpPr>
        <p:spPr>
          <a:xfrm>
            <a:off x="5715000" y="1647144"/>
            <a:ext cx="6093822" cy="276959"/>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Clr>
                <a:srgbClr val="00B0F0"/>
              </a:buClr>
              <a:buSzPts val="900"/>
              <a:buFont typeface="Arial"/>
              <a:buNone/>
            </a:pPr>
            <a:r>
              <a:rPr lang="en-US" sz="1200" b="1" dirty="0">
                <a:solidFill>
                  <a:schemeClr val="accent1">
                    <a:lumMod val="50000"/>
                  </a:schemeClr>
                </a:solidFill>
                <a:latin typeface="Courier New" panose="02070309020205020404" pitchFamily="49" charset="0"/>
                <a:cs typeface="Courier New" panose="02070309020205020404" pitchFamily="49" charset="0"/>
                <a:sym typeface="Arial"/>
              </a:rPr>
              <a:t>MISSION PUBLISHED OBJECTIVES</a:t>
            </a:r>
            <a:endParaRPr sz="1200" dirty="0">
              <a:solidFill>
                <a:schemeClr val="accent1">
                  <a:lumMod val="50000"/>
                </a:schemeClr>
              </a:solidFill>
              <a:latin typeface="Courier New" panose="02070309020205020404" pitchFamily="49" charset="0"/>
              <a:ea typeface="Calibri"/>
              <a:cs typeface="Courier New" panose="02070309020205020404" pitchFamily="49" charset="0"/>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D9E1EF"/>
        </a:solidFill>
        <a:effectLst/>
      </p:bgPr>
    </p:bg>
    <p:spTree>
      <p:nvGrpSpPr>
        <p:cNvPr id="1" name="Shape 161"/>
        <p:cNvGrpSpPr/>
        <p:nvPr/>
      </p:nvGrpSpPr>
      <p:grpSpPr>
        <a:xfrm>
          <a:off x="0" y="0"/>
          <a:ext cx="0" cy="0"/>
          <a:chOff x="0" y="0"/>
          <a:chExt cx="0" cy="0"/>
        </a:xfrm>
      </p:grpSpPr>
      <p:pic>
        <p:nvPicPr>
          <p:cNvPr id="4" name="Google Shape;48;p5" descr="/home/claude/work/a2/light_wash.jpg">
            <a:extLst>
              <a:ext uri="{FF2B5EF4-FFF2-40B4-BE49-F238E27FC236}">
                <a16:creationId xmlns:a16="http://schemas.microsoft.com/office/drawing/2014/main" id="{F030C492-E5F4-6B6C-C96A-E93315673A84}"/>
              </a:ext>
            </a:extLst>
          </p:cNvPr>
          <p:cNvPicPr preferRelativeResize="0"/>
          <p:nvPr/>
        </p:nvPicPr>
        <p:blipFill rotWithShape="1">
          <a:blip r:embed="rId3">
            <a:alphaModFix/>
            <a:extLst>
              <a:ext uri="{BEBA8EAE-BF5A-486C-A8C5-ECC9F3942E4B}">
                <a14:imgProps xmlns:a14="http://schemas.microsoft.com/office/drawing/2010/main">
                  <a14:imgLayer r:embed="rId4">
                    <a14:imgEffect>
                      <a14:brightnessContrast contrast="40000"/>
                    </a14:imgEffect>
                  </a14:imgLayer>
                </a14:imgProps>
              </a:ext>
            </a:extLst>
          </a:blip>
          <a:srcRect/>
          <a:stretch/>
        </p:blipFill>
        <p:spPr>
          <a:xfrm>
            <a:off x="0" y="-9331"/>
            <a:ext cx="12191695" cy="6858000"/>
          </a:xfrm>
          <a:prstGeom prst="rect">
            <a:avLst/>
          </a:prstGeom>
          <a:noFill/>
          <a:ln>
            <a:noFill/>
          </a:ln>
        </p:spPr>
      </p:pic>
      <p:sp>
        <p:nvSpPr>
          <p:cNvPr id="162" name="Google Shape;162;p7"/>
          <p:cNvSpPr/>
          <p:nvPr/>
        </p:nvSpPr>
        <p:spPr>
          <a:xfrm>
            <a:off x="375264" y="3721265"/>
            <a:ext cx="11441472" cy="2413490"/>
          </a:xfrm>
          <a:prstGeom prst="roundRect">
            <a:avLst>
              <a:gd name="adj" fmla="val 5056"/>
            </a:avLst>
          </a:prstGeom>
          <a:solidFill>
            <a:srgbClr val="FFFFFF"/>
          </a:solidFill>
          <a:ln w="9525" cap="flat" cmpd="sng">
            <a:solidFill>
              <a:srgbClr val="FFC000"/>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64" name="Google Shape;164;p7"/>
          <p:cNvSpPr/>
          <p:nvPr/>
        </p:nvSpPr>
        <p:spPr>
          <a:xfrm>
            <a:off x="658368" y="530352"/>
            <a:ext cx="9052560" cy="472966"/>
          </a:xfrm>
          <a:prstGeom prst="rect">
            <a:avLst/>
          </a:prstGeom>
          <a:noFill/>
          <a:ln>
            <a:noFill/>
          </a:ln>
        </p:spPr>
        <p:txBody>
          <a:bodyPr spcFirstLastPara="1" wrap="square" lIns="0" tIns="0" rIns="0" bIns="0" anchor="ctr" anchorCtr="0">
            <a:noAutofit/>
          </a:bodyPr>
          <a:lstStyle/>
          <a:p>
            <a:pPr marL="0" marR="0" lvl="0" indent="0" algn="l" rtl="0">
              <a:lnSpc>
                <a:spcPct val="92000"/>
              </a:lnSpc>
              <a:spcBef>
                <a:spcPts val="0"/>
              </a:spcBef>
              <a:spcAft>
                <a:spcPts val="0"/>
              </a:spcAft>
              <a:buClr>
                <a:srgbClr val="13234C"/>
              </a:buClr>
              <a:buSzPts val="3000"/>
              <a:buFont typeface="Arial"/>
              <a:buNone/>
            </a:pPr>
            <a:r>
              <a:rPr lang="en-US" sz="3000" b="1" dirty="0">
                <a:solidFill>
                  <a:srgbClr val="13234C"/>
                </a:solidFill>
                <a:latin typeface="29LT Adir" panose="00000506000000000000" pitchFamily="50" charset="-78"/>
                <a:cs typeface="29LT Adir" panose="00000506000000000000" pitchFamily="50" charset="-78"/>
                <a:sym typeface="Arial"/>
              </a:rPr>
              <a:t>Methodology</a:t>
            </a:r>
            <a:endParaRPr sz="30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65" name="Google Shape;165;p7"/>
          <p:cNvSpPr/>
          <p:nvPr/>
        </p:nvSpPr>
        <p:spPr>
          <a:xfrm>
            <a:off x="658368" y="1058182"/>
            <a:ext cx="9052560" cy="3291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4C5468"/>
              </a:buClr>
              <a:buSzPts val="1400"/>
              <a:buFont typeface="Arial"/>
              <a:buNone/>
            </a:pPr>
            <a:r>
              <a:rPr lang="en-US" sz="1400" dirty="0">
                <a:solidFill>
                  <a:srgbClr val="4C5468"/>
                </a:solidFill>
                <a:latin typeface="29LT Adir" panose="00000506000000000000" pitchFamily="50" charset="-78"/>
                <a:cs typeface="29LT Adir" panose="00000506000000000000" pitchFamily="50" charset="-78"/>
                <a:sym typeface="Arial"/>
              </a:rPr>
              <a:t>A structured analysis narrowed four knowledge gaps to one payload</a:t>
            </a:r>
            <a:endParaRPr sz="1400" dirty="0">
              <a:solidFill>
                <a:schemeClr val="dk1"/>
              </a:solidFill>
              <a:latin typeface="29LT Adir" panose="00000506000000000000" pitchFamily="50" charset="-78"/>
              <a:cs typeface="29LT Adir" panose="00000506000000000000" pitchFamily="50" charset="-78"/>
              <a:sym typeface="Arial"/>
            </a:endParaRPr>
          </a:p>
        </p:txBody>
      </p:sp>
      <p:sp>
        <p:nvSpPr>
          <p:cNvPr id="166" name="Google Shape;166;p7"/>
          <p:cNvSpPr/>
          <p:nvPr/>
        </p:nvSpPr>
        <p:spPr>
          <a:xfrm>
            <a:off x="658368" y="1956816"/>
            <a:ext cx="1867753" cy="1627632"/>
          </a:xfrm>
          <a:prstGeom prst="roundRect">
            <a:avLst>
              <a:gd name="adj" fmla="val 5056"/>
            </a:avLst>
          </a:prstGeom>
          <a:solidFill>
            <a:srgbClr val="FFFFFF"/>
          </a:solidFill>
          <a:ln w="9525" cap="flat" cmpd="sng">
            <a:solidFill>
              <a:srgbClr val="FFC000"/>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67" name="Google Shape;167;p7"/>
          <p:cNvSpPr/>
          <p:nvPr/>
        </p:nvSpPr>
        <p:spPr>
          <a:xfrm>
            <a:off x="841248" y="2176272"/>
            <a:ext cx="1501993" cy="548640"/>
          </a:xfrm>
          <a:prstGeom prst="rect">
            <a:avLst/>
          </a:prstGeom>
          <a:noFill/>
          <a:ln>
            <a:noFill/>
          </a:ln>
        </p:spPr>
        <p:txBody>
          <a:bodyPr spcFirstLastPara="1" wrap="square" lIns="0" tIns="0" rIns="0" bIns="0" anchor="t" anchorCtr="0">
            <a:noAutofit/>
          </a:bodyPr>
          <a:lstStyle/>
          <a:p>
            <a:pPr marL="0" marR="0" lvl="0" indent="0" algn="ctr" rtl="0">
              <a:lnSpc>
                <a:spcPct val="96000"/>
              </a:lnSpc>
              <a:spcBef>
                <a:spcPts val="0"/>
              </a:spcBef>
              <a:spcAft>
                <a:spcPts val="0"/>
              </a:spcAft>
              <a:buClr>
                <a:srgbClr val="13234C"/>
              </a:buClr>
              <a:buSzPts val="1350"/>
              <a:buFont typeface="Arial"/>
              <a:buNone/>
            </a:pPr>
            <a:r>
              <a:rPr lang="en-US" sz="1600" b="1">
                <a:solidFill>
                  <a:srgbClr val="13234C"/>
                </a:solidFill>
                <a:latin typeface="29LT Adir" panose="00000506000000000000" pitchFamily="50" charset="-78"/>
                <a:cs typeface="29LT Adir" panose="00000506000000000000" pitchFamily="50" charset="-78"/>
                <a:sym typeface="Arial"/>
              </a:rPr>
              <a:t>RAMSES baseline</a:t>
            </a:r>
            <a:endParaRPr sz="16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68" name="Google Shape;168;p7"/>
          <p:cNvSpPr/>
          <p:nvPr/>
        </p:nvSpPr>
        <p:spPr>
          <a:xfrm>
            <a:off x="841248" y="2575245"/>
            <a:ext cx="1501993" cy="749808"/>
          </a:xfrm>
          <a:prstGeom prst="rect">
            <a:avLst/>
          </a:prstGeom>
          <a:noFill/>
          <a:ln>
            <a:noFill/>
          </a:ln>
        </p:spPr>
        <p:txBody>
          <a:bodyPr spcFirstLastPara="1" wrap="square" lIns="0" tIns="0" rIns="0" bIns="0" anchor="t" anchorCtr="0">
            <a:noAutofit/>
          </a:bodyPr>
          <a:lstStyle/>
          <a:p>
            <a:pPr marL="0" marR="0" lvl="0" indent="0" algn="ctr" rtl="0">
              <a:lnSpc>
                <a:spcPct val="112000"/>
              </a:lnSpc>
              <a:spcBef>
                <a:spcPts val="0"/>
              </a:spcBef>
              <a:spcAft>
                <a:spcPts val="0"/>
              </a:spcAft>
              <a:buClr>
                <a:srgbClr val="4C5468"/>
              </a:buClr>
              <a:buSzPts val="1200"/>
              <a:buFont typeface="Arial"/>
              <a:buNone/>
            </a:pPr>
            <a:r>
              <a:rPr lang="en-US" sz="1200">
                <a:solidFill>
                  <a:srgbClr val="4C5468"/>
                </a:solidFill>
                <a:latin typeface="29LT Adir" panose="00000506000000000000" pitchFamily="50" charset="-78"/>
                <a:cs typeface="29LT Adir" panose="00000506000000000000" pitchFamily="50" charset="-78"/>
                <a:sym typeface="Arial"/>
              </a:rPr>
              <a:t>Studied the mission </a:t>
            </a:r>
            <a:r>
              <a:rPr lang="en-US" sz="1200" b="1">
                <a:solidFill>
                  <a:srgbClr val="4C5468"/>
                </a:solidFill>
                <a:latin typeface="29LT Adir" panose="00000506000000000000" pitchFamily="50" charset="-78"/>
                <a:cs typeface="29LT Adir" panose="00000506000000000000" pitchFamily="50" charset="-78"/>
                <a:sym typeface="Arial"/>
              </a:rPr>
              <a:t>objectives</a:t>
            </a:r>
            <a:r>
              <a:rPr lang="en-US" sz="1200">
                <a:solidFill>
                  <a:srgbClr val="4C5468"/>
                </a:solidFill>
                <a:latin typeface="29LT Adir" panose="00000506000000000000" pitchFamily="50" charset="-78"/>
                <a:cs typeface="29LT Adir" panose="00000506000000000000" pitchFamily="50" charset="-78"/>
                <a:sym typeface="Arial"/>
              </a:rPr>
              <a:t>, </a:t>
            </a:r>
            <a:r>
              <a:rPr lang="en-US" sz="1200" b="1">
                <a:solidFill>
                  <a:srgbClr val="4C5468"/>
                </a:solidFill>
                <a:latin typeface="29LT Adir" panose="00000506000000000000" pitchFamily="50" charset="-78"/>
                <a:cs typeface="29LT Adir" panose="00000506000000000000" pitchFamily="50" charset="-78"/>
                <a:sym typeface="Arial"/>
              </a:rPr>
              <a:t>platforms</a:t>
            </a:r>
            <a:r>
              <a:rPr lang="en-US" sz="1200">
                <a:solidFill>
                  <a:srgbClr val="4C5468"/>
                </a:solidFill>
                <a:latin typeface="29LT Adir" panose="00000506000000000000" pitchFamily="50" charset="-78"/>
                <a:cs typeface="29LT Adir" panose="00000506000000000000" pitchFamily="50" charset="-78"/>
                <a:sym typeface="Arial"/>
              </a:rPr>
              <a:t> and </a:t>
            </a:r>
            <a:r>
              <a:rPr lang="en-US" sz="1200" b="1">
                <a:solidFill>
                  <a:srgbClr val="4C5468"/>
                </a:solidFill>
                <a:latin typeface="29LT Adir" panose="00000506000000000000" pitchFamily="50" charset="-78"/>
                <a:cs typeface="29LT Adir" panose="00000506000000000000" pitchFamily="50" charset="-78"/>
                <a:sym typeface="Arial"/>
              </a:rPr>
              <a:t>payloads</a:t>
            </a:r>
            <a:endParaRPr sz="1200" b="1">
              <a:solidFill>
                <a:schemeClr val="dk1"/>
              </a:solidFill>
              <a:latin typeface="29LT Adir" panose="00000506000000000000" pitchFamily="50" charset="-78"/>
              <a:cs typeface="29LT Adir" panose="00000506000000000000" pitchFamily="50" charset="-78"/>
              <a:sym typeface="Arial"/>
            </a:endParaRPr>
          </a:p>
        </p:txBody>
      </p:sp>
      <p:sp>
        <p:nvSpPr>
          <p:cNvPr id="169" name="Google Shape;169;p7"/>
          <p:cNvSpPr/>
          <p:nvPr/>
        </p:nvSpPr>
        <p:spPr>
          <a:xfrm>
            <a:off x="2590129" y="2670048"/>
            <a:ext cx="256032" cy="201168"/>
          </a:xfrm>
          <a:prstGeom prst="rightArrow">
            <a:avLst>
              <a:gd name="adj1" fmla="val 50000"/>
              <a:gd name="adj2" fmla="val 50000"/>
            </a:avLst>
          </a:prstGeom>
          <a:solidFill>
            <a:srgbClr val="6DD9FF"/>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600">
              <a:solidFill>
                <a:schemeClr val="dk1"/>
              </a:solidFill>
              <a:latin typeface="29LT Adir" panose="00000506000000000000" pitchFamily="50" charset="-78"/>
              <a:cs typeface="29LT Adir" panose="00000506000000000000" pitchFamily="50" charset="-78"/>
              <a:sym typeface="Arial"/>
            </a:endParaRPr>
          </a:p>
        </p:txBody>
      </p:sp>
      <p:sp>
        <p:nvSpPr>
          <p:cNvPr id="170" name="Google Shape;170;p7"/>
          <p:cNvSpPr/>
          <p:nvPr/>
        </p:nvSpPr>
        <p:spPr>
          <a:xfrm>
            <a:off x="2910169" y="1956816"/>
            <a:ext cx="1867753" cy="1627632"/>
          </a:xfrm>
          <a:prstGeom prst="roundRect">
            <a:avLst>
              <a:gd name="adj" fmla="val 5056"/>
            </a:avLst>
          </a:prstGeom>
          <a:solidFill>
            <a:srgbClr val="FFFFFF"/>
          </a:solidFill>
          <a:ln w="9525" cap="flat" cmpd="sng">
            <a:solidFill>
              <a:srgbClr val="FFC000"/>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71" name="Google Shape;171;p7"/>
          <p:cNvSpPr/>
          <p:nvPr/>
        </p:nvSpPr>
        <p:spPr>
          <a:xfrm>
            <a:off x="2910169" y="2122620"/>
            <a:ext cx="1952689" cy="548640"/>
          </a:xfrm>
          <a:prstGeom prst="rect">
            <a:avLst/>
          </a:prstGeom>
          <a:noFill/>
          <a:ln>
            <a:noFill/>
          </a:ln>
        </p:spPr>
        <p:txBody>
          <a:bodyPr spcFirstLastPara="1" wrap="square" lIns="0" tIns="0" rIns="0" bIns="0" anchor="t" anchorCtr="0">
            <a:noAutofit/>
          </a:bodyPr>
          <a:lstStyle/>
          <a:p>
            <a:pPr marL="0" marR="0" lvl="0" indent="0" algn="ctr" rtl="0">
              <a:lnSpc>
                <a:spcPct val="96000"/>
              </a:lnSpc>
              <a:spcBef>
                <a:spcPts val="0"/>
              </a:spcBef>
              <a:spcAft>
                <a:spcPts val="0"/>
              </a:spcAft>
              <a:buClr>
                <a:srgbClr val="13234C"/>
              </a:buClr>
              <a:buSzPts val="1350"/>
              <a:buFont typeface="Arial"/>
              <a:buNone/>
            </a:pPr>
            <a:r>
              <a:rPr lang="en-US" sz="1600" b="1" dirty="0">
                <a:solidFill>
                  <a:srgbClr val="13234C"/>
                </a:solidFill>
                <a:latin typeface="29LT Adir" panose="00000506000000000000" pitchFamily="50" charset="-78"/>
                <a:cs typeface="29LT Adir" panose="00000506000000000000" pitchFamily="50" charset="-78"/>
                <a:sym typeface="Arial"/>
              </a:rPr>
              <a:t>Mission Measurements</a:t>
            </a:r>
            <a:endParaRPr sz="16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72" name="Google Shape;172;p7"/>
          <p:cNvSpPr/>
          <p:nvPr/>
        </p:nvSpPr>
        <p:spPr>
          <a:xfrm>
            <a:off x="3065056" y="2444041"/>
            <a:ext cx="1588049" cy="749808"/>
          </a:xfrm>
          <a:prstGeom prst="rect">
            <a:avLst/>
          </a:prstGeom>
          <a:noFill/>
          <a:ln>
            <a:noFill/>
          </a:ln>
        </p:spPr>
        <p:txBody>
          <a:bodyPr spcFirstLastPara="1" wrap="square" lIns="0" tIns="0" rIns="0" bIns="0" anchor="t" anchorCtr="0">
            <a:noAutofit/>
          </a:bodyPr>
          <a:lstStyle/>
          <a:p>
            <a:pPr marL="0" marR="0" lvl="0" indent="0" algn="ctr" rtl="0">
              <a:lnSpc>
                <a:spcPct val="112000"/>
              </a:lnSpc>
              <a:spcBef>
                <a:spcPts val="0"/>
              </a:spcBef>
              <a:spcAft>
                <a:spcPts val="0"/>
              </a:spcAft>
              <a:buClr>
                <a:srgbClr val="4C5468"/>
              </a:buClr>
              <a:buSzPts val="1200"/>
              <a:buFont typeface="Arial"/>
              <a:buNone/>
            </a:pPr>
            <a:r>
              <a:rPr lang="en-US" sz="1200" dirty="0">
                <a:solidFill>
                  <a:srgbClr val="4C5468"/>
                </a:solidFill>
                <a:latin typeface="29LT Adir" panose="00000506000000000000" pitchFamily="50" charset="-78"/>
                <a:cs typeface="29LT Adir" panose="00000506000000000000" pitchFamily="50" charset="-78"/>
                <a:sym typeface="Arial"/>
              </a:rPr>
              <a:t>Broke the </a:t>
            </a:r>
            <a:r>
              <a:rPr lang="en-US" sz="1200" b="1" dirty="0">
                <a:solidFill>
                  <a:srgbClr val="4C5468"/>
                </a:solidFill>
                <a:latin typeface="29LT Adir" panose="00000506000000000000" pitchFamily="50" charset="-78"/>
                <a:cs typeface="29LT Adir" panose="00000506000000000000" pitchFamily="50" charset="-78"/>
                <a:sym typeface="Arial"/>
              </a:rPr>
              <a:t>4 mission objectives</a:t>
            </a:r>
            <a:r>
              <a:rPr lang="en-US" sz="1200" dirty="0">
                <a:solidFill>
                  <a:srgbClr val="4C5468"/>
                </a:solidFill>
                <a:latin typeface="29LT Adir" panose="00000506000000000000" pitchFamily="50" charset="-78"/>
                <a:cs typeface="29LT Adir" panose="00000506000000000000" pitchFamily="50" charset="-78"/>
                <a:sym typeface="Arial"/>
              </a:rPr>
              <a:t> into </a:t>
            </a:r>
            <a:r>
              <a:rPr lang="en-US" sz="1200" b="1" dirty="0">
                <a:solidFill>
                  <a:srgbClr val="4C5468"/>
                </a:solidFill>
                <a:latin typeface="29LT Adir" panose="00000506000000000000" pitchFamily="50" charset="-78"/>
                <a:cs typeface="29LT Adir" panose="00000506000000000000" pitchFamily="50" charset="-78"/>
                <a:sym typeface="Arial"/>
              </a:rPr>
              <a:t>19 scientific measurements</a:t>
            </a:r>
            <a:r>
              <a:rPr lang="en-US" sz="1200" dirty="0">
                <a:solidFill>
                  <a:srgbClr val="4C5468"/>
                </a:solidFill>
                <a:latin typeface="29LT Adir" panose="00000506000000000000" pitchFamily="50" charset="-78"/>
                <a:cs typeface="29LT Adir" panose="00000506000000000000" pitchFamily="50" charset="-78"/>
                <a:sym typeface="Arial"/>
              </a:rPr>
              <a:t>, mapped the </a:t>
            </a:r>
            <a:r>
              <a:rPr lang="en-US" sz="1200" b="1" dirty="0">
                <a:solidFill>
                  <a:srgbClr val="4C5468"/>
                </a:solidFill>
                <a:latin typeface="29LT Adir" panose="00000506000000000000" pitchFamily="50" charset="-78"/>
                <a:cs typeface="29LT Adir" panose="00000506000000000000" pitchFamily="50" charset="-78"/>
                <a:sym typeface="Arial"/>
              </a:rPr>
              <a:t>19 measurements </a:t>
            </a:r>
            <a:r>
              <a:rPr lang="en-US" sz="1200" dirty="0">
                <a:solidFill>
                  <a:srgbClr val="4C5468"/>
                </a:solidFill>
                <a:latin typeface="29LT Adir" panose="00000506000000000000" pitchFamily="50" charset="-78"/>
                <a:cs typeface="29LT Adir" panose="00000506000000000000" pitchFamily="50" charset="-78"/>
                <a:sym typeface="Arial"/>
              </a:rPr>
              <a:t>into </a:t>
            </a:r>
            <a:r>
              <a:rPr lang="en-US" sz="1200" b="1" dirty="0">
                <a:solidFill>
                  <a:srgbClr val="4C5468"/>
                </a:solidFill>
                <a:latin typeface="29LT Adir" panose="00000506000000000000" pitchFamily="50" charset="-78"/>
                <a:cs typeface="29LT Adir" panose="00000506000000000000" pitchFamily="50" charset="-78"/>
                <a:sym typeface="Arial"/>
              </a:rPr>
              <a:t>the 12 instruments</a:t>
            </a:r>
            <a:r>
              <a:rPr lang="en-US" sz="1200" dirty="0">
                <a:solidFill>
                  <a:srgbClr val="4C5468"/>
                </a:solidFill>
                <a:latin typeface="29LT Adir" panose="00000506000000000000" pitchFamily="50" charset="-78"/>
                <a:cs typeface="29LT Adir" panose="00000506000000000000" pitchFamily="50" charset="-78"/>
                <a:sym typeface="Arial"/>
              </a:rPr>
              <a:t> of the mission</a:t>
            </a:r>
            <a:endParaRPr sz="1200" dirty="0">
              <a:solidFill>
                <a:schemeClr val="dk1"/>
              </a:solidFill>
              <a:latin typeface="29LT Adir" panose="00000506000000000000" pitchFamily="50" charset="-78"/>
              <a:cs typeface="29LT Adir" panose="00000506000000000000" pitchFamily="50" charset="-78"/>
              <a:sym typeface="Arial"/>
            </a:endParaRPr>
          </a:p>
        </p:txBody>
      </p:sp>
      <p:sp>
        <p:nvSpPr>
          <p:cNvPr id="173" name="Google Shape;173;p7"/>
          <p:cNvSpPr/>
          <p:nvPr/>
        </p:nvSpPr>
        <p:spPr>
          <a:xfrm>
            <a:off x="4841931" y="2670048"/>
            <a:ext cx="256032" cy="201168"/>
          </a:xfrm>
          <a:prstGeom prst="rightArrow">
            <a:avLst>
              <a:gd name="adj1" fmla="val 50000"/>
              <a:gd name="adj2" fmla="val 50000"/>
            </a:avLst>
          </a:prstGeom>
          <a:solidFill>
            <a:srgbClr val="6DD9FF"/>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600">
              <a:solidFill>
                <a:schemeClr val="dk1"/>
              </a:solidFill>
              <a:latin typeface="29LT Adir" panose="00000506000000000000" pitchFamily="50" charset="-78"/>
              <a:cs typeface="29LT Adir" panose="00000506000000000000" pitchFamily="50" charset="-78"/>
              <a:sym typeface="Arial"/>
            </a:endParaRPr>
          </a:p>
        </p:txBody>
      </p:sp>
      <p:sp>
        <p:nvSpPr>
          <p:cNvPr id="174" name="Google Shape;174;p7"/>
          <p:cNvSpPr/>
          <p:nvPr/>
        </p:nvSpPr>
        <p:spPr>
          <a:xfrm>
            <a:off x="5161971" y="1956816"/>
            <a:ext cx="1867753" cy="1627632"/>
          </a:xfrm>
          <a:prstGeom prst="roundRect">
            <a:avLst>
              <a:gd name="adj" fmla="val 5056"/>
            </a:avLst>
          </a:prstGeom>
          <a:solidFill>
            <a:srgbClr val="FFFFFF"/>
          </a:solidFill>
          <a:ln w="9525" cap="flat" cmpd="sng">
            <a:solidFill>
              <a:srgbClr val="FFC000"/>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75" name="Google Shape;175;p7"/>
          <p:cNvSpPr/>
          <p:nvPr/>
        </p:nvSpPr>
        <p:spPr>
          <a:xfrm>
            <a:off x="5344851" y="2176272"/>
            <a:ext cx="1501993" cy="548640"/>
          </a:xfrm>
          <a:prstGeom prst="rect">
            <a:avLst/>
          </a:prstGeom>
          <a:noFill/>
          <a:ln>
            <a:noFill/>
          </a:ln>
        </p:spPr>
        <p:txBody>
          <a:bodyPr spcFirstLastPara="1" wrap="square" lIns="0" tIns="0" rIns="0" bIns="0" anchor="t" anchorCtr="0">
            <a:noAutofit/>
          </a:bodyPr>
          <a:lstStyle/>
          <a:p>
            <a:pPr marL="0" marR="0" lvl="0" indent="0" algn="ctr" rtl="0">
              <a:lnSpc>
                <a:spcPct val="96000"/>
              </a:lnSpc>
              <a:spcBef>
                <a:spcPts val="0"/>
              </a:spcBef>
              <a:spcAft>
                <a:spcPts val="0"/>
              </a:spcAft>
              <a:buClr>
                <a:srgbClr val="13234C"/>
              </a:buClr>
              <a:buSzPts val="1350"/>
              <a:buFont typeface="Arial"/>
              <a:buNone/>
            </a:pPr>
            <a:r>
              <a:rPr lang="en-US" sz="1600" b="1">
                <a:solidFill>
                  <a:srgbClr val="13234C"/>
                </a:solidFill>
                <a:latin typeface="29LT Adir" panose="00000506000000000000" pitchFamily="50" charset="-78"/>
                <a:cs typeface="29LT Adir" panose="00000506000000000000" pitchFamily="50" charset="-78"/>
                <a:sym typeface="Arial"/>
              </a:rPr>
              <a:t>Knowledge gaps</a:t>
            </a:r>
            <a:endParaRPr sz="16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76" name="Google Shape;176;p7"/>
          <p:cNvSpPr/>
          <p:nvPr/>
        </p:nvSpPr>
        <p:spPr>
          <a:xfrm>
            <a:off x="5311899" y="2547257"/>
            <a:ext cx="1588048" cy="749808"/>
          </a:xfrm>
          <a:prstGeom prst="rect">
            <a:avLst/>
          </a:prstGeom>
          <a:noFill/>
          <a:ln>
            <a:noFill/>
          </a:ln>
        </p:spPr>
        <p:txBody>
          <a:bodyPr spcFirstLastPara="1" wrap="square" lIns="0" tIns="0" rIns="0" bIns="0" anchor="t" anchorCtr="0">
            <a:noAutofit/>
          </a:bodyPr>
          <a:lstStyle/>
          <a:p>
            <a:pPr marL="0" marR="0" lvl="0" indent="0" algn="ctr" rtl="0">
              <a:lnSpc>
                <a:spcPct val="112000"/>
              </a:lnSpc>
              <a:spcBef>
                <a:spcPts val="0"/>
              </a:spcBef>
              <a:spcAft>
                <a:spcPts val="0"/>
              </a:spcAft>
              <a:buClr>
                <a:srgbClr val="4C5468"/>
              </a:buClr>
              <a:buSzPts val="1200"/>
              <a:buFont typeface="Arial"/>
              <a:buNone/>
            </a:pPr>
            <a:r>
              <a:rPr lang="en-US" sz="1200">
                <a:solidFill>
                  <a:srgbClr val="4C5468"/>
                </a:solidFill>
                <a:latin typeface="29LT Adir" panose="00000506000000000000" pitchFamily="50" charset="-78"/>
                <a:cs typeface="29LT Adir" panose="00000506000000000000" pitchFamily="50" charset="-78"/>
                <a:sym typeface="Arial"/>
              </a:rPr>
              <a:t>Determined </a:t>
            </a:r>
            <a:r>
              <a:rPr lang="en-US" sz="1200" b="1">
                <a:solidFill>
                  <a:srgbClr val="4C5468"/>
                </a:solidFill>
                <a:latin typeface="29LT Adir" panose="00000506000000000000" pitchFamily="50" charset="-78"/>
                <a:cs typeface="29LT Adir" panose="00000506000000000000" pitchFamily="50" charset="-78"/>
                <a:sym typeface="Arial"/>
              </a:rPr>
              <a:t>4 knowledge gaps</a:t>
            </a:r>
            <a:r>
              <a:rPr lang="en-US" sz="1200">
                <a:solidFill>
                  <a:srgbClr val="4C5468"/>
                </a:solidFill>
                <a:latin typeface="29LT Adir" panose="00000506000000000000" pitchFamily="50" charset="-78"/>
                <a:cs typeface="29LT Adir" panose="00000506000000000000" pitchFamily="50" charset="-78"/>
                <a:sym typeface="Arial"/>
              </a:rPr>
              <a:t> by identifying the non measured measurements and </a:t>
            </a:r>
            <a:r>
              <a:rPr lang="en-US" sz="1200" b="1">
                <a:solidFill>
                  <a:srgbClr val="4C5468"/>
                </a:solidFill>
                <a:latin typeface="29LT Adir" panose="00000506000000000000" pitchFamily="50" charset="-78"/>
                <a:cs typeface="29LT Adir" panose="00000506000000000000" pitchFamily="50" charset="-78"/>
                <a:sym typeface="Arial"/>
              </a:rPr>
              <a:t>prioritized 1 knowledge gap</a:t>
            </a:r>
            <a:endParaRPr sz="1200" b="1">
              <a:solidFill>
                <a:schemeClr val="dk1"/>
              </a:solidFill>
              <a:latin typeface="29LT Adir" panose="00000506000000000000" pitchFamily="50" charset="-78"/>
              <a:cs typeface="29LT Adir" panose="00000506000000000000" pitchFamily="50" charset="-78"/>
              <a:sym typeface="Arial"/>
            </a:endParaRPr>
          </a:p>
        </p:txBody>
      </p:sp>
      <p:sp>
        <p:nvSpPr>
          <p:cNvPr id="177" name="Google Shape;177;p7"/>
          <p:cNvSpPr/>
          <p:nvPr/>
        </p:nvSpPr>
        <p:spPr>
          <a:xfrm>
            <a:off x="7093732" y="2670048"/>
            <a:ext cx="256032" cy="201168"/>
          </a:xfrm>
          <a:prstGeom prst="rightArrow">
            <a:avLst>
              <a:gd name="adj1" fmla="val 50000"/>
              <a:gd name="adj2" fmla="val 50000"/>
            </a:avLst>
          </a:prstGeom>
          <a:solidFill>
            <a:srgbClr val="6DD9FF"/>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600">
              <a:solidFill>
                <a:schemeClr val="dk1"/>
              </a:solidFill>
              <a:latin typeface="29LT Adir" panose="00000506000000000000" pitchFamily="50" charset="-78"/>
              <a:cs typeface="29LT Adir" panose="00000506000000000000" pitchFamily="50" charset="-78"/>
              <a:sym typeface="Arial"/>
            </a:endParaRPr>
          </a:p>
        </p:txBody>
      </p:sp>
      <p:sp>
        <p:nvSpPr>
          <p:cNvPr id="178" name="Google Shape;178;p7"/>
          <p:cNvSpPr/>
          <p:nvPr/>
        </p:nvSpPr>
        <p:spPr>
          <a:xfrm>
            <a:off x="7413772" y="1956816"/>
            <a:ext cx="1867753" cy="1627632"/>
          </a:xfrm>
          <a:prstGeom prst="roundRect">
            <a:avLst>
              <a:gd name="adj" fmla="val 5056"/>
            </a:avLst>
          </a:prstGeom>
          <a:solidFill>
            <a:srgbClr val="FFFFFF"/>
          </a:solidFill>
          <a:ln w="9525" cap="flat" cmpd="sng">
            <a:solidFill>
              <a:srgbClr val="FFC000"/>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79" name="Google Shape;179;p7"/>
          <p:cNvSpPr/>
          <p:nvPr/>
        </p:nvSpPr>
        <p:spPr>
          <a:xfrm>
            <a:off x="7596652" y="2176272"/>
            <a:ext cx="1501993" cy="548640"/>
          </a:xfrm>
          <a:prstGeom prst="rect">
            <a:avLst/>
          </a:prstGeom>
          <a:noFill/>
          <a:ln>
            <a:noFill/>
          </a:ln>
        </p:spPr>
        <p:txBody>
          <a:bodyPr spcFirstLastPara="1" wrap="square" lIns="0" tIns="0" rIns="0" bIns="0" anchor="t" anchorCtr="0">
            <a:noAutofit/>
          </a:bodyPr>
          <a:lstStyle/>
          <a:p>
            <a:pPr marL="0" marR="0" lvl="0" indent="0" algn="ctr" rtl="0">
              <a:lnSpc>
                <a:spcPct val="96000"/>
              </a:lnSpc>
              <a:spcBef>
                <a:spcPts val="0"/>
              </a:spcBef>
              <a:spcAft>
                <a:spcPts val="0"/>
              </a:spcAft>
              <a:buClr>
                <a:srgbClr val="13234C"/>
              </a:buClr>
              <a:buSzPts val="1350"/>
              <a:buFont typeface="Arial"/>
              <a:buNone/>
            </a:pPr>
            <a:r>
              <a:rPr lang="en-US" sz="1600" b="1">
                <a:solidFill>
                  <a:srgbClr val="13234C"/>
                </a:solidFill>
                <a:latin typeface="29LT Adir" panose="00000506000000000000" pitchFamily="50" charset="-78"/>
                <a:cs typeface="29LT Adir" panose="00000506000000000000" pitchFamily="50" charset="-78"/>
                <a:sym typeface="Arial"/>
              </a:rPr>
              <a:t>Payload trade study</a:t>
            </a:r>
            <a:endParaRPr sz="16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80" name="Google Shape;180;p7"/>
          <p:cNvSpPr/>
          <p:nvPr/>
        </p:nvSpPr>
        <p:spPr>
          <a:xfrm>
            <a:off x="7571938" y="2528595"/>
            <a:ext cx="1588049" cy="749808"/>
          </a:xfrm>
          <a:prstGeom prst="rect">
            <a:avLst/>
          </a:prstGeom>
          <a:noFill/>
          <a:ln>
            <a:noFill/>
          </a:ln>
        </p:spPr>
        <p:txBody>
          <a:bodyPr spcFirstLastPara="1" wrap="square" lIns="0" tIns="0" rIns="0" bIns="0" anchor="t" anchorCtr="0">
            <a:noAutofit/>
          </a:bodyPr>
          <a:lstStyle/>
          <a:p>
            <a:pPr marL="0" marR="0" lvl="0" indent="0" algn="ctr" rtl="0">
              <a:lnSpc>
                <a:spcPct val="112000"/>
              </a:lnSpc>
              <a:spcBef>
                <a:spcPts val="0"/>
              </a:spcBef>
              <a:spcAft>
                <a:spcPts val="0"/>
              </a:spcAft>
              <a:buClr>
                <a:srgbClr val="4C5468"/>
              </a:buClr>
              <a:buSzPts val="1200"/>
              <a:buFont typeface="Arial"/>
              <a:buNone/>
            </a:pPr>
            <a:r>
              <a:rPr lang="en-US" sz="1200">
                <a:solidFill>
                  <a:srgbClr val="4C5468"/>
                </a:solidFill>
                <a:latin typeface="29LT Adir" panose="00000506000000000000" pitchFamily="50" charset="-78"/>
                <a:cs typeface="29LT Adir" panose="00000506000000000000" pitchFamily="50" charset="-78"/>
                <a:sym typeface="Arial"/>
              </a:rPr>
              <a:t>Identified multiple </a:t>
            </a:r>
            <a:r>
              <a:rPr lang="en-US" sz="1200" b="1">
                <a:solidFill>
                  <a:srgbClr val="4C5468"/>
                </a:solidFill>
                <a:latin typeface="29LT Adir" panose="00000506000000000000" pitchFamily="50" charset="-78"/>
                <a:cs typeface="29LT Adir" panose="00000506000000000000" pitchFamily="50" charset="-78"/>
                <a:sym typeface="Arial"/>
              </a:rPr>
              <a:t>instruments</a:t>
            </a:r>
            <a:r>
              <a:rPr lang="en-US" sz="1200">
                <a:solidFill>
                  <a:srgbClr val="4C5468"/>
                </a:solidFill>
                <a:latin typeface="29LT Adir" panose="00000506000000000000" pitchFamily="50" charset="-78"/>
                <a:cs typeface="29LT Adir" panose="00000506000000000000" pitchFamily="50" charset="-78"/>
                <a:sym typeface="Arial"/>
              </a:rPr>
              <a:t> that can </a:t>
            </a:r>
            <a:r>
              <a:rPr lang="en-US" sz="1200" b="1">
                <a:solidFill>
                  <a:srgbClr val="4C5468"/>
                </a:solidFill>
                <a:latin typeface="29LT Adir" panose="00000506000000000000" pitchFamily="50" charset="-78"/>
                <a:cs typeface="29LT Adir" panose="00000506000000000000" pitchFamily="50" charset="-78"/>
                <a:sym typeface="Arial"/>
              </a:rPr>
              <a:t>measure</a:t>
            </a:r>
            <a:r>
              <a:rPr lang="en-US" sz="1200">
                <a:solidFill>
                  <a:srgbClr val="4C5468"/>
                </a:solidFill>
                <a:latin typeface="29LT Adir" panose="00000506000000000000" pitchFamily="50" charset="-78"/>
                <a:cs typeface="29LT Adir" panose="00000506000000000000" pitchFamily="50" charset="-78"/>
                <a:sym typeface="Arial"/>
              </a:rPr>
              <a:t> the </a:t>
            </a:r>
            <a:r>
              <a:rPr lang="en-US" sz="1200" b="1">
                <a:solidFill>
                  <a:srgbClr val="4C5468"/>
                </a:solidFill>
                <a:latin typeface="29LT Adir" panose="00000506000000000000" pitchFamily="50" charset="-78"/>
                <a:cs typeface="29LT Adir" panose="00000506000000000000" pitchFamily="50" charset="-78"/>
                <a:sym typeface="Arial"/>
              </a:rPr>
              <a:t>knowledge gap</a:t>
            </a:r>
            <a:endParaRPr sz="1200" b="1">
              <a:solidFill>
                <a:schemeClr val="dk1"/>
              </a:solidFill>
              <a:latin typeface="29LT Adir" panose="00000506000000000000" pitchFamily="50" charset="-78"/>
              <a:cs typeface="29LT Adir" panose="00000506000000000000" pitchFamily="50" charset="-78"/>
              <a:sym typeface="Arial"/>
            </a:endParaRPr>
          </a:p>
        </p:txBody>
      </p:sp>
      <p:sp>
        <p:nvSpPr>
          <p:cNvPr id="181" name="Google Shape;181;p7"/>
          <p:cNvSpPr/>
          <p:nvPr/>
        </p:nvSpPr>
        <p:spPr>
          <a:xfrm>
            <a:off x="9345534" y="2670048"/>
            <a:ext cx="256032" cy="201168"/>
          </a:xfrm>
          <a:prstGeom prst="rightArrow">
            <a:avLst>
              <a:gd name="adj1" fmla="val 50000"/>
              <a:gd name="adj2" fmla="val 50000"/>
            </a:avLst>
          </a:prstGeom>
          <a:solidFill>
            <a:srgbClr val="6DD9FF"/>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600">
              <a:solidFill>
                <a:schemeClr val="dk1"/>
              </a:solidFill>
              <a:latin typeface="29LT Adir" panose="00000506000000000000" pitchFamily="50" charset="-78"/>
              <a:cs typeface="29LT Adir" panose="00000506000000000000" pitchFamily="50" charset="-78"/>
              <a:sym typeface="Arial"/>
            </a:endParaRPr>
          </a:p>
        </p:txBody>
      </p:sp>
      <p:sp>
        <p:nvSpPr>
          <p:cNvPr id="182" name="Google Shape;182;p7"/>
          <p:cNvSpPr/>
          <p:nvPr/>
        </p:nvSpPr>
        <p:spPr>
          <a:xfrm>
            <a:off x="9665574" y="1956816"/>
            <a:ext cx="1867753" cy="1627632"/>
          </a:xfrm>
          <a:prstGeom prst="roundRect">
            <a:avLst>
              <a:gd name="adj" fmla="val 5056"/>
            </a:avLst>
          </a:prstGeom>
          <a:solidFill>
            <a:srgbClr val="13234C"/>
          </a:solidFill>
          <a:ln>
            <a:noFill/>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83" name="Google Shape;183;p7"/>
          <p:cNvSpPr/>
          <p:nvPr/>
        </p:nvSpPr>
        <p:spPr>
          <a:xfrm>
            <a:off x="9848454" y="2523744"/>
            <a:ext cx="1501993" cy="548640"/>
          </a:xfrm>
          <a:prstGeom prst="rect">
            <a:avLst/>
          </a:prstGeom>
          <a:noFill/>
          <a:ln>
            <a:noFill/>
          </a:ln>
        </p:spPr>
        <p:txBody>
          <a:bodyPr spcFirstLastPara="1" wrap="square" lIns="0" tIns="0" rIns="0" bIns="0" anchor="t" anchorCtr="0">
            <a:noAutofit/>
          </a:bodyPr>
          <a:lstStyle/>
          <a:p>
            <a:pPr marL="0" marR="0" lvl="0" indent="0" algn="ctr" rtl="0">
              <a:lnSpc>
                <a:spcPct val="96000"/>
              </a:lnSpc>
              <a:spcBef>
                <a:spcPts val="0"/>
              </a:spcBef>
              <a:spcAft>
                <a:spcPts val="0"/>
              </a:spcAft>
              <a:buClr>
                <a:srgbClr val="FFFFFF"/>
              </a:buClr>
              <a:buSzPts val="1400"/>
              <a:buFont typeface="Arial"/>
              <a:buNone/>
            </a:pPr>
            <a:r>
              <a:rPr lang="en-US" sz="1600" b="1" dirty="0">
                <a:solidFill>
                  <a:srgbClr val="FFFFFF"/>
                </a:solidFill>
                <a:latin typeface="29LT Adir" panose="00000506000000000000" pitchFamily="50" charset="-78"/>
                <a:cs typeface="29LT Adir" panose="00000506000000000000" pitchFamily="50" charset="-78"/>
                <a:sym typeface="Arial"/>
              </a:rPr>
              <a:t>One recommended payload</a:t>
            </a:r>
            <a:endParaRPr sz="16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184" name="Google Shape;184;p7"/>
          <p:cNvSpPr/>
          <p:nvPr/>
        </p:nvSpPr>
        <p:spPr>
          <a:xfrm>
            <a:off x="10881360" y="6272784"/>
            <a:ext cx="694944"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79839A"/>
              </a:buClr>
              <a:buSzPts val="1000"/>
              <a:buFont typeface="Arial"/>
              <a:buNone/>
            </a:pPr>
            <a:r>
              <a:rPr lang="en-US" sz="1000">
                <a:solidFill>
                  <a:srgbClr val="79839A"/>
                </a:solidFill>
                <a:latin typeface="Arial"/>
                <a:ea typeface="Arial"/>
                <a:cs typeface="Arial"/>
                <a:sym typeface="Arial"/>
              </a:rPr>
              <a:t>4</a:t>
            </a:r>
            <a:endParaRPr sz="1000">
              <a:solidFill>
                <a:schemeClr val="dk1"/>
              </a:solidFill>
              <a:latin typeface="Calibri"/>
              <a:ea typeface="Calibri"/>
              <a:cs typeface="Calibri"/>
              <a:sym typeface="Calibri"/>
            </a:endParaRPr>
          </a:p>
        </p:txBody>
      </p:sp>
      <p:pic>
        <p:nvPicPr>
          <p:cNvPr id="185" name="Google Shape;185;p7" descr="/home/claude/work/a2/logo_dark.png"/>
          <p:cNvPicPr preferRelativeResize="0"/>
          <p:nvPr/>
        </p:nvPicPr>
        <p:blipFill rotWithShape="1">
          <a:blip r:embed="rId5">
            <a:alphaModFix/>
          </a:blip>
          <a:srcRect/>
          <a:stretch/>
        </p:blipFill>
        <p:spPr>
          <a:xfrm>
            <a:off x="10616340" y="122984"/>
            <a:ext cx="1450538" cy="814736"/>
          </a:xfrm>
          <a:prstGeom prst="rect">
            <a:avLst/>
          </a:prstGeom>
          <a:noFill/>
          <a:ln>
            <a:noFill/>
          </a:ln>
        </p:spPr>
      </p:pic>
      <p:pic>
        <p:nvPicPr>
          <p:cNvPr id="186" name="Google Shape;186;p7" descr="Image.png"/>
          <p:cNvPicPr preferRelativeResize="0"/>
          <p:nvPr/>
        </p:nvPicPr>
        <p:blipFill rotWithShape="1">
          <a:blip r:embed="rId6">
            <a:alphaModFix/>
          </a:blip>
          <a:srcRect l="1620" r="1494"/>
          <a:stretch/>
        </p:blipFill>
        <p:spPr>
          <a:xfrm>
            <a:off x="9768651" y="3909152"/>
            <a:ext cx="1640721" cy="1888179"/>
          </a:xfrm>
          <a:prstGeom prst="rect">
            <a:avLst/>
          </a:prstGeom>
          <a:noFill/>
          <a:ln>
            <a:noFill/>
          </a:ln>
          <a:effectLst>
            <a:outerShdw blurRad="292100" dist="139700" dir="2700000" algn="tl" rotWithShape="0">
              <a:srgbClr val="333333">
                <a:alpha val="65098"/>
              </a:srgbClr>
            </a:outerShdw>
          </a:effectLst>
        </p:spPr>
      </p:pic>
      <p:pic>
        <p:nvPicPr>
          <p:cNvPr id="187" name="Google Shape;187;p7" descr="Image.png"/>
          <p:cNvPicPr preferRelativeResize="0"/>
          <p:nvPr/>
        </p:nvPicPr>
        <p:blipFill rotWithShape="1">
          <a:blip r:embed="rId7">
            <a:alphaModFix/>
          </a:blip>
          <a:srcRect l="1809" t="3286" r="1300"/>
          <a:stretch/>
        </p:blipFill>
        <p:spPr>
          <a:xfrm>
            <a:off x="9914938" y="4577553"/>
            <a:ext cx="1706019" cy="1388490"/>
          </a:xfrm>
          <a:prstGeom prst="rect">
            <a:avLst/>
          </a:prstGeom>
          <a:noFill/>
          <a:ln>
            <a:noFill/>
          </a:ln>
          <a:effectLst>
            <a:outerShdw blurRad="292100" dist="139700" dir="2700000" algn="tl" rotWithShape="0">
              <a:srgbClr val="333333">
                <a:alpha val="65098"/>
              </a:srgbClr>
            </a:outerShdw>
          </a:effectLst>
        </p:spPr>
      </p:pic>
      <p:pic>
        <p:nvPicPr>
          <p:cNvPr id="188" name="Google Shape;188;p7"/>
          <p:cNvPicPr preferRelativeResize="0"/>
          <p:nvPr/>
        </p:nvPicPr>
        <p:blipFill rotWithShape="1">
          <a:blip r:embed="rId8">
            <a:alphaModFix/>
          </a:blip>
          <a:srcRect l="5940" r="3509"/>
          <a:stretch/>
        </p:blipFill>
        <p:spPr>
          <a:xfrm>
            <a:off x="3202193" y="4026289"/>
            <a:ext cx="1557913" cy="1789200"/>
          </a:xfrm>
          <a:prstGeom prst="rect">
            <a:avLst/>
          </a:prstGeom>
          <a:noFill/>
          <a:ln>
            <a:noFill/>
          </a:ln>
          <a:effectLst>
            <a:outerShdw blurRad="292100" dist="139700" dir="2700000" algn="tl" rotWithShape="0">
              <a:srgbClr val="333333">
                <a:alpha val="65098"/>
              </a:srgbClr>
            </a:outerShdw>
          </a:effectLst>
        </p:spPr>
      </p:pic>
      <p:pic>
        <p:nvPicPr>
          <p:cNvPr id="189" name="Google Shape;189;p7"/>
          <p:cNvPicPr preferRelativeResize="0"/>
          <p:nvPr/>
        </p:nvPicPr>
        <p:blipFill rotWithShape="1">
          <a:blip r:embed="rId9">
            <a:alphaModFix/>
          </a:blip>
          <a:srcRect/>
          <a:stretch/>
        </p:blipFill>
        <p:spPr>
          <a:xfrm>
            <a:off x="545167" y="3901439"/>
            <a:ext cx="1561921" cy="1630494"/>
          </a:xfrm>
          <a:prstGeom prst="rect">
            <a:avLst/>
          </a:prstGeom>
          <a:noFill/>
          <a:ln>
            <a:noFill/>
          </a:ln>
          <a:effectLst>
            <a:outerShdw blurRad="292100" dist="139700" dir="2700000" algn="tl" rotWithShape="0">
              <a:srgbClr val="333333">
                <a:alpha val="65098"/>
              </a:srgbClr>
            </a:outerShdw>
          </a:effectLst>
        </p:spPr>
      </p:pic>
      <p:pic>
        <p:nvPicPr>
          <p:cNvPr id="190" name="Google Shape;190;p7"/>
          <p:cNvPicPr preferRelativeResize="0"/>
          <p:nvPr/>
        </p:nvPicPr>
        <p:blipFill rotWithShape="1">
          <a:blip r:embed="rId10">
            <a:alphaModFix/>
          </a:blip>
          <a:srcRect l="2885" r="3167"/>
          <a:stretch/>
        </p:blipFill>
        <p:spPr>
          <a:xfrm>
            <a:off x="3107112" y="4360887"/>
            <a:ext cx="1512841" cy="1651507"/>
          </a:xfrm>
          <a:prstGeom prst="rect">
            <a:avLst/>
          </a:prstGeom>
          <a:noFill/>
          <a:ln>
            <a:noFill/>
          </a:ln>
          <a:effectLst>
            <a:outerShdw blurRad="292100" dist="139700" dir="2700000" algn="tl" rotWithShape="0">
              <a:srgbClr val="333333">
                <a:alpha val="65098"/>
              </a:srgbClr>
            </a:outerShdw>
          </a:effectLst>
        </p:spPr>
      </p:pic>
      <p:sp>
        <p:nvSpPr>
          <p:cNvPr id="191" name="Google Shape;191;p7"/>
          <p:cNvSpPr/>
          <p:nvPr/>
        </p:nvSpPr>
        <p:spPr>
          <a:xfrm>
            <a:off x="2595048" y="4978325"/>
            <a:ext cx="256032" cy="201168"/>
          </a:xfrm>
          <a:prstGeom prst="rightArrow">
            <a:avLst>
              <a:gd name="adj1" fmla="val 50000"/>
              <a:gd name="adj2" fmla="val 50000"/>
            </a:avLst>
          </a:prstGeom>
          <a:solidFill>
            <a:srgbClr val="6DD9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2" name="Google Shape;192;p7"/>
          <p:cNvSpPr/>
          <p:nvPr/>
        </p:nvSpPr>
        <p:spPr>
          <a:xfrm>
            <a:off x="4917059" y="4950891"/>
            <a:ext cx="256032" cy="201168"/>
          </a:xfrm>
          <a:prstGeom prst="rightArrow">
            <a:avLst>
              <a:gd name="adj1" fmla="val 50000"/>
              <a:gd name="adj2" fmla="val 50000"/>
            </a:avLst>
          </a:prstGeom>
          <a:solidFill>
            <a:srgbClr val="6DD9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93" name="Google Shape;193;p7"/>
          <p:cNvPicPr preferRelativeResize="0"/>
          <p:nvPr/>
        </p:nvPicPr>
        <p:blipFill rotWithShape="1">
          <a:blip r:embed="rId11">
            <a:alphaModFix/>
          </a:blip>
          <a:srcRect/>
          <a:stretch/>
        </p:blipFill>
        <p:spPr>
          <a:xfrm>
            <a:off x="894054" y="4074364"/>
            <a:ext cx="1552352" cy="1807922"/>
          </a:xfrm>
          <a:prstGeom prst="rect">
            <a:avLst/>
          </a:prstGeom>
          <a:noFill/>
          <a:ln>
            <a:noFill/>
          </a:ln>
          <a:effectLst>
            <a:outerShdw blurRad="292100" dist="139700" dir="2700000" algn="tl" rotWithShape="0">
              <a:srgbClr val="333333">
                <a:alpha val="65098"/>
              </a:srgbClr>
            </a:outerShdw>
          </a:effectLst>
        </p:spPr>
      </p:pic>
      <p:pic>
        <p:nvPicPr>
          <p:cNvPr id="194" name="Google Shape;194;p7"/>
          <p:cNvPicPr preferRelativeResize="0"/>
          <p:nvPr/>
        </p:nvPicPr>
        <p:blipFill rotWithShape="1">
          <a:blip r:embed="rId12">
            <a:alphaModFix/>
          </a:blip>
          <a:srcRect/>
          <a:stretch/>
        </p:blipFill>
        <p:spPr>
          <a:xfrm>
            <a:off x="532240" y="4455820"/>
            <a:ext cx="1350560" cy="1499616"/>
          </a:xfrm>
          <a:prstGeom prst="rect">
            <a:avLst/>
          </a:prstGeom>
          <a:noFill/>
          <a:ln>
            <a:noFill/>
          </a:ln>
          <a:effectLst>
            <a:outerShdw blurRad="292100" dist="139700" dir="2700000" algn="tl" rotWithShape="0">
              <a:srgbClr val="333333">
                <a:alpha val="65098"/>
              </a:srgbClr>
            </a:outerShdw>
          </a:effectLst>
        </p:spPr>
      </p:pic>
      <p:sp>
        <p:nvSpPr>
          <p:cNvPr id="195" name="Google Shape;195;p7"/>
          <p:cNvSpPr/>
          <p:nvPr/>
        </p:nvSpPr>
        <p:spPr>
          <a:xfrm>
            <a:off x="7105436" y="4950891"/>
            <a:ext cx="256032" cy="201168"/>
          </a:xfrm>
          <a:prstGeom prst="rightArrow">
            <a:avLst>
              <a:gd name="adj1" fmla="val 50000"/>
              <a:gd name="adj2" fmla="val 50000"/>
            </a:avLst>
          </a:prstGeom>
          <a:solidFill>
            <a:srgbClr val="6DD9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196" name="Google Shape;196;p7"/>
          <p:cNvSpPr/>
          <p:nvPr/>
        </p:nvSpPr>
        <p:spPr>
          <a:xfrm>
            <a:off x="9438683" y="4978325"/>
            <a:ext cx="256032" cy="201168"/>
          </a:xfrm>
          <a:prstGeom prst="rightArrow">
            <a:avLst>
              <a:gd name="adj1" fmla="val 50000"/>
              <a:gd name="adj2" fmla="val 50000"/>
            </a:avLst>
          </a:prstGeom>
          <a:solidFill>
            <a:srgbClr val="6DD9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197" name="Google Shape;197;p7"/>
          <p:cNvPicPr preferRelativeResize="0"/>
          <p:nvPr/>
        </p:nvPicPr>
        <p:blipFill rotWithShape="1">
          <a:blip r:embed="rId13">
            <a:alphaModFix/>
          </a:blip>
          <a:srcRect/>
          <a:stretch/>
        </p:blipFill>
        <p:spPr>
          <a:xfrm>
            <a:off x="5270866" y="3956096"/>
            <a:ext cx="1446747" cy="1794289"/>
          </a:xfrm>
          <a:prstGeom prst="rect">
            <a:avLst/>
          </a:prstGeom>
          <a:noFill/>
          <a:ln>
            <a:noFill/>
          </a:ln>
          <a:effectLst>
            <a:outerShdw blurRad="292100" dist="139700" dir="2700000" algn="tl" rotWithShape="0">
              <a:srgbClr val="333333">
                <a:alpha val="65098"/>
              </a:srgbClr>
            </a:outerShdw>
          </a:effectLst>
        </p:spPr>
      </p:pic>
      <p:pic>
        <p:nvPicPr>
          <p:cNvPr id="198" name="Google Shape;198;p7"/>
          <p:cNvPicPr preferRelativeResize="0"/>
          <p:nvPr/>
        </p:nvPicPr>
        <p:blipFill rotWithShape="1">
          <a:blip r:embed="rId14">
            <a:alphaModFix/>
          </a:blip>
          <a:srcRect l="2307" t="1793" r="3800"/>
          <a:stretch/>
        </p:blipFill>
        <p:spPr>
          <a:xfrm>
            <a:off x="5610184" y="4286945"/>
            <a:ext cx="1387094" cy="1626878"/>
          </a:xfrm>
          <a:prstGeom prst="rect">
            <a:avLst/>
          </a:prstGeom>
          <a:noFill/>
          <a:ln>
            <a:noFill/>
          </a:ln>
          <a:effectLst>
            <a:outerShdw blurRad="292100" dist="139700" dir="2700000" algn="tl" rotWithShape="0">
              <a:srgbClr val="333333">
                <a:alpha val="65098"/>
              </a:srgbClr>
            </a:outerShdw>
          </a:effectLst>
        </p:spPr>
      </p:pic>
      <p:pic>
        <p:nvPicPr>
          <p:cNvPr id="199" name="Google Shape;199;p7"/>
          <p:cNvPicPr preferRelativeResize="0"/>
          <p:nvPr/>
        </p:nvPicPr>
        <p:blipFill rotWithShape="1">
          <a:blip r:embed="rId15">
            <a:alphaModFix/>
          </a:blip>
          <a:srcRect l="3171" t="2419" r="2666"/>
          <a:stretch/>
        </p:blipFill>
        <p:spPr>
          <a:xfrm>
            <a:off x="7506317" y="4039240"/>
            <a:ext cx="1759517" cy="1147401"/>
          </a:xfrm>
          <a:prstGeom prst="rect">
            <a:avLst/>
          </a:prstGeom>
          <a:noFill/>
          <a:ln>
            <a:noFill/>
          </a:ln>
          <a:effectLst>
            <a:outerShdw blurRad="292100" dist="139700" dir="2700000" algn="tl" rotWithShape="0">
              <a:srgbClr val="333333">
                <a:alpha val="65098"/>
              </a:srgbClr>
            </a:outerShdw>
          </a:effectLst>
        </p:spPr>
      </p:pic>
      <p:pic>
        <p:nvPicPr>
          <p:cNvPr id="200" name="Google Shape;200;p7"/>
          <p:cNvPicPr preferRelativeResize="0"/>
          <p:nvPr/>
        </p:nvPicPr>
        <p:blipFill rotWithShape="1">
          <a:blip r:embed="rId16">
            <a:alphaModFix/>
          </a:blip>
          <a:srcRect l="3373" r="4049"/>
          <a:stretch/>
        </p:blipFill>
        <p:spPr>
          <a:xfrm>
            <a:off x="7621214" y="4545999"/>
            <a:ext cx="1686807" cy="1108770"/>
          </a:xfrm>
          <a:prstGeom prst="rect">
            <a:avLst/>
          </a:prstGeom>
          <a:noFill/>
          <a:ln>
            <a:noFill/>
          </a:ln>
          <a:effectLst>
            <a:outerShdw blurRad="292100" dist="139700" dir="2700000" algn="tl" rotWithShape="0">
              <a:srgbClr val="333333">
                <a:alpha val="65098"/>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Shape 206"/>
        <p:cNvGrpSpPr/>
        <p:nvPr/>
      </p:nvGrpSpPr>
      <p:grpSpPr>
        <a:xfrm>
          <a:off x="0" y="0"/>
          <a:ext cx="0" cy="0"/>
          <a:chOff x="0" y="0"/>
          <a:chExt cx="0" cy="0"/>
        </a:xfrm>
      </p:grpSpPr>
      <p:pic>
        <p:nvPicPr>
          <p:cNvPr id="207" name="Google Shape;207;p8" descr="ESA - First CubeSat joins ESA's Ramses mission to asteroid Apophis"/>
          <p:cNvPicPr preferRelativeResize="0"/>
          <p:nvPr/>
        </p:nvPicPr>
        <p:blipFill rotWithShape="1">
          <a:blip r:embed="rId3">
            <a:alphaModFix amt="68000"/>
          </a:blip>
          <a:srcRect/>
          <a:stretch/>
        </p:blipFill>
        <p:spPr>
          <a:xfrm>
            <a:off x="1" y="10160"/>
            <a:ext cx="12191999" cy="6858000"/>
          </a:xfrm>
          <a:prstGeom prst="rect">
            <a:avLst/>
          </a:prstGeom>
          <a:noFill/>
          <a:ln>
            <a:noFill/>
          </a:ln>
        </p:spPr>
      </p:pic>
      <p:pic>
        <p:nvPicPr>
          <p:cNvPr id="208" name="Google Shape;208;p8" descr="/home/claude/work/a2/glow_blue.jpg"/>
          <p:cNvPicPr preferRelativeResize="0"/>
          <p:nvPr/>
        </p:nvPicPr>
        <p:blipFill rotWithShape="1">
          <a:blip r:embed="rId4">
            <a:alphaModFix amt="61000"/>
          </a:blip>
          <a:srcRect/>
          <a:stretch/>
        </p:blipFill>
        <p:spPr>
          <a:xfrm>
            <a:off x="-1" y="5186"/>
            <a:ext cx="12191695" cy="6858000"/>
          </a:xfrm>
          <a:prstGeom prst="rect">
            <a:avLst/>
          </a:prstGeom>
          <a:noFill/>
          <a:ln>
            <a:noFill/>
          </a:ln>
        </p:spPr>
      </p:pic>
      <p:pic>
        <p:nvPicPr>
          <p:cNvPr id="209" name="Google Shape;209;p8" descr="/home/claude/work/a2/asteroid_left.png"/>
          <p:cNvPicPr preferRelativeResize="0"/>
          <p:nvPr/>
        </p:nvPicPr>
        <p:blipFill rotWithShape="1">
          <a:blip r:embed="rId5">
            <a:alphaModFix amt="62000"/>
          </a:blip>
          <a:srcRect t="20589"/>
          <a:stretch/>
        </p:blipFill>
        <p:spPr>
          <a:xfrm>
            <a:off x="8229600" y="4670435"/>
            <a:ext cx="3962095" cy="3033064"/>
          </a:xfrm>
          <a:prstGeom prst="rect">
            <a:avLst/>
          </a:prstGeom>
          <a:noFill/>
          <a:ln>
            <a:noFill/>
          </a:ln>
        </p:spPr>
      </p:pic>
      <p:sp>
        <p:nvSpPr>
          <p:cNvPr id="210" name="Google Shape;210;p8"/>
          <p:cNvSpPr/>
          <p:nvPr/>
        </p:nvSpPr>
        <p:spPr>
          <a:xfrm>
            <a:off x="658368" y="530352"/>
            <a:ext cx="9052560" cy="472966"/>
          </a:xfrm>
          <a:prstGeom prst="rect">
            <a:avLst/>
          </a:prstGeom>
          <a:noFill/>
          <a:ln>
            <a:noFill/>
          </a:ln>
        </p:spPr>
        <p:txBody>
          <a:bodyPr spcFirstLastPara="1" wrap="square" lIns="0" tIns="0" rIns="0" bIns="0" anchor="ctr" anchorCtr="0">
            <a:noAutofit/>
          </a:bodyPr>
          <a:lstStyle/>
          <a:p>
            <a:pPr marL="0" marR="0" lvl="0" indent="0" algn="l" rtl="0">
              <a:lnSpc>
                <a:spcPct val="92000"/>
              </a:lnSpc>
              <a:spcBef>
                <a:spcPts val="0"/>
              </a:spcBef>
              <a:spcAft>
                <a:spcPts val="0"/>
              </a:spcAft>
              <a:buClr>
                <a:srgbClr val="FFFFFF"/>
              </a:buClr>
              <a:buSzPts val="3000"/>
              <a:buFont typeface="Arial"/>
              <a:buNone/>
            </a:pPr>
            <a:r>
              <a:rPr lang="en-US" sz="3000" b="1">
                <a:solidFill>
                  <a:srgbClr val="FFFFFF"/>
                </a:solidFill>
                <a:latin typeface="29LT Adir" panose="00000506000000000000" pitchFamily="50" charset="-78"/>
                <a:cs typeface="29LT Adir" panose="00000506000000000000" pitchFamily="50" charset="-78"/>
                <a:sym typeface="Arial"/>
              </a:rPr>
              <a:t>What RAMSES Already Measures</a:t>
            </a:r>
            <a:endParaRPr sz="30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11" name="Google Shape;211;p8"/>
          <p:cNvSpPr/>
          <p:nvPr/>
        </p:nvSpPr>
        <p:spPr>
          <a:xfrm>
            <a:off x="658368" y="1058182"/>
            <a:ext cx="9052560" cy="3291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9BA7C0"/>
              </a:buClr>
              <a:buSzPts val="1400"/>
              <a:buFont typeface="Arial"/>
              <a:buNone/>
            </a:pPr>
            <a:r>
              <a:rPr lang="en-US" sz="1400">
                <a:solidFill>
                  <a:srgbClr val="9BA7C0"/>
                </a:solidFill>
                <a:latin typeface="29LT Adir" panose="00000506000000000000" pitchFamily="50" charset="-78"/>
                <a:cs typeface="29LT Adir" panose="00000506000000000000" pitchFamily="50" charset="-78"/>
                <a:sym typeface="Arial"/>
              </a:rPr>
              <a:t>Confirmed payload by platform</a:t>
            </a:r>
            <a:endParaRPr sz="1400">
              <a:solidFill>
                <a:schemeClr val="dk1"/>
              </a:solidFill>
              <a:latin typeface="29LT Adir" panose="00000506000000000000" pitchFamily="50" charset="-78"/>
              <a:cs typeface="29LT Adir" panose="00000506000000000000" pitchFamily="50" charset="-78"/>
              <a:sym typeface="Arial"/>
            </a:endParaRPr>
          </a:p>
        </p:txBody>
      </p:sp>
      <p:sp>
        <p:nvSpPr>
          <p:cNvPr id="212" name="Google Shape;212;p8"/>
          <p:cNvSpPr/>
          <p:nvPr/>
        </p:nvSpPr>
        <p:spPr>
          <a:xfrm>
            <a:off x="658368" y="2103120"/>
            <a:ext cx="346649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B0F0"/>
              </a:buClr>
              <a:buSzPts val="1400"/>
              <a:buFont typeface="Courier New"/>
              <a:buNone/>
            </a:pPr>
            <a:r>
              <a:rPr lang="en-US" sz="1400" b="1">
                <a:solidFill>
                  <a:srgbClr val="00B0F0"/>
                </a:solidFill>
                <a:latin typeface="Courier New"/>
                <a:ea typeface="Courier New"/>
                <a:cs typeface="Courier New"/>
                <a:sym typeface="Courier New"/>
              </a:rPr>
              <a:t>Main Orbiter</a:t>
            </a:r>
            <a:endParaRPr sz="1400">
              <a:solidFill>
                <a:srgbClr val="00B0F0"/>
              </a:solidFill>
              <a:latin typeface="Courier New"/>
              <a:ea typeface="Courier New"/>
              <a:cs typeface="Courier New"/>
              <a:sym typeface="Courier New"/>
            </a:endParaRPr>
          </a:p>
        </p:txBody>
      </p:sp>
      <p:sp>
        <p:nvSpPr>
          <p:cNvPr id="213" name="Google Shape;213;p8"/>
          <p:cNvSpPr/>
          <p:nvPr/>
        </p:nvSpPr>
        <p:spPr>
          <a:xfrm>
            <a:off x="658368" y="2450592"/>
            <a:ext cx="3466490" cy="9144"/>
          </a:xfrm>
          <a:prstGeom prst="rect">
            <a:avLst/>
          </a:prstGeom>
          <a:solidFill>
            <a:srgbClr val="2C3A5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14" name="Google Shape;214;p8"/>
          <p:cNvSpPr/>
          <p:nvPr/>
        </p:nvSpPr>
        <p:spPr>
          <a:xfrm>
            <a:off x="658368" y="2651760"/>
            <a:ext cx="346649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Arial"/>
              <a:buNone/>
            </a:pPr>
            <a:r>
              <a:rPr lang="en-US" sz="1200" b="1">
                <a:solidFill>
                  <a:srgbClr val="FFFFFF"/>
                </a:solidFill>
                <a:latin typeface="Arial"/>
                <a:ea typeface="Arial"/>
                <a:cs typeface="Arial"/>
                <a:sym typeface="Arial"/>
              </a:rPr>
              <a:t>AFC (×2)</a:t>
            </a:r>
            <a:endParaRPr sz="1200">
              <a:solidFill>
                <a:schemeClr val="dk1"/>
              </a:solidFill>
              <a:latin typeface="Arial"/>
              <a:ea typeface="Arial"/>
              <a:cs typeface="Arial"/>
              <a:sym typeface="Arial"/>
            </a:endParaRPr>
          </a:p>
        </p:txBody>
      </p:sp>
      <p:sp>
        <p:nvSpPr>
          <p:cNvPr id="215" name="Google Shape;215;p8"/>
          <p:cNvSpPr/>
          <p:nvPr/>
        </p:nvSpPr>
        <p:spPr>
          <a:xfrm>
            <a:off x="658368" y="2852928"/>
            <a:ext cx="346649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200" dirty="0">
                <a:solidFill>
                  <a:srgbClr val="8D99B4"/>
                </a:solidFill>
                <a:latin typeface="29LT Adir" panose="00000506000000000000" pitchFamily="50" charset="-78"/>
                <a:cs typeface="29LT Adir" panose="00000506000000000000" pitchFamily="50" charset="-78"/>
                <a:sym typeface="Arial"/>
              </a:rPr>
              <a:t>Wide-field navigation imaging and shape mapping</a:t>
            </a:r>
            <a:endParaRPr sz="1200" dirty="0">
              <a:solidFill>
                <a:srgbClr val="8D99B4"/>
              </a:solidFill>
              <a:latin typeface="29LT Adir" panose="00000506000000000000" pitchFamily="50" charset="-78"/>
              <a:cs typeface="29LT Adir" panose="00000506000000000000" pitchFamily="50" charset="-78"/>
              <a:sym typeface="Arial"/>
            </a:endParaRPr>
          </a:p>
        </p:txBody>
      </p:sp>
      <p:sp>
        <p:nvSpPr>
          <p:cNvPr id="216" name="Google Shape;216;p8"/>
          <p:cNvSpPr/>
          <p:nvPr/>
        </p:nvSpPr>
        <p:spPr>
          <a:xfrm>
            <a:off x="658368" y="3218688"/>
            <a:ext cx="346649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Arial"/>
              <a:buNone/>
            </a:pPr>
            <a:r>
              <a:rPr lang="en-US" sz="1200" b="1">
                <a:solidFill>
                  <a:srgbClr val="FFFFFF"/>
                </a:solidFill>
                <a:latin typeface="Arial"/>
                <a:ea typeface="Arial"/>
                <a:cs typeface="Arial"/>
                <a:sym typeface="Arial"/>
              </a:rPr>
              <a:t>CHANCES</a:t>
            </a:r>
            <a:endParaRPr sz="1200">
              <a:solidFill>
                <a:schemeClr val="dk1"/>
              </a:solidFill>
              <a:latin typeface="Calibri"/>
              <a:ea typeface="Calibri"/>
              <a:cs typeface="Calibri"/>
              <a:sym typeface="Calibri"/>
            </a:endParaRPr>
          </a:p>
        </p:txBody>
      </p:sp>
      <p:sp>
        <p:nvSpPr>
          <p:cNvPr id="217" name="Google Shape;217;p8"/>
          <p:cNvSpPr/>
          <p:nvPr/>
        </p:nvSpPr>
        <p:spPr>
          <a:xfrm>
            <a:off x="658368" y="3488939"/>
            <a:ext cx="346649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200">
                <a:solidFill>
                  <a:srgbClr val="8D99B4"/>
                </a:solidFill>
                <a:latin typeface="29LT Adir" panose="00000506000000000000" pitchFamily="50" charset="-78"/>
                <a:cs typeface="29LT Adir" panose="00000506000000000000" pitchFamily="50" charset="-78"/>
                <a:sym typeface="Arial"/>
              </a:rPr>
              <a:t>High-resolution color imaging of surface change</a:t>
            </a:r>
            <a:br>
              <a:rPr lang="en-US" sz="1200">
                <a:solidFill>
                  <a:srgbClr val="8D99B4"/>
                </a:solidFill>
                <a:latin typeface="29LT Adir" panose="00000506000000000000" pitchFamily="50" charset="-78"/>
                <a:cs typeface="29LT Adir" panose="00000506000000000000" pitchFamily="50" charset="-78"/>
                <a:sym typeface="Arial"/>
              </a:rPr>
            </a:br>
            <a:endParaRPr sz="1200">
              <a:solidFill>
                <a:srgbClr val="8D99B4"/>
              </a:solidFill>
              <a:latin typeface="29LT Adir" panose="00000506000000000000" pitchFamily="50" charset="-78"/>
              <a:cs typeface="29LT Adir" panose="00000506000000000000" pitchFamily="50" charset="-78"/>
              <a:sym typeface="Arial"/>
            </a:endParaRPr>
          </a:p>
        </p:txBody>
      </p:sp>
      <p:sp>
        <p:nvSpPr>
          <p:cNvPr id="218" name="Google Shape;218;p8"/>
          <p:cNvSpPr/>
          <p:nvPr/>
        </p:nvSpPr>
        <p:spPr>
          <a:xfrm>
            <a:off x="658368" y="3785616"/>
            <a:ext cx="346649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Arial"/>
              <a:buNone/>
            </a:pPr>
            <a:r>
              <a:rPr lang="en-US" sz="1200" b="1">
                <a:solidFill>
                  <a:srgbClr val="FFFFFF"/>
                </a:solidFill>
                <a:latin typeface="Arial"/>
                <a:ea typeface="Arial"/>
                <a:cs typeface="Arial"/>
                <a:sym typeface="Arial"/>
              </a:rPr>
              <a:t>HAMLET</a:t>
            </a:r>
            <a:endParaRPr sz="1200">
              <a:solidFill>
                <a:schemeClr val="dk1"/>
              </a:solidFill>
              <a:latin typeface="Calibri"/>
              <a:ea typeface="Calibri"/>
              <a:cs typeface="Calibri"/>
              <a:sym typeface="Calibri"/>
            </a:endParaRPr>
          </a:p>
        </p:txBody>
      </p:sp>
      <p:sp>
        <p:nvSpPr>
          <p:cNvPr id="219" name="Google Shape;219;p8"/>
          <p:cNvSpPr/>
          <p:nvPr/>
        </p:nvSpPr>
        <p:spPr>
          <a:xfrm>
            <a:off x="658368" y="4062148"/>
            <a:ext cx="346649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200">
                <a:solidFill>
                  <a:srgbClr val="8D99B4"/>
                </a:solidFill>
                <a:latin typeface="29LT Adir" panose="00000506000000000000" pitchFamily="50" charset="-78"/>
                <a:cs typeface="29LT Adir" panose="00000506000000000000" pitchFamily="50" charset="-78"/>
                <a:sym typeface="Arial"/>
              </a:rPr>
              <a:t>Composition and space weathering, 650–1500 nm</a:t>
            </a:r>
            <a:br>
              <a:rPr lang="en-US" sz="1200">
                <a:solidFill>
                  <a:srgbClr val="8D99B4"/>
                </a:solidFill>
                <a:latin typeface="29LT Adir" panose="00000506000000000000" pitchFamily="50" charset="-78"/>
                <a:cs typeface="29LT Adir" panose="00000506000000000000" pitchFamily="50" charset="-78"/>
                <a:sym typeface="Arial"/>
              </a:rPr>
            </a:br>
            <a:endParaRPr sz="1200">
              <a:solidFill>
                <a:srgbClr val="8D99B4"/>
              </a:solidFill>
              <a:latin typeface="29LT Adir" panose="00000506000000000000" pitchFamily="50" charset="-78"/>
              <a:cs typeface="29LT Adir" panose="00000506000000000000" pitchFamily="50" charset="-78"/>
              <a:sym typeface="Arial"/>
            </a:endParaRPr>
          </a:p>
        </p:txBody>
      </p:sp>
      <p:sp>
        <p:nvSpPr>
          <p:cNvPr id="220" name="Google Shape;220;p8"/>
          <p:cNvSpPr/>
          <p:nvPr/>
        </p:nvSpPr>
        <p:spPr>
          <a:xfrm>
            <a:off x="658368" y="4352544"/>
            <a:ext cx="346649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Arial"/>
              <a:buNone/>
            </a:pPr>
            <a:r>
              <a:rPr lang="en-US" sz="1200" b="1">
                <a:solidFill>
                  <a:srgbClr val="FFFFFF"/>
                </a:solidFill>
                <a:latin typeface="Arial"/>
                <a:ea typeface="Arial"/>
                <a:cs typeface="Arial"/>
                <a:sym typeface="Arial"/>
              </a:rPr>
              <a:t>TIRI</a:t>
            </a:r>
            <a:endParaRPr sz="1150">
              <a:solidFill>
                <a:schemeClr val="dk1"/>
              </a:solidFill>
              <a:latin typeface="Calibri"/>
              <a:ea typeface="Calibri"/>
              <a:cs typeface="Calibri"/>
              <a:sym typeface="Calibri"/>
            </a:endParaRPr>
          </a:p>
        </p:txBody>
      </p:sp>
      <p:sp>
        <p:nvSpPr>
          <p:cNvPr id="221" name="Google Shape;221;p8"/>
          <p:cNvSpPr/>
          <p:nvPr/>
        </p:nvSpPr>
        <p:spPr>
          <a:xfrm>
            <a:off x="658368" y="4612747"/>
            <a:ext cx="346649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200">
                <a:solidFill>
                  <a:srgbClr val="8D99B4"/>
                </a:solidFill>
                <a:latin typeface="29LT Adir" panose="00000506000000000000" pitchFamily="50" charset="-78"/>
                <a:cs typeface="29LT Adir" panose="00000506000000000000" pitchFamily="50" charset="-78"/>
                <a:sym typeface="Arial"/>
              </a:rPr>
              <a:t>Surface temperature, thermal inertia, grain size</a:t>
            </a:r>
            <a:br>
              <a:rPr lang="en-US" sz="1200">
                <a:solidFill>
                  <a:srgbClr val="8D99B4"/>
                </a:solidFill>
                <a:latin typeface="29LT Adir" panose="00000506000000000000" pitchFamily="50" charset="-78"/>
                <a:cs typeface="29LT Adir" panose="00000506000000000000" pitchFamily="50" charset="-78"/>
                <a:sym typeface="Arial"/>
              </a:rPr>
            </a:br>
            <a:endParaRPr sz="1200">
              <a:solidFill>
                <a:srgbClr val="8D99B4"/>
              </a:solidFill>
              <a:latin typeface="29LT Adir" panose="00000506000000000000" pitchFamily="50" charset="-78"/>
              <a:cs typeface="29LT Adir" panose="00000506000000000000" pitchFamily="50" charset="-78"/>
              <a:sym typeface="Arial"/>
            </a:endParaRPr>
          </a:p>
        </p:txBody>
      </p:sp>
      <p:sp>
        <p:nvSpPr>
          <p:cNvPr id="222" name="Google Shape;222;p8"/>
          <p:cNvSpPr/>
          <p:nvPr/>
        </p:nvSpPr>
        <p:spPr>
          <a:xfrm>
            <a:off x="658368" y="4919472"/>
            <a:ext cx="346649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Arial"/>
              <a:buNone/>
            </a:pPr>
            <a:r>
              <a:rPr lang="en-US" sz="1200" b="1">
                <a:solidFill>
                  <a:srgbClr val="FFFFFF"/>
                </a:solidFill>
                <a:latin typeface="Arial"/>
                <a:ea typeface="Arial"/>
                <a:cs typeface="Arial"/>
                <a:sym typeface="Arial"/>
              </a:rPr>
              <a:t>RSE</a:t>
            </a:r>
            <a:endParaRPr sz="1200">
              <a:solidFill>
                <a:schemeClr val="dk1"/>
              </a:solidFill>
              <a:latin typeface="Calibri"/>
              <a:ea typeface="Calibri"/>
              <a:cs typeface="Calibri"/>
              <a:sym typeface="Calibri"/>
            </a:endParaRPr>
          </a:p>
        </p:txBody>
      </p:sp>
      <p:sp>
        <p:nvSpPr>
          <p:cNvPr id="223" name="Google Shape;223;p8"/>
          <p:cNvSpPr/>
          <p:nvPr/>
        </p:nvSpPr>
        <p:spPr>
          <a:xfrm>
            <a:off x="658368" y="5179675"/>
            <a:ext cx="346649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200">
                <a:solidFill>
                  <a:srgbClr val="8D99B4"/>
                </a:solidFill>
                <a:latin typeface="29LT Adir" panose="00000506000000000000" pitchFamily="50" charset="-78"/>
                <a:cs typeface="29LT Adir" panose="00000506000000000000" pitchFamily="50" charset="-78"/>
                <a:sym typeface="Arial"/>
              </a:rPr>
              <a:t>Radio tracking; gravity, spin state and tidal response</a:t>
            </a:r>
            <a:br>
              <a:rPr lang="en-US" sz="1200">
                <a:solidFill>
                  <a:srgbClr val="8D99B4"/>
                </a:solidFill>
                <a:latin typeface="29LT Adir" panose="00000506000000000000" pitchFamily="50" charset="-78"/>
                <a:cs typeface="29LT Adir" panose="00000506000000000000" pitchFamily="50" charset="-78"/>
                <a:sym typeface="Arial"/>
              </a:rPr>
            </a:br>
            <a:endParaRPr sz="1200">
              <a:solidFill>
                <a:srgbClr val="8D99B4"/>
              </a:solidFill>
              <a:latin typeface="29LT Adir" panose="00000506000000000000" pitchFamily="50" charset="-78"/>
              <a:cs typeface="29LT Adir" panose="00000506000000000000" pitchFamily="50" charset="-78"/>
              <a:sym typeface="Arial"/>
            </a:endParaRPr>
          </a:p>
        </p:txBody>
      </p:sp>
      <p:sp>
        <p:nvSpPr>
          <p:cNvPr id="224" name="Google Shape;224;p8"/>
          <p:cNvSpPr/>
          <p:nvPr/>
        </p:nvSpPr>
        <p:spPr>
          <a:xfrm>
            <a:off x="658368" y="5486400"/>
            <a:ext cx="346649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Arial"/>
              <a:buNone/>
            </a:pPr>
            <a:r>
              <a:rPr lang="en-US" sz="1200" b="1">
                <a:solidFill>
                  <a:srgbClr val="FFFFFF"/>
                </a:solidFill>
                <a:latin typeface="Arial"/>
                <a:ea typeface="Arial"/>
                <a:cs typeface="Arial"/>
                <a:sym typeface="Arial"/>
              </a:rPr>
              <a:t>RPS</a:t>
            </a:r>
            <a:endParaRPr sz="1200">
              <a:solidFill>
                <a:schemeClr val="dk1"/>
              </a:solidFill>
              <a:latin typeface="Calibri"/>
              <a:ea typeface="Calibri"/>
              <a:cs typeface="Calibri"/>
              <a:sym typeface="Calibri"/>
            </a:endParaRPr>
          </a:p>
        </p:txBody>
      </p:sp>
      <p:sp>
        <p:nvSpPr>
          <p:cNvPr id="225" name="Google Shape;225;p8"/>
          <p:cNvSpPr/>
          <p:nvPr/>
        </p:nvSpPr>
        <p:spPr>
          <a:xfrm>
            <a:off x="658368" y="5730274"/>
            <a:ext cx="346649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200">
                <a:solidFill>
                  <a:srgbClr val="8D99B4"/>
                </a:solidFill>
                <a:latin typeface="29LT Adir" panose="00000506000000000000" pitchFamily="50" charset="-78"/>
                <a:cs typeface="29LT Adir" panose="00000506000000000000" pitchFamily="50" charset="-78"/>
                <a:sym typeface="Arial"/>
              </a:rPr>
              <a:t>Ion and electron energy near the spacecraft</a:t>
            </a:r>
            <a:br>
              <a:rPr lang="en-US" sz="1200">
                <a:solidFill>
                  <a:srgbClr val="8D99B4"/>
                </a:solidFill>
                <a:latin typeface="29LT Adir" panose="00000506000000000000" pitchFamily="50" charset="-78"/>
                <a:cs typeface="29LT Adir" panose="00000506000000000000" pitchFamily="50" charset="-78"/>
                <a:sym typeface="Arial"/>
              </a:rPr>
            </a:br>
            <a:endParaRPr sz="1200">
              <a:solidFill>
                <a:srgbClr val="8D99B4"/>
              </a:solidFill>
              <a:latin typeface="29LT Adir" panose="00000506000000000000" pitchFamily="50" charset="-78"/>
              <a:cs typeface="29LT Adir" panose="00000506000000000000" pitchFamily="50" charset="-78"/>
              <a:sym typeface="Arial"/>
            </a:endParaRPr>
          </a:p>
        </p:txBody>
      </p:sp>
      <p:sp>
        <p:nvSpPr>
          <p:cNvPr id="226" name="Google Shape;226;p8"/>
          <p:cNvSpPr/>
          <p:nvPr/>
        </p:nvSpPr>
        <p:spPr>
          <a:xfrm>
            <a:off x="4362602" y="2103120"/>
            <a:ext cx="346649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B0F0"/>
              </a:buClr>
              <a:buSzPts val="1400"/>
              <a:buFont typeface="Courier New"/>
              <a:buNone/>
            </a:pPr>
            <a:r>
              <a:rPr lang="en-US" sz="1400" b="1">
                <a:solidFill>
                  <a:srgbClr val="00B0F0"/>
                </a:solidFill>
                <a:latin typeface="Courier New"/>
                <a:ea typeface="Courier New"/>
                <a:cs typeface="Courier New"/>
                <a:sym typeface="Courier New"/>
              </a:rPr>
              <a:t>Farinella · Orbiter CubeSat</a:t>
            </a:r>
            <a:endParaRPr sz="1400">
              <a:solidFill>
                <a:srgbClr val="00B0F0"/>
              </a:solidFill>
              <a:latin typeface="Courier New"/>
              <a:ea typeface="Courier New"/>
              <a:cs typeface="Courier New"/>
              <a:sym typeface="Courier New"/>
            </a:endParaRPr>
          </a:p>
        </p:txBody>
      </p:sp>
      <p:sp>
        <p:nvSpPr>
          <p:cNvPr id="227" name="Google Shape;227;p8"/>
          <p:cNvSpPr/>
          <p:nvPr/>
        </p:nvSpPr>
        <p:spPr>
          <a:xfrm>
            <a:off x="4362602" y="2450592"/>
            <a:ext cx="3466490" cy="9144"/>
          </a:xfrm>
          <a:prstGeom prst="rect">
            <a:avLst/>
          </a:prstGeom>
          <a:solidFill>
            <a:srgbClr val="2C3A5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28" name="Google Shape;228;p8"/>
          <p:cNvSpPr/>
          <p:nvPr/>
        </p:nvSpPr>
        <p:spPr>
          <a:xfrm>
            <a:off x="4362602" y="2651760"/>
            <a:ext cx="346649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Arial"/>
              <a:buNone/>
            </a:pPr>
            <a:r>
              <a:rPr lang="en-US" sz="1200" b="1">
                <a:solidFill>
                  <a:srgbClr val="FFFFFF"/>
                </a:solidFill>
                <a:latin typeface="Arial"/>
                <a:ea typeface="Arial"/>
                <a:cs typeface="Arial"/>
                <a:sym typeface="Arial"/>
              </a:rPr>
              <a:t>HORUS</a:t>
            </a:r>
            <a:endParaRPr sz="1200">
              <a:solidFill>
                <a:schemeClr val="dk1"/>
              </a:solidFill>
              <a:latin typeface="Calibri"/>
              <a:ea typeface="Calibri"/>
              <a:cs typeface="Calibri"/>
              <a:sym typeface="Calibri"/>
            </a:endParaRPr>
          </a:p>
        </p:txBody>
      </p:sp>
      <p:sp>
        <p:nvSpPr>
          <p:cNvPr id="229" name="Google Shape;229;p8"/>
          <p:cNvSpPr/>
          <p:nvPr/>
        </p:nvSpPr>
        <p:spPr>
          <a:xfrm>
            <a:off x="4362602" y="2972169"/>
            <a:ext cx="346649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200" dirty="0">
                <a:solidFill>
                  <a:srgbClr val="8D99B4"/>
                </a:solidFill>
                <a:latin typeface="29LT Adir" panose="00000506000000000000" pitchFamily="50" charset="-78"/>
                <a:cs typeface="29LT Adir" panose="00000506000000000000" pitchFamily="50" charset="-78"/>
                <a:sym typeface="Arial"/>
              </a:rPr>
              <a:t>Close-range imaging beyond orbiter resolution</a:t>
            </a:r>
            <a:endParaRPr sz="1200" dirty="0">
              <a:solidFill>
                <a:srgbClr val="8D99B4"/>
              </a:solidFill>
              <a:latin typeface="29LT Adir" panose="00000506000000000000" pitchFamily="50" charset="-78"/>
              <a:cs typeface="29LT Adir" panose="00000506000000000000" pitchFamily="50" charset="-78"/>
              <a:sym typeface="Arial"/>
            </a:endParaRPr>
          </a:p>
          <a:p>
            <a:pPr marL="0" marR="0" lvl="0" indent="0" algn="l" rtl="0">
              <a:spcBef>
                <a:spcPts val="0"/>
              </a:spcBef>
              <a:spcAft>
                <a:spcPts val="0"/>
              </a:spcAft>
              <a:buNone/>
            </a:pPr>
            <a:br>
              <a:rPr lang="en-US" sz="1200" dirty="0">
                <a:solidFill>
                  <a:srgbClr val="8D99B4"/>
                </a:solidFill>
                <a:latin typeface="29LT Adir" panose="00000506000000000000" pitchFamily="50" charset="-78"/>
                <a:cs typeface="29LT Adir" panose="00000506000000000000" pitchFamily="50" charset="-78"/>
                <a:sym typeface="Arial"/>
              </a:rPr>
            </a:br>
            <a:endParaRPr sz="1200" dirty="0">
              <a:solidFill>
                <a:srgbClr val="8D99B4"/>
              </a:solidFill>
              <a:latin typeface="29LT Adir" panose="00000506000000000000" pitchFamily="50" charset="-78"/>
              <a:cs typeface="29LT Adir" panose="00000506000000000000" pitchFamily="50" charset="-78"/>
              <a:sym typeface="Arial"/>
            </a:endParaRPr>
          </a:p>
        </p:txBody>
      </p:sp>
      <p:sp>
        <p:nvSpPr>
          <p:cNvPr id="230" name="Google Shape;230;p8"/>
          <p:cNvSpPr/>
          <p:nvPr/>
        </p:nvSpPr>
        <p:spPr>
          <a:xfrm>
            <a:off x="4362602" y="3218688"/>
            <a:ext cx="346649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Arial"/>
              <a:buNone/>
            </a:pPr>
            <a:r>
              <a:rPr lang="en-US" sz="1200" b="1">
                <a:solidFill>
                  <a:srgbClr val="FFFFFF"/>
                </a:solidFill>
                <a:latin typeface="Arial"/>
                <a:ea typeface="Arial"/>
                <a:cs typeface="Arial"/>
                <a:sym typeface="Arial"/>
              </a:rPr>
              <a:t>Radar</a:t>
            </a:r>
            <a:endParaRPr sz="1200">
              <a:solidFill>
                <a:schemeClr val="dk1"/>
              </a:solidFill>
              <a:latin typeface="Calibri"/>
              <a:ea typeface="Calibri"/>
              <a:cs typeface="Calibri"/>
              <a:sym typeface="Calibri"/>
            </a:endParaRPr>
          </a:p>
        </p:txBody>
      </p:sp>
      <p:sp>
        <p:nvSpPr>
          <p:cNvPr id="231" name="Google Shape;231;p8"/>
          <p:cNvSpPr/>
          <p:nvPr/>
        </p:nvSpPr>
        <p:spPr>
          <a:xfrm>
            <a:off x="4362602" y="3518077"/>
            <a:ext cx="346649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200" dirty="0">
                <a:solidFill>
                  <a:srgbClr val="8D99B4"/>
                </a:solidFill>
                <a:latin typeface="29LT Adir" panose="00000506000000000000" pitchFamily="50" charset="-78"/>
                <a:cs typeface="29LT Adir" panose="00000506000000000000" pitchFamily="50" charset="-78"/>
                <a:sym typeface="Arial"/>
              </a:rPr>
              <a:t>Interior structure via dielectric sounding</a:t>
            </a:r>
            <a:endParaRPr sz="1200" dirty="0">
              <a:solidFill>
                <a:srgbClr val="8D99B4"/>
              </a:solidFill>
              <a:latin typeface="29LT Adir" panose="00000506000000000000" pitchFamily="50" charset="-78"/>
              <a:cs typeface="29LT Adir" panose="00000506000000000000" pitchFamily="50" charset="-78"/>
              <a:sym typeface="Arial"/>
            </a:endParaRPr>
          </a:p>
          <a:p>
            <a:pPr marL="0" marR="0" lvl="0" indent="0" algn="l" rtl="0">
              <a:spcBef>
                <a:spcPts val="0"/>
              </a:spcBef>
              <a:spcAft>
                <a:spcPts val="0"/>
              </a:spcAft>
              <a:buNone/>
            </a:pPr>
            <a:br>
              <a:rPr lang="en-US" sz="1200" dirty="0">
                <a:solidFill>
                  <a:srgbClr val="8D99B4"/>
                </a:solidFill>
                <a:latin typeface="29LT Adir" panose="00000506000000000000" pitchFamily="50" charset="-78"/>
                <a:cs typeface="29LT Adir" panose="00000506000000000000" pitchFamily="50" charset="-78"/>
                <a:sym typeface="Arial"/>
              </a:rPr>
            </a:br>
            <a:endParaRPr sz="1200" dirty="0">
              <a:solidFill>
                <a:srgbClr val="8D99B4"/>
              </a:solidFill>
              <a:latin typeface="29LT Adir" panose="00000506000000000000" pitchFamily="50" charset="-78"/>
              <a:cs typeface="29LT Adir" panose="00000506000000000000" pitchFamily="50" charset="-78"/>
              <a:sym typeface="Arial"/>
            </a:endParaRPr>
          </a:p>
        </p:txBody>
      </p:sp>
      <p:sp>
        <p:nvSpPr>
          <p:cNvPr id="232" name="Google Shape;232;p8"/>
          <p:cNvSpPr/>
          <p:nvPr/>
        </p:nvSpPr>
        <p:spPr>
          <a:xfrm>
            <a:off x="4362602" y="3785616"/>
            <a:ext cx="346649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Arial"/>
              <a:buNone/>
            </a:pPr>
            <a:r>
              <a:rPr lang="en-US" sz="1200" b="1">
                <a:solidFill>
                  <a:srgbClr val="FFFFFF"/>
                </a:solidFill>
                <a:latin typeface="Arial"/>
                <a:ea typeface="Arial"/>
                <a:cs typeface="Arial"/>
                <a:sym typeface="Arial"/>
              </a:rPr>
              <a:t>VISTA</a:t>
            </a:r>
            <a:endParaRPr sz="1200">
              <a:solidFill>
                <a:schemeClr val="dk1"/>
              </a:solidFill>
              <a:latin typeface="Calibri"/>
              <a:ea typeface="Calibri"/>
              <a:cs typeface="Calibri"/>
              <a:sym typeface="Calibri"/>
            </a:endParaRPr>
          </a:p>
        </p:txBody>
      </p:sp>
      <p:sp>
        <p:nvSpPr>
          <p:cNvPr id="233" name="Google Shape;233;p8"/>
          <p:cNvSpPr/>
          <p:nvPr/>
        </p:nvSpPr>
        <p:spPr>
          <a:xfrm>
            <a:off x="4362602" y="4106025"/>
            <a:ext cx="346649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200">
                <a:solidFill>
                  <a:srgbClr val="8D99B4"/>
                </a:solidFill>
                <a:latin typeface="29LT Adir" panose="00000506000000000000" pitchFamily="50" charset="-78"/>
                <a:cs typeface="29LT Adir" panose="00000506000000000000" pitchFamily="50" charset="-78"/>
                <a:sym typeface="Arial"/>
              </a:rPr>
              <a:t>Volatile and organic content of captured dust</a:t>
            </a:r>
            <a:endParaRPr sz="1200">
              <a:solidFill>
                <a:srgbClr val="8D99B4"/>
              </a:solidFill>
              <a:latin typeface="29LT Adir" panose="00000506000000000000" pitchFamily="50" charset="-78"/>
              <a:cs typeface="29LT Adir" panose="00000506000000000000" pitchFamily="50" charset="-78"/>
              <a:sym typeface="Arial"/>
            </a:endParaRPr>
          </a:p>
          <a:p>
            <a:pPr marL="0" marR="0" lvl="0" indent="0" algn="l" rtl="0">
              <a:spcBef>
                <a:spcPts val="0"/>
              </a:spcBef>
              <a:spcAft>
                <a:spcPts val="0"/>
              </a:spcAft>
              <a:buNone/>
            </a:pPr>
            <a:br>
              <a:rPr lang="en-US" sz="1200">
                <a:solidFill>
                  <a:srgbClr val="8D99B4"/>
                </a:solidFill>
                <a:latin typeface="29LT Adir" panose="00000506000000000000" pitchFamily="50" charset="-78"/>
                <a:cs typeface="29LT Adir" panose="00000506000000000000" pitchFamily="50" charset="-78"/>
                <a:sym typeface="Arial"/>
              </a:rPr>
            </a:br>
            <a:endParaRPr sz="1200">
              <a:solidFill>
                <a:srgbClr val="8D99B4"/>
              </a:solidFill>
              <a:latin typeface="29LT Adir" panose="00000506000000000000" pitchFamily="50" charset="-78"/>
              <a:cs typeface="29LT Adir" panose="00000506000000000000" pitchFamily="50" charset="-78"/>
              <a:sym typeface="Arial"/>
            </a:endParaRPr>
          </a:p>
        </p:txBody>
      </p:sp>
      <p:sp>
        <p:nvSpPr>
          <p:cNvPr id="234" name="Google Shape;234;p8"/>
          <p:cNvSpPr/>
          <p:nvPr/>
        </p:nvSpPr>
        <p:spPr>
          <a:xfrm>
            <a:off x="8066837" y="2103120"/>
            <a:ext cx="346649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B0F0"/>
              </a:buClr>
              <a:buSzPts val="1400"/>
              <a:buFont typeface="Courier New"/>
              <a:buNone/>
            </a:pPr>
            <a:r>
              <a:rPr lang="en-US" sz="1400" b="1">
                <a:solidFill>
                  <a:srgbClr val="00B0F0"/>
                </a:solidFill>
                <a:latin typeface="Courier New"/>
                <a:ea typeface="Courier New"/>
                <a:cs typeface="Courier New"/>
                <a:sym typeface="Courier New"/>
              </a:rPr>
              <a:t>Don Quijote · Lander CubeSat</a:t>
            </a:r>
            <a:endParaRPr sz="1400">
              <a:solidFill>
                <a:srgbClr val="00B0F0"/>
              </a:solidFill>
              <a:latin typeface="Courier New"/>
              <a:ea typeface="Courier New"/>
              <a:cs typeface="Courier New"/>
              <a:sym typeface="Courier New"/>
            </a:endParaRPr>
          </a:p>
        </p:txBody>
      </p:sp>
      <p:sp>
        <p:nvSpPr>
          <p:cNvPr id="235" name="Google Shape;235;p8"/>
          <p:cNvSpPr/>
          <p:nvPr/>
        </p:nvSpPr>
        <p:spPr>
          <a:xfrm>
            <a:off x="8066837" y="2450592"/>
            <a:ext cx="3466490" cy="9144"/>
          </a:xfrm>
          <a:prstGeom prst="rect">
            <a:avLst/>
          </a:prstGeom>
          <a:solidFill>
            <a:srgbClr val="2C3A5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36" name="Google Shape;236;p8"/>
          <p:cNvSpPr/>
          <p:nvPr/>
        </p:nvSpPr>
        <p:spPr>
          <a:xfrm>
            <a:off x="8066837" y="2651760"/>
            <a:ext cx="346649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Arial"/>
              <a:buNone/>
            </a:pPr>
            <a:r>
              <a:rPr lang="en-US" sz="1200" b="1">
                <a:solidFill>
                  <a:srgbClr val="FFFFFF"/>
                </a:solidFill>
                <a:latin typeface="Arial"/>
                <a:ea typeface="Arial"/>
                <a:cs typeface="Arial"/>
                <a:sym typeface="Arial"/>
              </a:rPr>
              <a:t>SIA</a:t>
            </a:r>
            <a:endParaRPr sz="1200">
              <a:solidFill>
                <a:schemeClr val="dk1"/>
              </a:solidFill>
              <a:latin typeface="Calibri"/>
              <a:ea typeface="Calibri"/>
              <a:cs typeface="Calibri"/>
              <a:sym typeface="Calibri"/>
            </a:endParaRPr>
          </a:p>
        </p:txBody>
      </p:sp>
      <p:sp>
        <p:nvSpPr>
          <p:cNvPr id="237" name="Google Shape;237;p8"/>
          <p:cNvSpPr/>
          <p:nvPr/>
        </p:nvSpPr>
        <p:spPr>
          <a:xfrm>
            <a:off x="8066837" y="2962121"/>
            <a:ext cx="346649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200" dirty="0">
                <a:solidFill>
                  <a:srgbClr val="8D99B4"/>
                </a:solidFill>
                <a:latin typeface="29LT Adir" panose="00000506000000000000" pitchFamily="50" charset="-78"/>
                <a:cs typeface="29LT Adir" panose="00000506000000000000" pitchFamily="50" charset="-78"/>
                <a:sym typeface="Arial"/>
              </a:rPr>
              <a:t>Seismic response to tidal stress and cracking</a:t>
            </a:r>
            <a:endParaRPr sz="1200" dirty="0">
              <a:solidFill>
                <a:srgbClr val="8D99B4"/>
              </a:solidFill>
              <a:latin typeface="29LT Adir" panose="00000506000000000000" pitchFamily="50" charset="-78"/>
              <a:cs typeface="29LT Adir" panose="00000506000000000000" pitchFamily="50" charset="-78"/>
              <a:sym typeface="Arial"/>
            </a:endParaRPr>
          </a:p>
          <a:p>
            <a:pPr marL="0" marR="0" lvl="0" indent="0" algn="l" rtl="0">
              <a:spcBef>
                <a:spcPts val="0"/>
              </a:spcBef>
              <a:spcAft>
                <a:spcPts val="0"/>
              </a:spcAft>
              <a:buNone/>
            </a:pPr>
            <a:br>
              <a:rPr lang="en-US" sz="1200" dirty="0">
                <a:solidFill>
                  <a:srgbClr val="8D99B4"/>
                </a:solidFill>
                <a:latin typeface="29LT Adir" panose="00000506000000000000" pitchFamily="50" charset="-78"/>
                <a:cs typeface="29LT Adir" panose="00000506000000000000" pitchFamily="50" charset="-78"/>
                <a:sym typeface="Arial"/>
              </a:rPr>
            </a:br>
            <a:endParaRPr sz="1200" dirty="0">
              <a:solidFill>
                <a:srgbClr val="8D99B4"/>
              </a:solidFill>
              <a:latin typeface="29LT Adir" panose="00000506000000000000" pitchFamily="50" charset="-78"/>
              <a:cs typeface="29LT Adir" panose="00000506000000000000" pitchFamily="50" charset="-78"/>
              <a:sym typeface="Arial"/>
            </a:endParaRPr>
          </a:p>
        </p:txBody>
      </p:sp>
      <p:sp>
        <p:nvSpPr>
          <p:cNvPr id="238" name="Google Shape;238;p8"/>
          <p:cNvSpPr/>
          <p:nvPr/>
        </p:nvSpPr>
        <p:spPr>
          <a:xfrm>
            <a:off x="8066837" y="3218688"/>
            <a:ext cx="346649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Arial"/>
              <a:buNone/>
            </a:pPr>
            <a:r>
              <a:rPr lang="en-US" sz="1200" b="1">
                <a:solidFill>
                  <a:srgbClr val="FFFFFF"/>
                </a:solidFill>
                <a:latin typeface="Arial"/>
                <a:ea typeface="Arial"/>
                <a:cs typeface="Arial"/>
                <a:sym typeface="Arial"/>
              </a:rPr>
              <a:t>Gravimeter</a:t>
            </a:r>
            <a:endParaRPr sz="1200">
              <a:solidFill>
                <a:schemeClr val="dk1"/>
              </a:solidFill>
              <a:latin typeface="Calibri"/>
              <a:ea typeface="Calibri"/>
              <a:cs typeface="Calibri"/>
              <a:sym typeface="Calibri"/>
            </a:endParaRPr>
          </a:p>
        </p:txBody>
      </p:sp>
      <p:sp>
        <p:nvSpPr>
          <p:cNvPr id="239" name="Google Shape;239;p8"/>
          <p:cNvSpPr/>
          <p:nvPr/>
        </p:nvSpPr>
        <p:spPr>
          <a:xfrm>
            <a:off x="8066837" y="3539097"/>
            <a:ext cx="346649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200">
                <a:solidFill>
                  <a:srgbClr val="8D99B4"/>
                </a:solidFill>
                <a:latin typeface="29LT Adir" panose="00000506000000000000" pitchFamily="50" charset="-78"/>
                <a:cs typeface="29LT Adir" panose="00000506000000000000" pitchFamily="50" charset="-78"/>
                <a:sym typeface="Arial"/>
              </a:rPr>
              <a:t>Local density from gravitational acceleration</a:t>
            </a:r>
            <a:endParaRPr sz="1200">
              <a:solidFill>
                <a:srgbClr val="8D99B4"/>
              </a:solidFill>
              <a:latin typeface="29LT Adir" panose="00000506000000000000" pitchFamily="50" charset="-78"/>
              <a:cs typeface="29LT Adir" panose="00000506000000000000" pitchFamily="50" charset="-78"/>
              <a:sym typeface="Arial"/>
            </a:endParaRPr>
          </a:p>
          <a:p>
            <a:pPr marL="0" marR="0" lvl="0" indent="0" algn="l" rtl="0">
              <a:spcBef>
                <a:spcPts val="0"/>
              </a:spcBef>
              <a:spcAft>
                <a:spcPts val="0"/>
              </a:spcAft>
              <a:buNone/>
            </a:pPr>
            <a:br>
              <a:rPr lang="en-US" sz="1200">
                <a:solidFill>
                  <a:srgbClr val="8D99B4"/>
                </a:solidFill>
                <a:latin typeface="29LT Adir" panose="00000506000000000000" pitchFamily="50" charset="-78"/>
                <a:cs typeface="29LT Adir" panose="00000506000000000000" pitchFamily="50" charset="-78"/>
                <a:sym typeface="Arial"/>
              </a:rPr>
            </a:br>
            <a:endParaRPr sz="1200">
              <a:solidFill>
                <a:srgbClr val="8D99B4"/>
              </a:solidFill>
              <a:latin typeface="29LT Adir" panose="00000506000000000000" pitchFamily="50" charset="-78"/>
              <a:cs typeface="29LT Adir" panose="00000506000000000000" pitchFamily="50" charset="-78"/>
              <a:sym typeface="Arial"/>
            </a:endParaRPr>
          </a:p>
        </p:txBody>
      </p:sp>
      <p:sp>
        <p:nvSpPr>
          <p:cNvPr id="240" name="Google Shape;240;p8"/>
          <p:cNvSpPr/>
          <p:nvPr/>
        </p:nvSpPr>
        <p:spPr>
          <a:xfrm>
            <a:off x="8066837" y="3785616"/>
            <a:ext cx="346649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200"/>
              <a:buFont typeface="Arial"/>
              <a:buNone/>
            </a:pPr>
            <a:r>
              <a:rPr lang="en-US" sz="1200" b="1">
                <a:solidFill>
                  <a:srgbClr val="FFFFFF"/>
                </a:solidFill>
                <a:latin typeface="Arial"/>
                <a:ea typeface="Arial"/>
                <a:cs typeface="Arial"/>
                <a:sym typeface="Arial"/>
              </a:rPr>
              <a:t>MARIE</a:t>
            </a:r>
            <a:endParaRPr sz="1200">
              <a:solidFill>
                <a:schemeClr val="dk1"/>
              </a:solidFill>
              <a:latin typeface="Calibri"/>
              <a:ea typeface="Calibri"/>
              <a:cs typeface="Calibri"/>
              <a:sym typeface="Calibri"/>
            </a:endParaRPr>
          </a:p>
        </p:txBody>
      </p:sp>
      <p:sp>
        <p:nvSpPr>
          <p:cNvPr id="241" name="Google Shape;241;p8"/>
          <p:cNvSpPr/>
          <p:nvPr/>
        </p:nvSpPr>
        <p:spPr>
          <a:xfrm>
            <a:off x="8066837" y="4106025"/>
            <a:ext cx="346649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None/>
            </a:pPr>
            <a:r>
              <a:rPr lang="en-US" sz="1200">
                <a:solidFill>
                  <a:srgbClr val="8D99B4"/>
                </a:solidFill>
                <a:latin typeface="29LT Adir" panose="00000506000000000000" pitchFamily="50" charset="-78"/>
                <a:cs typeface="29LT Adir" panose="00000506000000000000" pitchFamily="50" charset="-78"/>
                <a:sym typeface="Arial"/>
              </a:rPr>
              <a:t>Magnetic response during the Earth flyby</a:t>
            </a:r>
            <a:endParaRPr sz="1200">
              <a:solidFill>
                <a:srgbClr val="8D99B4"/>
              </a:solidFill>
              <a:latin typeface="29LT Adir" panose="00000506000000000000" pitchFamily="50" charset="-78"/>
              <a:cs typeface="29LT Adir" panose="00000506000000000000" pitchFamily="50" charset="-78"/>
              <a:sym typeface="Arial"/>
            </a:endParaRPr>
          </a:p>
          <a:p>
            <a:pPr marL="0" marR="0" lvl="0" indent="0" algn="l" rtl="0">
              <a:spcBef>
                <a:spcPts val="0"/>
              </a:spcBef>
              <a:spcAft>
                <a:spcPts val="0"/>
              </a:spcAft>
              <a:buNone/>
            </a:pPr>
            <a:br>
              <a:rPr lang="en-US" sz="1200">
                <a:solidFill>
                  <a:srgbClr val="8D99B4"/>
                </a:solidFill>
                <a:latin typeface="29LT Adir" panose="00000506000000000000" pitchFamily="50" charset="-78"/>
                <a:cs typeface="29LT Adir" panose="00000506000000000000" pitchFamily="50" charset="-78"/>
                <a:sym typeface="Arial"/>
              </a:rPr>
            </a:br>
            <a:endParaRPr sz="1200">
              <a:solidFill>
                <a:srgbClr val="8D99B4"/>
              </a:solidFill>
              <a:latin typeface="29LT Adir" panose="00000506000000000000" pitchFamily="50" charset="-78"/>
              <a:cs typeface="29LT Adir" panose="00000506000000000000" pitchFamily="50" charset="-78"/>
              <a:sym typeface="Arial"/>
            </a:endParaRPr>
          </a:p>
        </p:txBody>
      </p:sp>
      <p:sp>
        <p:nvSpPr>
          <p:cNvPr id="242" name="Google Shape;242;p8"/>
          <p:cNvSpPr/>
          <p:nvPr/>
        </p:nvSpPr>
        <p:spPr>
          <a:xfrm>
            <a:off x="10881360" y="6272784"/>
            <a:ext cx="694944"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4607C"/>
              </a:buClr>
              <a:buSzPts val="1000"/>
              <a:buFont typeface="Arial"/>
              <a:buNone/>
            </a:pPr>
            <a:r>
              <a:rPr lang="en-US" sz="1000">
                <a:solidFill>
                  <a:srgbClr val="54607C"/>
                </a:solidFill>
                <a:latin typeface="Arial"/>
                <a:ea typeface="Arial"/>
                <a:cs typeface="Arial"/>
                <a:sym typeface="Arial"/>
              </a:rPr>
              <a:t>5</a:t>
            </a:r>
            <a:endParaRPr sz="1000">
              <a:solidFill>
                <a:schemeClr val="dk1"/>
              </a:solidFill>
              <a:latin typeface="Calibri"/>
              <a:ea typeface="Calibri"/>
              <a:cs typeface="Calibri"/>
              <a:sym typeface="Calibri"/>
            </a:endParaRPr>
          </a:p>
        </p:txBody>
      </p:sp>
      <p:pic>
        <p:nvPicPr>
          <p:cNvPr id="243" name="Google Shape;243;p8" descr="/home/claude/work/a2/logo_white.png"/>
          <p:cNvPicPr preferRelativeResize="0"/>
          <p:nvPr/>
        </p:nvPicPr>
        <p:blipFill rotWithShape="1">
          <a:blip r:embed="rId6">
            <a:alphaModFix/>
          </a:blip>
          <a:srcRect/>
          <a:stretch/>
        </p:blipFill>
        <p:spPr>
          <a:xfrm>
            <a:off x="10797385" y="310896"/>
            <a:ext cx="1133856" cy="478231"/>
          </a:xfrm>
          <a:prstGeom prst="rect">
            <a:avLst/>
          </a:prstGeom>
          <a:noFill/>
          <a:ln>
            <a:noFill/>
          </a:ln>
        </p:spPr>
      </p:pic>
      <p:sp>
        <p:nvSpPr>
          <p:cNvPr id="244" name="Google Shape;244;p8"/>
          <p:cNvSpPr/>
          <p:nvPr/>
        </p:nvSpPr>
        <p:spPr>
          <a:xfrm>
            <a:off x="658368" y="6272784"/>
            <a:ext cx="85953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A33D"/>
              </a:buClr>
              <a:buSzPts val="800"/>
              <a:buFont typeface="Courier New"/>
              <a:buNone/>
            </a:pPr>
            <a:r>
              <a:rPr lang="en-US" sz="800" b="1">
                <a:solidFill>
                  <a:srgbClr val="E8A33D"/>
                </a:solidFill>
                <a:latin typeface="Courier New"/>
                <a:ea typeface="Courier New"/>
                <a:cs typeface="Courier New"/>
                <a:sym typeface="Courier New"/>
              </a:rPr>
              <a:t>BASELINE</a:t>
            </a:r>
            <a:r>
              <a:rPr lang="en-US" sz="800">
                <a:solidFill>
                  <a:srgbClr val="000000"/>
                </a:solidFill>
                <a:latin typeface="Courier New"/>
                <a:ea typeface="Courier New"/>
                <a:cs typeface="Courier New"/>
                <a:sym typeface="Courier New"/>
              </a:rPr>
              <a:t>     </a:t>
            </a:r>
            <a:r>
              <a:rPr lang="en-US" sz="800">
                <a:solidFill>
                  <a:srgbClr val="54607C"/>
                </a:solidFill>
                <a:latin typeface="Courier New"/>
                <a:ea typeface="Courier New"/>
                <a:cs typeface="Courier New"/>
                <a:sym typeface="Courier New"/>
              </a:rPr>
              <a:t>KNOWLEDGE GAPS</a:t>
            </a:r>
            <a:r>
              <a:rPr lang="en-US" sz="800">
                <a:solidFill>
                  <a:srgbClr val="000000"/>
                </a:solidFill>
                <a:latin typeface="Courier New"/>
                <a:ea typeface="Courier New"/>
                <a:cs typeface="Courier New"/>
                <a:sym typeface="Courier New"/>
              </a:rPr>
              <a:t>     </a:t>
            </a:r>
            <a:r>
              <a:rPr lang="en-US" sz="800">
                <a:solidFill>
                  <a:srgbClr val="54607C"/>
                </a:solidFill>
                <a:latin typeface="Courier New"/>
                <a:ea typeface="Courier New"/>
                <a:cs typeface="Courier New"/>
                <a:sym typeface="Courier New"/>
              </a:rPr>
              <a:t>SELECTION</a:t>
            </a:r>
            <a:r>
              <a:rPr lang="en-US" sz="800">
                <a:solidFill>
                  <a:srgbClr val="000000"/>
                </a:solidFill>
                <a:latin typeface="Courier New"/>
                <a:ea typeface="Courier New"/>
                <a:cs typeface="Courier New"/>
                <a:sym typeface="Courier New"/>
              </a:rPr>
              <a:t>     </a:t>
            </a:r>
            <a:r>
              <a:rPr lang="en-US" sz="800">
                <a:solidFill>
                  <a:srgbClr val="54607C"/>
                </a:solidFill>
                <a:latin typeface="Courier New"/>
                <a:ea typeface="Courier New"/>
                <a:cs typeface="Courier New"/>
                <a:sym typeface="Courier New"/>
              </a:rPr>
              <a:t>RECOMMENDATION</a:t>
            </a:r>
            <a:r>
              <a:rPr lang="en-US" sz="800">
                <a:solidFill>
                  <a:srgbClr val="000000"/>
                </a:solidFill>
                <a:latin typeface="Courier New"/>
                <a:ea typeface="Courier New"/>
                <a:cs typeface="Courier New"/>
                <a:sym typeface="Courier New"/>
              </a:rPr>
              <a:t>     </a:t>
            </a:r>
            <a:r>
              <a:rPr lang="en-US" sz="800">
                <a:solidFill>
                  <a:srgbClr val="54607C"/>
                </a:solidFill>
                <a:latin typeface="Courier New"/>
                <a:ea typeface="Courier New"/>
                <a:cs typeface="Courier New"/>
                <a:sym typeface="Courier New"/>
              </a:rPr>
              <a:t>VALUE</a:t>
            </a:r>
            <a:endParaRPr sz="800">
              <a:solidFill>
                <a:schemeClr val="dk1"/>
              </a:solidFill>
              <a:latin typeface="Courier New"/>
              <a:ea typeface="Courier New"/>
              <a:cs typeface="Courier New"/>
              <a:sym typeface="Courier New"/>
            </a:endParaRPr>
          </a:p>
        </p:txBody>
      </p:sp>
      <p:sp>
        <p:nvSpPr>
          <p:cNvPr id="245" name="Google Shape;245;p8"/>
          <p:cNvSpPr/>
          <p:nvPr/>
        </p:nvSpPr>
        <p:spPr>
          <a:xfrm>
            <a:off x="505206" y="2727198"/>
            <a:ext cx="68580" cy="68580"/>
          </a:xfrm>
          <a:prstGeom prst="ellipse">
            <a:avLst/>
          </a:prstGeom>
          <a:solidFill>
            <a:srgbClr val="6DD9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100">
              <a:solidFill>
                <a:schemeClr val="dk1"/>
              </a:solidFill>
              <a:latin typeface="Calibri"/>
              <a:ea typeface="Calibri"/>
              <a:cs typeface="Calibri"/>
              <a:sym typeface="Calibri"/>
            </a:endParaRPr>
          </a:p>
        </p:txBody>
      </p:sp>
      <p:sp>
        <p:nvSpPr>
          <p:cNvPr id="246" name="Google Shape;246;p8"/>
          <p:cNvSpPr/>
          <p:nvPr/>
        </p:nvSpPr>
        <p:spPr>
          <a:xfrm>
            <a:off x="507911" y="3299879"/>
            <a:ext cx="68580" cy="68580"/>
          </a:xfrm>
          <a:prstGeom prst="ellipse">
            <a:avLst/>
          </a:prstGeom>
          <a:solidFill>
            <a:srgbClr val="6DD9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100">
              <a:solidFill>
                <a:schemeClr val="dk1"/>
              </a:solidFill>
              <a:latin typeface="Calibri"/>
              <a:ea typeface="Calibri"/>
              <a:cs typeface="Calibri"/>
              <a:sym typeface="Calibri"/>
            </a:endParaRPr>
          </a:p>
        </p:txBody>
      </p:sp>
      <p:sp>
        <p:nvSpPr>
          <p:cNvPr id="247" name="Google Shape;247;p8"/>
          <p:cNvSpPr/>
          <p:nvPr/>
        </p:nvSpPr>
        <p:spPr>
          <a:xfrm>
            <a:off x="510616" y="3852464"/>
            <a:ext cx="68580" cy="68580"/>
          </a:xfrm>
          <a:prstGeom prst="ellipse">
            <a:avLst/>
          </a:prstGeom>
          <a:solidFill>
            <a:srgbClr val="6DD9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100">
              <a:solidFill>
                <a:schemeClr val="dk1"/>
              </a:solidFill>
              <a:latin typeface="Calibri"/>
              <a:ea typeface="Calibri"/>
              <a:cs typeface="Calibri"/>
              <a:sym typeface="Calibri"/>
            </a:endParaRPr>
          </a:p>
        </p:txBody>
      </p:sp>
      <p:sp>
        <p:nvSpPr>
          <p:cNvPr id="248" name="Google Shape;248;p8"/>
          <p:cNvSpPr/>
          <p:nvPr/>
        </p:nvSpPr>
        <p:spPr>
          <a:xfrm>
            <a:off x="513321" y="4425145"/>
            <a:ext cx="68580" cy="68580"/>
          </a:xfrm>
          <a:prstGeom prst="ellipse">
            <a:avLst/>
          </a:prstGeom>
          <a:solidFill>
            <a:srgbClr val="6DD9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100">
              <a:solidFill>
                <a:schemeClr val="dk1"/>
              </a:solidFill>
              <a:latin typeface="Calibri"/>
              <a:ea typeface="Calibri"/>
              <a:cs typeface="Calibri"/>
              <a:sym typeface="Calibri"/>
            </a:endParaRPr>
          </a:p>
        </p:txBody>
      </p:sp>
      <p:sp>
        <p:nvSpPr>
          <p:cNvPr id="249" name="Google Shape;249;p8"/>
          <p:cNvSpPr/>
          <p:nvPr/>
        </p:nvSpPr>
        <p:spPr>
          <a:xfrm>
            <a:off x="516026" y="5017922"/>
            <a:ext cx="68580" cy="68580"/>
          </a:xfrm>
          <a:prstGeom prst="ellipse">
            <a:avLst/>
          </a:prstGeom>
          <a:solidFill>
            <a:srgbClr val="6DD9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100">
              <a:solidFill>
                <a:schemeClr val="dk1"/>
              </a:solidFill>
              <a:latin typeface="Calibri"/>
              <a:ea typeface="Calibri"/>
              <a:cs typeface="Calibri"/>
              <a:sym typeface="Calibri"/>
            </a:endParaRPr>
          </a:p>
        </p:txBody>
      </p:sp>
      <p:sp>
        <p:nvSpPr>
          <p:cNvPr id="250" name="Google Shape;250;p8"/>
          <p:cNvSpPr/>
          <p:nvPr/>
        </p:nvSpPr>
        <p:spPr>
          <a:xfrm>
            <a:off x="518731" y="5550411"/>
            <a:ext cx="68580" cy="68580"/>
          </a:xfrm>
          <a:prstGeom prst="ellipse">
            <a:avLst/>
          </a:prstGeom>
          <a:solidFill>
            <a:srgbClr val="6DD9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100">
              <a:solidFill>
                <a:schemeClr val="dk1"/>
              </a:solidFill>
              <a:latin typeface="Calibri"/>
              <a:ea typeface="Calibri"/>
              <a:cs typeface="Calibri"/>
              <a:sym typeface="Calibri"/>
            </a:endParaRPr>
          </a:p>
        </p:txBody>
      </p:sp>
      <p:sp>
        <p:nvSpPr>
          <p:cNvPr id="251" name="Google Shape;251;p8"/>
          <p:cNvSpPr/>
          <p:nvPr/>
        </p:nvSpPr>
        <p:spPr>
          <a:xfrm>
            <a:off x="4225670" y="2744958"/>
            <a:ext cx="68580" cy="68580"/>
          </a:xfrm>
          <a:prstGeom prst="ellipse">
            <a:avLst/>
          </a:prstGeom>
          <a:solidFill>
            <a:srgbClr val="6DD9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100">
              <a:solidFill>
                <a:schemeClr val="dk1"/>
              </a:solidFill>
              <a:latin typeface="Calibri"/>
              <a:ea typeface="Calibri"/>
              <a:cs typeface="Calibri"/>
              <a:sym typeface="Calibri"/>
            </a:endParaRPr>
          </a:p>
        </p:txBody>
      </p:sp>
      <p:sp>
        <p:nvSpPr>
          <p:cNvPr id="252" name="Google Shape;252;p8"/>
          <p:cNvSpPr/>
          <p:nvPr/>
        </p:nvSpPr>
        <p:spPr>
          <a:xfrm>
            <a:off x="4214178" y="3301376"/>
            <a:ext cx="68580" cy="68580"/>
          </a:xfrm>
          <a:prstGeom prst="ellipse">
            <a:avLst/>
          </a:prstGeom>
          <a:solidFill>
            <a:srgbClr val="6DD9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100">
              <a:solidFill>
                <a:schemeClr val="dk1"/>
              </a:solidFill>
              <a:latin typeface="Calibri"/>
              <a:ea typeface="Calibri"/>
              <a:cs typeface="Calibri"/>
              <a:sym typeface="Calibri"/>
            </a:endParaRPr>
          </a:p>
        </p:txBody>
      </p:sp>
      <p:sp>
        <p:nvSpPr>
          <p:cNvPr id="253" name="Google Shape;253;p8"/>
          <p:cNvSpPr/>
          <p:nvPr/>
        </p:nvSpPr>
        <p:spPr>
          <a:xfrm>
            <a:off x="4202686" y="3857794"/>
            <a:ext cx="68580" cy="68580"/>
          </a:xfrm>
          <a:prstGeom prst="ellipse">
            <a:avLst/>
          </a:prstGeom>
          <a:solidFill>
            <a:srgbClr val="6DD9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100">
              <a:solidFill>
                <a:schemeClr val="dk1"/>
              </a:solidFill>
              <a:latin typeface="Calibri"/>
              <a:ea typeface="Calibri"/>
              <a:cs typeface="Calibri"/>
              <a:sym typeface="Calibri"/>
            </a:endParaRPr>
          </a:p>
        </p:txBody>
      </p:sp>
      <p:sp>
        <p:nvSpPr>
          <p:cNvPr id="254" name="Google Shape;254;p8"/>
          <p:cNvSpPr/>
          <p:nvPr/>
        </p:nvSpPr>
        <p:spPr>
          <a:xfrm>
            <a:off x="7916149" y="2727198"/>
            <a:ext cx="68580" cy="68580"/>
          </a:xfrm>
          <a:prstGeom prst="ellipse">
            <a:avLst/>
          </a:prstGeom>
          <a:solidFill>
            <a:srgbClr val="6DD9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100">
              <a:solidFill>
                <a:schemeClr val="dk1"/>
              </a:solidFill>
              <a:latin typeface="Calibri"/>
              <a:ea typeface="Calibri"/>
              <a:cs typeface="Calibri"/>
              <a:sym typeface="Calibri"/>
            </a:endParaRPr>
          </a:p>
        </p:txBody>
      </p:sp>
      <p:sp>
        <p:nvSpPr>
          <p:cNvPr id="255" name="Google Shape;255;p8"/>
          <p:cNvSpPr/>
          <p:nvPr/>
        </p:nvSpPr>
        <p:spPr>
          <a:xfrm>
            <a:off x="7908936" y="3315438"/>
            <a:ext cx="68580" cy="68580"/>
          </a:xfrm>
          <a:prstGeom prst="ellipse">
            <a:avLst/>
          </a:prstGeom>
          <a:solidFill>
            <a:srgbClr val="6DD9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100">
              <a:solidFill>
                <a:schemeClr val="dk1"/>
              </a:solidFill>
              <a:latin typeface="Calibri"/>
              <a:ea typeface="Calibri"/>
              <a:cs typeface="Calibri"/>
              <a:sym typeface="Calibri"/>
            </a:endParaRPr>
          </a:p>
        </p:txBody>
      </p:sp>
      <p:sp>
        <p:nvSpPr>
          <p:cNvPr id="256" name="Google Shape;256;p8"/>
          <p:cNvSpPr/>
          <p:nvPr/>
        </p:nvSpPr>
        <p:spPr>
          <a:xfrm>
            <a:off x="7901723" y="3873534"/>
            <a:ext cx="68580" cy="68580"/>
          </a:xfrm>
          <a:prstGeom prst="ellipse">
            <a:avLst/>
          </a:prstGeom>
          <a:solidFill>
            <a:srgbClr val="6DD9F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100">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D9E1EF"/>
        </a:solidFill>
        <a:effectLst/>
      </p:bgPr>
    </p:bg>
    <p:spTree>
      <p:nvGrpSpPr>
        <p:cNvPr id="1" name="Shape 261"/>
        <p:cNvGrpSpPr/>
        <p:nvPr/>
      </p:nvGrpSpPr>
      <p:grpSpPr>
        <a:xfrm>
          <a:off x="0" y="0"/>
          <a:ext cx="0" cy="0"/>
          <a:chOff x="0" y="0"/>
          <a:chExt cx="0" cy="0"/>
        </a:xfrm>
      </p:grpSpPr>
      <p:pic>
        <p:nvPicPr>
          <p:cNvPr id="3" name="Google Shape;48;p5" descr="/home/claude/work/a2/light_wash.jpg">
            <a:extLst>
              <a:ext uri="{FF2B5EF4-FFF2-40B4-BE49-F238E27FC236}">
                <a16:creationId xmlns:a16="http://schemas.microsoft.com/office/drawing/2014/main" id="{E8E91DF3-2EE3-01C5-52F7-B6B3551B9C94}"/>
              </a:ext>
            </a:extLst>
          </p:cNvPr>
          <p:cNvPicPr preferRelativeResize="0"/>
          <p:nvPr/>
        </p:nvPicPr>
        <p:blipFill rotWithShape="1">
          <a:blip r:embed="rId3">
            <a:alphaModFix/>
            <a:extLst>
              <a:ext uri="{BEBA8EAE-BF5A-486C-A8C5-ECC9F3942E4B}">
                <a14:imgProps xmlns:a14="http://schemas.microsoft.com/office/drawing/2010/main">
                  <a14:imgLayer r:embed="rId4">
                    <a14:imgEffect>
                      <a14:brightnessContrast contrast="40000"/>
                    </a14:imgEffect>
                  </a14:imgLayer>
                </a14:imgProps>
              </a:ext>
            </a:extLst>
          </a:blip>
          <a:srcRect/>
          <a:stretch/>
        </p:blipFill>
        <p:spPr>
          <a:xfrm>
            <a:off x="0" y="-9331"/>
            <a:ext cx="12191695" cy="6858000"/>
          </a:xfrm>
          <a:prstGeom prst="rect">
            <a:avLst/>
          </a:prstGeom>
          <a:noFill/>
          <a:ln>
            <a:noFill/>
          </a:ln>
        </p:spPr>
      </p:pic>
      <p:sp>
        <p:nvSpPr>
          <p:cNvPr id="262" name="Google Shape;262;p9"/>
          <p:cNvSpPr/>
          <p:nvPr/>
        </p:nvSpPr>
        <p:spPr>
          <a:xfrm>
            <a:off x="658368" y="530352"/>
            <a:ext cx="9052560" cy="475488"/>
          </a:xfrm>
          <a:prstGeom prst="rect">
            <a:avLst/>
          </a:prstGeom>
          <a:noFill/>
          <a:ln>
            <a:noFill/>
          </a:ln>
        </p:spPr>
        <p:txBody>
          <a:bodyPr spcFirstLastPara="1" wrap="square" lIns="0" tIns="0" rIns="0" bIns="0" anchor="ctr" anchorCtr="0">
            <a:noAutofit/>
          </a:bodyPr>
          <a:lstStyle/>
          <a:p>
            <a:pPr marL="0" marR="0" lvl="0" indent="0" algn="l" rtl="0">
              <a:lnSpc>
                <a:spcPct val="92000"/>
              </a:lnSpc>
              <a:spcBef>
                <a:spcPts val="0"/>
              </a:spcBef>
              <a:spcAft>
                <a:spcPts val="0"/>
              </a:spcAft>
              <a:buClr>
                <a:srgbClr val="13234C"/>
              </a:buClr>
              <a:buSzPts val="3000"/>
              <a:buFont typeface="Arial"/>
              <a:buNone/>
            </a:pPr>
            <a:r>
              <a:rPr lang="en-US" sz="3000" b="1">
                <a:solidFill>
                  <a:srgbClr val="13234C"/>
                </a:solidFill>
                <a:latin typeface="29LT Adir" panose="00000506000000000000" pitchFamily="50" charset="-78"/>
                <a:cs typeface="29LT Adir" panose="00000506000000000000" pitchFamily="50" charset="-78"/>
                <a:sym typeface="Arial"/>
              </a:rPr>
              <a:t>What the Mission Must Measure</a:t>
            </a:r>
            <a:endParaRPr sz="18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63" name="Google Shape;263;p9"/>
          <p:cNvSpPr/>
          <p:nvPr/>
        </p:nvSpPr>
        <p:spPr>
          <a:xfrm>
            <a:off x="658368" y="1057961"/>
            <a:ext cx="9692640" cy="3291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4C5468"/>
              </a:buClr>
              <a:buSzPts val="1400"/>
              <a:buFont typeface="Arial"/>
              <a:buNone/>
            </a:pPr>
            <a:r>
              <a:rPr lang="en-US" sz="1400" dirty="0">
                <a:solidFill>
                  <a:srgbClr val="4C5468"/>
                </a:solidFill>
                <a:latin typeface="29LT Adir" panose="00000506000000000000" pitchFamily="50" charset="-78"/>
                <a:cs typeface="29LT Adir" panose="00000506000000000000" pitchFamily="50" charset="-78"/>
                <a:sym typeface="Arial"/>
              </a:rPr>
              <a:t>The four objectives were </a:t>
            </a:r>
            <a:r>
              <a:rPr lang="en-US" sz="1400" b="1" dirty="0">
                <a:solidFill>
                  <a:srgbClr val="4C5468"/>
                </a:solidFill>
                <a:latin typeface="29LT Adir" panose="00000506000000000000" pitchFamily="50" charset="-78"/>
                <a:cs typeface="29LT Adir" panose="00000506000000000000" pitchFamily="50" charset="-78"/>
                <a:sym typeface="Arial"/>
              </a:rPr>
              <a:t>decomposed into 19 measurements</a:t>
            </a:r>
            <a:r>
              <a:rPr lang="en-US" sz="1400" dirty="0">
                <a:solidFill>
                  <a:srgbClr val="4C5468"/>
                </a:solidFill>
                <a:latin typeface="29LT Adir" panose="00000506000000000000" pitchFamily="50" charset="-78"/>
                <a:cs typeface="29LT Adir" panose="00000506000000000000" pitchFamily="50" charset="-78"/>
                <a:sym typeface="Arial"/>
              </a:rPr>
              <a:t>. </a:t>
            </a:r>
            <a:r>
              <a:rPr lang="en-US" sz="1400" b="1" dirty="0">
                <a:solidFill>
                  <a:srgbClr val="4C5468"/>
                </a:solidFill>
                <a:latin typeface="29LT Adir" panose="00000506000000000000" pitchFamily="50" charset="-78"/>
                <a:cs typeface="29LT Adir" panose="00000506000000000000" pitchFamily="50" charset="-78"/>
                <a:sym typeface="Arial"/>
              </a:rPr>
              <a:t>T</a:t>
            </a:r>
            <a:r>
              <a:rPr lang="en-US" b="1" dirty="0">
                <a:solidFill>
                  <a:srgbClr val="4C5468"/>
                </a:solidFill>
                <a:latin typeface="29LT Adir" panose="00000506000000000000" pitchFamily="50" charset="-78"/>
                <a:cs typeface="29LT Adir" panose="00000506000000000000" pitchFamily="50" charset="-78"/>
              </a:rPr>
              <a:t>hose 15 </a:t>
            </a:r>
            <a:r>
              <a:rPr lang="en-US" sz="1400" b="1" dirty="0">
                <a:solidFill>
                  <a:srgbClr val="4C5468"/>
                </a:solidFill>
                <a:latin typeface="29LT Adir" panose="00000506000000000000" pitchFamily="50" charset="-78"/>
                <a:cs typeface="29LT Adir" panose="00000506000000000000" pitchFamily="50" charset="-78"/>
                <a:sym typeface="Arial"/>
              </a:rPr>
              <a:t>are already measured by the confirmed payloads</a:t>
            </a:r>
            <a:endParaRPr sz="18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64" name="Google Shape;264;p9"/>
          <p:cNvSpPr/>
          <p:nvPr/>
        </p:nvSpPr>
        <p:spPr>
          <a:xfrm>
            <a:off x="658368" y="1554480"/>
            <a:ext cx="10872216" cy="786384"/>
          </a:xfrm>
          <a:prstGeom prst="roundRect">
            <a:avLst>
              <a:gd name="adj" fmla="val 4455"/>
            </a:avLst>
          </a:prstGeom>
          <a:solidFill>
            <a:srgbClr val="FFFFFF"/>
          </a:solidFill>
          <a:ln w="9525" cap="flat" cmpd="sng">
            <a:solidFill>
              <a:srgbClr val="C4CFE0"/>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65" name="Google Shape;265;p9"/>
          <p:cNvSpPr/>
          <p:nvPr/>
        </p:nvSpPr>
        <p:spPr>
          <a:xfrm>
            <a:off x="896112" y="1828800"/>
            <a:ext cx="237744" cy="237744"/>
          </a:xfrm>
          <a:prstGeom prst="ellipse">
            <a:avLst/>
          </a:prstGeom>
          <a:solidFill>
            <a:srgbClr val="13234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66" name="Google Shape;266;p9"/>
          <p:cNvSpPr/>
          <p:nvPr/>
        </p:nvSpPr>
        <p:spPr>
          <a:xfrm>
            <a:off x="896112" y="1828800"/>
            <a:ext cx="237744"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Arial"/>
              <a:buNone/>
            </a:pPr>
            <a:r>
              <a:rPr lang="en-US" sz="1000" b="1" dirty="0">
                <a:solidFill>
                  <a:srgbClr val="FFFFFF"/>
                </a:solidFill>
                <a:latin typeface="29LT Adir" panose="00000506000000000000" pitchFamily="50" charset="-78"/>
                <a:cs typeface="29LT Adir" panose="00000506000000000000" pitchFamily="50" charset="-78"/>
                <a:sym typeface="Arial"/>
              </a:rPr>
              <a:t>1</a:t>
            </a:r>
            <a:endParaRPr sz="24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67" name="Google Shape;267;p9"/>
          <p:cNvSpPr/>
          <p:nvPr/>
        </p:nvSpPr>
        <p:spPr>
          <a:xfrm>
            <a:off x="1225296" y="1682496"/>
            <a:ext cx="1986534" cy="256032"/>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Clr>
                <a:srgbClr val="13234C"/>
              </a:buClr>
              <a:buSzPts val="1050"/>
              <a:buFont typeface="Arial"/>
              <a:buNone/>
            </a:pPr>
            <a:r>
              <a:rPr lang="en-US" sz="1200" b="1">
                <a:solidFill>
                  <a:srgbClr val="13234C"/>
                </a:solidFill>
                <a:latin typeface="29LT Adir" panose="00000506000000000000" pitchFamily="50" charset="-78"/>
                <a:cs typeface="29LT Adir" panose="00000506000000000000" pitchFamily="50" charset="-78"/>
                <a:sym typeface="Arial"/>
              </a:rPr>
              <a:t>Read the objectives</a:t>
            </a:r>
            <a:endParaRPr sz="24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68" name="Google Shape;268;p9"/>
          <p:cNvSpPr/>
          <p:nvPr/>
        </p:nvSpPr>
        <p:spPr>
          <a:xfrm>
            <a:off x="1225296" y="1965960"/>
            <a:ext cx="1986534"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9839A"/>
              </a:buClr>
              <a:buSzPts val="850"/>
              <a:buFont typeface="Arial"/>
              <a:buNone/>
            </a:pPr>
            <a:r>
              <a:rPr lang="en-US" sz="1100">
                <a:solidFill>
                  <a:srgbClr val="79839A"/>
                </a:solidFill>
                <a:latin typeface="29LT Adir" panose="00000506000000000000" pitchFamily="50" charset="-78"/>
                <a:cs typeface="29LT Adir" panose="00000506000000000000" pitchFamily="50" charset="-78"/>
                <a:sym typeface="Arial"/>
              </a:rPr>
              <a:t>ESA's four published aims, verbatim</a:t>
            </a:r>
            <a:endParaRPr sz="11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69" name="Google Shape;269;p9"/>
          <p:cNvSpPr/>
          <p:nvPr/>
        </p:nvSpPr>
        <p:spPr>
          <a:xfrm>
            <a:off x="3614166" y="1828800"/>
            <a:ext cx="237744" cy="237744"/>
          </a:xfrm>
          <a:prstGeom prst="ellipse">
            <a:avLst/>
          </a:prstGeom>
          <a:solidFill>
            <a:srgbClr val="13234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70" name="Google Shape;270;p9"/>
          <p:cNvSpPr/>
          <p:nvPr/>
        </p:nvSpPr>
        <p:spPr>
          <a:xfrm>
            <a:off x="3614166" y="1828800"/>
            <a:ext cx="237744"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Arial"/>
              <a:buNone/>
            </a:pPr>
            <a:r>
              <a:rPr lang="en-US" sz="1000" b="1">
                <a:solidFill>
                  <a:srgbClr val="FFFFFF"/>
                </a:solidFill>
                <a:latin typeface="29LT Adir" panose="00000506000000000000" pitchFamily="50" charset="-78"/>
                <a:cs typeface="29LT Adir" panose="00000506000000000000" pitchFamily="50" charset="-78"/>
                <a:sym typeface="Arial"/>
              </a:rPr>
              <a:t>2</a:t>
            </a:r>
            <a:endParaRPr sz="24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71" name="Google Shape;271;p9"/>
          <p:cNvSpPr/>
          <p:nvPr/>
        </p:nvSpPr>
        <p:spPr>
          <a:xfrm>
            <a:off x="3943350" y="1682496"/>
            <a:ext cx="1986534" cy="256032"/>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Clr>
                <a:srgbClr val="13234C"/>
              </a:buClr>
              <a:buSzPts val="1050"/>
              <a:buFont typeface="Arial"/>
              <a:buNone/>
            </a:pPr>
            <a:r>
              <a:rPr lang="en-US" sz="1200" b="1">
                <a:solidFill>
                  <a:srgbClr val="13234C"/>
                </a:solidFill>
                <a:latin typeface="29LT Adir" panose="00000506000000000000" pitchFamily="50" charset="-78"/>
                <a:cs typeface="29LT Adir" panose="00000506000000000000" pitchFamily="50" charset="-78"/>
                <a:sym typeface="Arial"/>
              </a:rPr>
              <a:t>Split into raw demands</a:t>
            </a:r>
            <a:endParaRPr sz="24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72" name="Google Shape;272;p9"/>
          <p:cNvSpPr/>
          <p:nvPr/>
        </p:nvSpPr>
        <p:spPr>
          <a:xfrm>
            <a:off x="3943350" y="1965960"/>
            <a:ext cx="1986534"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9839A"/>
              </a:buClr>
              <a:buSzPts val="850"/>
              <a:buFont typeface="Arial"/>
              <a:buNone/>
            </a:pPr>
            <a:r>
              <a:rPr lang="en-US" sz="1100">
                <a:solidFill>
                  <a:srgbClr val="79839A"/>
                </a:solidFill>
                <a:latin typeface="29LT Adir" panose="00000506000000000000" pitchFamily="50" charset="-78"/>
                <a:cs typeface="29LT Adir" panose="00000506000000000000" pitchFamily="50" charset="-78"/>
                <a:sym typeface="Arial"/>
              </a:rPr>
              <a:t>one question per demand, no instrument named</a:t>
            </a:r>
            <a:endParaRPr sz="11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73" name="Google Shape;273;p9"/>
          <p:cNvSpPr/>
          <p:nvPr/>
        </p:nvSpPr>
        <p:spPr>
          <a:xfrm>
            <a:off x="6332220" y="1828800"/>
            <a:ext cx="237744" cy="237744"/>
          </a:xfrm>
          <a:prstGeom prst="ellipse">
            <a:avLst/>
          </a:prstGeom>
          <a:solidFill>
            <a:srgbClr val="13234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74" name="Google Shape;274;p9"/>
          <p:cNvSpPr/>
          <p:nvPr/>
        </p:nvSpPr>
        <p:spPr>
          <a:xfrm>
            <a:off x="6332220" y="1828800"/>
            <a:ext cx="237744"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Arial"/>
              <a:buNone/>
            </a:pPr>
            <a:r>
              <a:rPr lang="en-US" sz="1000" b="1">
                <a:solidFill>
                  <a:srgbClr val="FFFFFF"/>
                </a:solidFill>
                <a:latin typeface="29LT Adir" panose="00000506000000000000" pitchFamily="50" charset="-78"/>
                <a:cs typeface="29LT Adir" panose="00000506000000000000" pitchFamily="50" charset="-78"/>
                <a:sym typeface="Arial"/>
              </a:rPr>
              <a:t>3</a:t>
            </a:r>
            <a:endParaRPr sz="24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75" name="Google Shape;275;p9"/>
          <p:cNvSpPr/>
          <p:nvPr/>
        </p:nvSpPr>
        <p:spPr>
          <a:xfrm>
            <a:off x="6661404" y="1682496"/>
            <a:ext cx="1986534" cy="256032"/>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Clr>
                <a:srgbClr val="13234C"/>
              </a:buClr>
              <a:buSzPts val="1050"/>
              <a:buFont typeface="Arial"/>
              <a:buNone/>
            </a:pPr>
            <a:r>
              <a:rPr lang="en-US" sz="1200" b="1">
                <a:solidFill>
                  <a:srgbClr val="13234C"/>
                </a:solidFill>
                <a:latin typeface="29LT Adir" panose="00000506000000000000" pitchFamily="50" charset="-78"/>
                <a:cs typeface="29LT Adir" panose="00000506000000000000" pitchFamily="50" charset="-78"/>
                <a:sym typeface="Arial"/>
              </a:rPr>
              <a:t>Write the requirement</a:t>
            </a:r>
            <a:endParaRPr sz="24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76" name="Google Shape;276;p9"/>
          <p:cNvSpPr/>
          <p:nvPr/>
        </p:nvSpPr>
        <p:spPr>
          <a:xfrm>
            <a:off x="6661404" y="1965960"/>
            <a:ext cx="1986534"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9839A"/>
              </a:buClr>
              <a:buSzPts val="850"/>
              <a:buFont typeface="Arial"/>
              <a:buNone/>
            </a:pPr>
            <a:r>
              <a:rPr lang="en-US" sz="1100">
                <a:solidFill>
                  <a:srgbClr val="79839A"/>
                </a:solidFill>
                <a:latin typeface="29LT Adir" panose="00000506000000000000" pitchFamily="50" charset="-78"/>
                <a:cs typeface="29LT Adir" panose="00000506000000000000" pitchFamily="50" charset="-78"/>
                <a:sym typeface="Arial"/>
              </a:rPr>
              <a:t>purpose, observable, threshold, boundary</a:t>
            </a:r>
            <a:endParaRPr sz="11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77" name="Google Shape;277;p9"/>
          <p:cNvSpPr/>
          <p:nvPr/>
        </p:nvSpPr>
        <p:spPr>
          <a:xfrm>
            <a:off x="9050274" y="1828800"/>
            <a:ext cx="237744" cy="237744"/>
          </a:xfrm>
          <a:prstGeom prst="ellipse">
            <a:avLst/>
          </a:prstGeom>
          <a:solidFill>
            <a:srgbClr val="13234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4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78" name="Google Shape;278;p9"/>
          <p:cNvSpPr/>
          <p:nvPr/>
        </p:nvSpPr>
        <p:spPr>
          <a:xfrm>
            <a:off x="9050274" y="1828800"/>
            <a:ext cx="237744"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800"/>
              <a:buFont typeface="Arial"/>
              <a:buNone/>
            </a:pPr>
            <a:r>
              <a:rPr lang="en-US" sz="1000" b="1">
                <a:solidFill>
                  <a:srgbClr val="FFFFFF"/>
                </a:solidFill>
                <a:latin typeface="29LT Adir" panose="00000506000000000000" pitchFamily="50" charset="-78"/>
                <a:cs typeface="29LT Adir" panose="00000506000000000000" pitchFamily="50" charset="-78"/>
                <a:sym typeface="Arial"/>
              </a:rPr>
              <a:t>4</a:t>
            </a:r>
            <a:endParaRPr sz="24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79" name="Google Shape;279;p9"/>
          <p:cNvSpPr/>
          <p:nvPr/>
        </p:nvSpPr>
        <p:spPr>
          <a:xfrm>
            <a:off x="9379458" y="1682496"/>
            <a:ext cx="1986534" cy="256032"/>
          </a:xfrm>
          <a:prstGeom prst="rect">
            <a:avLst/>
          </a:prstGeom>
          <a:noFill/>
          <a:ln>
            <a:noFill/>
          </a:ln>
        </p:spPr>
        <p:txBody>
          <a:bodyPr spcFirstLastPara="1" wrap="square" lIns="0" tIns="0" rIns="0" bIns="0" anchor="b" anchorCtr="0">
            <a:noAutofit/>
          </a:bodyPr>
          <a:lstStyle/>
          <a:p>
            <a:pPr marL="0" marR="0" lvl="0" indent="0" algn="l" rtl="0">
              <a:spcBef>
                <a:spcPts val="0"/>
              </a:spcBef>
              <a:spcAft>
                <a:spcPts val="0"/>
              </a:spcAft>
              <a:buClr>
                <a:srgbClr val="13234C"/>
              </a:buClr>
              <a:buSzPts val="1050"/>
              <a:buFont typeface="Arial"/>
              <a:buNone/>
            </a:pPr>
            <a:r>
              <a:rPr lang="en-US" sz="1200" b="1">
                <a:solidFill>
                  <a:srgbClr val="13234C"/>
                </a:solidFill>
                <a:latin typeface="29LT Adir" panose="00000506000000000000" pitchFamily="50" charset="-78"/>
                <a:cs typeface="29LT Adir" panose="00000506000000000000" pitchFamily="50" charset="-78"/>
                <a:sym typeface="Arial"/>
              </a:rPr>
              <a:t>Classify the type</a:t>
            </a:r>
            <a:endParaRPr sz="24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80" name="Google Shape;280;p9"/>
          <p:cNvSpPr/>
          <p:nvPr/>
        </p:nvSpPr>
        <p:spPr>
          <a:xfrm>
            <a:off x="9379458" y="1965960"/>
            <a:ext cx="1986534" cy="27432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79839A"/>
              </a:buClr>
              <a:buSzPts val="850"/>
              <a:buFont typeface="Arial"/>
              <a:buNone/>
            </a:pPr>
            <a:r>
              <a:rPr lang="en-US" sz="1100">
                <a:solidFill>
                  <a:srgbClr val="79839A"/>
                </a:solidFill>
                <a:latin typeface="29LT Adir" panose="00000506000000000000" pitchFamily="50" charset="-78"/>
                <a:cs typeface="29LT Adir" panose="00000506000000000000" pitchFamily="50" charset="-78"/>
                <a:sym typeface="Arial"/>
              </a:rPr>
              <a:t>direct, differential, or derived</a:t>
            </a:r>
            <a:endParaRPr sz="11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81" name="Google Shape;281;p9"/>
          <p:cNvSpPr/>
          <p:nvPr/>
        </p:nvSpPr>
        <p:spPr>
          <a:xfrm>
            <a:off x="658368" y="2542032"/>
            <a:ext cx="3465576" cy="2743200"/>
          </a:xfrm>
          <a:prstGeom prst="roundRect">
            <a:avLst>
              <a:gd name="adj" fmla="val 4455"/>
            </a:avLst>
          </a:prstGeom>
          <a:solidFill>
            <a:srgbClr val="FFFFFF"/>
          </a:solidFill>
          <a:ln w="9525" cap="flat" cmpd="sng">
            <a:solidFill>
              <a:srgbClr val="C4CFE0"/>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82" name="Google Shape;282;p9"/>
          <p:cNvSpPr/>
          <p:nvPr/>
        </p:nvSpPr>
        <p:spPr>
          <a:xfrm>
            <a:off x="914400" y="2779776"/>
            <a:ext cx="310896" cy="310896"/>
          </a:xfrm>
          <a:prstGeom prst="ellipse">
            <a:avLst/>
          </a:prstGeom>
          <a:solidFill>
            <a:srgbClr val="13234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83" name="Google Shape;283;p9"/>
          <p:cNvSpPr/>
          <p:nvPr/>
        </p:nvSpPr>
        <p:spPr>
          <a:xfrm>
            <a:off x="914400" y="2779776"/>
            <a:ext cx="310896"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Arial"/>
              <a:buNone/>
            </a:pPr>
            <a:r>
              <a:rPr lang="en-US" sz="1200" b="1">
                <a:solidFill>
                  <a:srgbClr val="FFFFFF"/>
                </a:solidFill>
                <a:latin typeface="29LT Adir" panose="00000506000000000000" pitchFamily="50" charset="-78"/>
                <a:cs typeface="29LT Adir" panose="00000506000000000000" pitchFamily="50" charset="-78"/>
                <a:sym typeface="Arial"/>
              </a:rPr>
              <a:t>O1</a:t>
            </a:r>
            <a:endParaRPr sz="12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84" name="Google Shape;284;p9"/>
          <p:cNvSpPr/>
          <p:nvPr/>
        </p:nvSpPr>
        <p:spPr>
          <a:xfrm>
            <a:off x="1316736" y="2761488"/>
            <a:ext cx="2551176"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300"/>
              <a:buFont typeface="Arial"/>
              <a:buNone/>
            </a:pPr>
            <a:r>
              <a:rPr lang="en-US" b="1" dirty="0">
                <a:solidFill>
                  <a:srgbClr val="13234C"/>
                </a:solidFill>
                <a:latin typeface="29LT Adir" panose="00000506000000000000" pitchFamily="50" charset="-78"/>
                <a:cs typeface="29LT Adir" panose="00000506000000000000" pitchFamily="50" charset="-78"/>
                <a:sym typeface="Arial"/>
              </a:rPr>
              <a:t>Shape, orbit and rotation</a:t>
            </a:r>
            <a:endParaRPr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85" name="Google Shape;285;p9"/>
          <p:cNvSpPr/>
          <p:nvPr/>
        </p:nvSpPr>
        <p:spPr>
          <a:xfrm>
            <a:off x="914400" y="3200400"/>
            <a:ext cx="1481328" cy="237744"/>
          </a:xfrm>
          <a:prstGeom prst="roundRect">
            <a:avLst>
              <a:gd name="adj" fmla="val 20000"/>
            </a:avLst>
          </a:prstGeom>
          <a:solidFill>
            <a:srgbClr val="6DD9FF"/>
          </a:solidFill>
          <a:ln w="9525" cap="flat" cmpd="sng">
            <a:solidFill>
              <a:srgbClr val="6DD9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000" b="1">
              <a:solidFill>
                <a:schemeClr val="dk1"/>
              </a:solidFill>
              <a:latin typeface="Courier New" panose="02070309020205020404" pitchFamily="49" charset="0"/>
              <a:ea typeface="Calibri"/>
              <a:cs typeface="Courier New" panose="02070309020205020404" pitchFamily="49" charset="0"/>
              <a:sym typeface="Calibri"/>
            </a:endParaRPr>
          </a:p>
        </p:txBody>
      </p:sp>
      <p:sp>
        <p:nvSpPr>
          <p:cNvPr id="286" name="Google Shape;286;p9"/>
          <p:cNvSpPr/>
          <p:nvPr/>
        </p:nvSpPr>
        <p:spPr>
          <a:xfrm>
            <a:off x="914400" y="3200400"/>
            <a:ext cx="1481328"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3234C"/>
              </a:buClr>
              <a:buSzPts val="800"/>
              <a:buFont typeface="Arial"/>
              <a:buNone/>
            </a:pPr>
            <a:r>
              <a:rPr lang="en-US" sz="1000" b="1">
                <a:solidFill>
                  <a:srgbClr val="13234C"/>
                </a:solidFill>
                <a:latin typeface="Courier New" panose="02070309020205020404" pitchFamily="49" charset="0"/>
                <a:cs typeface="Courier New" panose="02070309020205020404" pitchFamily="49" charset="0"/>
                <a:sym typeface="Arial"/>
              </a:rPr>
              <a:t>5</a:t>
            </a:r>
            <a:r>
              <a:rPr lang="en-US" sz="1000" b="1">
                <a:solidFill>
                  <a:srgbClr val="000000"/>
                </a:solidFill>
                <a:latin typeface="Courier New" panose="02070309020205020404" pitchFamily="49" charset="0"/>
                <a:cs typeface="Courier New" panose="02070309020205020404" pitchFamily="49" charset="0"/>
                <a:sym typeface="Arial"/>
              </a:rPr>
              <a:t>   </a:t>
            </a:r>
            <a:r>
              <a:rPr lang="en-US" sz="1000" b="1">
                <a:solidFill>
                  <a:srgbClr val="002060"/>
                </a:solidFill>
                <a:latin typeface="Courier New" panose="02070309020205020404" pitchFamily="49" charset="0"/>
                <a:cs typeface="Courier New" panose="02070309020205020404" pitchFamily="49" charset="0"/>
                <a:sym typeface="Arial"/>
              </a:rPr>
              <a:t>MEASUREMENTS</a:t>
            </a:r>
            <a:endParaRPr sz="1000" b="1">
              <a:solidFill>
                <a:schemeClr val="dk1"/>
              </a:solidFill>
              <a:latin typeface="Courier New" panose="02070309020205020404" pitchFamily="49" charset="0"/>
              <a:ea typeface="Calibri"/>
              <a:cs typeface="Courier New" panose="02070309020205020404" pitchFamily="49" charset="0"/>
              <a:sym typeface="Calibri"/>
            </a:endParaRPr>
          </a:p>
        </p:txBody>
      </p:sp>
      <p:sp>
        <p:nvSpPr>
          <p:cNvPr id="287" name="Google Shape;287;p9"/>
          <p:cNvSpPr/>
          <p:nvPr/>
        </p:nvSpPr>
        <p:spPr>
          <a:xfrm>
            <a:off x="914400" y="3547872"/>
            <a:ext cx="548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9839A"/>
              </a:buClr>
              <a:buSzPts val="800"/>
              <a:buFont typeface="Courier New"/>
              <a:buNone/>
            </a:pPr>
            <a:r>
              <a:rPr lang="en-US" sz="900" b="1" dirty="0">
                <a:solidFill>
                  <a:srgbClr val="79839A"/>
                </a:solidFill>
                <a:latin typeface="29LT Adir" panose="00000506000000000000" pitchFamily="50" charset="-78"/>
                <a:ea typeface="Courier New"/>
                <a:cs typeface="29LT Adir" panose="00000506000000000000" pitchFamily="50" charset="-78"/>
                <a:sym typeface="Courier New"/>
              </a:rPr>
              <a:t>M1.1</a:t>
            </a:r>
            <a:endParaRPr sz="20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88" name="Google Shape;288;p9"/>
          <p:cNvSpPr/>
          <p:nvPr/>
        </p:nvSpPr>
        <p:spPr>
          <a:xfrm>
            <a:off x="1499616" y="3547872"/>
            <a:ext cx="236829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050"/>
              <a:buFont typeface="Arial"/>
              <a:buNone/>
            </a:pPr>
            <a:r>
              <a:rPr lang="en-US" sz="1100" b="1">
                <a:solidFill>
                  <a:srgbClr val="13234C"/>
                </a:solidFill>
                <a:latin typeface="29LT Adir" panose="00000506000000000000" pitchFamily="50" charset="-78"/>
                <a:cs typeface="29LT Adir" panose="00000506000000000000" pitchFamily="50" charset="-78"/>
                <a:sym typeface="Arial"/>
              </a:rPr>
              <a:t>Shape</a:t>
            </a:r>
            <a:endParaRPr sz="20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89" name="Google Shape;289;p9"/>
          <p:cNvSpPr/>
          <p:nvPr/>
        </p:nvSpPr>
        <p:spPr>
          <a:xfrm>
            <a:off x="914400" y="3822192"/>
            <a:ext cx="548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9839A"/>
              </a:buClr>
              <a:buSzPts val="800"/>
              <a:buFont typeface="Courier New"/>
              <a:buNone/>
            </a:pPr>
            <a:r>
              <a:rPr lang="en-US" sz="900" b="1" dirty="0">
                <a:solidFill>
                  <a:srgbClr val="79839A"/>
                </a:solidFill>
                <a:latin typeface="29LT Adir" panose="00000506000000000000" pitchFamily="50" charset="-78"/>
                <a:ea typeface="Courier New"/>
                <a:cs typeface="29LT Adir" panose="00000506000000000000" pitchFamily="50" charset="-78"/>
                <a:sym typeface="Courier New"/>
              </a:rPr>
              <a:t>M1.2</a:t>
            </a:r>
            <a:endParaRPr sz="20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90" name="Google Shape;290;p9"/>
          <p:cNvSpPr/>
          <p:nvPr/>
        </p:nvSpPr>
        <p:spPr>
          <a:xfrm>
            <a:off x="1499616" y="3822192"/>
            <a:ext cx="236829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050"/>
              <a:buFont typeface="Arial"/>
              <a:buNone/>
            </a:pPr>
            <a:r>
              <a:rPr lang="en-US" sz="1100" b="1">
                <a:solidFill>
                  <a:srgbClr val="13234C"/>
                </a:solidFill>
                <a:latin typeface="29LT Adir" panose="00000506000000000000" pitchFamily="50" charset="-78"/>
                <a:cs typeface="29LT Adir" panose="00000506000000000000" pitchFamily="50" charset="-78"/>
                <a:sym typeface="Arial"/>
              </a:rPr>
              <a:t>Surface</a:t>
            </a:r>
            <a:endParaRPr sz="20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91" name="Google Shape;291;p9"/>
          <p:cNvSpPr/>
          <p:nvPr/>
        </p:nvSpPr>
        <p:spPr>
          <a:xfrm>
            <a:off x="914400" y="4096512"/>
            <a:ext cx="548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9839A"/>
              </a:buClr>
              <a:buSzPts val="800"/>
              <a:buFont typeface="Courier New"/>
              <a:buNone/>
            </a:pPr>
            <a:r>
              <a:rPr lang="en-US" sz="900" b="1" dirty="0">
                <a:solidFill>
                  <a:srgbClr val="79839A"/>
                </a:solidFill>
                <a:latin typeface="29LT Adir" panose="00000506000000000000" pitchFamily="50" charset="-78"/>
                <a:ea typeface="Courier New"/>
                <a:cs typeface="29LT Adir" panose="00000506000000000000" pitchFamily="50" charset="-78"/>
                <a:sym typeface="Courier New"/>
              </a:rPr>
              <a:t>M1.3</a:t>
            </a:r>
            <a:endParaRPr sz="20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92" name="Google Shape;292;p9"/>
          <p:cNvSpPr/>
          <p:nvPr/>
        </p:nvSpPr>
        <p:spPr>
          <a:xfrm>
            <a:off x="1499616" y="4096512"/>
            <a:ext cx="236829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050"/>
              <a:buFont typeface="Arial"/>
              <a:buNone/>
            </a:pPr>
            <a:r>
              <a:rPr lang="en-US" sz="1100" b="1">
                <a:solidFill>
                  <a:srgbClr val="13234C"/>
                </a:solidFill>
                <a:latin typeface="29LT Adir" panose="00000506000000000000" pitchFamily="50" charset="-78"/>
                <a:cs typeface="29LT Adir" panose="00000506000000000000" pitchFamily="50" charset="-78"/>
                <a:sym typeface="Arial"/>
              </a:rPr>
              <a:t>Orbit</a:t>
            </a:r>
            <a:endParaRPr sz="20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93" name="Google Shape;293;p9"/>
          <p:cNvSpPr/>
          <p:nvPr/>
        </p:nvSpPr>
        <p:spPr>
          <a:xfrm>
            <a:off x="914400" y="4370832"/>
            <a:ext cx="548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9839A"/>
              </a:buClr>
              <a:buSzPts val="800"/>
              <a:buFont typeface="Courier New"/>
              <a:buNone/>
            </a:pPr>
            <a:r>
              <a:rPr lang="en-US" sz="900" b="1" dirty="0">
                <a:solidFill>
                  <a:srgbClr val="79839A"/>
                </a:solidFill>
                <a:latin typeface="29LT Adir" panose="00000506000000000000" pitchFamily="50" charset="-78"/>
                <a:ea typeface="Courier New"/>
                <a:cs typeface="29LT Adir" panose="00000506000000000000" pitchFamily="50" charset="-78"/>
                <a:sym typeface="Courier New"/>
              </a:rPr>
              <a:t>M1.4</a:t>
            </a:r>
            <a:endParaRPr sz="20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94" name="Google Shape;294;p9"/>
          <p:cNvSpPr/>
          <p:nvPr/>
        </p:nvSpPr>
        <p:spPr>
          <a:xfrm>
            <a:off x="1499616" y="4370832"/>
            <a:ext cx="236829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050"/>
              <a:buFont typeface="Arial"/>
              <a:buNone/>
            </a:pPr>
            <a:r>
              <a:rPr lang="en-US" sz="1100" b="1">
                <a:solidFill>
                  <a:srgbClr val="13234C"/>
                </a:solidFill>
                <a:latin typeface="29LT Adir" panose="00000506000000000000" pitchFamily="50" charset="-78"/>
                <a:cs typeface="29LT Adir" panose="00000506000000000000" pitchFamily="50" charset="-78"/>
                <a:sym typeface="Arial"/>
              </a:rPr>
              <a:t>Rotation</a:t>
            </a:r>
            <a:endParaRPr sz="20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95" name="Google Shape;295;p9"/>
          <p:cNvSpPr/>
          <p:nvPr/>
        </p:nvSpPr>
        <p:spPr>
          <a:xfrm>
            <a:off x="914400" y="4645152"/>
            <a:ext cx="548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9839A"/>
              </a:buClr>
              <a:buSzPts val="800"/>
              <a:buFont typeface="Courier New"/>
              <a:buNone/>
            </a:pPr>
            <a:r>
              <a:rPr lang="en-US" sz="900" b="1" dirty="0">
                <a:solidFill>
                  <a:srgbClr val="79839A"/>
                </a:solidFill>
                <a:latin typeface="29LT Adir" panose="00000506000000000000" pitchFamily="50" charset="-78"/>
                <a:ea typeface="Courier New"/>
                <a:cs typeface="29LT Adir" panose="00000506000000000000" pitchFamily="50" charset="-78"/>
                <a:sym typeface="Courier New"/>
              </a:rPr>
              <a:t>M1.5</a:t>
            </a:r>
            <a:endParaRPr sz="20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96" name="Google Shape;296;p9"/>
          <p:cNvSpPr/>
          <p:nvPr/>
        </p:nvSpPr>
        <p:spPr>
          <a:xfrm>
            <a:off x="1499616" y="4645152"/>
            <a:ext cx="236829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050"/>
              <a:buFont typeface="Arial"/>
              <a:buNone/>
            </a:pPr>
            <a:r>
              <a:rPr lang="en-US" sz="1100" b="1">
                <a:solidFill>
                  <a:srgbClr val="13234C"/>
                </a:solidFill>
                <a:latin typeface="29LT Adir" panose="00000506000000000000" pitchFamily="50" charset="-78"/>
                <a:cs typeface="29LT Adir" panose="00000506000000000000" pitchFamily="50" charset="-78"/>
                <a:sym typeface="Arial"/>
              </a:rPr>
              <a:t>Orientation</a:t>
            </a:r>
            <a:endParaRPr sz="20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97" name="Google Shape;297;p9"/>
          <p:cNvSpPr/>
          <p:nvPr/>
        </p:nvSpPr>
        <p:spPr>
          <a:xfrm>
            <a:off x="4361688" y="2542032"/>
            <a:ext cx="3465576" cy="2743200"/>
          </a:xfrm>
          <a:prstGeom prst="roundRect">
            <a:avLst>
              <a:gd name="adj" fmla="val 4455"/>
            </a:avLst>
          </a:prstGeom>
          <a:solidFill>
            <a:srgbClr val="FFFFFF"/>
          </a:solidFill>
          <a:ln w="9525" cap="flat" cmpd="sng">
            <a:solidFill>
              <a:srgbClr val="C4CFE0"/>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298" name="Google Shape;298;p9"/>
          <p:cNvSpPr/>
          <p:nvPr/>
        </p:nvSpPr>
        <p:spPr>
          <a:xfrm>
            <a:off x="4617720" y="2779776"/>
            <a:ext cx="310896" cy="310896"/>
          </a:xfrm>
          <a:prstGeom prst="ellipse">
            <a:avLst/>
          </a:prstGeom>
          <a:solidFill>
            <a:srgbClr val="13234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299" name="Google Shape;299;p9"/>
          <p:cNvSpPr/>
          <p:nvPr/>
        </p:nvSpPr>
        <p:spPr>
          <a:xfrm>
            <a:off x="4617720" y="2779776"/>
            <a:ext cx="310896"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Arial"/>
              <a:buNone/>
            </a:pPr>
            <a:r>
              <a:rPr lang="en-US" sz="1200" b="1">
                <a:solidFill>
                  <a:srgbClr val="FFFFFF"/>
                </a:solidFill>
                <a:latin typeface="29LT Adir" panose="00000506000000000000" pitchFamily="50" charset="-78"/>
                <a:cs typeface="29LT Adir" panose="00000506000000000000" pitchFamily="50" charset="-78"/>
                <a:sym typeface="Arial"/>
              </a:rPr>
              <a:t>O2</a:t>
            </a:r>
            <a:endParaRPr sz="12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00" name="Google Shape;300;p9"/>
          <p:cNvSpPr/>
          <p:nvPr/>
        </p:nvSpPr>
        <p:spPr>
          <a:xfrm>
            <a:off x="5020056" y="2761488"/>
            <a:ext cx="2551176"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300"/>
              <a:buFont typeface="Arial"/>
              <a:buNone/>
            </a:pPr>
            <a:r>
              <a:rPr lang="en-US" b="1" dirty="0">
                <a:solidFill>
                  <a:srgbClr val="13234C"/>
                </a:solidFill>
                <a:latin typeface="29LT Adir" panose="00000506000000000000" pitchFamily="50" charset="-78"/>
                <a:cs typeface="29LT Adir" panose="00000506000000000000" pitchFamily="50" charset="-78"/>
                <a:sym typeface="Arial"/>
              </a:rPr>
              <a:t>Composition and interior</a:t>
            </a:r>
            <a:endParaRPr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01" name="Google Shape;301;p9"/>
          <p:cNvSpPr/>
          <p:nvPr/>
        </p:nvSpPr>
        <p:spPr>
          <a:xfrm>
            <a:off x="4617720" y="3200400"/>
            <a:ext cx="1481328" cy="237744"/>
          </a:xfrm>
          <a:prstGeom prst="roundRect">
            <a:avLst>
              <a:gd name="adj" fmla="val 20000"/>
            </a:avLst>
          </a:prstGeom>
          <a:solidFill>
            <a:srgbClr val="6DD9FF"/>
          </a:solidFill>
          <a:ln w="9525" cap="flat" cmpd="sng">
            <a:solidFill>
              <a:srgbClr val="6DD9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000" b="1">
              <a:solidFill>
                <a:schemeClr val="dk1"/>
              </a:solidFill>
              <a:latin typeface="Courier New" panose="02070309020205020404" pitchFamily="49" charset="0"/>
              <a:ea typeface="Calibri"/>
              <a:cs typeface="Courier New" panose="02070309020205020404" pitchFamily="49" charset="0"/>
              <a:sym typeface="Calibri"/>
            </a:endParaRPr>
          </a:p>
        </p:txBody>
      </p:sp>
      <p:sp>
        <p:nvSpPr>
          <p:cNvPr id="302" name="Google Shape;302;p9"/>
          <p:cNvSpPr/>
          <p:nvPr/>
        </p:nvSpPr>
        <p:spPr>
          <a:xfrm>
            <a:off x="4617720" y="3200400"/>
            <a:ext cx="1481328"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3234C"/>
              </a:buClr>
              <a:buSzPts val="800"/>
              <a:buFont typeface="Arial"/>
              <a:buNone/>
            </a:pPr>
            <a:r>
              <a:rPr lang="en-US" sz="1000" b="1">
                <a:solidFill>
                  <a:srgbClr val="13234C"/>
                </a:solidFill>
                <a:latin typeface="Courier New" panose="02070309020205020404" pitchFamily="49" charset="0"/>
                <a:cs typeface="Courier New" panose="02070309020205020404" pitchFamily="49" charset="0"/>
                <a:sym typeface="Arial"/>
              </a:rPr>
              <a:t>6</a:t>
            </a:r>
            <a:r>
              <a:rPr lang="en-US" sz="1000" b="1">
                <a:solidFill>
                  <a:srgbClr val="000000"/>
                </a:solidFill>
                <a:latin typeface="Courier New" panose="02070309020205020404" pitchFamily="49" charset="0"/>
                <a:cs typeface="Courier New" panose="02070309020205020404" pitchFamily="49" charset="0"/>
                <a:sym typeface="Arial"/>
              </a:rPr>
              <a:t>   </a:t>
            </a:r>
            <a:r>
              <a:rPr lang="en-US" sz="1000" b="1">
                <a:solidFill>
                  <a:srgbClr val="002060"/>
                </a:solidFill>
                <a:latin typeface="Courier New" panose="02070309020205020404" pitchFamily="49" charset="0"/>
                <a:cs typeface="Courier New" panose="02070309020205020404" pitchFamily="49" charset="0"/>
                <a:sym typeface="Arial"/>
              </a:rPr>
              <a:t>MEASUREMENTS</a:t>
            </a:r>
            <a:endParaRPr sz="1000" b="1">
              <a:solidFill>
                <a:schemeClr val="dk1"/>
              </a:solidFill>
              <a:latin typeface="Courier New" panose="02070309020205020404" pitchFamily="49" charset="0"/>
              <a:ea typeface="Calibri"/>
              <a:cs typeface="Courier New" panose="02070309020205020404" pitchFamily="49" charset="0"/>
              <a:sym typeface="Calibri"/>
            </a:endParaRPr>
          </a:p>
        </p:txBody>
      </p:sp>
      <p:sp>
        <p:nvSpPr>
          <p:cNvPr id="303" name="Google Shape;303;p9"/>
          <p:cNvSpPr/>
          <p:nvPr/>
        </p:nvSpPr>
        <p:spPr>
          <a:xfrm>
            <a:off x="4617720" y="3547872"/>
            <a:ext cx="548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9839A"/>
              </a:buClr>
              <a:buSzPts val="800"/>
              <a:buFont typeface="Courier New"/>
              <a:buNone/>
            </a:pPr>
            <a:r>
              <a:rPr lang="en-US" sz="900" b="1" dirty="0">
                <a:solidFill>
                  <a:srgbClr val="79839A"/>
                </a:solidFill>
                <a:latin typeface="29LT Adir" panose="00000506000000000000" pitchFamily="50" charset="-78"/>
                <a:ea typeface="Courier New"/>
                <a:cs typeface="29LT Adir" panose="00000506000000000000" pitchFamily="50" charset="-78"/>
                <a:sym typeface="Courier New"/>
              </a:rPr>
              <a:t>M2.1</a:t>
            </a:r>
            <a:endParaRPr sz="20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04" name="Google Shape;304;p9"/>
          <p:cNvSpPr/>
          <p:nvPr/>
        </p:nvSpPr>
        <p:spPr>
          <a:xfrm>
            <a:off x="5202936" y="3547872"/>
            <a:ext cx="236829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050"/>
              <a:buFont typeface="Arial"/>
              <a:buNone/>
            </a:pPr>
            <a:r>
              <a:rPr lang="en-US" sz="1100" b="1">
                <a:solidFill>
                  <a:srgbClr val="13234C"/>
                </a:solidFill>
                <a:latin typeface="29LT Adir" panose="00000506000000000000" pitchFamily="50" charset="-78"/>
                <a:cs typeface="29LT Adir" panose="00000506000000000000" pitchFamily="50" charset="-78"/>
                <a:sym typeface="Arial"/>
              </a:rPr>
              <a:t>Elemental composition</a:t>
            </a:r>
            <a:endParaRPr sz="20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05" name="Google Shape;305;p9"/>
          <p:cNvSpPr/>
          <p:nvPr/>
        </p:nvSpPr>
        <p:spPr>
          <a:xfrm>
            <a:off x="4617720" y="3822192"/>
            <a:ext cx="548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9839A"/>
              </a:buClr>
              <a:buSzPts val="800"/>
              <a:buFont typeface="Courier New"/>
              <a:buNone/>
            </a:pPr>
            <a:r>
              <a:rPr lang="en-US" sz="900" b="1" dirty="0">
                <a:solidFill>
                  <a:srgbClr val="79839A"/>
                </a:solidFill>
                <a:latin typeface="29LT Adir" panose="00000506000000000000" pitchFamily="50" charset="-78"/>
                <a:ea typeface="Courier New"/>
                <a:cs typeface="29LT Adir" panose="00000506000000000000" pitchFamily="50" charset="-78"/>
                <a:sym typeface="Courier New"/>
              </a:rPr>
              <a:t>M2.2</a:t>
            </a:r>
            <a:endParaRPr sz="20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06" name="Google Shape;306;p9"/>
          <p:cNvSpPr/>
          <p:nvPr/>
        </p:nvSpPr>
        <p:spPr>
          <a:xfrm>
            <a:off x="5202936" y="3822192"/>
            <a:ext cx="236829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050"/>
              <a:buFont typeface="Arial"/>
              <a:buNone/>
            </a:pPr>
            <a:r>
              <a:rPr lang="en-US" sz="1100" b="1">
                <a:solidFill>
                  <a:srgbClr val="13234C"/>
                </a:solidFill>
                <a:latin typeface="29LT Adir" panose="00000506000000000000" pitchFamily="50" charset="-78"/>
                <a:cs typeface="29LT Adir" panose="00000506000000000000" pitchFamily="50" charset="-78"/>
                <a:sym typeface="Arial"/>
              </a:rPr>
              <a:t>Mineral composition</a:t>
            </a:r>
            <a:endParaRPr sz="20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07" name="Google Shape;307;p9"/>
          <p:cNvSpPr/>
          <p:nvPr/>
        </p:nvSpPr>
        <p:spPr>
          <a:xfrm>
            <a:off x="4617720" y="4096512"/>
            <a:ext cx="548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9839A"/>
              </a:buClr>
              <a:buSzPts val="800"/>
              <a:buFont typeface="Courier New"/>
              <a:buNone/>
            </a:pPr>
            <a:r>
              <a:rPr lang="en-US" sz="900" b="1" dirty="0">
                <a:solidFill>
                  <a:srgbClr val="79839A"/>
                </a:solidFill>
                <a:latin typeface="29LT Adir" panose="00000506000000000000" pitchFamily="50" charset="-78"/>
                <a:ea typeface="Courier New"/>
                <a:cs typeface="29LT Adir" panose="00000506000000000000" pitchFamily="50" charset="-78"/>
                <a:sym typeface="Courier New"/>
              </a:rPr>
              <a:t>M2.3</a:t>
            </a:r>
            <a:endParaRPr sz="20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08" name="Google Shape;308;p9"/>
          <p:cNvSpPr/>
          <p:nvPr/>
        </p:nvSpPr>
        <p:spPr>
          <a:xfrm>
            <a:off x="5202936" y="4096512"/>
            <a:ext cx="236829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050"/>
              <a:buFont typeface="Arial"/>
              <a:buNone/>
            </a:pPr>
            <a:r>
              <a:rPr lang="en-US" sz="1100" b="1">
                <a:solidFill>
                  <a:srgbClr val="13234C"/>
                </a:solidFill>
                <a:latin typeface="29LT Adir" panose="00000506000000000000" pitchFamily="50" charset="-78"/>
                <a:cs typeface="29LT Adir" panose="00000506000000000000" pitchFamily="50" charset="-78"/>
                <a:sym typeface="Arial"/>
              </a:rPr>
              <a:t>Interior structure</a:t>
            </a:r>
            <a:endParaRPr sz="20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09" name="Google Shape;309;p9"/>
          <p:cNvSpPr/>
          <p:nvPr/>
        </p:nvSpPr>
        <p:spPr>
          <a:xfrm>
            <a:off x="4617720" y="4370832"/>
            <a:ext cx="548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9839A"/>
              </a:buClr>
              <a:buSzPts val="800"/>
              <a:buFont typeface="Courier New"/>
              <a:buNone/>
            </a:pPr>
            <a:r>
              <a:rPr lang="en-US" sz="900" b="1" dirty="0">
                <a:solidFill>
                  <a:srgbClr val="79839A"/>
                </a:solidFill>
                <a:latin typeface="29LT Adir" panose="00000506000000000000" pitchFamily="50" charset="-78"/>
                <a:ea typeface="Courier New"/>
                <a:cs typeface="29LT Adir" panose="00000506000000000000" pitchFamily="50" charset="-78"/>
                <a:sym typeface="Courier New"/>
              </a:rPr>
              <a:t>M2.4</a:t>
            </a:r>
            <a:endParaRPr sz="20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10" name="Google Shape;310;p9"/>
          <p:cNvSpPr/>
          <p:nvPr/>
        </p:nvSpPr>
        <p:spPr>
          <a:xfrm>
            <a:off x="5202936" y="4370832"/>
            <a:ext cx="236829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050"/>
              <a:buFont typeface="Arial"/>
              <a:buNone/>
            </a:pPr>
            <a:r>
              <a:rPr lang="en-US" sz="1100" b="1">
                <a:solidFill>
                  <a:srgbClr val="13234C"/>
                </a:solidFill>
                <a:latin typeface="29LT Adir" panose="00000506000000000000" pitchFamily="50" charset="-78"/>
                <a:cs typeface="29LT Adir" panose="00000506000000000000" pitchFamily="50" charset="-78"/>
                <a:sym typeface="Arial"/>
              </a:rPr>
              <a:t>Cohesion</a:t>
            </a:r>
            <a:endParaRPr sz="20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11" name="Google Shape;311;p9"/>
          <p:cNvSpPr/>
          <p:nvPr/>
        </p:nvSpPr>
        <p:spPr>
          <a:xfrm>
            <a:off x="4617720" y="4645152"/>
            <a:ext cx="548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9839A"/>
              </a:buClr>
              <a:buSzPts val="800"/>
              <a:buFont typeface="Courier New"/>
              <a:buNone/>
            </a:pPr>
            <a:r>
              <a:rPr lang="en-US" sz="900" b="1" dirty="0">
                <a:solidFill>
                  <a:srgbClr val="79839A"/>
                </a:solidFill>
                <a:latin typeface="29LT Adir" panose="00000506000000000000" pitchFamily="50" charset="-78"/>
                <a:ea typeface="Courier New"/>
                <a:cs typeface="29LT Adir" panose="00000506000000000000" pitchFamily="50" charset="-78"/>
                <a:sym typeface="Courier New"/>
              </a:rPr>
              <a:t>M2.5</a:t>
            </a:r>
            <a:endParaRPr sz="20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12" name="Google Shape;312;p9"/>
          <p:cNvSpPr/>
          <p:nvPr/>
        </p:nvSpPr>
        <p:spPr>
          <a:xfrm>
            <a:off x="5202936" y="4645152"/>
            <a:ext cx="236829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050"/>
              <a:buFont typeface="Arial"/>
              <a:buNone/>
            </a:pPr>
            <a:r>
              <a:rPr lang="en-US" sz="1100" b="1">
                <a:solidFill>
                  <a:srgbClr val="13234C"/>
                </a:solidFill>
                <a:latin typeface="29LT Adir" panose="00000506000000000000" pitchFamily="50" charset="-78"/>
                <a:cs typeface="29LT Adir" panose="00000506000000000000" pitchFamily="50" charset="-78"/>
                <a:sym typeface="Arial"/>
              </a:rPr>
              <a:t>Mass</a:t>
            </a:r>
            <a:endParaRPr sz="20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13" name="Google Shape;313;p9"/>
          <p:cNvSpPr/>
          <p:nvPr/>
        </p:nvSpPr>
        <p:spPr>
          <a:xfrm>
            <a:off x="4617720" y="4919472"/>
            <a:ext cx="548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9839A"/>
              </a:buClr>
              <a:buSzPts val="800"/>
              <a:buFont typeface="Courier New"/>
              <a:buNone/>
            </a:pPr>
            <a:r>
              <a:rPr lang="en-US" sz="900" b="1" dirty="0">
                <a:solidFill>
                  <a:srgbClr val="79839A"/>
                </a:solidFill>
                <a:latin typeface="29LT Adir" panose="00000506000000000000" pitchFamily="50" charset="-78"/>
                <a:ea typeface="Courier New"/>
                <a:cs typeface="29LT Adir" panose="00000506000000000000" pitchFamily="50" charset="-78"/>
                <a:sym typeface="Courier New"/>
              </a:rPr>
              <a:t>M2.6</a:t>
            </a:r>
            <a:endParaRPr sz="20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14" name="Google Shape;314;p9"/>
          <p:cNvSpPr/>
          <p:nvPr/>
        </p:nvSpPr>
        <p:spPr>
          <a:xfrm>
            <a:off x="5202936" y="4919472"/>
            <a:ext cx="236829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050"/>
              <a:buFont typeface="Arial"/>
              <a:buNone/>
            </a:pPr>
            <a:r>
              <a:rPr lang="en-US" sz="1100" b="1">
                <a:solidFill>
                  <a:srgbClr val="13234C"/>
                </a:solidFill>
                <a:latin typeface="29LT Adir" panose="00000506000000000000" pitchFamily="50" charset="-78"/>
                <a:cs typeface="29LT Adir" panose="00000506000000000000" pitchFamily="50" charset="-78"/>
                <a:sym typeface="Arial"/>
              </a:rPr>
              <a:t>Density and porosity</a:t>
            </a:r>
            <a:endParaRPr sz="20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15" name="Google Shape;315;p9"/>
          <p:cNvSpPr/>
          <p:nvPr/>
        </p:nvSpPr>
        <p:spPr>
          <a:xfrm>
            <a:off x="8065008" y="2542032"/>
            <a:ext cx="3465576" cy="2743200"/>
          </a:xfrm>
          <a:prstGeom prst="roundRect">
            <a:avLst>
              <a:gd name="adj" fmla="val 4455"/>
            </a:avLst>
          </a:prstGeom>
          <a:solidFill>
            <a:srgbClr val="FFFFFF"/>
          </a:solidFill>
          <a:ln w="9525" cap="flat" cmpd="sng">
            <a:solidFill>
              <a:srgbClr val="C4CFE0"/>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16" name="Google Shape;316;p9"/>
          <p:cNvSpPr/>
          <p:nvPr/>
        </p:nvSpPr>
        <p:spPr>
          <a:xfrm>
            <a:off x="8321040" y="2779776"/>
            <a:ext cx="310896" cy="310896"/>
          </a:xfrm>
          <a:prstGeom prst="ellipse">
            <a:avLst/>
          </a:prstGeom>
          <a:solidFill>
            <a:srgbClr val="13234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17" name="Google Shape;317;p9"/>
          <p:cNvSpPr/>
          <p:nvPr/>
        </p:nvSpPr>
        <p:spPr>
          <a:xfrm>
            <a:off x="8321040" y="2779776"/>
            <a:ext cx="310896"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900"/>
              <a:buFont typeface="Arial"/>
              <a:buNone/>
            </a:pPr>
            <a:r>
              <a:rPr lang="en-US" sz="1200" b="1">
                <a:solidFill>
                  <a:srgbClr val="FFFFFF"/>
                </a:solidFill>
                <a:latin typeface="29LT Adir" panose="00000506000000000000" pitchFamily="50" charset="-78"/>
                <a:cs typeface="29LT Adir" panose="00000506000000000000" pitchFamily="50" charset="-78"/>
                <a:sym typeface="Arial"/>
              </a:rPr>
              <a:t>O3</a:t>
            </a:r>
            <a:endParaRPr sz="12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18" name="Google Shape;318;p9"/>
          <p:cNvSpPr/>
          <p:nvPr/>
        </p:nvSpPr>
        <p:spPr>
          <a:xfrm>
            <a:off x="8723376" y="2761488"/>
            <a:ext cx="2551176" cy="34747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300"/>
              <a:buFont typeface="Arial"/>
              <a:buNone/>
            </a:pPr>
            <a:r>
              <a:rPr lang="en-US" b="1" dirty="0">
                <a:solidFill>
                  <a:srgbClr val="13234C"/>
                </a:solidFill>
                <a:latin typeface="29LT Adir" panose="00000506000000000000" pitchFamily="50" charset="-78"/>
                <a:cs typeface="29LT Adir" panose="00000506000000000000" pitchFamily="50" charset="-78"/>
                <a:sym typeface="Arial"/>
              </a:rPr>
              <a:t>Tidal response</a:t>
            </a:r>
            <a:endParaRPr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19" name="Google Shape;319;p9"/>
          <p:cNvSpPr/>
          <p:nvPr/>
        </p:nvSpPr>
        <p:spPr>
          <a:xfrm>
            <a:off x="8321040" y="3200400"/>
            <a:ext cx="1481328" cy="237744"/>
          </a:xfrm>
          <a:prstGeom prst="roundRect">
            <a:avLst>
              <a:gd name="adj" fmla="val 20000"/>
            </a:avLst>
          </a:prstGeom>
          <a:solidFill>
            <a:srgbClr val="6DD9FF"/>
          </a:solidFill>
          <a:ln w="9525" cap="flat" cmpd="sng">
            <a:solidFill>
              <a:srgbClr val="6DD9FF"/>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000" b="1">
              <a:solidFill>
                <a:schemeClr val="dk1"/>
              </a:solidFill>
              <a:latin typeface="Courier New" panose="02070309020205020404" pitchFamily="49" charset="0"/>
              <a:ea typeface="Calibri"/>
              <a:cs typeface="Courier New" panose="02070309020205020404" pitchFamily="49" charset="0"/>
              <a:sym typeface="Calibri"/>
            </a:endParaRPr>
          </a:p>
        </p:txBody>
      </p:sp>
      <p:sp>
        <p:nvSpPr>
          <p:cNvPr id="320" name="Google Shape;320;p9"/>
          <p:cNvSpPr/>
          <p:nvPr/>
        </p:nvSpPr>
        <p:spPr>
          <a:xfrm>
            <a:off x="8321040" y="3200400"/>
            <a:ext cx="1481328"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3234C"/>
              </a:buClr>
              <a:buSzPts val="800"/>
              <a:buFont typeface="Arial"/>
              <a:buNone/>
            </a:pPr>
            <a:r>
              <a:rPr lang="en-US" sz="1000" b="1">
                <a:solidFill>
                  <a:srgbClr val="13234C"/>
                </a:solidFill>
                <a:latin typeface="Courier New" panose="02070309020205020404" pitchFamily="49" charset="0"/>
                <a:cs typeface="Courier New" panose="02070309020205020404" pitchFamily="49" charset="0"/>
                <a:sym typeface="Arial"/>
              </a:rPr>
              <a:t>4</a:t>
            </a:r>
            <a:r>
              <a:rPr lang="en-US" sz="1000" b="1">
                <a:solidFill>
                  <a:srgbClr val="000000"/>
                </a:solidFill>
                <a:latin typeface="Courier New" panose="02070309020205020404" pitchFamily="49" charset="0"/>
                <a:cs typeface="Courier New" panose="02070309020205020404" pitchFamily="49" charset="0"/>
                <a:sym typeface="Arial"/>
              </a:rPr>
              <a:t>   </a:t>
            </a:r>
            <a:r>
              <a:rPr lang="en-US" sz="1000" b="1">
                <a:solidFill>
                  <a:srgbClr val="002060"/>
                </a:solidFill>
                <a:latin typeface="Courier New" panose="02070309020205020404" pitchFamily="49" charset="0"/>
                <a:cs typeface="Courier New" panose="02070309020205020404" pitchFamily="49" charset="0"/>
                <a:sym typeface="Arial"/>
              </a:rPr>
              <a:t>MEASUREMENTS</a:t>
            </a:r>
            <a:endParaRPr sz="1000" b="1">
              <a:solidFill>
                <a:schemeClr val="dk1"/>
              </a:solidFill>
              <a:latin typeface="Courier New" panose="02070309020205020404" pitchFamily="49" charset="0"/>
              <a:ea typeface="Calibri"/>
              <a:cs typeface="Courier New" panose="02070309020205020404" pitchFamily="49" charset="0"/>
              <a:sym typeface="Calibri"/>
            </a:endParaRPr>
          </a:p>
        </p:txBody>
      </p:sp>
      <p:sp>
        <p:nvSpPr>
          <p:cNvPr id="321" name="Google Shape;321;p9"/>
          <p:cNvSpPr/>
          <p:nvPr/>
        </p:nvSpPr>
        <p:spPr>
          <a:xfrm>
            <a:off x="8321040" y="3547872"/>
            <a:ext cx="548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9839A"/>
              </a:buClr>
              <a:buSzPts val="800"/>
              <a:buFont typeface="Courier New"/>
              <a:buNone/>
            </a:pPr>
            <a:r>
              <a:rPr lang="en-US" sz="900" b="1" dirty="0">
                <a:solidFill>
                  <a:srgbClr val="79839A"/>
                </a:solidFill>
                <a:latin typeface="29LT Adir" panose="00000506000000000000" pitchFamily="50" charset="-78"/>
                <a:ea typeface="Courier New"/>
                <a:cs typeface="29LT Adir" panose="00000506000000000000" pitchFamily="50" charset="-78"/>
                <a:sym typeface="Courier New"/>
              </a:rPr>
              <a:t>M3.1</a:t>
            </a:r>
            <a:endParaRPr sz="20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22" name="Google Shape;322;p9"/>
          <p:cNvSpPr/>
          <p:nvPr/>
        </p:nvSpPr>
        <p:spPr>
          <a:xfrm>
            <a:off x="8906256" y="3547872"/>
            <a:ext cx="236829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050"/>
              <a:buFont typeface="Arial"/>
              <a:buNone/>
            </a:pPr>
            <a:r>
              <a:rPr lang="en-US" sz="1100" b="1">
                <a:solidFill>
                  <a:srgbClr val="13234C"/>
                </a:solidFill>
                <a:latin typeface="29LT Adir" panose="00000506000000000000" pitchFamily="50" charset="-78"/>
                <a:cs typeface="29LT Adir" panose="00000506000000000000" pitchFamily="50" charset="-78"/>
                <a:sym typeface="Arial"/>
              </a:rPr>
              <a:t>Deformation</a:t>
            </a:r>
            <a:endParaRPr sz="20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23" name="Google Shape;323;p9"/>
          <p:cNvSpPr/>
          <p:nvPr/>
        </p:nvSpPr>
        <p:spPr>
          <a:xfrm>
            <a:off x="8321040" y="3822192"/>
            <a:ext cx="548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9839A"/>
              </a:buClr>
              <a:buSzPts val="800"/>
              <a:buFont typeface="Courier New"/>
              <a:buNone/>
            </a:pPr>
            <a:r>
              <a:rPr lang="en-US" sz="900" b="1" dirty="0">
                <a:solidFill>
                  <a:srgbClr val="79839A"/>
                </a:solidFill>
                <a:latin typeface="29LT Adir" panose="00000506000000000000" pitchFamily="50" charset="-78"/>
                <a:ea typeface="Courier New"/>
                <a:cs typeface="29LT Adir" panose="00000506000000000000" pitchFamily="50" charset="-78"/>
                <a:sym typeface="Courier New"/>
              </a:rPr>
              <a:t>M3.2</a:t>
            </a:r>
            <a:endParaRPr sz="20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24" name="Google Shape;324;p9"/>
          <p:cNvSpPr/>
          <p:nvPr/>
        </p:nvSpPr>
        <p:spPr>
          <a:xfrm>
            <a:off x="8906256" y="3822192"/>
            <a:ext cx="236829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050"/>
              <a:buFont typeface="Arial"/>
              <a:buNone/>
            </a:pPr>
            <a:r>
              <a:rPr lang="en-US" sz="1100" b="1">
                <a:solidFill>
                  <a:srgbClr val="13234C"/>
                </a:solidFill>
                <a:latin typeface="29LT Adir" panose="00000506000000000000" pitchFamily="50" charset="-78"/>
                <a:cs typeface="29LT Adir" panose="00000506000000000000" pitchFamily="50" charset="-78"/>
                <a:sym typeface="Arial"/>
              </a:rPr>
              <a:t>Surface activity</a:t>
            </a:r>
            <a:endParaRPr sz="20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25" name="Google Shape;325;p9"/>
          <p:cNvSpPr/>
          <p:nvPr/>
        </p:nvSpPr>
        <p:spPr>
          <a:xfrm>
            <a:off x="8321040" y="4096512"/>
            <a:ext cx="548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9839A"/>
              </a:buClr>
              <a:buSzPts val="800"/>
              <a:buFont typeface="Courier New"/>
              <a:buNone/>
            </a:pPr>
            <a:r>
              <a:rPr lang="en-US" sz="900" b="1" dirty="0">
                <a:solidFill>
                  <a:srgbClr val="79839A"/>
                </a:solidFill>
                <a:latin typeface="29LT Adir" panose="00000506000000000000" pitchFamily="50" charset="-78"/>
                <a:ea typeface="Courier New"/>
                <a:cs typeface="29LT Adir" panose="00000506000000000000" pitchFamily="50" charset="-78"/>
                <a:sym typeface="Courier New"/>
              </a:rPr>
              <a:t>M3.3</a:t>
            </a:r>
            <a:endParaRPr sz="20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26" name="Google Shape;326;p9"/>
          <p:cNvSpPr/>
          <p:nvPr/>
        </p:nvSpPr>
        <p:spPr>
          <a:xfrm>
            <a:off x="8906256" y="4096512"/>
            <a:ext cx="236829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050"/>
              <a:buFont typeface="Arial"/>
              <a:buNone/>
            </a:pPr>
            <a:r>
              <a:rPr lang="en-US" sz="1100" b="1">
                <a:solidFill>
                  <a:srgbClr val="13234C"/>
                </a:solidFill>
                <a:latin typeface="29LT Adir" panose="00000506000000000000" pitchFamily="50" charset="-78"/>
                <a:cs typeface="29LT Adir" panose="00000506000000000000" pitchFamily="50" charset="-78"/>
                <a:sym typeface="Arial"/>
              </a:rPr>
              <a:t>Spin-state change</a:t>
            </a:r>
            <a:endParaRPr sz="20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27" name="Google Shape;327;p9"/>
          <p:cNvSpPr/>
          <p:nvPr/>
        </p:nvSpPr>
        <p:spPr>
          <a:xfrm>
            <a:off x="8321040" y="4370832"/>
            <a:ext cx="54864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9839A"/>
              </a:buClr>
              <a:buSzPts val="800"/>
              <a:buFont typeface="Courier New"/>
              <a:buNone/>
            </a:pPr>
            <a:r>
              <a:rPr lang="en-US" sz="900" b="1" dirty="0">
                <a:solidFill>
                  <a:srgbClr val="79839A"/>
                </a:solidFill>
                <a:latin typeface="29LT Adir" panose="00000506000000000000" pitchFamily="50" charset="-78"/>
                <a:ea typeface="Courier New"/>
                <a:cs typeface="29LT Adir" panose="00000506000000000000" pitchFamily="50" charset="-78"/>
                <a:sym typeface="Courier New"/>
              </a:rPr>
              <a:t>M3.4</a:t>
            </a:r>
            <a:endParaRPr sz="20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28" name="Google Shape;328;p9"/>
          <p:cNvSpPr/>
          <p:nvPr/>
        </p:nvSpPr>
        <p:spPr>
          <a:xfrm>
            <a:off x="8906256" y="4370832"/>
            <a:ext cx="236829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050"/>
              <a:buFont typeface="Arial"/>
              <a:buNone/>
            </a:pPr>
            <a:r>
              <a:rPr lang="en-US" sz="1100" b="1">
                <a:solidFill>
                  <a:srgbClr val="13234C"/>
                </a:solidFill>
                <a:latin typeface="29LT Adir" panose="00000506000000000000" pitchFamily="50" charset="-78"/>
                <a:cs typeface="29LT Adir" panose="00000506000000000000" pitchFamily="50" charset="-78"/>
                <a:sym typeface="Arial"/>
              </a:rPr>
              <a:t>Deflection relevance</a:t>
            </a:r>
            <a:endParaRPr sz="20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29" name="Google Shape;329;p9"/>
          <p:cNvSpPr/>
          <p:nvPr/>
        </p:nvSpPr>
        <p:spPr>
          <a:xfrm>
            <a:off x="658368" y="5486400"/>
            <a:ext cx="10872216" cy="548640"/>
          </a:xfrm>
          <a:prstGeom prst="roundRect">
            <a:avLst>
              <a:gd name="adj" fmla="val 6000"/>
            </a:avLst>
          </a:prstGeom>
          <a:solidFill>
            <a:srgbClr val="13234C"/>
          </a:solidFill>
          <a:ln w="9525" cap="flat" cmpd="sng">
            <a:solidFill>
              <a:srgbClr val="13234C"/>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30" name="Google Shape;330;p9"/>
          <p:cNvSpPr/>
          <p:nvPr/>
        </p:nvSpPr>
        <p:spPr>
          <a:xfrm>
            <a:off x="2391156" y="5495452"/>
            <a:ext cx="7223760" cy="54864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50"/>
              <a:buFont typeface="Arial"/>
              <a:buNone/>
            </a:pPr>
            <a:r>
              <a:rPr lang="en-US" dirty="0">
                <a:solidFill>
                  <a:srgbClr val="FFFFFF"/>
                </a:solidFill>
                <a:latin typeface="29LT Adir" panose="00000506000000000000" pitchFamily="50" charset="-78"/>
                <a:cs typeface="29LT Adir" panose="00000506000000000000" pitchFamily="50" charset="-78"/>
                <a:sym typeface="Arial"/>
              </a:rPr>
              <a:t>15/19 are measured. The four that are not are the knowledge gaps.</a:t>
            </a:r>
            <a:endParaRPr sz="20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32" name="Google Shape;332;p9"/>
          <p:cNvSpPr/>
          <p:nvPr/>
        </p:nvSpPr>
        <p:spPr>
          <a:xfrm>
            <a:off x="658368" y="6272784"/>
            <a:ext cx="85953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9839A"/>
              </a:buClr>
              <a:buSzPts val="800"/>
              <a:buFont typeface="Courier New"/>
              <a:buNone/>
            </a:pPr>
            <a:r>
              <a:rPr lang="en-US" sz="800" b="1">
                <a:solidFill>
                  <a:srgbClr val="79839A"/>
                </a:solidFill>
                <a:latin typeface="Courier New"/>
                <a:ea typeface="Courier New"/>
                <a:cs typeface="Courier New"/>
                <a:sym typeface="Courier New"/>
              </a:rPr>
              <a:t>BASELINE</a:t>
            </a:r>
            <a:r>
              <a:rPr lang="en-US" sz="800">
                <a:solidFill>
                  <a:srgbClr val="000000"/>
                </a:solidFill>
                <a:latin typeface="Courier New"/>
                <a:ea typeface="Courier New"/>
                <a:cs typeface="Courier New"/>
                <a:sym typeface="Courier New"/>
              </a:rPr>
              <a:t>     </a:t>
            </a:r>
            <a:r>
              <a:rPr lang="en-US" sz="800" b="1">
                <a:solidFill>
                  <a:srgbClr val="79839A"/>
                </a:solidFill>
                <a:latin typeface="Courier New"/>
                <a:ea typeface="Courier New"/>
                <a:cs typeface="Courier New"/>
                <a:sym typeface="Courier New"/>
              </a:rPr>
              <a:t>KNOWLEDGE GAPS</a:t>
            </a:r>
            <a:r>
              <a:rPr lang="en-US" sz="800">
                <a:solidFill>
                  <a:srgbClr val="000000"/>
                </a:solidFill>
                <a:latin typeface="Courier New"/>
                <a:ea typeface="Courier New"/>
                <a:cs typeface="Courier New"/>
                <a:sym typeface="Courier New"/>
              </a:rPr>
              <a:t>     </a:t>
            </a:r>
            <a:r>
              <a:rPr lang="en-US" sz="800">
                <a:solidFill>
                  <a:srgbClr val="79839A"/>
                </a:solidFill>
                <a:latin typeface="Courier New"/>
                <a:ea typeface="Courier New"/>
                <a:cs typeface="Courier New"/>
                <a:sym typeface="Courier New"/>
              </a:rPr>
              <a:t>SELECTION</a:t>
            </a:r>
            <a:r>
              <a:rPr lang="en-US" sz="800">
                <a:solidFill>
                  <a:srgbClr val="000000"/>
                </a:solidFill>
                <a:latin typeface="Courier New"/>
                <a:ea typeface="Courier New"/>
                <a:cs typeface="Courier New"/>
                <a:sym typeface="Courier New"/>
              </a:rPr>
              <a:t>     </a:t>
            </a:r>
            <a:r>
              <a:rPr lang="en-US" sz="800">
                <a:solidFill>
                  <a:srgbClr val="79839A"/>
                </a:solidFill>
                <a:latin typeface="Courier New"/>
                <a:ea typeface="Courier New"/>
                <a:cs typeface="Courier New"/>
                <a:sym typeface="Courier New"/>
              </a:rPr>
              <a:t>RECOMMENDATION</a:t>
            </a:r>
            <a:r>
              <a:rPr lang="en-US" sz="800">
                <a:solidFill>
                  <a:srgbClr val="000000"/>
                </a:solidFill>
                <a:latin typeface="Courier New"/>
                <a:ea typeface="Courier New"/>
                <a:cs typeface="Courier New"/>
                <a:sym typeface="Courier New"/>
              </a:rPr>
              <a:t>     </a:t>
            </a:r>
            <a:r>
              <a:rPr lang="en-US" sz="800">
                <a:solidFill>
                  <a:srgbClr val="79839A"/>
                </a:solidFill>
                <a:latin typeface="Courier New"/>
                <a:ea typeface="Courier New"/>
                <a:cs typeface="Courier New"/>
                <a:sym typeface="Courier New"/>
              </a:rPr>
              <a:t>VALUE</a:t>
            </a:r>
            <a:endParaRPr sz="800">
              <a:solidFill>
                <a:schemeClr val="dk1"/>
              </a:solidFill>
              <a:latin typeface="Courier New"/>
              <a:ea typeface="Courier New"/>
              <a:cs typeface="Courier New"/>
              <a:sym typeface="Courier New"/>
            </a:endParaRPr>
          </a:p>
        </p:txBody>
      </p:sp>
      <p:sp>
        <p:nvSpPr>
          <p:cNvPr id="333" name="Google Shape;333;p9"/>
          <p:cNvSpPr/>
          <p:nvPr/>
        </p:nvSpPr>
        <p:spPr>
          <a:xfrm>
            <a:off x="10881360" y="6272784"/>
            <a:ext cx="694944"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79839A"/>
              </a:buClr>
              <a:buSzPts val="1000"/>
              <a:buFont typeface="Arial"/>
              <a:buNone/>
            </a:pPr>
            <a:r>
              <a:rPr lang="en-US" sz="1000">
                <a:solidFill>
                  <a:srgbClr val="79839A"/>
                </a:solidFill>
                <a:latin typeface="Arial"/>
                <a:ea typeface="Arial"/>
                <a:cs typeface="Arial"/>
                <a:sym typeface="Arial"/>
              </a:rPr>
              <a:t>6</a:t>
            </a:r>
            <a:endParaRPr sz="1000">
              <a:solidFill>
                <a:schemeClr val="dk1"/>
              </a:solidFill>
              <a:latin typeface="Calibri"/>
              <a:ea typeface="Calibri"/>
              <a:cs typeface="Calibri"/>
              <a:sym typeface="Calibri"/>
            </a:endParaRPr>
          </a:p>
        </p:txBody>
      </p:sp>
      <p:pic>
        <p:nvPicPr>
          <p:cNvPr id="335" name="Google Shape;335;p9" descr="/home/claude/work/a2/logo_dark.png"/>
          <p:cNvPicPr preferRelativeResize="0"/>
          <p:nvPr/>
        </p:nvPicPr>
        <p:blipFill rotWithShape="1">
          <a:blip r:embed="rId5">
            <a:alphaModFix/>
          </a:blip>
          <a:srcRect/>
          <a:stretch/>
        </p:blipFill>
        <p:spPr>
          <a:xfrm>
            <a:off x="10616340" y="122984"/>
            <a:ext cx="1450538" cy="81473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D9E1EF"/>
        </a:solidFill>
        <a:effectLst/>
      </p:bgPr>
    </p:bg>
    <p:spTree>
      <p:nvGrpSpPr>
        <p:cNvPr id="1" name="Shape 340"/>
        <p:cNvGrpSpPr/>
        <p:nvPr/>
      </p:nvGrpSpPr>
      <p:grpSpPr>
        <a:xfrm>
          <a:off x="0" y="0"/>
          <a:ext cx="0" cy="0"/>
          <a:chOff x="0" y="0"/>
          <a:chExt cx="0" cy="0"/>
        </a:xfrm>
      </p:grpSpPr>
      <p:pic>
        <p:nvPicPr>
          <p:cNvPr id="3" name="Google Shape;48;p5" descr="/home/claude/work/a2/light_wash.jpg">
            <a:extLst>
              <a:ext uri="{FF2B5EF4-FFF2-40B4-BE49-F238E27FC236}">
                <a16:creationId xmlns:a16="http://schemas.microsoft.com/office/drawing/2014/main" id="{911EC9DF-50AA-F499-920F-9C7AD707F57D}"/>
              </a:ext>
            </a:extLst>
          </p:cNvPr>
          <p:cNvPicPr preferRelativeResize="0"/>
          <p:nvPr/>
        </p:nvPicPr>
        <p:blipFill rotWithShape="1">
          <a:blip r:embed="rId3">
            <a:alphaModFix/>
            <a:extLst>
              <a:ext uri="{BEBA8EAE-BF5A-486C-A8C5-ECC9F3942E4B}">
                <a14:imgProps xmlns:a14="http://schemas.microsoft.com/office/drawing/2010/main">
                  <a14:imgLayer r:embed="rId4">
                    <a14:imgEffect>
                      <a14:brightnessContrast contrast="40000"/>
                    </a14:imgEffect>
                  </a14:imgLayer>
                </a14:imgProps>
              </a:ext>
            </a:extLst>
          </a:blip>
          <a:srcRect/>
          <a:stretch/>
        </p:blipFill>
        <p:spPr>
          <a:xfrm>
            <a:off x="0" y="-9331"/>
            <a:ext cx="12191695" cy="6858000"/>
          </a:xfrm>
          <a:prstGeom prst="rect">
            <a:avLst/>
          </a:prstGeom>
          <a:noFill/>
          <a:ln>
            <a:noFill/>
          </a:ln>
        </p:spPr>
      </p:pic>
      <p:sp>
        <p:nvSpPr>
          <p:cNvPr id="341" name="Google Shape;341;p10"/>
          <p:cNvSpPr/>
          <p:nvPr/>
        </p:nvSpPr>
        <p:spPr>
          <a:xfrm>
            <a:off x="3463976" y="2121408"/>
            <a:ext cx="2567864" cy="2781332"/>
          </a:xfrm>
          <a:prstGeom prst="roundRect">
            <a:avLst>
              <a:gd name="adj" fmla="val 4455"/>
            </a:avLst>
          </a:prstGeom>
          <a:solidFill>
            <a:schemeClr val="bg2">
              <a:lumMod val="50000"/>
            </a:schemeClr>
          </a:solidFill>
          <a:ln w="9525" cap="flat" cmpd="sng">
            <a:solidFill>
              <a:srgbClr val="C4CFE0"/>
            </a:solidFill>
            <a:prstDash val="solid"/>
            <a:round/>
            <a:headEnd type="none" w="sm" len="sm"/>
            <a:tailEnd type="none" w="sm" len="sm"/>
          </a:ln>
          <a:effectLst>
            <a:outerShdw blurRad="63500" sx="102000" sy="102000" algn="ctr" rotWithShape="0">
              <a:prstClr val="black">
                <a:alpha val="40000"/>
              </a:prst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2" name="Google Shape;342;p10"/>
          <p:cNvSpPr/>
          <p:nvPr/>
        </p:nvSpPr>
        <p:spPr>
          <a:xfrm>
            <a:off x="658368" y="6272784"/>
            <a:ext cx="85953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9839A"/>
              </a:buClr>
              <a:buSzPts val="800"/>
              <a:buFont typeface="Courier New"/>
              <a:buNone/>
            </a:pPr>
            <a:r>
              <a:rPr lang="en-US" sz="800">
                <a:solidFill>
                  <a:srgbClr val="79839A"/>
                </a:solidFill>
                <a:latin typeface="Courier New"/>
                <a:ea typeface="Courier New"/>
                <a:cs typeface="Courier New"/>
                <a:sym typeface="Courier New"/>
              </a:rPr>
              <a:t>BASELINE</a:t>
            </a:r>
            <a:r>
              <a:rPr lang="en-US" sz="800">
                <a:solidFill>
                  <a:srgbClr val="000000"/>
                </a:solidFill>
                <a:latin typeface="Courier New"/>
                <a:ea typeface="Courier New"/>
                <a:cs typeface="Courier New"/>
                <a:sym typeface="Courier New"/>
              </a:rPr>
              <a:t>     </a:t>
            </a:r>
            <a:r>
              <a:rPr lang="en-US" sz="800" b="1">
                <a:solidFill>
                  <a:srgbClr val="13234C"/>
                </a:solidFill>
                <a:latin typeface="Courier New"/>
                <a:ea typeface="Courier New"/>
                <a:cs typeface="Courier New"/>
                <a:sym typeface="Courier New"/>
              </a:rPr>
              <a:t>KNOWLEDGE GAPS</a:t>
            </a:r>
            <a:r>
              <a:rPr lang="en-US" sz="800">
                <a:solidFill>
                  <a:srgbClr val="000000"/>
                </a:solidFill>
                <a:latin typeface="Courier New"/>
                <a:ea typeface="Courier New"/>
                <a:cs typeface="Courier New"/>
                <a:sym typeface="Courier New"/>
              </a:rPr>
              <a:t>     </a:t>
            </a:r>
            <a:r>
              <a:rPr lang="en-US" sz="800">
                <a:solidFill>
                  <a:srgbClr val="79839A"/>
                </a:solidFill>
                <a:latin typeface="Courier New"/>
                <a:ea typeface="Courier New"/>
                <a:cs typeface="Courier New"/>
                <a:sym typeface="Courier New"/>
              </a:rPr>
              <a:t>SELECTION</a:t>
            </a:r>
            <a:r>
              <a:rPr lang="en-US" sz="800">
                <a:solidFill>
                  <a:srgbClr val="000000"/>
                </a:solidFill>
                <a:latin typeface="Courier New"/>
                <a:ea typeface="Courier New"/>
                <a:cs typeface="Courier New"/>
                <a:sym typeface="Courier New"/>
              </a:rPr>
              <a:t>     </a:t>
            </a:r>
            <a:r>
              <a:rPr lang="en-US" sz="800">
                <a:solidFill>
                  <a:srgbClr val="79839A"/>
                </a:solidFill>
                <a:latin typeface="Courier New"/>
                <a:ea typeface="Courier New"/>
                <a:cs typeface="Courier New"/>
                <a:sym typeface="Courier New"/>
              </a:rPr>
              <a:t>RECOMMENDATION</a:t>
            </a:r>
            <a:r>
              <a:rPr lang="en-US" sz="800">
                <a:solidFill>
                  <a:srgbClr val="000000"/>
                </a:solidFill>
                <a:latin typeface="Courier New"/>
                <a:ea typeface="Courier New"/>
                <a:cs typeface="Courier New"/>
                <a:sym typeface="Courier New"/>
              </a:rPr>
              <a:t>     </a:t>
            </a:r>
            <a:r>
              <a:rPr lang="en-US" sz="800">
                <a:solidFill>
                  <a:srgbClr val="79839A"/>
                </a:solidFill>
                <a:latin typeface="Courier New"/>
                <a:ea typeface="Courier New"/>
                <a:cs typeface="Courier New"/>
                <a:sym typeface="Courier New"/>
              </a:rPr>
              <a:t>VALUE</a:t>
            </a:r>
            <a:endParaRPr sz="800">
              <a:solidFill>
                <a:schemeClr val="dk1"/>
              </a:solidFill>
              <a:latin typeface="Courier New"/>
              <a:ea typeface="Courier New"/>
              <a:cs typeface="Courier New"/>
              <a:sym typeface="Courier New"/>
            </a:endParaRPr>
          </a:p>
        </p:txBody>
      </p:sp>
      <p:sp>
        <p:nvSpPr>
          <p:cNvPr id="343" name="Google Shape;343;p10"/>
          <p:cNvSpPr/>
          <p:nvPr/>
        </p:nvSpPr>
        <p:spPr>
          <a:xfrm>
            <a:off x="658368" y="530352"/>
            <a:ext cx="9052560" cy="472966"/>
          </a:xfrm>
          <a:prstGeom prst="rect">
            <a:avLst/>
          </a:prstGeom>
          <a:noFill/>
          <a:ln>
            <a:noFill/>
          </a:ln>
        </p:spPr>
        <p:txBody>
          <a:bodyPr spcFirstLastPara="1" wrap="square" lIns="0" tIns="0" rIns="0" bIns="0" anchor="ctr" anchorCtr="0">
            <a:noAutofit/>
          </a:bodyPr>
          <a:lstStyle/>
          <a:p>
            <a:pPr marL="0" marR="0" lvl="0" indent="0" algn="l" rtl="0">
              <a:lnSpc>
                <a:spcPct val="92000"/>
              </a:lnSpc>
              <a:spcBef>
                <a:spcPts val="0"/>
              </a:spcBef>
              <a:spcAft>
                <a:spcPts val="0"/>
              </a:spcAft>
              <a:buClr>
                <a:srgbClr val="13234C"/>
              </a:buClr>
              <a:buSzPts val="3000"/>
              <a:buFont typeface="Arial"/>
              <a:buNone/>
            </a:pPr>
            <a:r>
              <a:rPr lang="en-US" sz="3000" b="1">
                <a:solidFill>
                  <a:srgbClr val="13234C"/>
                </a:solidFill>
                <a:latin typeface="29LT Adir" panose="00000506000000000000" pitchFamily="50" charset="-78"/>
                <a:cs typeface="29LT Adir" panose="00000506000000000000" pitchFamily="50" charset="-78"/>
                <a:sym typeface="Arial"/>
              </a:rPr>
              <a:t>Four Knowledge Gaps</a:t>
            </a:r>
            <a:endParaRPr sz="30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44" name="Google Shape;344;p10"/>
          <p:cNvSpPr/>
          <p:nvPr/>
        </p:nvSpPr>
        <p:spPr>
          <a:xfrm>
            <a:off x="658368" y="1058182"/>
            <a:ext cx="9052560" cy="3291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4C5468"/>
              </a:buClr>
              <a:buSzPts val="1400"/>
              <a:buFont typeface="Arial"/>
              <a:buNone/>
            </a:pPr>
            <a:r>
              <a:rPr lang="en-US" sz="1400">
                <a:solidFill>
                  <a:srgbClr val="4C5468"/>
                </a:solidFill>
                <a:latin typeface="29LT Adir" panose="00000506000000000000" pitchFamily="50" charset="-78"/>
                <a:cs typeface="29LT Adir" panose="00000506000000000000" pitchFamily="50" charset="-78"/>
                <a:sym typeface="Arial"/>
              </a:rPr>
              <a:t>Measurement openings the mission never set out to address, registered only where no confirmed instrument meets them.</a:t>
            </a:r>
            <a:endParaRPr sz="1400">
              <a:solidFill>
                <a:schemeClr val="dk1"/>
              </a:solidFill>
              <a:latin typeface="29LT Adir" panose="00000506000000000000" pitchFamily="50" charset="-78"/>
              <a:cs typeface="29LT Adir" panose="00000506000000000000" pitchFamily="50" charset="-78"/>
              <a:sym typeface="Arial"/>
            </a:endParaRPr>
          </a:p>
        </p:txBody>
      </p:sp>
      <p:sp>
        <p:nvSpPr>
          <p:cNvPr id="345" name="Google Shape;345;p10"/>
          <p:cNvSpPr/>
          <p:nvPr/>
        </p:nvSpPr>
        <p:spPr>
          <a:xfrm>
            <a:off x="658368" y="2121407"/>
            <a:ext cx="2567864" cy="2781333"/>
          </a:xfrm>
          <a:prstGeom prst="roundRect">
            <a:avLst>
              <a:gd name="adj" fmla="val 4455"/>
            </a:avLst>
          </a:prstGeom>
          <a:solidFill>
            <a:schemeClr val="bg2">
              <a:lumMod val="50000"/>
            </a:schemeClr>
          </a:solidFill>
          <a:ln w="9525" cap="flat" cmpd="sng">
            <a:solidFill>
              <a:srgbClr val="C4CFE0"/>
            </a:solidFill>
            <a:prstDash val="solid"/>
            <a:round/>
            <a:headEnd type="none" w="sm" len="sm"/>
            <a:tailEnd type="none" w="sm" len="sm"/>
          </a:ln>
          <a:effectLst>
            <a:outerShdw blurRad="63500" sx="102000" sy="102000" algn="ctr" rotWithShape="0">
              <a:prstClr val="black">
                <a:alpha val="40000"/>
              </a:prst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46" name="Google Shape;346;p10"/>
          <p:cNvSpPr/>
          <p:nvPr/>
        </p:nvSpPr>
        <p:spPr>
          <a:xfrm>
            <a:off x="896112" y="2359152"/>
            <a:ext cx="2092376" cy="219456"/>
          </a:xfrm>
          <a:prstGeom prst="rect">
            <a:avLst/>
          </a:prstGeom>
          <a:noFill/>
          <a:ln>
            <a:noFill/>
          </a:ln>
          <a:effectLst>
            <a:outerShdw blurRad="63500" sx="102000" sy="102000" algn="ctr" rotWithShape="0">
              <a:prstClr val="black">
                <a:alpha val="40000"/>
              </a:prstClr>
            </a:outerShdw>
          </a:effectLst>
        </p:spPr>
        <p:txBody>
          <a:bodyPr spcFirstLastPara="1" wrap="square" lIns="0" tIns="0" rIns="0" bIns="0" anchor="ctr" anchorCtr="0">
            <a:noAutofit/>
          </a:bodyPr>
          <a:lstStyle/>
          <a:p>
            <a:pPr marL="0" marR="0" lvl="0" indent="0" algn="l" rtl="0">
              <a:spcBef>
                <a:spcPts val="0"/>
              </a:spcBef>
              <a:spcAft>
                <a:spcPts val="0"/>
              </a:spcAft>
              <a:buClr>
                <a:srgbClr val="4C5468"/>
              </a:buClr>
              <a:buSzPts val="1200"/>
              <a:buFont typeface="Courier New"/>
              <a:buNone/>
            </a:pPr>
            <a:r>
              <a:rPr lang="en-US" sz="1200" b="1" dirty="0">
                <a:solidFill>
                  <a:srgbClr val="00B0F0"/>
                </a:solidFill>
                <a:latin typeface="Courier New"/>
                <a:ea typeface="Courier New"/>
                <a:cs typeface="Courier New"/>
                <a:sym typeface="Courier New"/>
              </a:rPr>
              <a:t>GAP-1</a:t>
            </a:r>
            <a:endParaRPr sz="1200" dirty="0">
              <a:solidFill>
                <a:srgbClr val="00B0F0"/>
              </a:solidFill>
              <a:latin typeface="Courier New"/>
              <a:ea typeface="Courier New"/>
              <a:cs typeface="Courier New"/>
              <a:sym typeface="Courier New"/>
            </a:endParaRPr>
          </a:p>
        </p:txBody>
      </p:sp>
      <p:sp>
        <p:nvSpPr>
          <p:cNvPr id="347" name="Google Shape;347;p10"/>
          <p:cNvSpPr/>
          <p:nvPr/>
        </p:nvSpPr>
        <p:spPr>
          <a:xfrm>
            <a:off x="896112" y="2743200"/>
            <a:ext cx="2092376" cy="1042416"/>
          </a:xfrm>
          <a:prstGeom prst="rect">
            <a:avLst/>
          </a:prstGeom>
          <a:noFill/>
          <a:ln>
            <a:noFill/>
          </a:ln>
          <a:effectLst>
            <a:outerShdw blurRad="63500" sx="102000" sy="102000" algn="ctr" rotWithShape="0">
              <a:prstClr val="black">
                <a:alpha val="40000"/>
              </a:prstClr>
            </a:outerShdw>
          </a:effectLst>
        </p:spPr>
        <p:txBody>
          <a:bodyPr spcFirstLastPara="1" wrap="square" lIns="0" tIns="0" rIns="0" bIns="0" anchor="t" anchorCtr="0">
            <a:noAutofit/>
          </a:bodyPr>
          <a:lstStyle/>
          <a:p>
            <a:pPr marL="0" marR="0" lvl="0" indent="0" algn="ctr" rtl="0">
              <a:lnSpc>
                <a:spcPct val="98000"/>
              </a:lnSpc>
              <a:spcBef>
                <a:spcPts val="0"/>
              </a:spcBef>
              <a:spcAft>
                <a:spcPts val="0"/>
              </a:spcAft>
              <a:buClr>
                <a:srgbClr val="13234C"/>
              </a:buClr>
              <a:buSzPts val="1700"/>
              <a:buFont typeface="Arial"/>
              <a:buNone/>
            </a:pPr>
            <a:r>
              <a:rPr lang="en-US" sz="2000" b="1" dirty="0">
                <a:solidFill>
                  <a:schemeClr val="bg1"/>
                </a:solidFill>
                <a:latin typeface="29LT Adir" panose="00000506000000000000" pitchFamily="50" charset="-78"/>
                <a:cs typeface="29LT Adir" panose="00000506000000000000" pitchFamily="50" charset="-78"/>
                <a:sym typeface="Arial"/>
              </a:rPr>
              <a:t>Hydration state</a:t>
            </a:r>
            <a:endParaRPr sz="2000" dirty="0">
              <a:solidFill>
                <a:schemeClr val="bg1"/>
              </a:solidFill>
              <a:latin typeface="29LT Adir" panose="00000506000000000000" pitchFamily="50" charset="-78"/>
              <a:ea typeface="Calibri"/>
              <a:cs typeface="29LT Adir" panose="00000506000000000000" pitchFamily="50" charset="-78"/>
              <a:sym typeface="Calibri"/>
            </a:endParaRPr>
          </a:p>
        </p:txBody>
      </p:sp>
      <p:sp>
        <p:nvSpPr>
          <p:cNvPr id="348" name="Google Shape;348;p10"/>
          <p:cNvSpPr/>
          <p:nvPr/>
        </p:nvSpPr>
        <p:spPr>
          <a:xfrm>
            <a:off x="3665144" y="2359152"/>
            <a:ext cx="2092376" cy="219456"/>
          </a:xfrm>
          <a:prstGeom prst="rect">
            <a:avLst/>
          </a:prstGeom>
          <a:noFill/>
          <a:ln>
            <a:noFill/>
          </a:ln>
          <a:effectLst>
            <a:outerShdw blurRad="63500" sx="102000" sy="102000" algn="ctr" rotWithShape="0">
              <a:prstClr val="black">
                <a:alpha val="40000"/>
              </a:prstClr>
            </a:outerShdw>
          </a:effectLst>
        </p:spPr>
        <p:txBody>
          <a:bodyPr spcFirstLastPara="1" wrap="square" lIns="0" tIns="0" rIns="0" bIns="0" anchor="ctr" anchorCtr="0">
            <a:noAutofit/>
          </a:bodyPr>
          <a:lstStyle/>
          <a:p>
            <a:pPr marL="0" marR="0" lvl="0" indent="0" algn="l" rtl="0">
              <a:spcBef>
                <a:spcPts val="0"/>
              </a:spcBef>
              <a:spcAft>
                <a:spcPts val="0"/>
              </a:spcAft>
              <a:buClr>
                <a:srgbClr val="646F8C"/>
              </a:buClr>
              <a:buSzPts val="1200"/>
              <a:buFont typeface="Courier New"/>
              <a:buNone/>
            </a:pPr>
            <a:r>
              <a:rPr lang="en-US" sz="1200" b="1">
                <a:solidFill>
                  <a:srgbClr val="00B0F0"/>
                </a:solidFill>
                <a:latin typeface="Courier New"/>
                <a:ea typeface="Courier New"/>
                <a:cs typeface="Courier New"/>
                <a:sym typeface="Courier New"/>
              </a:rPr>
              <a:t>GAP-2</a:t>
            </a:r>
            <a:endParaRPr sz="1200">
              <a:solidFill>
                <a:srgbClr val="00B0F0"/>
              </a:solidFill>
              <a:latin typeface="Courier New"/>
              <a:ea typeface="Courier New"/>
              <a:cs typeface="Courier New"/>
              <a:sym typeface="Courier New"/>
            </a:endParaRPr>
          </a:p>
        </p:txBody>
      </p:sp>
      <p:sp>
        <p:nvSpPr>
          <p:cNvPr id="349" name="Google Shape;349;p10"/>
          <p:cNvSpPr/>
          <p:nvPr/>
        </p:nvSpPr>
        <p:spPr>
          <a:xfrm>
            <a:off x="6196432" y="2121408"/>
            <a:ext cx="2567864" cy="2781332"/>
          </a:xfrm>
          <a:prstGeom prst="roundRect">
            <a:avLst>
              <a:gd name="adj" fmla="val 4455"/>
            </a:avLst>
          </a:prstGeom>
          <a:solidFill>
            <a:schemeClr val="bg2">
              <a:lumMod val="50000"/>
            </a:schemeClr>
          </a:solidFill>
          <a:ln w="9525" cap="flat" cmpd="sng">
            <a:solidFill>
              <a:srgbClr val="C4CFE0"/>
            </a:solidFill>
            <a:prstDash val="solid"/>
            <a:round/>
            <a:headEnd type="none" w="sm" len="sm"/>
            <a:tailEnd type="none" w="sm" len="sm"/>
          </a:ln>
          <a:effectLst>
            <a:outerShdw blurRad="63500" sx="102000" sy="102000" algn="ctr" rotWithShape="0">
              <a:prstClr val="black">
                <a:alpha val="40000"/>
              </a:prst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0" name="Google Shape;350;p10"/>
          <p:cNvSpPr/>
          <p:nvPr/>
        </p:nvSpPr>
        <p:spPr>
          <a:xfrm>
            <a:off x="6434176" y="2359152"/>
            <a:ext cx="2092376" cy="219456"/>
          </a:xfrm>
          <a:prstGeom prst="rect">
            <a:avLst/>
          </a:prstGeom>
          <a:noFill/>
          <a:ln>
            <a:noFill/>
          </a:ln>
          <a:effectLst>
            <a:outerShdw blurRad="63500" sx="102000" sy="102000" algn="ctr" rotWithShape="0">
              <a:prstClr val="black">
                <a:alpha val="40000"/>
              </a:prstClr>
            </a:outerShdw>
          </a:effectLst>
        </p:spPr>
        <p:txBody>
          <a:bodyPr spcFirstLastPara="1" wrap="square" lIns="0" tIns="0" rIns="0" bIns="0" anchor="ctr" anchorCtr="0">
            <a:noAutofit/>
          </a:bodyPr>
          <a:lstStyle/>
          <a:p>
            <a:pPr marL="0" marR="0" lvl="0" indent="0" algn="l" rtl="0">
              <a:spcBef>
                <a:spcPts val="0"/>
              </a:spcBef>
              <a:spcAft>
                <a:spcPts val="0"/>
              </a:spcAft>
              <a:buClr>
                <a:srgbClr val="4C5468"/>
              </a:buClr>
              <a:buSzPts val="1200"/>
              <a:buFont typeface="Courier New"/>
              <a:buNone/>
            </a:pPr>
            <a:r>
              <a:rPr lang="en-US" sz="1200" b="1">
                <a:solidFill>
                  <a:srgbClr val="00B0F0"/>
                </a:solidFill>
                <a:latin typeface="Courier New"/>
                <a:ea typeface="Courier New"/>
                <a:cs typeface="Courier New"/>
                <a:sym typeface="Courier New"/>
              </a:rPr>
              <a:t>GAP-3</a:t>
            </a:r>
            <a:endParaRPr sz="1200">
              <a:solidFill>
                <a:srgbClr val="00B0F0"/>
              </a:solidFill>
              <a:latin typeface="Courier New"/>
              <a:ea typeface="Courier New"/>
              <a:cs typeface="Courier New"/>
              <a:sym typeface="Courier New"/>
            </a:endParaRPr>
          </a:p>
        </p:txBody>
      </p:sp>
      <p:sp>
        <p:nvSpPr>
          <p:cNvPr id="351" name="Google Shape;351;p10"/>
          <p:cNvSpPr/>
          <p:nvPr/>
        </p:nvSpPr>
        <p:spPr>
          <a:xfrm>
            <a:off x="6434176" y="2651760"/>
            <a:ext cx="2092376" cy="1133856"/>
          </a:xfrm>
          <a:prstGeom prst="rect">
            <a:avLst/>
          </a:prstGeom>
          <a:noFill/>
          <a:ln>
            <a:noFill/>
          </a:ln>
          <a:effectLst>
            <a:outerShdw blurRad="63500" sx="102000" sy="102000" algn="ctr" rotWithShape="0">
              <a:prstClr val="black">
                <a:alpha val="40000"/>
              </a:prstClr>
            </a:outerShdw>
          </a:effectLst>
        </p:spPr>
        <p:txBody>
          <a:bodyPr spcFirstLastPara="1" wrap="square" lIns="0" tIns="0" rIns="0" bIns="0" anchor="t" anchorCtr="0">
            <a:noAutofit/>
          </a:bodyPr>
          <a:lstStyle/>
          <a:p>
            <a:pPr marL="0" marR="0" lvl="0" indent="0" algn="ctr" rtl="0">
              <a:lnSpc>
                <a:spcPct val="98000"/>
              </a:lnSpc>
              <a:spcBef>
                <a:spcPts val="0"/>
              </a:spcBef>
              <a:spcAft>
                <a:spcPts val="0"/>
              </a:spcAft>
              <a:buClr>
                <a:srgbClr val="13234C"/>
              </a:buClr>
              <a:buSzPts val="1700"/>
              <a:buFont typeface="Arial"/>
              <a:buNone/>
            </a:pPr>
            <a:r>
              <a:rPr lang="en-US" sz="2000" b="1" dirty="0">
                <a:solidFill>
                  <a:schemeClr val="bg1"/>
                </a:solidFill>
                <a:latin typeface="29LT Adir" panose="00000506000000000000" pitchFamily="50" charset="-78"/>
                <a:cs typeface="29LT Adir" panose="00000506000000000000" pitchFamily="50" charset="-78"/>
                <a:sym typeface="Arial"/>
              </a:rPr>
              <a:t>Regolith grain-size distribution</a:t>
            </a:r>
            <a:endParaRPr sz="2000" dirty="0">
              <a:solidFill>
                <a:schemeClr val="bg1"/>
              </a:solidFill>
              <a:latin typeface="29LT Adir" panose="00000506000000000000" pitchFamily="50" charset="-78"/>
              <a:ea typeface="Calibri"/>
              <a:cs typeface="29LT Adir" panose="00000506000000000000" pitchFamily="50" charset="-78"/>
              <a:sym typeface="Calibri"/>
            </a:endParaRPr>
          </a:p>
        </p:txBody>
      </p:sp>
      <p:sp>
        <p:nvSpPr>
          <p:cNvPr id="352" name="Google Shape;352;p10"/>
          <p:cNvSpPr/>
          <p:nvPr/>
        </p:nvSpPr>
        <p:spPr>
          <a:xfrm>
            <a:off x="8965463" y="2121408"/>
            <a:ext cx="2567864" cy="2781332"/>
          </a:xfrm>
          <a:prstGeom prst="roundRect">
            <a:avLst>
              <a:gd name="adj" fmla="val 4455"/>
            </a:avLst>
          </a:prstGeom>
          <a:solidFill>
            <a:schemeClr val="bg2">
              <a:lumMod val="50000"/>
            </a:schemeClr>
          </a:solidFill>
          <a:ln w="9525" cap="flat" cmpd="sng">
            <a:solidFill>
              <a:srgbClr val="C4CFE0"/>
            </a:solidFill>
            <a:prstDash val="solid"/>
            <a:round/>
            <a:headEnd type="none" w="sm" len="sm"/>
            <a:tailEnd type="none" w="sm" len="sm"/>
          </a:ln>
          <a:effectLst>
            <a:outerShdw blurRad="63500" sx="102000" sy="102000" algn="ctr" rotWithShape="0">
              <a:prstClr val="black">
                <a:alpha val="40000"/>
              </a:prst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53" name="Google Shape;353;p10"/>
          <p:cNvSpPr/>
          <p:nvPr/>
        </p:nvSpPr>
        <p:spPr>
          <a:xfrm>
            <a:off x="9203207" y="2359152"/>
            <a:ext cx="2092376" cy="219456"/>
          </a:xfrm>
          <a:prstGeom prst="rect">
            <a:avLst/>
          </a:prstGeom>
          <a:noFill/>
          <a:ln>
            <a:noFill/>
          </a:ln>
          <a:effectLst>
            <a:outerShdw blurRad="63500" sx="102000" sy="102000" algn="ctr" rotWithShape="0">
              <a:prstClr val="black">
                <a:alpha val="40000"/>
              </a:prstClr>
            </a:outerShdw>
          </a:effectLst>
        </p:spPr>
        <p:txBody>
          <a:bodyPr spcFirstLastPara="1" wrap="square" lIns="0" tIns="0" rIns="0" bIns="0" anchor="ctr" anchorCtr="0">
            <a:noAutofit/>
          </a:bodyPr>
          <a:lstStyle/>
          <a:p>
            <a:pPr marL="0" marR="0" lvl="0" indent="0" algn="l" rtl="0">
              <a:spcBef>
                <a:spcPts val="0"/>
              </a:spcBef>
              <a:spcAft>
                <a:spcPts val="0"/>
              </a:spcAft>
              <a:buClr>
                <a:srgbClr val="4C5468"/>
              </a:buClr>
              <a:buSzPts val="1200"/>
              <a:buFont typeface="Courier New"/>
              <a:buNone/>
            </a:pPr>
            <a:r>
              <a:rPr lang="en-US" sz="1200" b="1">
                <a:solidFill>
                  <a:srgbClr val="00B0F0"/>
                </a:solidFill>
                <a:latin typeface="Courier New"/>
                <a:ea typeface="Courier New"/>
                <a:cs typeface="Courier New"/>
                <a:sym typeface="Courier New"/>
              </a:rPr>
              <a:t>GAP-4</a:t>
            </a:r>
            <a:endParaRPr sz="1200">
              <a:solidFill>
                <a:srgbClr val="00B0F0"/>
              </a:solidFill>
              <a:latin typeface="Courier New"/>
              <a:ea typeface="Courier New"/>
              <a:cs typeface="Courier New"/>
              <a:sym typeface="Courier New"/>
            </a:endParaRPr>
          </a:p>
        </p:txBody>
      </p:sp>
      <p:sp>
        <p:nvSpPr>
          <p:cNvPr id="354" name="Google Shape;354;p10"/>
          <p:cNvSpPr/>
          <p:nvPr/>
        </p:nvSpPr>
        <p:spPr>
          <a:xfrm>
            <a:off x="9203207" y="2651760"/>
            <a:ext cx="2092376" cy="1133856"/>
          </a:xfrm>
          <a:prstGeom prst="rect">
            <a:avLst/>
          </a:prstGeom>
          <a:noFill/>
          <a:ln>
            <a:noFill/>
          </a:ln>
          <a:effectLst>
            <a:outerShdw blurRad="63500" sx="102000" sy="102000" algn="ctr" rotWithShape="0">
              <a:prstClr val="black">
                <a:alpha val="40000"/>
              </a:prstClr>
            </a:outerShdw>
          </a:effectLst>
        </p:spPr>
        <p:txBody>
          <a:bodyPr spcFirstLastPara="1" wrap="square" lIns="0" tIns="0" rIns="0" bIns="0" anchor="t" anchorCtr="0">
            <a:noAutofit/>
          </a:bodyPr>
          <a:lstStyle/>
          <a:p>
            <a:pPr marL="0" marR="0" lvl="0" indent="0" algn="ctr" rtl="0">
              <a:lnSpc>
                <a:spcPct val="98000"/>
              </a:lnSpc>
              <a:spcBef>
                <a:spcPts val="0"/>
              </a:spcBef>
              <a:spcAft>
                <a:spcPts val="0"/>
              </a:spcAft>
              <a:buClr>
                <a:srgbClr val="13234C"/>
              </a:buClr>
              <a:buSzPts val="1700"/>
              <a:buFont typeface="Arial"/>
              <a:buNone/>
            </a:pPr>
            <a:r>
              <a:rPr lang="en-US" sz="2000" b="1" dirty="0">
                <a:solidFill>
                  <a:schemeClr val="bg1"/>
                </a:solidFill>
                <a:latin typeface="29LT Adir" panose="00000506000000000000" pitchFamily="50" charset="-78"/>
                <a:cs typeface="29LT Adir" panose="00000506000000000000" pitchFamily="50" charset="-78"/>
                <a:sym typeface="Arial"/>
              </a:rPr>
              <a:t>Free Fe–Ni metallic phase fraction</a:t>
            </a:r>
            <a:endParaRPr sz="2000" dirty="0">
              <a:solidFill>
                <a:schemeClr val="bg1"/>
              </a:solidFill>
              <a:latin typeface="29LT Adir" panose="00000506000000000000" pitchFamily="50" charset="-78"/>
              <a:ea typeface="Calibri"/>
              <a:cs typeface="29LT Adir" panose="00000506000000000000" pitchFamily="50" charset="-78"/>
              <a:sym typeface="Calibri"/>
            </a:endParaRPr>
          </a:p>
        </p:txBody>
      </p:sp>
      <p:sp>
        <p:nvSpPr>
          <p:cNvPr id="355" name="Google Shape;355;p10"/>
          <p:cNvSpPr/>
          <p:nvPr/>
        </p:nvSpPr>
        <p:spPr>
          <a:xfrm>
            <a:off x="10881360" y="6272784"/>
            <a:ext cx="694944"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79839A"/>
              </a:buClr>
              <a:buSzPts val="1000"/>
              <a:buFont typeface="Arial"/>
              <a:buNone/>
            </a:pPr>
            <a:r>
              <a:rPr lang="en-US" sz="1000">
                <a:solidFill>
                  <a:srgbClr val="79839A"/>
                </a:solidFill>
                <a:latin typeface="Arial"/>
                <a:ea typeface="Arial"/>
                <a:cs typeface="Arial"/>
                <a:sym typeface="Arial"/>
              </a:rPr>
              <a:t>7</a:t>
            </a:r>
            <a:endParaRPr sz="1000">
              <a:solidFill>
                <a:schemeClr val="dk1"/>
              </a:solidFill>
              <a:latin typeface="Calibri"/>
              <a:ea typeface="Calibri"/>
              <a:cs typeface="Calibri"/>
              <a:sym typeface="Calibri"/>
            </a:endParaRPr>
          </a:p>
        </p:txBody>
      </p:sp>
      <p:pic>
        <p:nvPicPr>
          <p:cNvPr id="356" name="Google Shape;356;p10" descr="/home/claude/work/a2/logo_dark.png"/>
          <p:cNvPicPr preferRelativeResize="0"/>
          <p:nvPr/>
        </p:nvPicPr>
        <p:blipFill rotWithShape="1">
          <a:blip r:embed="rId5">
            <a:alphaModFix/>
          </a:blip>
          <a:srcRect/>
          <a:stretch/>
        </p:blipFill>
        <p:spPr>
          <a:xfrm>
            <a:off x="10616340" y="122984"/>
            <a:ext cx="1450538" cy="814736"/>
          </a:xfrm>
          <a:prstGeom prst="rect">
            <a:avLst/>
          </a:prstGeom>
          <a:noFill/>
          <a:ln>
            <a:noFill/>
          </a:ln>
        </p:spPr>
      </p:pic>
      <p:sp>
        <p:nvSpPr>
          <p:cNvPr id="357" name="Google Shape;357;p10"/>
          <p:cNvSpPr/>
          <p:nvPr/>
        </p:nvSpPr>
        <p:spPr>
          <a:xfrm>
            <a:off x="3609929" y="2651760"/>
            <a:ext cx="2165879" cy="1042416"/>
          </a:xfrm>
          <a:prstGeom prst="rect">
            <a:avLst/>
          </a:prstGeom>
          <a:noFill/>
          <a:ln>
            <a:noFill/>
          </a:ln>
          <a:effectLst>
            <a:outerShdw blurRad="63500" sx="102000" sy="102000" algn="ctr" rotWithShape="0">
              <a:prstClr val="black">
                <a:alpha val="40000"/>
              </a:prstClr>
            </a:outerShdw>
          </a:effectLst>
        </p:spPr>
        <p:txBody>
          <a:bodyPr spcFirstLastPara="1" wrap="square" lIns="0" tIns="0" rIns="0" bIns="0" anchor="t" anchorCtr="0">
            <a:noAutofit/>
          </a:bodyPr>
          <a:lstStyle/>
          <a:p>
            <a:pPr marL="0" marR="0" lvl="0" indent="0" algn="ctr" rtl="0">
              <a:lnSpc>
                <a:spcPct val="98000"/>
              </a:lnSpc>
              <a:spcBef>
                <a:spcPts val="0"/>
              </a:spcBef>
              <a:spcAft>
                <a:spcPts val="0"/>
              </a:spcAft>
              <a:buNone/>
            </a:pPr>
            <a:r>
              <a:rPr lang="en-US" sz="2000" b="1" dirty="0">
                <a:solidFill>
                  <a:schemeClr val="bg1"/>
                </a:solidFill>
                <a:latin typeface="29LT Adir" panose="00000506000000000000" pitchFamily="50" charset="-78"/>
                <a:cs typeface="29LT Adir" panose="00000506000000000000" pitchFamily="50" charset="-78"/>
                <a:sym typeface="Arial"/>
              </a:rPr>
              <a:t>Weathering-corrected composition</a:t>
            </a:r>
            <a:endParaRPr sz="2000" dirty="0">
              <a:solidFill>
                <a:schemeClr val="bg1"/>
              </a:solidFill>
              <a:latin typeface="29LT Adir" panose="00000506000000000000" pitchFamily="50" charset="-78"/>
              <a:ea typeface="Calibri"/>
              <a:cs typeface="29LT Adir" panose="00000506000000000000" pitchFamily="50" charset="-78"/>
              <a:sym typeface="Calibri"/>
            </a:endParaRPr>
          </a:p>
        </p:txBody>
      </p:sp>
      <p:sp>
        <p:nvSpPr>
          <p:cNvPr id="5" name="Google Shape;388;p11">
            <a:extLst>
              <a:ext uri="{FF2B5EF4-FFF2-40B4-BE49-F238E27FC236}">
                <a16:creationId xmlns:a16="http://schemas.microsoft.com/office/drawing/2014/main" id="{0989C55A-815B-A6DB-C1FD-32837FAB0F8F}"/>
              </a:ext>
            </a:extLst>
          </p:cNvPr>
          <p:cNvSpPr/>
          <p:nvPr/>
        </p:nvSpPr>
        <p:spPr>
          <a:xfrm>
            <a:off x="849424" y="3202152"/>
            <a:ext cx="2165879" cy="914400"/>
          </a:xfrm>
          <a:prstGeom prst="rect">
            <a:avLst/>
          </a:prstGeom>
          <a:noFill/>
          <a:ln>
            <a:noFill/>
          </a:ln>
        </p:spPr>
        <p:txBody>
          <a:bodyPr spcFirstLastPara="1" wrap="square" lIns="0" tIns="0" rIns="0" bIns="0" anchor="t" anchorCtr="0">
            <a:noAutofit/>
          </a:bodyPr>
          <a:lstStyle/>
          <a:p>
            <a:pPr algn="ctr"/>
            <a:r>
              <a:rPr lang="en-US" dirty="0">
                <a:solidFill>
                  <a:srgbClr val="EFFBFF"/>
                </a:solidFill>
                <a:latin typeface="29LT Adir" panose="00000506000000000000" pitchFamily="50" charset="-78"/>
                <a:cs typeface="29LT Adir" panose="00000506000000000000" pitchFamily="50" charset="-78"/>
              </a:rPr>
              <a:t>How much water and hydroxyl sit bound in the surface minerals: a record of whether water ever altered this body, and the basis of any volatile-resource case.</a:t>
            </a:r>
          </a:p>
        </p:txBody>
      </p:sp>
      <p:sp>
        <p:nvSpPr>
          <p:cNvPr id="6" name="Google Shape;388;p11">
            <a:extLst>
              <a:ext uri="{FF2B5EF4-FFF2-40B4-BE49-F238E27FC236}">
                <a16:creationId xmlns:a16="http://schemas.microsoft.com/office/drawing/2014/main" id="{4294DDF8-E436-3E07-9624-2D08DE4C4418}"/>
              </a:ext>
            </a:extLst>
          </p:cNvPr>
          <p:cNvSpPr/>
          <p:nvPr/>
        </p:nvSpPr>
        <p:spPr>
          <a:xfrm>
            <a:off x="3655032" y="3373166"/>
            <a:ext cx="2165879" cy="914400"/>
          </a:xfrm>
          <a:prstGeom prst="rect">
            <a:avLst/>
          </a:prstGeom>
          <a:noFill/>
          <a:ln>
            <a:noFill/>
          </a:ln>
        </p:spPr>
        <p:txBody>
          <a:bodyPr spcFirstLastPara="1" wrap="square" lIns="0" tIns="0" rIns="0" bIns="0" anchor="t" anchorCtr="0">
            <a:noAutofit/>
          </a:bodyPr>
          <a:lstStyle/>
          <a:p>
            <a:pPr algn="ctr"/>
            <a:r>
              <a:rPr lang="en-US" dirty="0">
                <a:solidFill>
                  <a:srgbClr val="EFFBFF"/>
                </a:solidFill>
                <a:latin typeface="29LT Adir" panose="00000506000000000000" pitchFamily="50" charset="-78"/>
                <a:cs typeface="29LT Adir" panose="00000506000000000000" pitchFamily="50" charset="-78"/>
              </a:rPr>
              <a:t>What the material is actually made of, beneath the thin rind that space alters. Every composition read from reflected light is biased until this is known.</a:t>
            </a:r>
          </a:p>
        </p:txBody>
      </p:sp>
      <p:sp>
        <p:nvSpPr>
          <p:cNvPr id="7" name="Google Shape;388;p11">
            <a:extLst>
              <a:ext uri="{FF2B5EF4-FFF2-40B4-BE49-F238E27FC236}">
                <a16:creationId xmlns:a16="http://schemas.microsoft.com/office/drawing/2014/main" id="{5E313E17-324C-7181-6EFF-B9E5C22B6CEC}"/>
              </a:ext>
            </a:extLst>
          </p:cNvPr>
          <p:cNvSpPr/>
          <p:nvPr/>
        </p:nvSpPr>
        <p:spPr>
          <a:xfrm>
            <a:off x="6353632" y="3407993"/>
            <a:ext cx="2165879" cy="914400"/>
          </a:xfrm>
          <a:prstGeom prst="rect">
            <a:avLst/>
          </a:prstGeom>
          <a:noFill/>
          <a:ln>
            <a:noFill/>
          </a:ln>
        </p:spPr>
        <p:txBody>
          <a:bodyPr spcFirstLastPara="1" wrap="square" lIns="0" tIns="0" rIns="0" bIns="0" anchor="t" anchorCtr="0">
            <a:noAutofit/>
          </a:bodyPr>
          <a:lstStyle/>
          <a:p>
            <a:pPr algn="ctr"/>
            <a:r>
              <a:rPr lang="en-US" dirty="0">
                <a:solidFill>
                  <a:srgbClr val="EFFBFF"/>
                </a:solidFill>
                <a:latin typeface="29LT Adir" panose="00000506000000000000" pitchFamily="50" charset="-78"/>
                <a:cs typeface="29LT Adir" panose="00000506000000000000" pitchFamily="50" charset="-78"/>
              </a:rPr>
              <a:t>How the loose surface material divides across particle sizes, from dust to boulders. It governs how regolith responds to disturbance and whether it can be processed.</a:t>
            </a:r>
          </a:p>
        </p:txBody>
      </p:sp>
      <p:sp>
        <p:nvSpPr>
          <p:cNvPr id="8" name="Google Shape;388;p11">
            <a:extLst>
              <a:ext uri="{FF2B5EF4-FFF2-40B4-BE49-F238E27FC236}">
                <a16:creationId xmlns:a16="http://schemas.microsoft.com/office/drawing/2014/main" id="{68B0FF78-78A5-2A84-7B4C-38AB97ADF194}"/>
              </a:ext>
            </a:extLst>
          </p:cNvPr>
          <p:cNvSpPr/>
          <p:nvPr/>
        </p:nvSpPr>
        <p:spPr>
          <a:xfrm>
            <a:off x="9149512" y="3472004"/>
            <a:ext cx="2165879" cy="914400"/>
          </a:xfrm>
          <a:prstGeom prst="rect">
            <a:avLst/>
          </a:prstGeom>
          <a:noFill/>
          <a:ln>
            <a:noFill/>
          </a:ln>
        </p:spPr>
        <p:txBody>
          <a:bodyPr spcFirstLastPara="1" wrap="square" lIns="0" tIns="0" rIns="0" bIns="0" anchor="t" anchorCtr="0">
            <a:noAutofit/>
          </a:bodyPr>
          <a:lstStyle/>
          <a:p>
            <a:pPr algn="ctr"/>
            <a:r>
              <a:rPr lang="en-US" dirty="0">
                <a:solidFill>
                  <a:srgbClr val="EFFBFF"/>
                </a:solidFill>
                <a:latin typeface="29LT Adir" panose="00000506000000000000" pitchFamily="50" charset="-78"/>
                <a:cs typeface="29LT Adir" panose="00000506000000000000" pitchFamily="50" charset="-78"/>
              </a:rPr>
              <a:t>How much of the iron is free Fe–Ni metal rather than bound inside silicates. Only the free fraction separates magnetically, so it carries the metal-resource case.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D9E1EF"/>
        </a:solidFill>
        <a:effectLst/>
      </p:bgPr>
    </p:bg>
    <p:spTree>
      <p:nvGrpSpPr>
        <p:cNvPr id="1" name="Shape 367"/>
        <p:cNvGrpSpPr/>
        <p:nvPr/>
      </p:nvGrpSpPr>
      <p:grpSpPr>
        <a:xfrm>
          <a:off x="0" y="0"/>
          <a:ext cx="0" cy="0"/>
          <a:chOff x="0" y="0"/>
          <a:chExt cx="0" cy="0"/>
        </a:xfrm>
      </p:grpSpPr>
      <p:pic>
        <p:nvPicPr>
          <p:cNvPr id="3" name="Google Shape;48;p5" descr="/home/claude/work/a2/light_wash.jpg">
            <a:extLst>
              <a:ext uri="{FF2B5EF4-FFF2-40B4-BE49-F238E27FC236}">
                <a16:creationId xmlns:a16="http://schemas.microsoft.com/office/drawing/2014/main" id="{399221F5-8659-91E9-AB0A-8E42C2AA737A}"/>
              </a:ext>
            </a:extLst>
          </p:cNvPr>
          <p:cNvPicPr preferRelativeResize="0"/>
          <p:nvPr/>
        </p:nvPicPr>
        <p:blipFill rotWithShape="1">
          <a:blip r:embed="rId3">
            <a:alphaModFix/>
            <a:extLst>
              <a:ext uri="{BEBA8EAE-BF5A-486C-A8C5-ECC9F3942E4B}">
                <a14:imgProps xmlns:a14="http://schemas.microsoft.com/office/drawing/2010/main">
                  <a14:imgLayer r:embed="rId4">
                    <a14:imgEffect>
                      <a14:brightnessContrast contrast="40000"/>
                    </a14:imgEffect>
                  </a14:imgLayer>
                </a14:imgProps>
              </a:ext>
            </a:extLst>
          </a:blip>
          <a:srcRect/>
          <a:stretch/>
        </p:blipFill>
        <p:spPr>
          <a:xfrm>
            <a:off x="0" y="-9331"/>
            <a:ext cx="12191695" cy="6858000"/>
          </a:xfrm>
          <a:prstGeom prst="rect">
            <a:avLst/>
          </a:prstGeom>
          <a:noFill/>
          <a:ln>
            <a:noFill/>
          </a:ln>
        </p:spPr>
      </p:pic>
      <p:sp>
        <p:nvSpPr>
          <p:cNvPr id="369" name="Google Shape;369;p11"/>
          <p:cNvSpPr/>
          <p:nvPr/>
        </p:nvSpPr>
        <p:spPr>
          <a:xfrm>
            <a:off x="704088" y="1417320"/>
            <a:ext cx="5317236" cy="1206742"/>
          </a:xfrm>
          <a:prstGeom prst="roundRect">
            <a:avLst>
              <a:gd name="adj" fmla="val 4455"/>
            </a:avLst>
          </a:prstGeom>
          <a:solidFill>
            <a:srgbClr val="FFFFFF"/>
          </a:solidFill>
          <a:ln w="9525" cap="flat" cmpd="sng">
            <a:solidFill>
              <a:srgbClr val="C4CFE0"/>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70" name="Google Shape;370;p11"/>
          <p:cNvSpPr/>
          <p:nvPr/>
        </p:nvSpPr>
        <p:spPr>
          <a:xfrm>
            <a:off x="960120" y="1655064"/>
            <a:ext cx="329184" cy="329184"/>
          </a:xfrm>
          <a:prstGeom prst="ellipse">
            <a:avLst/>
          </a:prstGeom>
          <a:solidFill>
            <a:srgbClr val="13234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71" name="Google Shape;371;p11"/>
          <p:cNvSpPr/>
          <p:nvPr/>
        </p:nvSpPr>
        <p:spPr>
          <a:xfrm>
            <a:off x="960120" y="1655064"/>
            <a:ext cx="329184"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Arial"/>
              <a:buNone/>
            </a:pPr>
            <a:r>
              <a:rPr lang="en-US" sz="1000" b="1">
                <a:solidFill>
                  <a:srgbClr val="FFFFFF"/>
                </a:solidFill>
                <a:latin typeface="29LT Adir" panose="00000506000000000000" pitchFamily="50" charset="-78"/>
                <a:cs typeface="29LT Adir" panose="00000506000000000000" pitchFamily="50" charset="-78"/>
                <a:sym typeface="Arial"/>
              </a:rPr>
              <a:t>1</a:t>
            </a:r>
            <a:endParaRPr sz="18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72" name="Google Shape;372;p11"/>
          <p:cNvSpPr/>
          <p:nvPr/>
        </p:nvSpPr>
        <p:spPr>
          <a:xfrm>
            <a:off x="1380744" y="1636776"/>
            <a:ext cx="4384548"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600"/>
              <a:buFont typeface="Arial"/>
              <a:buNone/>
            </a:pPr>
            <a:r>
              <a:rPr lang="en-US" sz="1600" b="1" dirty="0">
                <a:solidFill>
                  <a:srgbClr val="13234C"/>
                </a:solidFill>
                <a:latin typeface="29LT Adir" panose="00000506000000000000" pitchFamily="50" charset="-78"/>
                <a:cs typeface="29LT Adir" panose="00000506000000000000" pitchFamily="50" charset="-78"/>
                <a:sym typeface="Arial"/>
              </a:rPr>
              <a:t>Scientific value</a:t>
            </a:r>
            <a:endParaRPr sz="18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73" name="Google Shape;373;p11"/>
          <p:cNvSpPr/>
          <p:nvPr/>
        </p:nvSpPr>
        <p:spPr>
          <a:xfrm>
            <a:off x="960119" y="2019702"/>
            <a:ext cx="4992811" cy="3230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C5468"/>
              </a:buClr>
              <a:buSzPts val="1200"/>
              <a:buFont typeface="Arial"/>
              <a:buNone/>
            </a:pPr>
            <a:r>
              <a:rPr lang="en-US" sz="1200" dirty="0">
                <a:solidFill>
                  <a:srgbClr val="4C5468"/>
                </a:solidFill>
                <a:latin typeface="29LT Adir" panose="00000506000000000000" pitchFamily="50" charset="-78"/>
                <a:cs typeface="29LT Adir" panose="00000506000000000000" pitchFamily="50" charset="-78"/>
                <a:sym typeface="Arial"/>
              </a:rPr>
              <a:t>Does the measurement return something </a:t>
            </a:r>
            <a:r>
              <a:rPr lang="en-US" sz="1200" dirty="0">
                <a:solidFill>
                  <a:srgbClr val="4C5468"/>
                </a:solidFill>
                <a:latin typeface="29LT Adir" panose="00000506000000000000" pitchFamily="50" charset="-78"/>
                <a:cs typeface="29LT Adir" panose="00000506000000000000" pitchFamily="50" charset="-78"/>
              </a:rPr>
              <a:t>scientifically unique and not predictable?</a:t>
            </a:r>
            <a:endParaRPr sz="18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75" name="Google Shape;375;p11"/>
          <p:cNvSpPr/>
          <p:nvPr/>
        </p:nvSpPr>
        <p:spPr>
          <a:xfrm>
            <a:off x="960120" y="2385462"/>
            <a:ext cx="4805172"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A44A34"/>
              </a:buClr>
              <a:buSzPts val="1200"/>
              <a:buFont typeface="Courier New"/>
              <a:buNone/>
            </a:pPr>
            <a:endParaRPr sz="1800" b="1" dirty="0">
              <a:solidFill>
                <a:schemeClr val="dk1"/>
              </a:solidFill>
              <a:latin typeface="Courier New" panose="02070309020205020404" pitchFamily="49" charset="0"/>
              <a:ea typeface="Calibri"/>
              <a:cs typeface="Courier New" panose="02070309020205020404" pitchFamily="49" charset="0"/>
              <a:sym typeface="Calibri"/>
            </a:endParaRPr>
          </a:p>
        </p:txBody>
      </p:sp>
      <p:sp>
        <p:nvSpPr>
          <p:cNvPr id="376" name="Google Shape;376;p11"/>
          <p:cNvSpPr/>
          <p:nvPr/>
        </p:nvSpPr>
        <p:spPr>
          <a:xfrm>
            <a:off x="6259068" y="1417320"/>
            <a:ext cx="5317236" cy="1206742"/>
          </a:xfrm>
          <a:prstGeom prst="roundRect">
            <a:avLst>
              <a:gd name="adj" fmla="val 4455"/>
            </a:avLst>
          </a:prstGeom>
          <a:solidFill>
            <a:srgbClr val="FFFFFF"/>
          </a:solidFill>
          <a:ln w="9525" cap="flat" cmpd="sng">
            <a:solidFill>
              <a:srgbClr val="C4CFE0"/>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77" name="Google Shape;377;p11"/>
          <p:cNvSpPr/>
          <p:nvPr/>
        </p:nvSpPr>
        <p:spPr>
          <a:xfrm>
            <a:off x="6515100" y="1655064"/>
            <a:ext cx="329184" cy="329184"/>
          </a:xfrm>
          <a:prstGeom prst="ellipse">
            <a:avLst/>
          </a:prstGeom>
          <a:solidFill>
            <a:srgbClr val="13234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78" name="Google Shape;378;p11"/>
          <p:cNvSpPr/>
          <p:nvPr/>
        </p:nvSpPr>
        <p:spPr>
          <a:xfrm>
            <a:off x="6515100" y="1655064"/>
            <a:ext cx="329184" cy="32918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00"/>
              <a:buFont typeface="Arial"/>
              <a:buNone/>
            </a:pPr>
            <a:r>
              <a:rPr lang="en-US" sz="1000" b="1">
                <a:solidFill>
                  <a:srgbClr val="FFFFFF"/>
                </a:solidFill>
                <a:latin typeface="29LT Adir" panose="00000506000000000000" pitchFamily="50" charset="-78"/>
                <a:cs typeface="29LT Adir" panose="00000506000000000000" pitchFamily="50" charset="-78"/>
                <a:sym typeface="Arial"/>
              </a:rPr>
              <a:t>2</a:t>
            </a:r>
            <a:endParaRPr sz="18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79" name="Google Shape;379;p11"/>
          <p:cNvSpPr/>
          <p:nvPr/>
        </p:nvSpPr>
        <p:spPr>
          <a:xfrm>
            <a:off x="6935724" y="1636776"/>
            <a:ext cx="4384548" cy="36576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600"/>
              <a:buFont typeface="Arial"/>
              <a:buNone/>
            </a:pPr>
            <a:r>
              <a:rPr lang="en-US" sz="1600" b="1" dirty="0">
                <a:solidFill>
                  <a:srgbClr val="13234C"/>
                </a:solidFill>
                <a:latin typeface="29LT Adir" panose="00000506000000000000" pitchFamily="50" charset="-78"/>
                <a:cs typeface="29LT Adir" panose="00000506000000000000" pitchFamily="50" charset="-78"/>
                <a:sym typeface="Arial"/>
              </a:rPr>
              <a:t>Mission compatibility</a:t>
            </a:r>
            <a:endParaRPr sz="18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80" name="Google Shape;380;p11"/>
          <p:cNvSpPr/>
          <p:nvPr/>
        </p:nvSpPr>
        <p:spPr>
          <a:xfrm>
            <a:off x="6515099" y="2019702"/>
            <a:ext cx="4992811" cy="3230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C5468"/>
              </a:buClr>
              <a:buSzPts val="1200"/>
              <a:buFont typeface="Arial"/>
              <a:buNone/>
            </a:pPr>
            <a:r>
              <a:rPr lang="en-US" sz="1200" dirty="0">
                <a:solidFill>
                  <a:srgbClr val="4C5468"/>
                </a:solidFill>
                <a:latin typeface="29LT Adir" panose="00000506000000000000" pitchFamily="50" charset="-78"/>
                <a:cs typeface="29LT Adir" panose="00000506000000000000" pitchFamily="50" charset="-78"/>
                <a:sym typeface="Arial"/>
              </a:rPr>
              <a:t>Can the orbiter already flying carry it, and does it add to the baseline rather than repeat it?</a:t>
            </a:r>
            <a:endParaRPr sz="18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83" name="Google Shape;383;p11"/>
          <p:cNvSpPr/>
          <p:nvPr/>
        </p:nvSpPr>
        <p:spPr>
          <a:xfrm>
            <a:off x="722376" y="2788654"/>
            <a:ext cx="2569464" cy="2441714"/>
          </a:xfrm>
          <a:prstGeom prst="roundRect">
            <a:avLst>
              <a:gd name="adj" fmla="val 4455"/>
            </a:avLst>
          </a:prstGeom>
          <a:solidFill>
            <a:srgbClr val="FFFFFF"/>
          </a:solidFill>
          <a:ln w="9525" cap="flat" cmpd="sng">
            <a:solidFill>
              <a:srgbClr val="C4CFE0"/>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dirty="0">
              <a:solidFill>
                <a:schemeClr val="dk1"/>
              </a:solidFill>
              <a:latin typeface="Calibri"/>
              <a:ea typeface="Calibri"/>
              <a:cs typeface="Calibri"/>
              <a:sym typeface="Calibri"/>
            </a:endParaRPr>
          </a:p>
        </p:txBody>
      </p:sp>
      <p:sp>
        <p:nvSpPr>
          <p:cNvPr id="384" name="Google Shape;384;p11"/>
          <p:cNvSpPr/>
          <p:nvPr/>
        </p:nvSpPr>
        <p:spPr>
          <a:xfrm>
            <a:off x="960120" y="2931939"/>
            <a:ext cx="2093976"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9839A"/>
              </a:buClr>
              <a:buSzPts val="1200"/>
              <a:buFont typeface="Courier New"/>
              <a:buNone/>
            </a:pPr>
            <a:r>
              <a:rPr lang="en-US" sz="1200" b="1" dirty="0">
                <a:solidFill>
                  <a:srgbClr val="79839A"/>
                </a:solidFill>
                <a:latin typeface="Courier New"/>
                <a:ea typeface="Courier New"/>
                <a:cs typeface="Courier New"/>
                <a:sym typeface="Courier New"/>
              </a:rPr>
              <a:t>GAP-1</a:t>
            </a:r>
            <a:endParaRPr sz="1800" dirty="0">
              <a:solidFill>
                <a:schemeClr val="dk1"/>
              </a:solidFill>
              <a:latin typeface="Calibri"/>
              <a:ea typeface="Calibri"/>
              <a:cs typeface="Calibri"/>
              <a:sym typeface="Calibri"/>
            </a:endParaRPr>
          </a:p>
        </p:txBody>
      </p:sp>
      <p:sp>
        <p:nvSpPr>
          <p:cNvPr id="385" name="Google Shape;385;p11"/>
          <p:cNvSpPr/>
          <p:nvPr/>
        </p:nvSpPr>
        <p:spPr>
          <a:xfrm>
            <a:off x="960120" y="3160802"/>
            <a:ext cx="2093976" cy="493776"/>
          </a:xfrm>
          <a:prstGeom prst="rect">
            <a:avLst/>
          </a:prstGeom>
          <a:noFill/>
          <a:ln>
            <a:noFill/>
          </a:ln>
        </p:spPr>
        <p:txBody>
          <a:bodyPr spcFirstLastPara="1" wrap="square" lIns="0" tIns="0" rIns="0" bIns="0" anchor="ctr" anchorCtr="0">
            <a:noAutofit/>
          </a:bodyPr>
          <a:lstStyle/>
          <a:p>
            <a:pPr marL="0" marR="0" lvl="0" indent="0" algn="ctr" rtl="0">
              <a:lnSpc>
                <a:spcPct val="98000"/>
              </a:lnSpc>
              <a:spcBef>
                <a:spcPts val="0"/>
              </a:spcBef>
              <a:spcAft>
                <a:spcPts val="0"/>
              </a:spcAft>
              <a:buClr>
                <a:srgbClr val="13234C"/>
              </a:buClr>
              <a:buSzPts val="1200"/>
              <a:buFont typeface="Arial"/>
              <a:buNone/>
            </a:pPr>
            <a:r>
              <a:rPr lang="en-US" b="1" dirty="0">
                <a:solidFill>
                  <a:srgbClr val="13234C"/>
                </a:solidFill>
                <a:latin typeface="29LT Adir" panose="00000506000000000000" pitchFamily="50" charset="-78"/>
                <a:cs typeface="29LT Adir" panose="00000506000000000000" pitchFamily="50" charset="-78"/>
                <a:sym typeface="Arial"/>
              </a:rPr>
              <a:t>Hydration state</a:t>
            </a:r>
            <a:endParaRPr sz="20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86" name="Google Shape;386;p11"/>
          <p:cNvSpPr/>
          <p:nvPr/>
        </p:nvSpPr>
        <p:spPr>
          <a:xfrm>
            <a:off x="960120" y="3709442"/>
            <a:ext cx="2093976" cy="237744"/>
          </a:xfrm>
          <a:prstGeom prst="roundRect">
            <a:avLst>
              <a:gd name="adj" fmla="val 16667"/>
            </a:avLst>
          </a:prstGeom>
          <a:solidFill>
            <a:srgbClr val="FBECE8"/>
          </a:solidFill>
          <a:ln w="9525" cap="flat" cmpd="sng">
            <a:solidFill>
              <a:srgbClr val="FBECE8"/>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Courier New" panose="02070309020205020404" pitchFamily="49" charset="0"/>
              <a:ea typeface="Calibri"/>
              <a:cs typeface="Courier New" panose="02070309020205020404" pitchFamily="49" charset="0"/>
              <a:sym typeface="Calibri"/>
            </a:endParaRPr>
          </a:p>
        </p:txBody>
      </p:sp>
      <p:sp>
        <p:nvSpPr>
          <p:cNvPr id="387" name="Google Shape;387;p11"/>
          <p:cNvSpPr/>
          <p:nvPr/>
        </p:nvSpPr>
        <p:spPr>
          <a:xfrm>
            <a:off x="960120" y="3709442"/>
            <a:ext cx="2093976"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A44A34"/>
              </a:buClr>
              <a:buSzPts val="800"/>
              <a:buFont typeface="Courier New"/>
              <a:buNone/>
            </a:pPr>
            <a:r>
              <a:rPr lang="en-US" sz="900" b="1" dirty="0">
                <a:solidFill>
                  <a:srgbClr val="A44A34"/>
                </a:solidFill>
                <a:latin typeface="Courier New" panose="02070309020205020404" pitchFamily="49" charset="0"/>
                <a:ea typeface="Courier New"/>
                <a:cs typeface="Courier New" panose="02070309020205020404" pitchFamily="49" charset="0"/>
                <a:sym typeface="Courier New"/>
              </a:rPr>
              <a:t>OUT · SCIENTIFIC VALUE</a:t>
            </a:r>
            <a:endParaRPr sz="2000" dirty="0">
              <a:solidFill>
                <a:schemeClr val="dk1"/>
              </a:solidFill>
              <a:latin typeface="Courier New" panose="02070309020205020404" pitchFamily="49" charset="0"/>
              <a:ea typeface="Calibri"/>
              <a:cs typeface="Courier New" panose="02070309020205020404" pitchFamily="49" charset="0"/>
              <a:sym typeface="Calibri"/>
            </a:endParaRPr>
          </a:p>
        </p:txBody>
      </p:sp>
      <p:sp>
        <p:nvSpPr>
          <p:cNvPr id="388" name="Google Shape;388;p11"/>
          <p:cNvSpPr/>
          <p:nvPr/>
        </p:nvSpPr>
        <p:spPr>
          <a:xfrm>
            <a:off x="960120" y="4100772"/>
            <a:ext cx="2093976" cy="914400"/>
          </a:xfrm>
          <a:prstGeom prst="rect">
            <a:avLst/>
          </a:prstGeom>
          <a:noFill/>
          <a:ln>
            <a:noFill/>
          </a:ln>
        </p:spPr>
        <p:txBody>
          <a:bodyPr spcFirstLastPara="1" wrap="square" lIns="0" tIns="0" rIns="0" bIns="0" anchor="t" anchorCtr="0">
            <a:noAutofit/>
          </a:bodyPr>
          <a:lstStyle/>
          <a:p>
            <a:pPr marL="0" marR="0" lvl="0" indent="0" algn="ctr" rtl="0">
              <a:lnSpc>
                <a:spcPct val="106000"/>
              </a:lnSpc>
              <a:spcBef>
                <a:spcPts val="0"/>
              </a:spcBef>
              <a:spcAft>
                <a:spcPts val="0"/>
              </a:spcAft>
              <a:buClr>
                <a:srgbClr val="4C5468"/>
              </a:buClr>
              <a:buSzPts val="950"/>
              <a:buFont typeface="Arial"/>
              <a:buNone/>
            </a:pPr>
            <a:r>
              <a:rPr lang="en-US" sz="1200" dirty="0">
                <a:solidFill>
                  <a:srgbClr val="4C5468"/>
                </a:solidFill>
                <a:latin typeface="29LT Adir" panose="00000506000000000000" pitchFamily="50" charset="-78"/>
                <a:cs typeface="29LT Adir" panose="00000506000000000000" pitchFamily="50" charset="-78"/>
                <a:sym typeface="Arial"/>
              </a:rPr>
              <a:t>Apophis is an LL analogue, and LL chondrites are dry. The likely result is an upper limit, which confirms the taxonomy instead of testing it.</a:t>
            </a:r>
            <a:endParaRPr sz="32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89" name="Google Shape;389;p11"/>
          <p:cNvSpPr/>
          <p:nvPr/>
        </p:nvSpPr>
        <p:spPr>
          <a:xfrm>
            <a:off x="3529584" y="2788654"/>
            <a:ext cx="2569464" cy="2441714"/>
          </a:xfrm>
          <a:prstGeom prst="roundRect">
            <a:avLst>
              <a:gd name="adj" fmla="val 4455"/>
            </a:avLst>
          </a:prstGeom>
          <a:solidFill>
            <a:srgbClr val="FFFFFF"/>
          </a:solidFill>
          <a:ln w="25400" cap="flat" cmpd="sng">
            <a:solidFill>
              <a:srgbClr val="2E9E6B"/>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0" name="Google Shape;390;p11"/>
          <p:cNvSpPr/>
          <p:nvPr/>
        </p:nvSpPr>
        <p:spPr>
          <a:xfrm>
            <a:off x="3767328" y="2931939"/>
            <a:ext cx="2093976"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9839A"/>
              </a:buClr>
              <a:buSzPts val="1200"/>
              <a:buFont typeface="Courier New"/>
              <a:buNone/>
            </a:pPr>
            <a:r>
              <a:rPr lang="en-US" sz="1200" b="1">
                <a:solidFill>
                  <a:srgbClr val="79839A"/>
                </a:solidFill>
                <a:latin typeface="Courier New"/>
                <a:ea typeface="Courier New"/>
                <a:cs typeface="Courier New"/>
                <a:sym typeface="Courier New"/>
              </a:rPr>
              <a:t>GAP-2</a:t>
            </a:r>
            <a:endParaRPr sz="1800">
              <a:solidFill>
                <a:schemeClr val="dk1"/>
              </a:solidFill>
              <a:latin typeface="Calibri"/>
              <a:ea typeface="Calibri"/>
              <a:cs typeface="Calibri"/>
              <a:sym typeface="Calibri"/>
            </a:endParaRPr>
          </a:p>
        </p:txBody>
      </p:sp>
      <p:sp>
        <p:nvSpPr>
          <p:cNvPr id="391" name="Google Shape;391;p11"/>
          <p:cNvSpPr/>
          <p:nvPr/>
        </p:nvSpPr>
        <p:spPr>
          <a:xfrm>
            <a:off x="3652540" y="3169680"/>
            <a:ext cx="2377440" cy="493776"/>
          </a:xfrm>
          <a:prstGeom prst="rect">
            <a:avLst/>
          </a:prstGeom>
          <a:noFill/>
          <a:ln>
            <a:noFill/>
          </a:ln>
        </p:spPr>
        <p:txBody>
          <a:bodyPr spcFirstLastPara="1" wrap="square" lIns="0" tIns="0" rIns="0" bIns="0" anchor="ctr" anchorCtr="0">
            <a:noAutofit/>
          </a:bodyPr>
          <a:lstStyle/>
          <a:p>
            <a:pPr marL="0" marR="0" lvl="0" indent="0" algn="ctr" rtl="0">
              <a:lnSpc>
                <a:spcPct val="98000"/>
              </a:lnSpc>
              <a:spcBef>
                <a:spcPts val="0"/>
              </a:spcBef>
              <a:spcAft>
                <a:spcPts val="0"/>
              </a:spcAft>
              <a:buClr>
                <a:srgbClr val="13234C"/>
              </a:buClr>
              <a:buSzPts val="1200"/>
              <a:buFont typeface="Arial"/>
              <a:buNone/>
            </a:pPr>
            <a:r>
              <a:rPr lang="en-US" b="1" dirty="0">
                <a:solidFill>
                  <a:srgbClr val="13234C"/>
                </a:solidFill>
                <a:latin typeface="29LT Adir" panose="00000506000000000000" pitchFamily="50" charset="-78"/>
                <a:cs typeface="29LT Adir" panose="00000506000000000000" pitchFamily="50" charset="-78"/>
                <a:sym typeface="Arial"/>
              </a:rPr>
              <a:t>Weathering-corrected composition</a:t>
            </a:r>
            <a:endParaRPr sz="20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92" name="Google Shape;392;p11"/>
          <p:cNvSpPr/>
          <p:nvPr/>
        </p:nvSpPr>
        <p:spPr>
          <a:xfrm>
            <a:off x="3767328" y="3709442"/>
            <a:ext cx="2093976" cy="237744"/>
          </a:xfrm>
          <a:prstGeom prst="roundRect">
            <a:avLst>
              <a:gd name="adj" fmla="val 16667"/>
            </a:avLst>
          </a:prstGeom>
          <a:solidFill>
            <a:srgbClr val="EAF6EF"/>
          </a:solidFill>
          <a:ln w="9525" cap="flat" cmpd="sng">
            <a:solidFill>
              <a:srgbClr val="EAF6EF"/>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Courier New" panose="02070309020205020404" pitchFamily="49" charset="0"/>
              <a:ea typeface="Calibri"/>
              <a:cs typeface="Courier New" panose="02070309020205020404" pitchFamily="49" charset="0"/>
              <a:sym typeface="Calibri"/>
            </a:endParaRPr>
          </a:p>
        </p:txBody>
      </p:sp>
      <p:sp>
        <p:nvSpPr>
          <p:cNvPr id="393" name="Google Shape;393;p11"/>
          <p:cNvSpPr/>
          <p:nvPr/>
        </p:nvSpPr>
        <p:spPr>
          <a:xfrm>
            <a:off x="3767328" y="3709442"/>
            <a:ext cx="2093976"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1F6B4A"/>
              </a:buClr>
              <a:buSzPts val="800"/>
              <a:buFont typeface="Courier New"/>
              <a:buNone/>
            </a:pPr>
            <a:r>
              <a:rPr lang="en-US" sz="900" b="1">
                <a:solidFill>
                  <a:srgbClr val="1F6B4A"/>
                </a:solidFill>
                <a:latin typeface="Courier New" panose="02070309020205020404" pitchFamily="49" charset="0"/>
                <a:ea typeface="Courier New"/>
                <a:cs typeface="Courier New" panose="02070309020205020404" pitchFamily="49" charset="0"/>
                <a:sym typeface="Courier New"/>
              </a:rPr>
              <a:t>CARRIED FORWARD</a:t>
            </a:r>
            <a:endParaRPr sz="2000">
              <a:solidFill>
                <a:schemeClr val="dk1"/>
              </a:solidFill>
              <a:latin typeface="Courier New" panose="02070309020205020404" pitchFamily="49" charset="0"/>
              <a:ea typeface="Calibri"/>
              <a:cs typeface="Courier New" panose="02070309020205020404" pitchFamily="49" charset="0"/>
              <a:sym typeface="Calibri"/>
            </a:endParaRPr>
          </a:p>
        </p:txBody>
      </p:sp>
      <p:sp>
        <p:nvSpPr>
          <p:cNvPr id="394" name="Google Shape;394;p11"/>
          <p:cNvSpPr/>
          <p:nvPr/>
        </p:nvSpPr>
        <p:spPr>
          <a:xfrm>
            <a:off x="3767328" y="4100772"/>
            <a:ext cx="2093976" cy="914400"/>
          </a:xfrm>
          <a:prstGeom prst="rect">
            <a:avLst/>
          </a:prstGeom>
          <a:noFill/>
          <a:ln>
            <a:noFill/>
          </a:ln>
        </p:spPr>
        <p:txBody>
          <a:bodyPr spcFirstLastPara="1" wrap="square" lIns="0" tIns="0" rIns="0" bIns="0" anchor="t" anchorCtr="0">
            <a:noAutofit/>
          </a:bodyPr>
          <a:lstStyle/>
          <a:p>
            <a:pPr marL="0" marR="0" lvl="0" indent="0" algn="ctr" rtl="0">
              <a:lnSpc>
                <a:spcPct val="106000"/>
              </a:lnSpc>
              <a:spcBef>
                <a:spcPts val="0"/>
              </a:spcBef>
              <a:spcAft>
                <a:spcPts val="0"/>
              </a:spcAft>
              <a:buClr>
                <a:srgbClr val="4C5468"/>
              </a:buClr>
              <a:buSzPts val="950"/>
              <a:buFont typeface="Arial"/>
              <a:buNone/>
            </a:pPr>
            <a:r>
              <a:rPr lang="en-US" sz="1200">
                <a:solidFill>
                  <a:srgbClr val="4C5468"/>
                </a:solidFill>
                <a:latin typeface="29LT Adir" panose="00000506000000000000" pitchFamily="50" charset="-78"/>
                <a:cs typeface="29LT Adir" panose="00000506000000000000" pitchFamily="50" charset="-78"/>
                <a:sym typeface="Arial"/>
              </a:rPr>
              <a:t>Nothing on board supplies an unweathered reference, the answer is not set by taxonomy, and the 2029 encounter may reset the maturity clock.</a:t>
            </a:r>
            <a:endParaRPr sz="32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95" name="Google Shape;395;p11"/>
          <p:cNvSpPr/>
          <p:nvPr/>
        </p:nvSpPr>
        <p:spPr>
          <a:xfrm>
            <a:off x="6263640" y="2788654"/>
            <a:ext cx="2569464" cy="2441714"/>
          </a:xfrm>
          <a:prstGeom prst="roundRect">
            <a:avLst>
              <a:gd name="adj" fmla="val 4455"/>
            </a:avLst>
          </a:prstGeom>
          <a:solidFill>
            <a:srgbClr val="FFFFFF"/>
          </a:solidFill>
          <a:ln w="9525" cap="flat" cmpd="sng">
            <a:solidFill>
              <a:srgbClr val="C4CFE0"/>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396" name="Google Shape;396;p11"/>
          <p:cNvSpPr/>
          <p:nvPr/>
        </p:nvSpPr>
        <p:spPr>
          <a:xfrm>
            <a:off x="6501384" y="2931939"/>
            <a:ext cx="2093976"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9839A"/>
              </a:buClr>
              <a:buSzPts val="1200"/>
              <a:buFont typeface="Courier New"/>
              <a:buNone/>
            </a:pPr>
            <a:r>
              <a:rPr lang="en-US" sz="1200" b="1">
                <a:solidFill>
                  <a:srgbClr val="79839A"/>
                </a:solidFill>
                <a:latin typeface="Courier New"/>
                <a:ea typeface="Courier New"/>
                <a:cs typeface="Courier New"/>
                <a:sym typeface="Courier New"/>
              </a:rPr>
              <a:t>GAP-3</a:t>
            </a:r>
            <a:endParaRPr sz="1800">
              <a:solidFill>
                <a:schemeClr val="dk1"/>
              </a:solidFill>
              <a:latin typeface="Calibri"/>
              <a:ea typeface="Calibri"/>
              <a:cs typeface="Calibri"/>
              <a:sym typeface="Calibri"/>
            </a:endParaRPr>
          </a:p>
        </p:txBody>
      </p:sp>
      <p:sp>
        <p:nvSpPr>
          <p:cNvPr id="397" name="Google Shape;397;p11"/>
          <p:cNvSpPr/>
          <p:nvPr/>
        </p:nvSpPr>
        <p:spPr>
          <a:xfrm>
            <a:off x="6501384" y="3160802"/>
            <a:ext cx="2093976" cy="493776"/>
          </a:xfrm>
          <a:prstGeom prst="rect">
            <a:avLst/>
          </a:prstGeom>
          <a:noFill/>
          <a:ln>
            <a:noFill/>
          </a:ln>
        </p:spPr>
        <p:txBody>
          <a:bodyPr spcFirstLastPara="1" wrap="square" lIns="0" tIns="0" rIns="0" bIns="0" anchor="ctr" anchorCtr="0">
            <a:noAutofit/>
          </a:bodyPr>
          <a:lstStyle/>
          <a:p>
            <a:pPr marL="0" marR="0" lvl="0" indent="0" algn="ctr" rtl="0">
              <a:lnSpc>
                <a:spcPct val="98000"/>
              </a:lnSpc>
              <a:spcBef>
                <a:spcPts val="0"/>
              </a:spcBef>
              <a:spcAft>
                <a:spcPts val="0"/>
              </a:spcAft>
              <a:buClr>
                <a:srgbClr val="13234C"/>
              </a:buClr>
              <a:buSzPts val="1200"/>
              <a:buFont typeface="Arial"/>
              <a:buNone/>
            </a:pPr>
            <a:r>
              <a:rPr lang="en-US" b="1">
                <a:solidFill>
                  <a:srgbClr val="13234C"/>
                </a:solidFill>
                <a:latin typeface="29LT Adir" panose="00000506000000000000" pitchFamily="50" charset="-78"/>
                <a:cs typeface="29LT Adir" panose="00000506000000000000" pitchFamily="50" charset="-78"/>
                <a:sym typeface="Arial"/>
              </a:rPr>
              <a:t>Regolith grain-size distribution</a:t>
            </a:r>
            <a:endParaRPr sz="20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398" name="Google Shape;398;p11"/>
          <p:cNvSpPr/>
          <p:nvPr/>
        </p:nvSpPr>
        <p:spPr>
          <a:xfrm>
            <a:off x="6501384" y="3709442"/>
            <a:ext cx="2093976" cy="237744"/>
          </a:xfrm>
          <a:prstGeom prst="roundRect">
            <a:avLst>
              <a:gd name="adj" fmla="val 16667"/>
            </a:avLst>
          </a:prstGeom>
          <a:solidFill>
            <a:srgbClr val="FBECE8"/>
          </a:solidFill>
          <a:ln w="9525" cap="flat" cmpd="sng">
            <a:solidFill>
              <a:srgbClr val="FBECE8"/>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Courier New" panose="02070309020205020404" pitchFamily="49" charset="0"/>
              <a:ea typeface="Calibri"/>
              <a:cs typeface="Courier New" panose="02070309020205020404" pitchFamily="49" charset="0"/>
              <a:sym typeface="Calibri"/>
            </a:endParaRPr>
          </a:p>
        </p:txBody>
      </p:sp>
      <p:sp>
        <p:nvSpPr>
          <p:cNvPr id="399" name="Google Shape;399;p11"/>
          <p:cNvSpPr/>
          <p:nvPr/>
        </p:nvSpPr>
        <p:spPr>
          <a:xfrm>
            <a:off x="6501384" y="3709442"/>
            <a:ext cx="2093976"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A44A34"/>
              </a:buClr>
              <a:buSzPts val="800"/>
              <a:buFont typeface="Courier New"/>
              <a:buNone/>
            </a:pPr>
            <a:r>
              <a:rPr lang="en-US" sz="900" b="1">
                <a:solidFill>
                  <a:srgbClr val="A44A34"/>
                </a:solidFill>
                <a:latin typeface="Courier New" panose="02070309020205020404" pitchFamily="49" charset="0"/>
                <a:ea typeface="Courier New"/>
                <a:cs typeface="Courier New" panose="02070309020205020404" pitchFamily="49" charset="0"/>
                <a:sym typeface="Courier New"/>
              </a:rPr>
              <a:t>OUT · MISSION COMPATIBILITY</a:t>
            </a:r>
            <a:endParaRPr sz="2000">
              <a:solidFill>
                <a:schemeClr val="dk1"/>
              </a:solidFill>
              <a:latin typeface="Courier New" panose="02070309020205020404" pitchFamily="49" charset="0"/>
              <a:ea typeface="Calibri"/>
              <a:cs typeface="Courier New" panose="02070309020205020404" pitchFamily="49" charset="0"/>
              <a:sym typeface="Calibri"/>
            </a:endParaRPr>
          </a:p>
        </p:txBody>
      </p:sp>
      <p:sp>
        <p:nvSpPr>
          <p:cNvPr id="400" name="Google Shape;400;p11"/>
          <p:cNvSpPr/>
          <p:nvPr/>
        </p:nvSpPr>
        <p:spPr>
          <a:xfrm>
            <a:off x="6501384" y="4100772"/>
            <a:ext cx="2093976" cy="914400"/>
          </a:xfrm>
          <a:prstGeom prst="rect">
            <a:avLst/>
          </a:prstGeom>
          <a:noFill/>
          <a:ln>
            <a:noFill/>
          </a:ln>
        </p:spPr>
        <p:txBody>
          <a:bodyPr spcFirstLastPara="1" wrap="square" lIns="0" tIns="0" rIns="0" bIns="0" anchor="t" anchorCtr="0">
            <a:noAutofit/>
          </a:bodyPr>
          <a:lstStyle/>
          <a:p>
            <a:pPr marL="0" marR="0" lvl="0" indent="0" algn="ctr" rtl="0">
              <a:lnSpc>
                <a:spcPct val="106000"/>
              </a:lnSpc>
              <a:spcBef>
                <a:spcPts val="0"/>
              </a:spcBef>
              <a:spcAft>
                <a:spcPts val="0"/>
              </a:spcAft>
              <a:buClr>
                <a:srgbClr val="4C5468"/>
              </a:buClr>
              <a:buSzPts val="950"/>
              <a:buFont typeface="Arial"/>
              <a:buNone/>
            </a:pPr>
            <a:r>
              <a:rPr lang="en-US" sz="1200">
                <a:solidFill>
                  <a:srgbClr val="4C5468"/>
                </a:solidFill>
                <a:latin typeface="29LT Adir" panose="00000506000000000000" pitchFamily="50" charset="-78"/>
                <a:cs typeface="29LT Adir" panose="00000506000000000000" pitchFamily="50" charset="-78"/>
                <a:sym typeface="Arial"/>
              </a:rPr>
              <a:t>TIRI already maps grain size through thermal inertia. Measuring the distribution itself needs surface contact, which an orbiter payload cannot give.</a:t>
            </a:r>
            <a:endParaRPr sz="32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401" name="Google Shape;401;p11"/>
          <p:cNvSpPr/>
          <p:nvPr/>
        </p:nvSpPr>
        <p:spPr>
          <a:xfrm>
            <a:off x="9025128" y="2788654"/>
            <a:ext cx="2569464" cy="2441714"/>
          </a:xfrm>
          <a:prstGeom prst="roundRect">
            <a:avLst>
              <a:gd name="adj" fmla="val 4455"/>
            </a:avLst>
          </a:prstGeom>
          <a:solidFill>
            <a:srgbClr val="FFFFFF"/>
          </a:solidFill>
          <a:ln w="9525" cap="flat" cmpd="sng">
            <a:solidFill>
              <a:srgbClr val="C4CFE0"/>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02" name="Google Shape;402;p11"/>
          <p:cNvSpPr/>
          <p:nvPr/>
        </p:nvSpPr>
        <p:spPr>
          <a:xfrm>
            <a:off x="9262872" y="2931939"/>
            <a:ext cx="2093976" cy="2011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9839A"/>
              </a:buClr>
              <a:buSzPts val="1200"/>
              <a:buFont typeface="Courier New"/>
              <a:buNone/>
            </a:pPr>
            <a:r>
              <a:rPr lang="en-US" sz="1200" b="1">
                <a:solidFill>
                  <a:srgbClr val="79839A"/>
                </a:solidFill>
                <a:latin typeface="Courier New"/>
                <a:ea typeface="Courier New"/>
                <a:cs typeface="Courier New"/>
                <a:sym typeface="Courier New"/>
              </a:rPr>
              <a:t>GAP-4</a:t>
            </a:r>
            <a:endParaRPr sz="1800">
              <a:solidFill>
                <a:schemeClr val="dk1"/>
              </a:solidFill>
              <a:latin typeface="Calibri"/>
              <a:ea typeface="Calibri"/>
              <a:cs typeface="Calibri"/>
              <a:sym typeface="Calibri"/>
            </a:endParaRPr>
          </a:p>
        </p:txBody>
      </p:sp>
      <p:sp>
        <p:nvSpPr>
          <p:cNvPr id="403" name="Google Shape;403;p11"/>
          <p:cNvSpPr/>
          <p:nvPr/>
        </p:nvSpPr>
        <p:spPr>
          <a:xfrm>
            <a:off x="9262872" y="3160802"/>
            <a:ext cx="2093976" cy="493776"/>
          </a:xfrm>
          <a:prstGeom prst="rect">
            <a:avLst/>
          </a:prstGeom>
          <a:noFill/>
          <a:ln>
            <a:noFill/>
          </a:ln>
        </p:spPr>
        <p:txBody>
          <a:bodyPr spcFirstLastPara="1" wrap="square" lIns="0" tIns="0" rIns="0" bIns="0" anchor="ctr" anchorCtr="0">
            <a:noAutofit/>
          </a:bodyPr>
          <a:lstStyle/>
          <a:p>
            <a:pPr marL="0" marR="0" lvl="0" indent="0" algn="ctr" rtl="0">
              <a:lnSpc>
                <a:spcPct val="98000"/>
              </a:lnSpc>
              <a:spcBef>
                <a:spcPts val="0"/>
              </a:spcBef>
              <a:spcAft>
                <a:spcPts val="0"/>
              </a:spcAft>
              <a:buClr>
                <a:srgbClr val="13234C"/>
              </a:buClr>
              <a:buSzPts val="1200"/>
              <a:buFont typeface="Arial"/>
              <a:buNone/>
            </a:pPr>
            <a:r>
              <a:rPr lang="en-US" b="1">
                <a:solidFill>
                  <a:srgbClr val="13234C"/>
                </a:solidFill>
                <a:latin typeface="29LT Adir" panose="00000506000000000000" pitchFamily="50" charset="-78"/>
                <a:cs typeface="29LT Adir" panose="00000506000000000000" pitchFamily="50" charset="-78"/>
                <a:sym typeface="Arial"/>
              </a:rPr>
              <a:t>Free Fe–Ni metallic phase fraction</a:t>
            </a:r>
            <a:endParaRPr sz="20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404" name="Google Shape;404;p11"/>
          <p:cNvSpPr/>
          <p:nvPr/>
        </p:nvSpPr>
        <p:spPr>
          <a:xfrm>
            <a:off x="9262872" y="3709442"/>
            <a:ext cx="2093976" cy="237744"/>
          </a:xfrm>
          <a:prstGeom prst="roundRect">
            <a:avLst>
              <a:gd name="adj" fmla="val 16667"/>
            </a:avLst>
          </a:prstGeom>
          <a:solidFill>
            <a:srgbClr val="FBECE8"/>
          </a:solidFill>
          <a:ln w="9525" cap="flat" cmpd="sng">
            <a:solidFill>
              <a:srgbClr val="FBECE8"/>
            </a:solidFill>
            <a:prstDash val="solid"/>
            <a:round/>
            <a:headEnd type="none" w="sm" len="sm"/>
            <a:tailEnd type="none" w="sm" len="sm"/>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Courier New" panose="02070309020205020404" pitchFamily="49" charset="0"/>
              <a:ea typeface="Calibri"/>
              <a:cs typeface="Courier New" panose="02070309020205020404" pitchFamily="49" charset="0"/>
              <a:sym typeface="Calibri"/>
            </a:endParaRPr>
          </a:p>
        </p:txBody>
      </p:sp>
      <p:sp>
        <p:nvSpPr>
          <p:cNvPr id="405" name="Google Shape;405;p11"/>
          <p:cNvSpPr/>
          <p:nvPr/>
        </p:nvSpPr>
        <p:spPr>
          <a:xfrm>
            <a:off x="9262872" y="3709442"/>
            <a:ext cx="2093976" cy="23774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A44A34"/>
              </a:buClr>
              <a:buSzPts val="800"/>
              <a:buFont typeface="Courier New"/>
              <a:buNone/>
            </a:pPr>
            <a:r>
              <a:rPr lang="en-US" sz="900" b="1">
                <a:solidFill>
                  <a:srgbClr val="A44A34"/>
                </a:solidFill>
                <a:latin typeface="Courier New" panose="02070309020205020404" pitchFamily="49" charset="0"/>
                <a:ea typeface="Courier New"/>
                <a:cs typeface="Courier New" panose="02070309020205020404" pitchFamily="49" charset="0"/>
                <a:sym typeface="Courier New"/>
              </a:rPr>
              <a:t>OUT · SCIENTIFIC VALUE</a:t>
            </a:r>
            <a:endParaRPr sz="2000">
              <a:solidFill>
                <a:schemeClr val="dk1"/>
              </a:solidFill>
              <a:latin typeface="Courier New" panose="02070309020205020404" pitchFamily="49" charset="0"/>
              <a:ea typeface="Calibri"/>
              <a:cs typeface="Courier New" panose="02070309020205020404" pitchFamily="49" charset="0"/>
              <a:sym typeface="Calibri"/>
            </a:endParaRPr>
          </a:p>
        </p:txBody>
      </p:sp>
      <p:sp>
        <p:nvSpPr>
          <p:cNvPr id="406" name="Google Shape;406;p11"/>
          <p:cNvSpPr/>
          <p:nvPr/>
        </p:nvSpPr>
        <p:spPr>
          <a:xfrm>
            <a:off x="9262872" y="4100772"/>
            <a:ext cx="2093976" cy="914400"/>
          </a:xfrm>
          <a:prstGeom prst="rect">
            <a:avLst/>
          </a:prstGeom>
          <a:noFill/>
          <a:ln>
            <a:noFill/>
          </a:ln>
        </p:spPr>
        <p:txBody>
          <a:bodyPr spcFirstLastPara="1" wrap="square" lIns="0" tIns="0" rIns="0" bIns="0" anchor="t" anchorCtr="0">
            <a:noAutofit/>
          </a:bodyPr>
          <a:lstStyle/>
          <a:p>
            <a:pPr marL="0" marR="0" lvl="0" indent="0" algn="ctr" rtl="0">
              <a:lnSpc>
                <a:spcPct val="106000"/>
              </a:lnSpc>
              <a:spcBef>
                <a:spcPts val="0"/>
              </a:spcBef>
              <a:spcAft>
                <a:spcPts val="0"/>
              </a:spcAft>
              <a:buClr>
                <a:srgbClr val="4C5468"/>
              </a:buClr>
              <a:buSzPts val="950"/>
              <a:buFont typeface="Arial"/>
              <a:buNone/>
            </a:pPr>
            <a:r>
              <a:rPr lang="en-US" sz="1200">
                <a:solidFill>
                  <a:srgbClr val="4C5468"/>
                </a:solidFill>
                <a:latin typeface="29LT Adir" panose="00000506000000000000" pitchFamily="50" charset="-78"/>
                <a:cs typeface="29LT Adir" panose="00000506000000000000" pitchFamily="50" charset="-78"/>
                <a:sym typeface="Arial"/>
              </a:rPr>
              <a:t>LL is the lowest-metal ordinary chondrite class, so the answer is largely set in advance. The quantity is static too: any body, any year would serve.</a:t>
            </a:r>
            <a:endParaRPr sz="32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407" name="Google Shape;407;p11"/>
          <p:cNvSpPr/>
          <p:nvPr/>
        </p:nvSpPr>
        <p:spPr>
          <a:xfrm>
            <a:off x="658368" y="6272784"/>
            <a:ext cx="85953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9839A"/>
              </a:buClr>
              <a:buSzPts val="800"/>
              <a:buFont typeface="Courier New"/>
              <a:buNone/>
            </a:pPr>
            <a:r>
              <a:rPr lang="en-US" sz="800">
                <a:solidFill>
                  <a:srgbClr val="79839A"/>
                </a:solidFill>
                <a:latin typeface="Courier New"/>
                <a:ea typeface="Courier New"/>
                <a:cs typeface="Courier New"/>
                <a:sym typeface="Courier New"/>
              </a:rPr>
              <a:t>BASELINE</a:t>
            </a:r>
            <a:r>
              <a:rPr lang="en-US" sz="800">
                <a:solidFill>
                  <a:srgbClr val="000000"/>
                </a:solidFill>
                <a:latin typeface="Courier New"/>
                <a:ea typeface="Courier New"/>
                <a:cs typeface="Courier New"/>
                <a:sym typeface="Courier New"/>
              </a:rPr>
              <a:t>     </a:t>
            </a:r>
            <a:r>
              <a:rPr lang="en-US" sz="800">
                <a:solidFill>
                  <a:srgbClr val="79839A"/>
                </a:solidFill>
                <a:latin typeface="Courier New"/>
                <a:ea typeface="Courier New"/>
                <a:cs typeface="Courier New"/>
                <a:sym typeface="Courier New"/>
              </a:rPr>
              <a:t>KNOWLEDGE GAPS</a:t>
            </a:r>
            <a:r>
              <a:rPr lang="en-US" sz="800">
                <a:solidFill>
                  <a:srgbClr val="000000"/>
                </a:solidFill>
                <a:latin typeface="Courier New"/>
                <a:ea typeface="Courier New"/>
                <a:cs typeface="Courier New"/>
                <a:sym typeface="Courier New"/>
              </a:rPr>
              <a:t>     </a:t>
            </a:r>
            <a:r>
              <a:rPr lang="en-US" sz="800" b="1">
                <a:solidFill>
                  <a:srgbClr val="13234C"/>
                </a:solidFill>
                <a:latin typeface="Courier New"/>
                <a:ea typeface="Courier New"/>
                <a:cs typeface="Courier New"/>
                <a:sym typeface="Courier New"/>
              </a:rPr>
              <a:t>SELECTION</a:t>
            </a:r>
            <a:r>
              <a:rPr lang="en-US" sz="800">
                <a:solidFill>
                  <a:srgbClr val="000000"/>
                </a:solidFill>
                <a:latin typeface="Courier New"/>
                <a:ea typeface="Courier New"/>
                <a:cs typeface="Courier New"/>
                <a:sym typeface="Courier New"/>
              </a:rPr>
              <a:t>     </a:t>
            </a:r>
            <a:r>
              <a:rPr lang="en-US" sz="800">
                <a:solidFill>
                  <a:srgbClr val="79839A"/>
                </a:solidFill>
                <a:latin typeface="Courier New"/>
                <a:ea typeface="Courier New"/>
                <a:cs typeface="Courier New"/>
                <a:sym typeface="Courier New"/>
              </a:rPr>
              <a:t>RECOMMENDATION</a:t>
            </a:r>
            <a:r>
              <a:rPr lang="en-US" sz="800">
                <a:solidFill>
                  <a:srgbClr val="000000"/>
                </a:solidFill>
                <a:latin typeface="Courier New"/>
                <a:ea typeface="Courier New"/>
                <a:cs typeface="Courier New"/>
                <a:sym typeface="Courier New"/>
              </a:rPr>
              <a:t>     </a:t>
            </a:r>
            <a:r>
              <a:rPr lang="en-US" sz="800">
                <a:solidFill>
                  <a:srgbClr val="79839A"/>
                </a:solidFill>
                <a:latin typeface="Courier New"/>
                <a:ea typeface="Courier New"/>
                <a:cs typeface="Courier New"/>
                <a:sym typeface="Courier New"/>
              </a:rPr>
              <a:t>VALUE</a:t>
            </a:r>
            <a:endParaRPr sz="800">
              <a:solidFill>
                <a:schemeClr val="dk1"/>
              </a:solidFill>
              <a:latin typeface="Courier New"/>
              <a:ea typeface="Courier New"/>
              <a:cs typeface="Courier New"/>
              <a:sym typeface="Courier New"/>
            </a:endParaRPr>
          </a:p>
        </p:txBody>
      </p:sp>
      <p:sp>
        <p:nvSpPr>
          <p:cNvPr id="408" name="Google Shape;408;p11"/>
          <p:cNvSpPr/>
          <p:nvPr/>
        </p:nvSpPr>
        <p:spPr>
          <a:xfrm>
            <a:off x="658368" y="530352"/>
            <a:ext cx="9052560" cy="472966"/>
          </a:xfrm>
          <a:prstGeom prst="rect">
            <a:avLst/>
          </a:prstGeom>
          <a:noFill/>
          <a:ln>
            <a:noFill/>
          </a:ln>
        </p:spPr>
        <p:txBody>
          <a:bodyPr spcFirstLastPara="1" wrap="square" lIns="0" tIns="0" rIns="0" bIns="0" anchor="ctr" anchorCtr="0">
            <a:noAutofit/>
          </a:bodyPr>
          <a:lstStyle/>
          <a:p>
            <a:pPr marL="0" marR="0" lvl="0" indent="0" algn="l" rtl="0">
              <a:lnSpc>
                <a:spcPct val="92000"/>
              </a:lnSpc>
              <a:spcBef>
                <a:spcPts val="0"/>
              </a:spcBef>
              <a:spcAft>
                <a:spcPts val="0"/>
              </a:spcAft>
              <a:buClr>
                <a:srgbClr val="13234C"/>
              </a:buClr>
              <a:buSzPts val="3000"/>
              <a:buFont typeface="Arial"/>
              <a:buNone/>
            </a:pPr>
            <a:r>
              <a:rPr lang="en-US" sz="3000" b="1">
                <a:solidFill>
                  <a:srgbClr val="13234C"/>
                </a:solidFill>
                <a:latin typeface="29LT Adir" panose="00000506000000000000" pitchFamily="50" charset="-78"/>
                <a:cs typeface="29LT Adir" panose="00000506000000000000" pitchFamily="50" charset="-78"/>
                <a:sym typeface="Arial"/>
              </a:rPr>
              <a:t>Priority Selection</a:t>
            </a:r>
            <a:endParaRPr sz="30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409" name="Google Shape;409;p11"/>
          <p:cNvSpPr/>
          <p:nvPr/>
        </p:nvSpPr>
        <p:spPr>
          <a:xfrm>
            <a:off x="658368" y="1058182"/>
            <a:ext cx="9052560" cy="3291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4C5468"/>
              </a:buClr>
              <a:buSzPts val="1400"/>
              <a:buFont typeface="Arial"/>
              <a:buNone/>
            </a:pPr>
            <a:r>
              <a:rPr lang="en-US" sz="1400" dirty="0">
                <a:solidFill>
                  <a:srgbClr val="4C5468"/>
                </a:solidFill>
                <a:latin typeface="29LT Adir" panose="00000506000000000000" pitchFamily="50" charset="-78"/>
                <a:cs typeface="29LT Adir" panose="00000506000000000000" pitchFamily="50" charset="-78"/>
                <a:sym typeface="Arial"/>
              </a:rPr>
              <a:t>Two criteria. A gap must clear both to be carried forward.</a:t>
            </a:r>
            <a:endParaRPr sz="1400" dirty="0">
              <a:solidFill>
                <a:schemeClr val="dk1"/>
              </a:solidFill>
              <a:latin typeface="29LT Adir" panose="00000506000000000000" pitchFamily="50" charset="-78"/>
              <a:cs typeface="29LT Adir" panose="00000506000000000000" pitchFamily="50" charset="-78"/>
              <a:sym typeface="Arial"/>
            </a:endParaRPr>
          </a:p>
        </p:txBody>
      </p:sp>
      <p:sp>
        <p:nvSpPr>
          <p:cNvPr id="410" name="Google Shape;410;p11"/>
          <p:cNvSpPr/>
          <p:nvPr/>
        </p:nvSpPr>
        <p:spPr>
          <a:xfrm>
            <a:off x="658368" y="5340096"/>
            <a:ext cx="10874959" cy="768096"/>
          </a:xfrm>
          <a:prstGeom prst="roundRect">
            <a:avLst>
              <a:gd name="adj" fmla="val 8182"/>
            </a:avLst>
          </a:prstGeom>
          <a:solidFill>
            <a:srgbClr val="0E1A3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11" name="Google Shape;411;p11"/>
          <p:cNvSpPr/>
          <p:nvPr/>
        </p:nvSpPr>
        <p:spPr>
          <a:xfrm>
            <a:off x="1078992" y="5406783"/>
            <a:ext cx="29260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A33D"/>
              </a:buClr>
              <a:buSzPts val="1000"/>
              <a:buFont typeface="Courier New"/>
              <a:buNone/>
            </a:pPr>
            <a:r>
              <a:rPr lang="en-US" sz="1000" b="1">
                <a:solidFill>
                  <a:srgbClr val="E8A33D"/>
                </a:solidFill>
                <a:latin typeface="Courier New"/>
                <a:ea typeface="Courier New"/>
                <a:cs typeface="Courier New"/>
                <a:sym typeface="Courier New"/>
              </a:rPr>
              <a:t>ONE PRIORITY</a:t>
            </a:r>
            <a:endParaRPr sz="1000">
              <a:solidFill>
                <a:schemeClr val="dk1"/>
              </a:solidFill>
              <a:latin typeface="Courier New"/>
              <a:ea typeface="Courier New"/>
              <a:cs typeface="Courier New"/>
              <a:sym typeface="Courier New"/>
            </a:endParaRPr>
          </a:p>
        </p:txBody>
      </p:sp>
      <p:sp>
        <p:nvSpPr>
          <p:cNvPr id="412" name="Google Shape;412;p11"/>
          <p:cNvSpPr/>
          <p:nvPr/>
        </p:nvSpPr>
        <p:spPr>
          <a:xfrm>
            <a:off x="1078992" y="5589112"/>
            <a:ext cx="6766560" cy="40233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2100"/>
              <a:buFont typeface="Arial"/>
              <a:buNone/>
            </a:pPr>
            <a:r>
              <a:rPr lang="en-US" sz="2100" dirty="0">
                <a:solidFill>
                  <a:srgbClr val="FFFFFF"/>
                </a:solidFill>
                <a:latin typeface="29LT Adir" panose="00000506000000000000" pitchFamily="50" charset="-78"/>
                <a:cs typeface="29LT Adir" panose="00000506000000000000" pitchFamily="50" charset="-78"/>
                <a:sym typeface="Arial"/>
              </a:rPr>
              <a:t>Weathering-corrected composition</a:t>
            </a:r>
            <a:endParaRPr sz="21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414" name="Google Shape;414;p11"/>
          <p:cNvSpPr/>
          <p:nvPr/>
        </p:nvSpPr>
        <p:spPr>
          <a:xfrm>
            <a:off x="10881360" y="6272784"/>
            <a:ext cx="694944"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79839A"/>
              </a:buClr>
              <a:buSzPts val="1000"/>
              <a:buFont typeface="Arial"/>
              <a:buNone/>
            </a:pPr>
            <a:r>
              <a:rPr lang="en-US" sz="1000">
                <a:solidFill>
                  <a:srgbClr val="79839A"/>
                </a:solidFill>
                <a:latin typeface="Arial"/>
                <a:ea typeface="Arial"/>
                <a:cs typeface="Arial"/>
                <a:sym typeface="Arial"/>
              </a:rPr>
              <a:t>8</a:t>
            </a:r>
            <a:endParaRPr sz="1000">
              <a:solidFill>
                <a:schemeClr val="dk1"/>
              </a:solidFill>
              <a:latin typeface="Calibri"/>
              <a:ea typeface="Calibri"/>
              <a:cs typeface="Calibri"/>
              <a:sym typeface="Calibri"/>
            </a:endParaRPr>
          </a:p>
        </p:txBody>
      </p:sp>
      <p:pic>
        <p:nvPicPr>
          <p:cNvPr id="416" name="Google Shape;416;p11" descr="/home/claude/work/a2/logo_dark.png"/>
          <p:cNvPicPr preferRelativeResize="0"/>
          <p:nvPr/>
        </p:nvPicPr>
        <p:blipFill rotWithShape="1">
          <a:blip r:embed="rId5">
            <a:alphaModFix/>
          </a:blip>
          <a:srcRect/>
          <a:stretch/>
        </p:blipFill>
        <p:spPr>
          <a:xfrm>
            <a:off x="10616340" y="122984"/>
            <a:ext cx="1450538" cy="81473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Shape 421"/>
        <p:cNvGrpSpPr/>
        <p:nvPr/>
      </p:nvGrpSpPr>
      <p:grpSpPr>
        <a:xfrm>
          <a:off x="0" y="0"/>
          <a:ext cx="0" cy="0"/>
          <a:chOff x="0" y="0"/>
          <a:chExt cx="0" cy="0"/>
        </a:xfrm>
      </p:grpSpPr>
      <p:pic>
        <p:nvPicPr>
          <p:cNvPr id="422" name="Google Shape;422;p12" descr="/home/claude/work/a2/glow_amber.jpg"/>
          <p:cNvPicPr preferRelativeResize="0"/>
          <p:nvPr/>
        </p:nvPicPr>
        <p:blipFill rotWithShape="1">
          <a:blip r:embed="rId3">
            <a:alphaModFix/>
          </a:blip>
          <a:srcRect/>
          <a:stretch/>
        </p:blipFill>
        <p:spPr>
          <a:xfrm>
            <a:off x="-1" y="0"/>
            <a:ext cx="12191695" cy="6858000"/>
          </a:xfrm>
          <a:prstGeom prst="rect">
            <a:avLst/>
          </a:prstGeom>
          <a:noFill/>
          <a:ln>
            <a:noFill/>
          </a:ln>
        </p:spPr>
      </p:pic>
      <p:pic>
        <p:nvPicPr>
          <p:cNvPr id="423" name="Google Shape;423;p12" descr="/home/claude/work/a2/logo_white.png"/>
          <p:cNvPicPr preferRelativeResize="0"/>
          <p:nvPr/>
        </p:nvPicPr>
        <p:blipFill rotWithShape="1">
          <a:blip r:embed="rId4">
            <a:alphaModFix/>
          </a:blip>
          <a:srcRect/>
          <a:stretch/>
        </p:blipFill>
        <p:spPr>
          <a:xfrm>
            <a:off x="10801600" y="329184"/>
            <a:ext cx="1133856" cy="478231"/>
          </a:xfrm>
          <a:prstGeom prst="rect">
            <a:avLst/>
          </a:prstGeom>
          <a:noFill/>
          <a:ln>
            <a:noFill/>
          </a:ln>
        </p:spPr>
      </p:pic>
      <p:sp>
        <p:nvSpPr>
          <p:cNvPr id="424" name="Google Shape;424;p12"/>
          <p:cNvSpPr/>
          <p:nvPr/>
        </p:nvSpPr>
        <p:spPr>
          <a:xfrm>
            <a:off x="658368" y="6272784"/>
            <a:ext cx="85953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4607C"/>
              </a:buClr>
              <a:buSzPts val="800"/>
              <a:buFont typeface="Courier New"/>
              <a:buNone/>
            </a:pPr>
            <a:r>
              <a:rPr lang="en-US" sz="800" dirty="0">
                <a:solidFill>
                  <a:srgbClr val="54607C"/>
                </a:solidFill>
                <a:latin typeface="Courier New"/>
                <a:ea typeface="Courier New"/>
                <a:cs typeface="Courier New"/>
                <a:sym typeface="Courier New"/>
              </a:rPr>
              <a:t>BASELINE</a:t>
            </a:r>
            <a:r>
              <a:rPr lang="en-US" sz="800" dirty="0">
                <a:solidFill>
                  <a:srgbClr val="000000"/>
                </a:solidFill>
                <a:latin typeface="Courier New"/>
                <a:ea typeface="Courier New"/>
                <a:cs typeface="Courier New"/>
                <a:sym typeface="Courier New"/>
              </a:rPr>
              <a:t>     </a:t>
            </a:r>
            <a:r>
              <a:rPr lang="en-US" sz="800" dirty="0">
                <a:solidFill>
                  <a:srgbClr val="54607C"/>
                </a:solidFill>
                <a:latin typeface="Courier New"/>
                <a:ea typeface="Courier New"/>
                <a:cs typeface="Courier New"/>
                <a:sym typeface="Courier New"/>
              </a:rPr>
              <a:t>KNOWLEDGE GAPS</a:t>
            </a:r>
            <a:r>
              <a:rPr lang="en-US" sz="800" dirty="0">
                <a:solidFill>
                  <a:srgbClr val="000000"/>
                </a:solidFill>
                <a:latin typeface="Courier New"/>
                <a:ea typeface="Courier New"/>
                <a:cs typeface="Courier New"/>
                <a:sym typeface="Courier New"/>
              </a:rPr>
              <a:t>     </a:t>
            </a:r>
            <a:r>
              <a:rPr lang="en-US" sz="800" b="1" dirty="0">
                <a:solidFill>
                  <a:srgbClr val="FFC000"/>
                </a:solidFill>
                <a:latin typeface="Courier New"/>
                <a:ea typeface="Courier New"/>
                <a:cs typeface="Courier New"/>
                <a:sym typeface="Courier New"/>
              </a:rPr>
              <a:t>SELECTION</a:t>
            </a:r>
            <a:r>
              <a:rPr lang="en-US" sz="800" dirty="0">
                <a:solidFill>
                  <a:srgbClr val="000000"/>
                </a:solidFill>
                <a:latin typeface="Courier New"/>
                <a:ea typeface="Courier New"/>
                <a:cs typeface="Courier New"/>
                <a:sym typeface="Courier New"/>
              </a:rPr>
              <a:t>     </a:t>
            </a:r>
            <a:r>
              <a:rPr lang="en-US" sz="800" dirty="0">
                <a:solidFill>
                  <a:srgbClr val="54607C"/>
                </a:solidFill>
                <a:latin typeface="Courier New"/>
                <a:ea typeface="Courier New"/>
                <a:cs typeface="Courier New"/>
                <a:sym typeface="Courier New"/>
              </a:rPr>
              <a:t>RECOMMENDATION</a:t>
            </a:r>
            <a:r>
              <a:rPr lang="en-US" sz="800" dirty="0">
                <a:solidFill>
                  <a:srgbClr val="000000"/>
                </a:solidFill>
                <a:latin typeface="Courier New"/>
                <a:ea typeface="Courier New"/>
                <a:cs typeface="Courier New"/>
                <a:sym typeface="Courier New"/>
              </a:rPr>
              <a:t>     </a:t>
            </a:r>
            <a:r>
              <a:rPr lang="en-US" sz="800" dirty="0">
                <a:solidFill>
                  <a:srgbClr val="54607C"/>
                </a:solidFill>
                <a:latin typeface="Courier New"/>
                <a:ea typeface="Courier New"/>
                <a:cs typeface="Courier New"/>
                <a:sym typeface="Courier New"/>
              </a:rPr>
              <a:t>VALUE</a:t>
            </a:r>
            <a:endParaRPr sz="800" dirty="0">
              <a:solidFill>
                <a:schemeClr val="dk1"/>
              </a:solidFill>
              <a:latin typeface="Courier New"/>
              <a:ea typeface="Courier New"/>
              <a:cs typeface="Courier New"/>
              <a:sym typeface="Courier New"/>
            </a:endParaRPr>
          </a:p>
        </p:txBody>
      </p:sp>
      <p:sp>
        <p:nvSpPr>
          <p:cNvPr id="425" name="Google Shape;425;p12"/>
          <p:cNvSpPr/>
          <p:nvPr/>
        </p:nvSpPr>
        <p:spPr>
          <a:xfrm>
            <a:off x="658368" y="530352"/>
            <a:ext cx="9052560" cy="472966"/>
          </a:xfrm>
          <a:prstGeom prst="rect">
            <a:avLst/>
          </a:prstGeom>
          <a:noFill/>
          <a:ln>
            <a:noFill/>
          </a:ln>
        </p:spPr>
        <p:txBody>
          <a:bodyPr spcFirstLastPara="1" wrap="square" lIns="0" tIns="0" rIns="0" bIns="0" anchor="ctr" anchorCtr="0">
            <a:noAutofit/>
          </a:bodyPr>
          <a:lstStyle/>
          <a:p>
            <a:pPr marL="0" marR="0" lvl="0" indent="0" algn="l" rtl="0">
              <a:lnSpc>
                <a:spcPct val="92000"/>
              </a:lnSpc>
              <a:spcBef>
                <a:spcPts val="0"/>
              </a:spcBef>
              <a:spcAft>
                <a:spcPts val="0"/>
              </a:spcAft>
              <a:buClr>
                <a:srgbClr val="FFFFFF"/>
              </a:buClr>
              <a:buSzPts val="3000"/>
              <a:buFont typeface="Arial"/>
              <a:buNone/>
            </a:pPr>
            <a:r>
              <a:rPr lang="en-US" sz="3000" b="1">
                <a:solidFill>
                  <a:srgbClr val="FFFFFF"/>
                </a:solidFill>
                <a:latin typeface="29LT Adir" panose="00000506000000000000" pitchFamily="50" charset="-78"/>
                <a:cs typeface="29LT Adir" panose="00000506000000000000" pitchFamily="50" charset="-78"/>
                <a:sym typeface="Arial"/>
              </a:rPr>
              <a:t>The Scientific Problem</a:t>
            </a:r>
            <a:endParaRPr sz="30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426" name="Google Shape;426;p12"/>
          <p:cNvSpPr/>
          <p:nvPr/>
        </p:nvSpPr>
        <p:spPr>
          <a:xfrm>
            <a:off x="658368" y="1058182"/>
            <a:ext cx="9052560" cy="3291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9BA7C0"/>
              </a:buClr>
              <a:buSzPts val="1400"/>
              <a:buFont typeface="Arial"/>
              <a:buNone/>
            </a:pPr>
            <a:r>
              <a:rPr lang="en-US" sz="1400" dirty="0">
                <a:solidFill>
                  <a:srgbClr val="9BA7C0"/>
                </a:solidFill>
                <a:latin typeface="29LT Adir" panose="00000506000000000000" pitchFamily="50" charset="-78"/>
                <a:cs typeface="29LT Adir" panose="00000506000000000000" pitchFamily="50" charset="-78"/>
                <a:sym typeface="Arial"/>
              </a:rPr>
              <a:t>Space weathering changes what we see without changing the bulk composition.</a:t>
            </a:r>
            <a:endParaRPr sz="1400" dirty="0">
              <a:solidFill>
                <a:schemeClr val="dk1"/>
              </a:solidFill>
              <a:latin typeface="29LT Adir" panose="00000506000000000000" pitchFamily="50" charset="-78"/>
              <a:cs typeface="29LT Adir" panose="00000506000000000000" pitchFamily="50" charset="-78"/>
              <a:sym typeface="Arial"/>
            </a:endParaRPr>
          </a:p>
        </p:txBody>
      </p:sp>
      <p:sp>
        <p:nvSpPr>
          <p:cNvPr id="427" name="Google Shape;427;p12"/>
          <p:cNvSpPr/>
          <p:nvPr/>
        </p:nvSpPr>
        <p:spPr>
          <a:xfrm>
            <a:off x="658368" y="1960008"/>
            <a:ext cx="2362124" cy="914400"/>
          </a:xfrm>
          <a:prstGeom prst="roundRect">
            <a:avLst>
              <a:gd name="adj" fmla="val 8000"/>
            </a:avLst>
          </a:prstGeom>
          <a:solidFill>
            <a:srgbClr val="111A2E"/>
          </a:solidFill>
          <a:ln w="9525" cap="flat" cmpd="sng">
            <a:solidFill>
              <a:srgbClr val="2A35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ourier New"/>
              <a:ea typeface="Courier New"/>
              <a:cs typeface="Courier New"/>
              <a:sym typeface="Courier New"/>
            </a:endParaRPr>
          </a:p>
        </p:txBody>
      </p:sp>
      <p:sp>
        <p:nvSpPr>
          <p:cNvPr id="428" name="Google Shape;428;p12"/>
          <p:cNvSpPr/>
          <p:nvPr/>
        </p:nvSpPr>
        <p:spPr>
          <a:xfrm>
            <a:off x="804672" y="1960008"/>
            <a:ext cx="2069516" cy="91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Courier New"/>
              <a:buNone/>
            </a:pPr>
            <a:r>
              <a:rPr lang="en-US" sz="1200">
                <a:solidFill>
                  <a:srgbClr val="FFFFFF"/>
                </a:solidFill>
                <a:latin typeface="Courier New"/>
                <a:ea typeface="Courier New"/>
                <a:cs typeface="Courier New"/>
                <a:sym typeface="Courier New"/>
              </a:rPr>
              <a:t>Fresh material</a:t>
            </a:r>
            <a:endParaRPr sz="1200">
              <a:solidFill>
                <a:schemeClr val="dk1"/>
              </a:solidFill>
              <a:latin typeface="Courier New"/>
              <a:ea typeface="Courier New"/>
              <a:cs typeface="Courier New"/>
              <a:sym typeface="Courier New"/>
            </a:endParaRPr>
          </a:p>
        </p:txBody>
      </p:sp>
      <p:sp>
        <p:nvSpPr>
          <p:cNvPr id="429" name="Google Shape;429;p12"/>
          <p:cNvSpPr/>
          <p:nvPr/>
        </p:nvSpPr>
        <p:spPr>
          <a:xfrm>
            <a:off x="3130220" y="2316624"/>
            <a:ext cx="256032" cy="201168"/>
          </a:xfrm>
          <a:prstGeom prst="rightArrow">
            <a:avLst>
              <a:gd name="adj1" fmla="val 50000"/>
              <a:gd name="adj2" fmla="val 50000"/>
            </a:avLst>
          </a:prstGeom>
          <a:solidFill>
            <a:srgbClr val="00B0F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ourier New"/>
              <a:ea typeface="Courier New"/>
              <a:cs typeface="Courier New"/>
              <a:sym typeface="Courier New"/>
            </a:endParaRPr>
          </a:p>
        </p:txBody>
      </p:sp>
      <p:sp>
        <p:nvSpPr>
          <p:cNvPr id="430" name="Google Shape;430;p12"/>
          <p:cNvSpPr/>
          <p:nvPr/>
        </p:nvSpPr>
        <p:spPr>
          <a:xfrm>
            <a:off x="3495980" y="1960008"/>
            <a:ext cx="2362124" cy="914400"/>
          </a:xfrm>
          <a:prstGeom prst="roundRect">
            <a:avLst>
              <a:gd name="adj" fmla="val 8000"/>
            </a:avLst>
          </a:prstGeom>
          <a:solidFill>
            <a:srgbClr val="111A2E"/>
          </a:solidFill>
          <a:ln w="9525" cap="flat" cmpd="sng">
            <a:solidFill>
              <a:srgbClr val="2A35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ourier New"/>
              <a:ea typeface="Courier New"/>
              <a:cs typeface="Courier New"/>
              <a:sym typeface="Courier New"/>
            </a:endParaRPr>
          </a:p>
        </p:txBody>
      </p:sp>
      <p:sp>
        <p:nvSpPr>
          <p:cNvPr id="431" name="Google Shape;431;p12"/>
          <p:cNvSpPr/>
          <p:nvPr/>
        </p:nvSpPr>
        <p:spPr>
          <a:xfrm>
            <a:off x="3642284" y="1960008"/>
            <a:ext cx="2069516" cy="91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Courier New"/>
              <a:buNone/>
            </a:pPr>
            <a:r>
              <a:rPr lang="en-US" sz="1200">
                <a:solidFill>
                  <a:srgbClr val="FFFFFF"/>
                </a:solidFill>
                <a:latin typeface="Courier New"/>
                <a:ea typeface="Courier New"/>
                <a:cs typeface="Courier New"/>
                <a:sym typeface="Courier New"/>
              </a:rPr>
              <a:t>Space weathering</a:t>
            </a:r>
            <a:endParaRPr sz="1200">
              <a:solidFill>
                <a:schemeClr val="dk1"/>
              </a:solidFill>
              <a:latin typeface="Courier New"/>
              <a:ea typeface="Courier New"/>
              <a:cs typeface="Courier New"/>
              <a:sym typeface="Courier New"/>
            </a:endParaRPr>
          </a:p>
        </p:txBody>
      </p:sp>
      <p:sp>
        <p:nvSpPr>
          <p:cNvPr id="432" name="Google Shape;432;p12"/>
          <p:cNvSpPr/>
          <p:nvPr/>
        </p:nvSpPr>
        <p:spPr>
          <a:xfrm>
            <a:off x="5967832" y="2316624"/>
            <a:ext cx="256032" cy="201168"/>
          </a:xfrm>
          <a:prstGeom prst="rightArrow">
            <a:avLst>
              <a:gd name="adj1" fmla="val 50000"/>
              <a:gd name="adj2" fmla="val 50000"/>
            </a:avLst>
          </a:prstGeom>
          <a:solidFill>
            <a:srgbClr val="00B0F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ourier New"/>
              <a:ea typeface="Courier New"/>
              <a:cs typeface="Courier New"/>
              <a:sym typeface="Courier New"/>
            </a:endParaRPr>
          </a:p>
        </p:txBody>
      </p:sp>
      <p:sp>
        <p:nvSpPr>
          <p:cNvPr id="433" name="Google Shape;433;p12"/>
          <p:cNvSpPr/>
          <p:nvPr/>
        </p:nvSpPr>
        <p:spPr>
          <a:xfrm>
            <a:off x="6333592" y="1960008"/>
            <a:ext cx="2362124" cy="914400"/>
          </a:xfrm>
          <a:prstGeom prst="roundRect">
            <a:avLst>
              <a:gd name="adj" fmla="val 8000"/>
            </a:avLst>
          </a:prstGeom>
          <a:solidFill>
            <a:srgbClr val="111A2E"/>
          </a:solidFill>
          <a:ln w="9525" cap="flat" cmpd="sng">
            <a:solidFill>
              <a:srgbClr val="2A35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ourier New"/>
              <a:ea typeface="Courier New"/>
              <a:cs typeface="Courier New"/>
              <a:sym typeface="Courier New"/>
            </a:endParaRPr>
          </a:p>
        </p:txBody>
      </p:sp>
      <p:sp>
        <p:nvSpPr>
          <p:cNvPr id="434" name="Google Shape;434;p12"/>
          <p:cNvSpPr/>
          <p:nvPr/>
        </p:nvSpPr>
        <p:spPr>
          <a:xfrm>
            <a:off x="6479896" y="1960008"/>
            <a:ext cx="2069516" cy="91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FFFFFF"/>
              </a:buClr>
              <a:buSzPts val="1200"/>
              <a:buFont typeface="Courier New"/>
              <a:buNone/>
            </a:pPr>
            <a:r>
              <a:rPr lang="en-US" sz="1200">
                <a:solidFill>
                  <a:srgbClr val="FFFFFF"/>
                </a:solidFill>
                <a:latin typeface="Courier New"/>
                <a:ea typeface="Courier New"/>
                <a:cs typeface="Courier New"/>
                <a:sym typeface="Courier New"/>
              </a:rPr>
              <a:t>Altered optical spectrum</a:t>
            </a:r>
            <a:endParaRPr sz="1200">
              <a:solidFill>
                <a:schemeClr val="dk1"/>
              </a:solidFill>
              <a:latin typeface="Courier New"/>
              <a:ea typeface="Courier New"/>
              <a:cs typeface="Courier New"/>
              <a:sym typeface="Courier New"/>
            </a:endParaRPr>
          </a:p>
        </p:txBody>
      </p:sp>
      <p:sp>
        <p:nvSpPr>
          <p:cNvPr id="435" name="Google Shape;435;p12"/>
          <p:cNvSpPr/>
          <p:nvPr/>
        </p:nvSpPr>
        <p:spPr>
          <a:xfrm>
            <a:off x="8805443" y="2316624"/>
            <a:ext cx="256032" cy="201168"/>
          </a:xfrm>
          <a:prstGeom prst="rightArrow">
            <a:avLst>
              <a:gd name="adj1" fmla="val 50000"/>
              <a:gd name="adj2" fmla="val 50000"/>
            </a:avLst>
          </a:prstGeom>
          <a:solidFill>
            <a:srgbClr val="00B0F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ourier New"/>
              <a:ea typeface="Courier New"/>
              <a:cs typeface="Courier New"/>
              <a:sym typeface="Courier New"/>
            </a:endParaRPr>
          </a:p>
        </p:txBody>
      </p:sp>
      <p:sp>
        <p:nvSpPr>
          <p:cNvPr id="436" name="Google Shape;436;p12"/>
          <p:cNvSpPr/>
          <p:nvPr/>
        </p:nvSpPr>
        <p:spPr>
          <a:xfrm>
            <a:off x="9171203" y="1960008"/>
            <a:ext cx="2362124" cy="914400"/>
          </a:xfrm>
          <a:prstGeom prst="roundRect">
            <a:avLst>
              <a:gd name="adj" fmla="val 8000"/>
            </a:avLst>
          </a:prstGeom>
          <a:solidFill>
            <a:srgbClr val="111A2E"/>
          </a:solidFill>
          <a:ln w="19050" cap="flat" cmpd="sng">
            <a:solidFill>
              <a:srgbClr val="F0F0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200">
              <a:solidFill>
                <a:schemeClr val="dk1"/>
              </a:solidFill>
              <a:latin typeface="Courier New"/>
              <a:ea typeface="Courier New"/>
              <a:cs typeface="Courier New"/>
              <a:sym typeface="Courier New"/>
            </a:endParaRPr>
          </a:p>
        </p:txBody>
      </p:sp>
      <p:sp>
        <p:nvSpPr>
          <p:cNvPr id="437" name="Google Shape;437;p12"/>
          <p:cNvSpPr/>
          <p:nvPr/>
        </p:nvSpPr>
        <p:spPr>
          <a:xfrm>
            <a:off x="9317507" y="1960008"/>
            <a:ext cx="2069516" cy="914400"/>
          </a:xfrm>
          <a:prstGeom prst="rect">
            <a:avLst/>
          </a:prstGeom>
          <a:no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6DD9FF"/>
              </a:buClr>
              <a:buSzPts val="1400"/>
              <a:buFont typeface="Courier New"/>
              <a:buNone/>
            </a:pPr>
            <a:r>
              <a:rPr lang="en-US" sz="1400">
                <a:solidFill>
                  <a:srgbClr val="6DD9FF"/>
                </a:solidFill>
                <a:latin typeface="Courier New"/>
                <a:ea typeface="Courier New"/>
                <a:cs typeface="Courier New"/>
                <a:sym typeface="Courier New"/>
              </a:rPr>
              <a:t>Biased mineralogical interpretation</a:t>
            </a:r>
            <a:endParaRPr sz="1400">
              <a:solidFill>
                <a:srgbClr val="6DD9FF"/>
              </a:solidFill>
              <a:latin typeface="Courier New"/>
              <a:ea typeface="Courier New"/>
              <a:cs typeface="Courier New"/>
              <a:sym typeface="Courier New"/>
            </a:endParaRPr>
          </a:p>
        </p:txBody>
      </p:sp>
      <p:sp>
        <p:nvSpPr>
          <p:cNvPr id="438" name="Google Shape;438;p12"/>
          <p:cNvSpPr/>
          <p:nvPr/>
        </p:nvSpPr>
        <p:spPr>
          <a:xfrm>
            <a:off x="658368" y="3310128"/>
            <a:ext cx="10874959" cy="1091566"/>
          </a:xfrm>
          <a:prstGeom prst="roundRect">
            <a:avLst>
              <a:gd name="adj" fmla="val 6716"/>
            </a:avLst>
          </a:prstGeom>
          <a:solidFill>
            <a:srgbClr val="13233F"/>
          </a:solidFill>
          <a:ln>
            <a:solidFill>
              <a:schemeClr val="accent1"/>
            </a:solid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39" name="Google Shape;439;p12"/>
          <p:cNvSpPr/>
          <p:nvPr/>
        </p:nvSpPr>
        <p:spPr>
          <a:xfrm>
            <a:off x="1133856" y="3474720"/>
            <a:ext cx="8686800" cy="31089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CBBE6"/>
              </a:buClr>
              <a:buSzPts val="1600"/>
              <a:buFont typeface="Arial"/>
              <a:buNone/>
            </a:pPr>
            <a:r>
              <a:rPr lang="en-US" sz="1600" dirty="0">
                <a:solidFill>
                  <a:srgbClr val="00B0F0"/>
                </a:solidFill>
                <a:latin typeface="29LT Adir" panose="00000506000000000000" pitchFamily="50" charset="-78"/>
                <a:cs typeface="29LT Adir" panose="00000506000000000000" pitchFamily="50" charset="-78"/>
                <a:sym typeface="Arial"/>
              </a:rPr>
              <a:t>RAMSES can measure the spectrum,</a:t>
            </a:r>
            <a:endParaRPr sz="1600" dirty="0">
              <a:solidFill>
                <a:srgbClr val="00B0F0"/>
              </a:solidFill>
              <a:latin typeface="29LT Adir" panose="00000506000000000000" pitchFamily="50" charset="-78"/>
              <a:cs typeface="29LT Adir" panose="00000506000000000000" pitchFamily="50" charset="-78"/>
              <a:sym typeface="Arial"/>
            </a:endParaRPr>
          </a:p>
        </p:txBody>
      </p:sp>
      <p:sp>
        <p:nvSpPr>
          <p:cNvPr id="440" name="Google Shape;440;p12"/>
          <p:cNvSpPr/>
          <p:nvPr/>
        </p:nvSpPr>
        <p:spPr>
          <a:xfrm>
            <a:off x="1133856" y="3791320"/>
            <a:ext cx="9692640" cy="51206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A33D"/>
              </a:buClr>
              <a:buSzPts val="1600"/>
              <a:buFont typeface="Arial"/>
              <a:buNone/>
            </a:pPr>
            <a:r>
              <a:rPr lang="en-US" sz="1600" b="1" dirty="0">
                <a:solidFill>
                  <a:srgbClr val="00B0F0"/>
                </a:solidFill>
                <a:latin typeface="29LT Adir" panose="00000506000000000000" pitchFamily="50" charset="-78"/>
                <a:cs typeface="29LT Adir" panose="00000506000000000000" pitchFamily="50" charset="-78"/>
                <a:sym typeface="Arial"/>
              </a:rPr>
              <a:t>BUT</a:t>
            </a:r>
            <a:r>
              <a:rPr lang="en-US" sz="1600" b="1" dirty="0">
                <a:solidFill>
                  <a:srgbClr val="E8A33D"/>
                </a:solidFill>
                <a:latin typeface="29LT Adir" panose="00000506000000000000" pitchFamily="50" charset="-78"/>
                <a:cs typeface="29LT Adir" panose="00000506000000000000" pitchFamily="50" charset="-78"/>
                <a:sym typeface="Arial"/>
              </a:rPr>
              <a:t> </a:t>
            </a:r>
            <a:r>
              <a:rPr lang="en-US" sz="1600" dirty="0">
                <a:solidFill>
                  <a:srgbClr val="FFFFFF"/>
                </a:solidFill>
                <a:latin typeface="29LT Adir" panose="00000506000000000000" pitchFamily="50" charset="-78"/>
                <a:cs typeface="29LT Adir" panose="00000506000000000000" pitchFamily="50" charset="-78"/>
                <a:sym typeface="Arial"/>
              </a:rPr>
              <a:t>it cannot independently measure the reference needed to correct it.</a:t>
            </a:r>
            <a:endParaRPr sz="16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441" name="Google Shape;441;p12"/>
          <p:cNvSpPr/>
          <p:nvPr/>
        </p:nvSpPr>
        <p:spPr>
          <a:xfrm>
            <a:off x="658368" y="4773168"/>
            <a:ext cx="5245456" cy="1188720"/>
          </a:xfrm>
          <a:prstGeom prst="roundRect">
            <a:avLst>
              <a:gd name="adj" fmla="val 6154"/>
            </a:avLst>
          </a:prstGeom>
          <a:solidFill>
            <a:srgbClr val="111A2E"/>
          </a:solidFill>
          <a:ln w="9525" cap="flat" cmpd="sng">
            <a:solidFill>
              <a:srgbClr val="F0F0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442" name="Google Shape;442;p12"/>
          <p:cNvSpPr/>
          <p:nvPr/>
        </p:nvSpPr>
        <p:spPr>
          <a:xfrm>
            <a:off x="932688" y="4937760"/>
            <a:ext cx="469681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DD9FF"/>
              </a:buClr>
              <a:buSzPts val="1600"/>
              <a:buFont typeface="Arial"/>
              <a:buNone/>
            </a:pPr>
            <a:r>
              <a:rPr lang="en-US" sz="1600">
                <a:solidFill>
                  <a:srgbClr val="6DD9FF"/>
                </a:solidFill>
                <a:latin typeface="29LT Adir" panose="00000506000000000000" pitchFamily="50" charset="-78"/>
                <a:cs typeface="29LT Adir" panose="00000506000000000000" pitchFamily="50" charset="-78"/>
                <a:sym typeface="Arial"/>
              </a:rPr>
              <a:t>The correction closes on itself</a:t>
            </a:r>
            <a:endParaRPr sz="1600">
              <a:solidFill>
                <a:srgbClr val="6DD9FF"/>
              </a:solidFill>
              <a:latin typeface="29LT Adir" panose="00000506000000000000" pitchFamily="50" charset="-78"/>
              <a:cs typeface="29LT Adir" panose="00000506000000000000" pitchFamily="50" charset="-78"/>
              <a:sym typeface="Arial"/>
            </a:endParaRPr>
          </a:p>
        </p:txBody>
      </p:sp>
      <p:sp>
        <p:nvSpPr>
          <p:cNvPr id="443" name="Google Shape;443;p12"/>
          <p:cNvSpPr/>
          <p:nvPr/>
        </p:nvSpPr>
        <p:spPr>
          <a:xfrm>
            <a:off x="932688" y="5248656"/>
            <a:ext cx="4696816" cy="603504"/>
          </a:xfrm>
          <a:prstGeom prst="rect">
            <a:avLst/>
          </a:prstGeom>
          <a:noFill/>
          <a:ln>
            <a:noFill/>
          </a:ln>
        </p:spPr>
        <p:txBody>
          <a:bodyPr spcFirstLastPara="1" wrap="square" lIns="0" tIns="0" rIns="0" bIns="0" anchor="t" anchorCtr="0">
            <a:noAutofit/>
          </a:bodyPr>
          <a:lstStyle/>
          <a:p>
            <a:pPr marL="0" marR="0" lvl="0" indent="0" algn="l" rtl="0">
              <a:lnSpc>
                <a:spcPct val="114000"/>
              </a:lnSpc>
              <a:spcBef>
                <a:spcPts val="0"/>
              </a:spcBef>
              <a:spcAft>
                <a:spcPts val="0"/>
              </a:spcAft>
              <a:buClr>
                <a:srgbClr val="9BA7C0"/>
              </a:buClr>
              <a:buSzPts val="1200"/>
              <a:buFont typeface="Arial"/>
              <a:buNone/>
            </a:pPr>
            <a:r>
              <a:rPr lang="en-US" sz="1200">
                <a:solidFill>
                  <a:srgbClr val="9BA7C0"/>
                </a:solidFill>
                <a:latin typeface="29LT Adir" panose="00000506000000000000" pitchFamily="50" charset="-78"/>
                <a:cs typeface="29LT Adir" panose="00000506000000000000" pitchFamily="50" charset="-78"/>
                <a:sym typeface="Arial"/>
              </a:rPr>
              <a:t>HAMLET's maturity map is derived from the spectrum it would correct, which makes it verifiable only against its source</a:t>
            </a:r>
            <a:endParaRPr sz="1200">
              <a:solidFill>
                <a:schemeClr val="dk1"/>
              </a:solidFill>
              <a:latin typeface="29LT Adir" panose="00000506000000000000" pitchFamily="50" charset="-78"/>
              <a:cs typeface="29LT Adir" panose="00000506000000000000" pitchFamily="50" charset="-78"/>
              <a:sym typeface="Arial"/>
            </a:endParaRPr>
          </a:p>
        </p:txBody>
      </p:sp>
      <p:sp>
        <p:nvSpPr>
          <p:cNvPr id="444" name="Google Shape;444;p12"/>
          <p:cNvSpPr/>
          <p:nvPr/>
        </p:nvSpPr>
        <p:spPr>
          <a:xfrm>
            <a:off x="6287872" y="4773168"/>
            <a:ext cx="5245456" cy="1188720"/>
          </a:xfrm>
          <a:prstGeom prst="roundRect">
            <a:avLst>
              <a:gd name="adj" fmla="val 6154"/>
            </a:avLst>
          </a:prstGeom>
          <a:solidFill>
            <a:srgbClr val="111A2E"/>
          </a:solidFill>
          <a:ln w="9525" cap="flat" cmpd="sng">
            <a:solidFill>
              <a:srgbClr val="F0F0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445" name="Google Shape;445;p12"/>
          <p:cNvSpPr/>
          <p:nvPr/>
        </p:nvSpPr>
        <p:spPr>
          <a:xfrm>
            <a:off x="6562192" y="4937760"/>
            <a:ext cx="4696816"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6DD9FF"/>
              </a:buClr>
              <a:buSzPts val="1600"/>
              <a:buFont typeface="Arial"/>
              <a:buNone/>
            </a:pPr>
            <a:r>
              <a:rPr lang="en-US" sz="1600">
                <a:solidFill>
                  <a:srgbClr val="6DD9FF"/>
                </a:solidFill>
                <a:latin typeface="29LT Adir" panose="00000506000000000000" pitchFamily="50" charset="-78"/>
                <a:cs typeface="29LT Adir" panose="00000506000000000000" pitchFamily="50" charset="-78"/>
                <a:sym typeface="Arial"/>
              </a:rPr>
              <a:t>Why it matters at Apophis</a:t>
            </a:r>
            <a:endParaRPr sz="1600">
              <a:solidFill>
                <a:srgbClr val="6DD9FF"/>
              </a:solidFill>
              <a:latin typeface="29LT Adir" panose="00000506000000000000" pitchFamily="50" charset="-78"/>
              <a:cs typeface="29LT Adir" panose="00000506000000000000" pitchFamily="50" charset="-78"/>
              <a:sym typeface="Arial"/>
            </a:endParaRPr>
          </a:p>
        </p:txBody>
      </p:sp>
      <p:sp>
        <p:nvSpPr>
          <p:cNvPr id="446" name="Google Shape;446;p12"/>
          <p:cNvSpPr/>
          <p:nvPr/>
        </p:nvSpPr>
        <p:spPr>
          <a:xfrm>
            <a:off x="6562192" y="5248656"/>
            <a:ext cx="4696816" cy="603504"/>
          </a:xfrm>
          <a:prstGeom prst="rect">
            <a:avLst/>
          </a:prstGeom>
          <a:noFill/>
          <a:ln>
            <a:noFill/>
          </a:ln>
        </p:spPr>
        <p:txBody>
          <a:bodyPr spcFirstLastPara="1" wrap="square" lIns="0" tIns="0" rIns="0" bIns="0" anchor="t" anchorCtr="0">
            <a:noAutofit/>
          </a:bodyPr>
          <a:lstStyle/>
          <a:p>
            <a:pPr marL="0" marR="0" lvl="0" indent="0" algn="l" rtl="0">
              <a:lnSpc>
                <a:spcPct val="114000"/>
              </a:lnSpc>
              <a:spcBef>
                <a:spcPts val="0"/>
              </a:spcBef>
              <a:spcAft>
                <a:spcPts val="0"/>
              </a:spcAft>
              <a:buClr>
                <a:srgbClr val="9BA7C0"/>
              </a:buClr>
              <a:buSzPts val="1200"/>
              <a:buFont typeface="Arial"/>
              <a:buNone/>
            </a:pPr>
            <a:r>
              <a:rPr lang="en-US" sz="1200" dirty="0">
                <a:solidFill>
                  <a:srgbClr val="9BA7C0"/>
                </a:solidFill>
                <a:latin typeface="29LT Adir" panose="00000506000000000000" pitchFamily="50" charset="-78"/>
                <a:cs typeface="29LT Adir" panose="00000506000000000000" pitchFamily="50" charset="-78"/>
                <a:sym typeface="Arial"/>
              </a:rPr>
              <a:t>Sq type: a surface partly but not wholly refreshed. The 2029 encounter may reset the maturity clock, a natural experiment that will not recur.</a:t>
            </a:r>
            <a:endParaRPr sz="1200" dirty="0">
              <a:solidFill>
                <a:schemeClr val="dk1"/>
              </a:solidFill>
              <a:latin typeface="29LT Adir" panose="00000506000000000000" pitchFamily="50" charset="-78"/>
              <a:cs typeface="29LT Adir" panose="00000506000000000000" pitchFamily="50" charset="-78"/>
              <a:sym typeface="Arial"/>
            </a:endParaRPr>
          </a:p>
        </p:txBody>
      </p:sp>
      <p:sp>
        <p:nvSpPr>
          <p:cNvPr id="447" name="Google Shape;447;p12"/>
          <p:cNvSpPr/>
          <p:nvPr/>
        </p:nvSpPr>
        <p:spPr>
          <a:xfrm>
            <a:off x="10881360" y="6272784"/>
            <a:ext cx="694944"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4607C"/>
              </a:buClr>
              <a:buSzPts val="1000"/>
              <a:buFont typeface="Arial"/>
              <a:buNone/>
            </a:pPr>
            <a:r>
              <a:rPr lang="en-US" sz="1000">
                <a:solidFill>
                  <a:srgbClr val="54607C"/>
                </a:solidFill>
                <a:latin typeface="Arial"/>
                <a:ea typeface="Arial"/>
                <a:cs typeface="Arial"/>
                <a:sym typeface="Arial"/>
              </a:rPr>
              <a:t>9</a:t>
            </a:r>
            <a:endParaRPr sz="1000">
              <a:solidFill>
                <a:schemeClr val="dk1"/>
              </a:solidFill>
              <a:latin typeface="Calibri"/>
              <a:ea typeface="Calibri"/>
              <a:cs typeface="Calibri"/>
              <a:sym typeface="Calibri"/>
            </a:endParaRPr>
          </a:p>
        </p:txBody>
      </p:sp>
      <p:sp>
        <p:nvSpPr>
          <p:cNvPr id="448" name="Google Shape;448;p12"/>
          <p:cNvSpPr txBox="1"/>
          <p:nvPr/>
        </p:nvSpPr>
        <p:spPr>
          <a:xfrm>
            <a:off x="5626159" y="6581001"/>
            <a:ext cx="939681"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a:solidFill>
                  <a:srgbClr val="000000"/>
                </a:solidFill>
                <a:latin typeface="Calibri"/>
                <a:ea typeface="Calibri"/>
                <a:cs typeface="Calibri"/>
                <a:sym typeface="Calibri"/>
              </a:rPr>
              <a:t>   </a:t>
            </a:r>
            <a:r>
              <a:rPr lang="en-US" sz="1200">
                <a:solidFill>
                  <a:srgbClr val="339966"/>
                </a:solidFill>
                <a:latin typeface="Calibri"/>
                <a:ea typeface="Calibri"/>
                <a:cs typeface="Calibri"/>
                <a:sym typeface="Calibri"/>
              </a:rPr>
              <a:t>Public</a:t>
            </a:r>
            <a:r>
              <a:rPr lang="en-US" sz="1200">
                <a:solidFill>
                  <a:srgbClr val="000000"/>
                </a:solidFill>
                <a:latin typeface="Calibri"/>
                <a:ea typeface="Calibri"/>
                <a:cs typeface="Calibri"/>
                <a:sym typeface="Calibri"/>
              </a:rPr>
              <a:t>   </a:t>
            </a:r>
            <a:r>
              <a:rPr lang="en-US" sz="1200">
                <a:solidFill>
                  <a:srgbClr val="339966"/>
                </a:solidFill>
                <a:latin typeface="Calibri"/>
                <a:ea typeface="Calibri"/>
                <a:cs typeface="Calibri"/>
                <a:sym typeface="Calibri"/>
              </a:rPr>
              <a:t>عام</a:t>
            </a:r>
            <a:endParaRPr sz="1200">
              <a:solidFill>
                <a:srgbClr val="339966"/>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D9E1EF"/>
        </a:solidFill>
        <a:effectLst/>
      </p:bgPr>
    </p:bg>
    <p:spTree>
      <p:nvGrpSpPr>
        <p:cNvPr id="1" name="Shape 453"/>
        <p:cNvGrpSpPr/>
        <p:nvPr/>
      </p:nvGrpSpPr>
      <p:grpSpPr>
        <a:xfrm>
          <a:off x="0" y="0"/>
          <a:ext cx="0" cy="0"/>
          <a:chOff x="0" y="0"/>
          <a:chExt cx="0" cy="0"/>
        </a:xfrm>
      </p:grpSpPr>
      <p:pic>
        <p:nvPicPr>
          <p:cNvPr id="3" name="Google Shape;422;p12" descr="/home/claude/work/a2/glow_amber.jpg">
            <a:extLst>
              <a:ext uri="{FF2B5EF4-FFF2-40B4-BE49-F238E27FC236}">
                <a16:creationId xmlns:a16="http://schemas.microsoft.com/office/drawing/2014/main" id="{46FDCC87-6F1A-F16E-05E0-7054256F78D1}"/>
              </a:ext>
            </a:extLst>
          </p:cNvPr>
          <p:cNvPicPr preferRelativeResize="0"/>
          <p:nvPr/>
        </p:nvPicPr>
        <p:blipFill rotWithShape="1">
          <a:blip r:embed="rId3">
            <a:alphaModFix/>
          </a:blip>
          <a:srcRect/>
          <a:stretch/>
        </p:blipFill>
        <p:spPr>
          <a:xfrm>
            <a:off x="-1" y="0"/>
            <a:ext cx="12191695" cy="6858000"/>
          </a:xfrm>
          <a:prstGeom prst="rect">
            <a:avLst/>
          </a:prstGeom>
          <a:noFill/>
          <a:ln>
            <a:noFill/>
          </a:ln>
        </p:spPr>
      </p:pic>
      <p:sp>
        <p:nvSpPr>
          <p:cNvPr id="455" name="Google Shape;455;p13"/>
          <p:cNvSpPr/>
          <p:nvPr/>
        </p:nvSpPr>
        <p:spPr>
          <a:xfrm>
            <a:off x="658368" y="6272784"/>
            <a:ext cx="85953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9839A"/>
              </a:buClr>
              <a:buSzPts val="800"/>
              <a:buFont typeface="Courier New"/>
              <a:buNone/>
            </a:pPr>
            <a:r>
              <a:rPr lang="en-US" sz="800" dirty="0">
                <a:solidFill>
                  <a:srgbClr val="79839A"/>
                </a:solidFill>
                <a:latin typeface="Courier New"/>
                <a:ea typeface="Courier New"/>
                <a:cs typeface="Courier New"/>
                <a:sym typeface="Courier New"/>
              </a:rPr>
              <a:t>BASELINE</a:t>
            </a:r>
            <a:r>
              <a:rPr lang="en-US" sz="800" dirty="0">
                <a:solidFill>
                  <a:srgbClr val="000000"/>
                </a:solidFill>
                <a:latin typeface="Courier New"/>
                <a:ea typeface="Courier New"/>
                <a:cs typeface="Courier New"/>
                <a:sym typeface="Courier New"/>
              </a:rPr>
              <a:t>     </a:t>
            </a:r>
            <a:r>
              <a:rPr lang="en-US" sz="800" dirty="0">
                <a:solidFill>
                  <a:srgbClr val="79839A"/>
                </a:solidFill>
                <a:latin typeface="Courier New"/>
                <a:ea typeface="Courier New"/>
                <a:cs typeface="Courier New"/>
                <a:sym typeface="Courier New"/>
              </a:rPr>
              <a:t>KNOWLEDGE GAPS</a:t>
            </a:r>
            <a:r>
              <a:rPr lang="en-US" sz="800" dirty="0">
                <a:solidFill>
                  <a:srgbClr val="000000"/>
                </a:solidFill>
                <a:latin typeface="Courier New"/>
                <a:ea typeface="Courier New"/>
                <a:cs typeface="Courier New"/>
                <a:sym typeface="Courier New"/>
              </a:rPr>
              <a:t>     </a:t>
            </a:r>
            <a:r>
              <a:rPr lang="en-US" sz="800" b="1" dirty="0">
                <a:solidFill>
                  <a:srgbClr val="FFC000"/>
                </a:solidFill>
                <a:latin typeface="Courier New"/>
                <a:ea typeface="Courier New"/>
                <a:cs typeface="Courier New"/>
                <a:sym typeface="Courier New"/>
              </a:rPr>
              <a:t>SELECTION</a:t>
            </a:r>
            <a:r>
              <a:rPr lang="en-US" sz="800" dirty="0">
                <a:solidFill>
                  <a:srgbClr val="000000"/>
                </a:solidFill>
                <a:latin typeface="Courier New"/>
                <a:ea typeface="Courier New"/>
                <a:cs typeface="Courier New"/>
                <a:sym typeface="Courier New"/>
              </a:rPr>
              <a:t>     </a:t>
            </a:r>
            <a:r>
              <a:rPr lang="en-US" sz="800" dirty="0">
                <a:solidFill>
                  <a:srgbClr val="79839A"/>
                </a:solidFill>
                <a:latin typeface="Courier New"/>
                <a:ea typeface="Courier New"/>
                <a:cs typeface="Courier New"/>
                <a:sym typeface="Courier New"/>
              </a:rPr>
              <a:t>RECOMMENDATION</a:t>
            </a:r>
            <a:r>
              <a:rPr lang="en-US" sz="800" dirty="0">
                <a:solidFill>
                  <a:srgbClr val="000000"/>
                </a:solidFill>
                <a:latin typeface="Courier New"/>
                <a:ea typeface="Courier New"/>
                <a:cs typeface="Courier New"/>
                <a:sym typeface="Courier New"/>
              </a:rPr>
              <a:t>     </a:t>
            </a:r>
            <a:r>
              <a:rPr lang="en-US" sz="800" dirty="0">
                <a:solidFill>
                  <a:srgbClr val="79839A"/>
                </a:solidFill>
                <a:latin typeface="Courier New"/>
                <a:ea typeface="Courier New"/>
                <a:cs typeface="Courier New"/>
                <a:sym typeface="Courier New"/>
              </a:rPr>
              <a:t>VALUE</a:t>
            </a:r>
            <a:endParaRPr sz="800" dirty="0">
              <a:solidFill>
                <a:schemeClr val="dk1"/>
              </a:solidFill>
              <a:latin typeface="Courier New"/>
              <a:ea typeface="Courier New"/>
              <a:cs typeface="Courier New"/>
              <a:sym typeface="Courier New"/>
            </a:endParaRPr>
          </a:p>
        </p:txBody>
      </p:sp>
      <p:sp>
        <p:nvSpPr>
          <p:cNvPr id="456" name="Google Shape;456;p13"/>
          <p:cNvSpPr/>
          <p:nvPr/>
        </p:nvSpPr>
        <p:spPr>
          <a:xfrm>
            <a:off x="658368" y="530352"/>
            <a:ext cx="9052560" cy="472966"/>
          </a:xfrm>
          <a:prstGeom prst="rect">
            <a:avLst/>
          </a:prstGeom>
          <a:noFill/>
          <a:ln>
            <a:noFill/>
          </a:ln>
        </p:spPr>
        <p:txBody>
          <a:bodyPr spcFirstLastPara="1" wrap="square" lIns="0" tIns="0" rIns="0" bIns="0" anchor="ctr" anchorCtr="0">
            <a:noAutofit/>
          </a:bodyPr>
          <a:lstStyle/>
          <a:p>
            <a:pPr marL="0" marR="0" lvl="0" indent="0" algn="l" rtl="0">
              <a:lnSpc>
                <a:spcPct val="92000"/>
              </a:lnSpc>
              <a:spcBef>
                <a:spcPts val="0"/>
              </a:spcBef>
              <a:spcAft>
                <a:spcPts val="0"/>
              </a:spcAft>
              <a:buClr>
                <a:srgbClr val="13234C"/>
              </a:buClr>
              <a:buSzPts val="3000"/>
              <a:buFont typeface="Arial"/>
              <a:buNone/>
            </a:pPr>
            <a:r>
              <a:rPr lang="en-US" sz="3000" b="1">
                <a:solidFill>
                  <a:schemeClr val="bg1"/>
                </a:solidFill>
                <a:latin typeface="29LT Adir" panose="00000506000000000000" pitchFamily="50" charset="-78"/>
                <a:cs typeface="29LT Adir" panose="00000506000000000000" pitchFamily="50" charset="-78"/>
                <a:sym typeface="Arial"/>
              </a:rPr>
              <a:t>The Required Observable</a:t>
            </a:r>
            <a:endParaRPr sz="3000">
              <a:solidFill>
                <a:schemeClr val="bg1"/>
              </a:solidFill>
              <a:latin typeface="29LT Adir" panose="00000506000000000000" pitchFamily="50" charset="-78"/>
              <a:ea typeface="Calibri"/>
              <a:cs typeface="29LT Adir" panose="00000506000000000000" pitchFamily="50" charset="-78"/>
              <a:sym typeface="Calibri"/>
            </a:endParaRPr>
          </a:p>
        </p:txBody>
      </p:sp>
      <p:sp>
        <p:nvSpPr>
          <p:cNvPr id="457" name="Google Shape;457;p13"/>
          <p:cNvSpPr/>
          <p:nvPr/>
        </p:nvSpPr>
        <p:spPr>
          <a:xfrm>
            <a:off x="658368" y="1058182"/>
            <a:ext cx="9052560" cy="3291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4C5468"/>
              </a:buClr>
              <a:buSzPts val="1400"/>
              <a:buFont typeface="Arial"/>
              <a:buNone/>
            </a:pPr>
            <a:r>
              <a:rPr lang="en-US" sz="1400" dirty="0">
                <a:solidFill>
                  <a:schemeClr val="bg1"/>
                </a:solidFill>
                <a:latin typeface="29LT Adir" panose="00000506000000000000" pitchFamily="50" charset="-78"/>
                <a:cs typeface="29LT Adir" panose="00000506000000000000" pitchFamily="50" charset="-78"/>
                <a:sym typeface="Arial"/>
              </a:rPr>
              <a:t>What measurement would fill the gap?</a:t>
            </a:r>
            <a:endParaRPr sz="1400" dirty="0">
              <a:solidFill>
                <a:schemeClr val="bg1"/>
              </a:solidFill>
              <a:latin typeface="29LT Adir" panose="00000506000000000000" pitchFamily="50" charset="-78"/>
              <a:cs typeface="29LT Adir" panose="00000506000000000000" pitchFamily="50" charset="-78"/>
              <a:sym typeface="Arial"/>
            </a:endParaRPr>
          </a:p>
        </p:txBody>
      </p:sp>
      <p:sp>
        <p:nvSpPr>
          <p:cNvPr id="458" name="Google Shape;458;p13"/>
          <p:cNvSpPr/>
          <p:nvPr/>
        </p:nvSpPr>
        <p:spPr>
          <a:xfrm>
            <a:off x="658368" y="1938528"/>
            <a:ext cx="10874959" cy="1078992"/>
          </a:xfrm>
          <a:prstGeom prst="roundRect">
            <a:avLst>
              <a:gd name="adj" fmla="val 7627"/>
            </a:avLst>
          </a:prstGeom>
          <a:solidFill>
            <a:srgbClr val="0E1A38"/>
          </a:solidFill>
          <a:ln>
            <a:solidFill>
              <a:schemeClr val="accent1"/>
            </a:solidFill>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459" name="Google Shape;459;p13"/>
          <p:cNvSpPr/>
          <p:nvPr/>
        </p:nvSpPr>
        <p:spPr>
          <a:xfrm>
            <a:off x="658368" y="2103120"/>
            <a:ext cx="10874959" cy="45720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2600"/>
              <a:buFont typeface="Arial"/>
              <a:buNone/>
            </a:pPr>
            <a:r>
              <a:rPr lang="en-US" sz="2600">
                <a:solidFill>
                  <a:srgbClr val="FFFFFF"/>
                </a:solidFill>
                <a:latin typeface="29LT Adir" panose="00000506000000000000" pitchFamily="50" charset="-78"/>
                <a:cs typeface="29LT Adir" panose="00000506000000000000" pitchFamily="50" charset="-78"/>
                <a:sym typeface="Arial"/>
              </a:rPr>
              <a:t>Independent elemental abundance</a:t>
            </a:r>
            <a:endParaRPr sz="2600">
              <a:solidFill>
                <a:schemeClr val="dk1"/>
              </a:solidFill>
              <a:latin typeface="29LT Adir" panose="00000506000000000000" pitchFamily="50" charset="-78"/>
              <a:cs typeface="29LT Adir" panose="00000506000000000000" pitchFamily="50" charset="-78"/>
              <a:sym typeface="Arial"/>
            </a:endParaRPr>
          </a:p>
        </p:txBody>
      </p:sp>
      <p:sp>
        <p:nvSpPr>
          <p:cNvPr id="460" name="Google Shape;460;p13"/>
          <p:cNvSpPr/>
          <p:nvPr/>
        </p:nvSpPr>
        <p:spPr>
          <a:xfrm>
            <a:off x="658368" y="2552506"/>
            <a:ext cx="10874959" cy="274320"/>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2A3C4"/>
              </a:buClr>
              <a:buSzPts val="1200"/>
              <a:buFont typeface="Courier New"/>
              <a:buNone/>
            </a:pPr>
            <a:r>
              <a:rPr lang="en-US" sz="1200" dirty="0">
                <a:solidFill>
                  <a:srgbClr val="00B0F0"/>
                </a:solidFill>
                <a:latin typeface="Courier New" panose="02070309020205020404" pitchFamily="49" charset="0"/>
                <a:ea typeface="Courier New"/>
                <a:cs typeface="Courier New" panose="02070309020205020404" pitchFamily="49" charset="0"/>
                <a:sym typeface="Courier New"/>
              </a:rPr>
              <a:t>of the near-surface regolith</a:t>
            </a:r>
            <a:endParaRPr sz="1200" dirty="0">
              <a:solidFill>
                <a:srgbClr val="00B0F0"/>
              </a:solidFill>
              <a:latin typeface="Courier New" panose="02070309020205020404" pitchFamily="49" charset="0"/>
              <a:ea typeface="Courier New"/>
              <a:cs typeface="Courier New" panose="02070309020205020404" pitchFamily="49" charset="0"/>
              <a:sym typeface="Courier New"/>
            </a:endParaRPr>
          </a:p>
        </p:txBody>
      </p:sp>
      <p:sp>
        <p:nvSpPr>
          <p:cNvPr id="461" name="Google Shape;461;p13"/>
          <p:cNvSpPr/>
          <p:nvPr/>
        </p:nvSpPr>
        <p:spPr>
          <a:xfrm>
            <a:off x="2522676" y="3328948"/>
            <a:ext cx="3466490" cy="1572768"/>
          </a:xfrm>
          <a:prstGeom prst="roundRect">
            <a:avLst>
              <a:gd name="adj" fmla="val 4839"/>
            </a:avLst>
          </a:prstGeom>
          <a:solidFill>
            <a:srgbClr val="FFFFFF"/>
          </a:solidFill>
          <a:ln w="9525" cap="flat" cmpd="sng">
            <a:solidFill>
              <a:srgbClr val="C4CFE0"/>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62" name="Google Shape;462;p13"/>
          <p:cNvSpPr/>
          <p:nvPr/>
        </p:nvSpPr>
        <p:spPr>
          <a:xfrm>
            <a:off x="2796996" y="3584980"/>
            <a:ext cx="347472" cy="347472"/>
          </a:xfrm>
          <a:prstGeom prst="ellipse">
            <a:avLst/>
          </a:prstGeom>
          <a:solidFill>
            <a:srgbClr val="13234C"/>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463" name="Google Shape;463;p13"/>
          <p:cNvSpPr/>
          <p:nvPr/>
        </p:nvSpPr>
        <p:spPr>
          <a:xfrm>
            <a:off x="2796996" y="3584980"/>
            <a:ext cx="34747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ourier New"/>
              <a:buNone/>
            </a:pPr>
            <a:r>
              <a:rPr lang="en-US" sz="1200" b="1">
                <a:solidFill>
                  <a:srgbClr val="FFFFFF"/>
                </a:solidFill>
                <a:latin typeface="29LT Adir" panose="00000506000000000000" pitchFamily="50" charset="-78"/>
                <a:ea typeface="Courier New"/>
                <a:cs typeface="29LT Adir" panose="00000506000000000000" pitchFamily="50" charset="-78"/>
                <a:sym typeface="Courier New"/>
              </a:rPr>
              <a:t>1</a:t>
            </a:r>
            <a:endParaRPr sz="1200">
              <a:solidFill>
                <a:schemeClr val="dk1"/>
              </a:solidFill>
              <a:latin typeface="29LT Adir" panose="00000506000000000000" pitchFamily="50" charset="-78"/>
              <a:ea typeface="Courier New"/>
              <a:cs typeface="29LT Adir" panose="00000506000000000000" pitchFamily="50" charset="-78"/>
              <a:sym typeface="Courier New"/>
            </a:endParaRPr>
          </a:p>
        </p:txBody>
      </p:sp>
      <p:sp>
        <p:nvSpPr>
          <p:cNvPr id="464" name="Google Shape;464;p13"/>
          <p:cNvSpPr/>
          <p:nvPr/>
        </p:nvSpPr>
        <p:spPr>
          <a:xfrm>
            <a:off x="3084987" y="3576102"/>
            <a:ext cx="2497226" cy="384048"/>
          </a:xfrm>
          <a:prstGeom prst="rect">
            <a:avLst/>
          </a:prstGeom>
          <a:noFill/>
          <a:ln>
            <a:noFill/>
          </a:ln>
        </p:spPr>
        <p:txBody>
          <a:bodyPr spcFirstLastPara="1" wrap="square" lIns="0" tIns="0" rIns="0" bIns="0" anchor="ctr" anchorCtr="0">
            <a:noAutofit/>
          </a:bodyPr>
          <a:lstStyle/>
          <a:p>
            <a:pPr marL="0" marR="0" lvl="0" indent="0" algn="ctr" rtl="0">
              <a:lnSpc>
                <a:spcPct val="95000"/>
              </a:lnSpc>
              <a:spcBef>
                <a:spcPts val="0"/>
              </a:spcBef>
              <a:spcAft>
                <a:spcPts val="0"/>
              </a:spcAft>
              <a:buClr>
                <a:srgbClr val="13234C"/>
              </a:buClr>
              <a:buSzPts val="1600"/>
              <a:buFont typeface="Arial"/>
              <a:buNone/>
            </a:pPr>
            <a:r>
              <a:rPr lang="en-US" sz="1600" b="1" dirty="0">
                <a:solidFill>
                  <a:srgbClr val="13234C"/>
                </a:solidFill>
                <a:latin typeface="29LT Adir" panose="00000506000000000000" pitchFamily="50" charset="-78"/>
                <a:cs typeface="29LT Adir" panose="00000506000000000000" pitchFamily="50" charset="-78"/>
                <a:sym typeface="Arial"/>
              </a:rPr>
              <a:t>From orbit</a:t>
            </a:r>
            <a:endParaRPr sz="16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465" name="Google Shape;465;p13"/>
          <p:cNvSpPr/>
          <p:nvPr/>
        </p:nvSpPr>
        <p:spPr>
          <a:xfrm>
            <a:off x="2815283" y="4012440"/>
            <a:ext cx="3008467" cy="731520"/>
          </a:xfrm>
          <a:prstGeom prst="rect">
            <a:avLst/>
          </a:prstGeom>
          <a:noFill/>
          <a:ln>
            <a:noFill/>
          </a:ln>
        </p:spPr>
        <p:txBody>
          <a:bodyPr spcFirstLastPara="1" wrap="square" lIns="0" tIns="0" rIns="0" bIns="0" anchor="t" anchorCtr="0">
            <a:noAutofit/>
          </a:bodyPr>
          <a:lstStyle/>
          <a:p>
            <a:pPr marL="0" marR="0" lvl="0" indent="0" algn="ctr" rtl="0">
              <a:lnSpc>
                <a:spcPct val="116000"/>
              </a:lnSpc>
              <a:spcBef>
                <a:spcPts val="0"/>
              </a:spcBef>
              <a:spcAft>
                <a:spcPts val="0"/>
              </a:spcAft>
              <a:buClr>
                <a:srgbClr val="4C5468"/>
              </a:buClr>
              <a:buSzPts val="1200"/>
              <a:buFont typeface="Arial"/>
              <a:buNone/>
            </a:pPr>
            <a:r>
              <a:rPr lang="en-US" sz="1200" dirty="0">
                <a:solidFill>
                  <a:srgbClr val="4C5468"/>
                </a:solidFill>
                <a:latin typeface="29LT Adir" panose="00000506000000000000" pitchFamily="50" charset="-78"/>
                <a:cs typeface="29LT Adir" panose="00000506000000000000" pitchFamily="50" charset="-78"/>
                <a:sym typeface="Arial"/>
              </a:rPr>
              <a:t>A specific reference from a single landing cannot travel across a body, so the measurement will be observed from the orbit.</a:t>
            </a:r>
            <a:endParaRPr sz="1200" dirty="0">
              <a:solidFill>
                <a:schemeClr val="dk1"/>
              </a:solidFill>
              <a:latin typeface="29LT Adir" panose="00000506000000000000" pitchFamily="50" charset="-78"/>
              <a:cs typeface="29LT Adir" panose="00000506000000000000" pitchFamily="50" charset="-78"/>
              <a:sym typeface="Arial"/>
            </a:endParaRPr>
          </a:p>
        </p:txBody>
      </p:sp>
      <p:sp>
        <p:nvSpPr>
          <p:cNvPr id="466" name="Google Shape;466;p13"/>
          <p:cNvSpPr/>
          <p:nvPr/>
        </p:nvSpPr>
        <p:spPr>
          <a:xfrm>
            <a:off x="6226910" y="3328948"/>
            <a:ext cx="3466490" cy="1572768"/>
          </a:xfrm>
          <a:prstGeom prst="roundRect">
            <a:avLst>
              <a:gd name="adj" fmla="val 4839"/>
            </a:avLst>
          </a:prstGeom>
          <a:solidFill>
            <a:srgbClr val="FFFFFF"/>
          </a:solidFill>
          <a:ln w="9525" cap="flat" cmpd="sng">
            <a:solidFill>
              <a:srgbClr val="C4CFE0"/>
            </a:solidFill>
            <a:prstDash val="solid"/>
            <a:round/>
            <a:headEnd type="none" w="sm" len="sm"/>
            <a:tailEnd type="none" w="sm" len="sm"/>
          </a:ln>
          <a:effectLst>
            <a:outerShdw blurRad="50800" dist="38100" dir="8100000" algn="tr" rotWithShape="0">
              <a:srgbClr val="000000">
                <a:alpha val="40000"/>
              </a:srgbClr>
            </a:outerShdw>
          </a:effectLst>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Calibri"/>
              <a:ea typeface="Calibri"/>
              <a:cs typeface="Calibri"/>
              <a:sym typeface="Calibri"/>
            </a:endParaRPr>
          </a:p>
        </p:txBody>
      </p:sp>
      <p:sp>
        <p:nvSpPr>
          <p:cNvPr id="467" name="Google Shape;467;p13"/>
          <p:cNvSpPr/>
          <p:nvPr/>
        </p:nvSpPr>
        <p:spPr>
          <a:xfrm>
            <a:off x="6501230" y="3584980"/>
            <a:ext cx="347472" cy="347472"/>
          </a:xfrm>
          <a:prstGeom prst="ellipse">
            <a:avLst/>
          </a:prstGeom>
          <a:solidFill>
            <a:srgbClr val="13234C"/>
          </a:solidFill>
          <a:ln>
            <a:noFill/>
          </a:ln>
        </p:spPr>
        <p:txBody>
          <a:bodyPr spcFirstLastPara="1" wrap="square" lIns="91425" tIns="45700" rIns="91425" bIns="45700" anchor="t" anchorCtr="0">
            <a:noAutofit/>
          </a:bodyPr>
          <a:lstStyle/>
          <a:p>
            <a:pPr marL="0" marR="0" lvl="0" indent="0" algn="ctr" rtl="0">
              <a:spcBef>
                <a:spcPts val="0"/>
              </a:spcBef>
              <a:spcAft>
                <a:spcPts val="0"/>
              </a:spcAft>
              <a:buNone/>
            </a:pPr>
            <a:endParaRPr sz="18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468" name="Google Shape;468;p13"/>
          <p:cNvSpPr/>
          <p:nvPr/>
        </p:nvSpPr>
        <p:spPr>
          <a:xfrm>
            <a:off x="6501230" y="3584980"/>
            <a:ext cx="347472"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Courier New"/>
              <a:buNone/>
            </a:pPr>
            <a:r>
              <a:rPr lang="en-US" sz="1200" b="1">
                <a:solidFill>
                  <a:srgbClr val="FFFFFF"/>
                </a:solidFill>
                <a:latin typeface="29LT Adir" panose="00000506000000000000" pitchFamily="50" charset="-78"/>
                <a:ea typeface="Courier New"/>
                <a:cs typeface="29LT Adir" panose="00000506000000000000" pitchFamily="50" charset="-78"/>
                <a:sym typeface="Courier New"/>
              </a:rPr>
              <a:t>2</a:t>
            </a:r>
            <a:endParaRPr sz="1200">
              <a:solidFill>
                <a:schemeClr val="dk1"/>
              </a:solidFill>
              <a:latin typeface="29LT Adir" panose="00000506000000000000" pitchFamily="50" charset="-78"/>
              <a:ea typeface="Courier New"/>
              <a:cs typeface="29LT Adir" panose="00000506000000000000" pitchFamily="50" charset="-78"/>
              <a:sym typeface="Courier New"/>
            </a:endParaRPr>
          </a:p>
        </p:txBody>
      </p:sp>
      <p:sp>
        <p:nvSpPr>
          <p:cNvPr id="469" name="Google Shape;469;p13"/>
          <p:cNvSpPr/>
          <p:nvPr/>
        </p:nvSpPr>
        <p:spPr>
          <a:xfrm>
            <a:off x="6940142" y="3566692"/>
            <a:ext cx="2497226" cy="402336"/>
          </a:xfrm>
          <a:prstGeom prst="rect">
            <a:avLst/>
          </a:prstGeom>
          <a:noFill/>
          <a:ln>
            <a:noFill/>
          </a:ln>
        </p:spPr>
        <p:txBody>
          <a:bodyPr spcFirstLastPara="1" wrap="square" lIns="0" tIns="0" rIns="0" bIns="0" anchor="ctr" anchorCtr="0">
            <a:noAutofit/>
          </a:bodyPr>
          <a:lstStyle/>
          <a:p>
            <a:pPr marL="0" marR="0" lvl="0" indent="0" algn="ctr" rtl="0">
              <a:lnSpc>
                <a:spcPct val="95000"/>
              </a:lnSpc>
              <a:spcBef>
                <a:spcPts val="0"/>
              </a:spcBef>
              <a:spcAft>
                <a:spcPts val="0"/>
              </a:spcAft>
              <a:buClr>
                <a:srgbClr val="13234C"/>
              </a:buClr>
              <a:buSzPts val="1600"/>
              <a:buFont typeface="Arial"/>
              <a:buNone/>
            </a:pPr>
            <a:r>
              <a:rPr lang="en-US" sz="1600" b="1">
                <a:solidFill>
                  <a:srgbClr val="13234C"/>
                </a:solidFill>
                <a:latin typeface="29LT Adir" panose="00000506000000000000" pitchFamily="50" charset="-78"/>
                <a:cs typeface="29LT Adir" panose="00000506000000000000" pitchFamily="50" charset="-78"/>
                <a:sym typeface="Arial"/>
              </a:rPr>
              <a:t>Below the weathered surface</a:t>
            </a:r>
            <a:endParaRPr sz="16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470" name="Google Shape;470;p13"/>
          <p:cNvSpPr/>
          <p:nvPr/>
        </p:nvSpPr>
        <p:spPr>
          <a:xfrm>
            <a:off x="6519518" y="4012440"/>
            <a:ext cx="2917850" cy="731520"/>
          </a:xfrm>
          <a:prstGeom prst="rect">
            <a:avLst/>
          </a:prstGeom>
          <a:noFill/>
          <a:ln>
            <a:noFill/>
          </a:ln>
        </p:spPr>
        <p:txBody>
          <a:bodyPr spcFirstLastPara="1" wrap="square" lIns="0" tIns="0" rIns="0" bIns="0" anchor="t" anchorCtr="0">
            <a:noAutofit/>
          </a:bodyPr>
          <a:lstStyle/>
          <a:p>
            <a:pPr marL="0" marR="0" lvl="0" indent="0" algn="ctr" rtl="0">
              <a:lnSpc>
                <a:spcPct val="116000"/>
              </a:lnSpc>
              <a:spcBef>
                <a:spcPts val="0"/>
              </a:spcBef>
              <a:spcAft>
                <a:spcPts val="0"/>
              </a:spcAft>
              <a:buClr>
                <a:srgbClr val="4C5468"/>
              </a:buClr>
              <a:buSzPts val="1200"/>
              <a:buFont typeface="Arial"/>
              <a:buNone/>
            </a:pPr>
            <a:r>
              <a:rPr lang="en-US" sz="1200" dirty="0">
                <a:solidFill>
                  <a:srgbClr val="4C5468"/>
                </a:solidFill>
                <a:latin typeface="29LT Adir" panose="00000506000000000000" pitchFamily="50" charset="-78"/>
                <a:cs typeface="29LT Adir" panose="00000506000000000000" pitchFamily="50" charset="-78"/>
                <a:sym typeface="Arial"/>
              </a:rPr>
              <a:t>Sampling depth must exceed the altered layer, or the reference carries the bias it was meant to remove.</a:t>
            </a:r>
            <a:endParaRPr sz="1200" dirty="0">
              <a:solidFill>
                <a:schemeClr val="dk1"/>
              </a:solidFill>
              <a:latin typeface="29LT Adir" panose="00000506000000000000" pitchFamily="50" charset="-78"/>
              <a:cs typeface="29LT Adir" panose="00000506000000000000" pitchFamily="50" charset="-78"/>
              <a:sym typeface="Arial"/>
            </a:endParaRPr>
          </a:p>
        </p:txBody>
      </p:sp>
      <p:sp>
        <p:nvSpPr>
          <p:cNvPr id="477" name="Google Shape;477;p13"/>
          <p:cNvSpPr/>
          <p:nvPr/>
        </p:nvSpPr>
        <p:spPr>
          <a:xfrm>
            <a:off x="658368" y="5285232"/>
            <a:ext cx="10874959" cy="7498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7A5510"/>
              </a:buClr>
              <a:buSzPts val="1450"/>
              <a:buFont typeface="Arial"/>
              <a:buNone/>
            </a:pPr>
            <a:endParaRPr sz="1450" dirty="0">
              <a:solidFill>
                <a:schemeClr val="dk1"/>
              </a:solidFill>
              <a:latin typeface="Calibri"/>
              <a:ea typeface="Calibri"/>
              <a:cs typeface="Calibri"/>
              <a:sym typeface="Calibri"/>
            </a:endParaRPr>
          </a:p>
        </p:txBody>
      </p:sp>
      <p:sp>
        <p:nvSpPr>
          <p:cNvPr id="478" name="Google Shape;478;p13"/>
          <p:cNvSpPr/>
          <p:nvPr/>
        </p:nvSpPr>
        <p:spPr>
          <a:xfrm>
            <a:off x="10881360" y="6272784"/>
            <a:ext cx="694944"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79839A"/>
              </a:buClr>
              <a:buSzPts val="1000"/>
              <a:buFont typeface="Arial"/>
              <a:buNone/>
            </a:pPr>
            <a:r>
              <a:rPr lang="en-US" sz="1000">
                <a:solidFill>
                  <a:srgbClr val="79839A"/>
                </a:solidFill>
                <a:latin typeface="Arial"/>
                <a:ea typeface="Arial"/>
                <a:cs typeface="Arial"/>
                <a:sym typeface="Arial"/>
              </a:rPr>
              <a:t>10</a:t>
            </a:r>
            <a:endParaRPr sz="1000">
              <a:solidFill>
                <a:schemeClr val="dk1"/>
              </a:solidFill>
              <a:latin typeface="Calibri"/>
              <a:ea typeface="Calibri"/>
              <a:cs typeface="Calibri"/>
              <a:sym typeface="Calibri"/>
            </a:endParaRPr>
          </a:p>
        </p:txBody>
      </p:sp>
      <p:sp>
        <p:nvSpPr>
          <p:cNvPr id="480" name="Google Shape;480;p13"/>
          <p:cNvSpPr txBox="1"/>
          <p:nvPr/>
        </p:nvSpPr>
        <p:spPr>
          <a:xfrm>
            <a:off x="5626159" y="6581001"/>
            <a:ext cx="939681"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a:solidFill>
                  <a:srgbClr val="000000"/>
                </a:solidFill>
                <a:latin typeface="Calibri"/>
                <a:ea typeface="Calibri"/>
                <a:cs typeface="Calibri"/>
                <a:sym typeface="Calibri"/>
              </a:rPr>
              <a:t>   </a:t>
            </a:r>
            <a:r>
              <a:rPr lang="en-US" sz="1200">
                <a:solidFill>
                  <a:srgbClr val="339966"/>
                </a:solidFill>
                <a:latin typeface="Calibri"/>
                <a:ea typeface="Calibri"/>
                <a:cs typeface="Calibri"/>
                <a:sym typeface="Calibri"/>
              </a:rPr>
              <a:t>Public</a:t>
            </a:r>
            <a:r>
              <a:rPr lang="en-US" sz="1200">
                <a:solidFill>
                  <a:srgbClr val="000000"/>
                </a:solidFill>
                <a:latin typeface="Calibri"/>
                <a:ea typeface="Calibri"/>
                <a:cs typeface="Calibri"/>
                <a:sym typeface="Calibri"/>
              </a:rPr>
              <a:t>   </a:t>
            </a:r>
            <a:r>
              <a:rPr lang="en-US" sz="1200">
                <a:solidFill>
                  <a:srgbClr val="339966"/>
                </a:solidFill>
                <a:latin typeface="Calibri"/>
                <a:ea typeface="Calibri"/>
                <a:cs typeface="Calibri"/>
                <a:sym typeface="Calibri"/>
              </a:rPr>
              <a:t>عام</a:t>
            </a:r>
            <a:endParaRPr sz="1200">
              <a:solidFill>
                <a:srgbClr val="339966"/>
              </a:solidFill>
              <a:latin typeface="Calibri"/>
              <a:ea typeface="Calibri"/>
              <a:cs typeface="Calibri"/>
              <a:sym typeface="Calibri"/>
            </a:endParaRPr>
          </a:p>
        </p:txBody>
      </p:sp>
      <p:pic>
        <p:nvPicPr>
          <p:cNvPr id="5" name="Google Shape;423;p12" descr="/home/claude/work/a2/logo_white.png">
            <a:extLst>
              <a:ext uri="{FF2B5EF4-FFF2-40B4-BE49-F238E27FC236}">
                <a16:creationId xmlns:a16="http://schemas.microsoft.com/office/drawing/2014/main" id="{2E25F5CB-48A4-B0DF-8E8A-5DB5DC995AA4}"/>
              </a:ext>
            </a:extLst>
          </p:cNvPr>
          <p:cNvPicPr preferRelativeResize="0"/>
          <p:nvPr/>
        </p:nvPicPr>
        <p:blipFill rotWithShape="1">
          <a:blip r:embed="rId4">
            <a:alphaModFix/>
          </a:blip>
          <a:srcRect/>
          <a:stretch/>
        </p:blipFill>
        <p:spPr>
          <a:xfrm>
            <a:off x="10801600" y="329184"/>
            <a:ext cx="1133856" cy="478231"/>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D9E1EF"/>
        </a:solidFill>
        <a:effectLst/>
      </p:bgPr>
    </p:bg>
    <p:spTree>
      <p:nvGrpSpPr>
        <p:cNvPr id="1" name="Shape 485"/>
        <p:cNvGrpSpPr/>
        <p:nvPr/>
      </p:nvGrpSpPr>
      <p:grpSpPr>
        <a:xfrm>
          <a:off x="0" y="0"/>
          <a:ext cx="0" cy="0"/>
          <a:chOff x="0" y="0"/>
          <a:chExt cx="0" cy="0"/>
        </a:xfrm>
      </p:grpSpPr>
      <p:pic>
        <p:nvPicPr>
          <p:cNvPr id="5" name="Google Shape;48;p5" descr="/home/claude/work/a2/light_wash.jpg">
            <a:extLst>
              <a:ext uri="{FF2B5EF4-FFF2-40B4-BE49-F238E27FC236}">
                <a16:creationId xmlns:a16="http://schemas.microsoft.com/office/drawing/2014/main" id="{FE713F3E-35D6-DE41-A07D-91C98FB2BEDA}"/>
              </a:ext>
            </a:extLst>
          </p:cNvPr>
          <p:cNvPicPr preferRelativeResize="0"/>
          <p:nvPr/>
        </p:nvPicPr>
        <p:blipFill rotWithShape="1">
          <a:blip r:embed="rId3">
            <a:alphaModFix/>
            <a:extLst>
              <a:ext uri="{BEBA8EAE-BF5A-486C-A8C5-ECC9F3942E4B}">
                <a14:imgProps xmlns:a14="http://schemas.microsoft.com/office/drawing/2010/main">
                  <a14:imgLayer r:embed="rId4">
                    <a14:imgEffect>
                      <a14:brightnessContrast contrast="40000"/>
                    </a14:imgEffect>
                  </a14:imgLayer>
                </a14:imgProps>
              </a:ext>
            </a:extLst>
          </a:blip>
          <a:srcRect/>
          <a:stretch/>
        </p:blipFill>
        <p:spPr>
          <a:xfrm>
            <a:off x="0" y="-9331"/>
            <a:ext cx="12191695" cy="6858000"/>
          </a:xfrm>
          <a:prstGeom prst="rect">
            <a:avLst/>
          </a:prstGeom>
          <a:noFill/>
          <a:ln>
            <a:noFill/>
          </a:ln>
        </p:spPr>
      </p:pic>
      <p:sp>
        <p:nvSpPr>
          <p:cNvPr id="3" name="Google Shape;505;p14">
            <a:extLst>
              <a:ext uri="{FF2B5EF4-FFF2-40B4-BE49-F238E27FC236}">
                <a16:creationId xmlns:a16="http://schemas.microsoft.com/office/drawing/2014/main" id="{7EE74E5E-2E6E-C4D5-B8E7-DB6C3F31F952}"/>
              </a:ext>
            </a:extLst>
          </p:cNvPr>
          <p:cNvSpPr/>
          <p:nvPr/>
        </p:nvSpPr>
        <p:spPr>
          <a:xfrm>
            <a:off x="658367" y="4626864"/>
            <a:ext cx="10874959" cy="566928"/>
          </a:xfrm>
          <a:prstGeom prst="roundRect">
            <a:avLst>
              <a:gd name="adj" fmla="val 11290"/>
            </a:avLst>
          </a:prstGeom>
          <a:solidFill>
            <a:srgbClr val="FFFFFF"/>
          </a:solidFill>
          <a:ln w="9525" cap="flat" cmpd="sng">
            <a:solidFill>
              <a:srgbClr val="C4CFE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87" name="Google Shape;487;p14"/>
          <p:cNvSpPr/>
          <p:nvPr/>
        </p:nvSpPr>
        <p:spPr>
          <a:xfrm>
            <a:off x="658368" y="6272784"/>
            <a:ext cx="85953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9839A"/>
              </a:buClr>
              <a:buSzPts val="800"/>
              <a:buFont typeface="Courier New"/>
              <a:buNone/>
            </a:pPr>
            <a:r>
              <a:rPr lang="en-US" sz="800">
                <a:solidFill>
                  <a:srgbClr val="79839A"/>
                </a:solidFill>
                <a:latin typeface="Courier New"/>
                <a:ea typeface="Courier New"/>
                <a:cs typeface="Courier New"/>
                <a:sym typeface="Courier New"/>
              </a:rPr>
              <a:t>BASELINE</a:t>
            </a:r>
            <a:r>
              <a:rPr lang="en-US" sz="800">
                <a:solidFill>
                  <a:srgbClr val="000000"/>
                </a:solidFill>
                <a:latin typeface="Courier New"/>
                <a:ea typeface="Courier New"/>
                <a:cs typeface="Courier New"/>
                <a:sym typeface="Courier New"/>
              </a:rPr>
              <a:t>     </a:t>
            </a:r>
            <a:r>
              <a:rPr lang="en-US" sz="800">
                <a:solidFill>
                  <a:srgbClr val="79839A"/>
                </a:solidFill>
                <a:latin typeface="Courier New"/>
                <a:ea typeface="Courier New"/>
                <a:cs typeface="Courier New"/>
                <a:sym typeface="Courier New"/>
              </a:rPr>
              <a:t>KNOWLEDGE GAPS</a:t>
            </a:r>
            <a:r>
              <a:rPr lang="en-US" sz="800">
                <a:solidFill>
                  <a:srgbClr val="000000"/>
                </a:solidFill>
                <a:latin typeface="Courier New"/>
                <a:ea typeface="Courier New"/>
                <a:cs typeface="Courier New"/>
                <a:sym typeface="Courier New"/>
              </a:rPr>
              <a:t>     </a:t>
            </a:r>
            <a:r>
              <a:rPr lang="en-US" sz="800">
                <a:solidFill>
                  <a:srgbClr val="79839A"/>
                </a:solidFill>
                <a:latin typeface="Courier New"/>
                <a:ea typeface="Courier New"/>
                <a:cs typeface="Courier New"/>
                <a:sym typeface="Courier New"/>
              </a:rPr>
              <a:t>SELECTION</a:t>
            </a:r>
            <a:r>
              <a:rPr lang="en-US" sz="800">
                <a:solidFill>
                  <a:srgbClr val="000000"/>
                </a:solidFill>
                <a:latin typeface="Courier New"/>
                <a:ea typeface="Courier New"/>
                <a:cs typeface="Courier New"/>
                <a:sym typeface="Courier New"/>
              </a:rPr>
              <a:t>     </a:t>
            </a:r>
            <a:r>
              <a:rPr lang="en-US" sz="800" b="1">
                <a:solidFill>
                  <a:srgbClr val="13234C"/>
                </a:solidFill>
                <a:latin typeface="Courier New"/>
                <a:ea typeface="Courier New"/>
                <a:cs typeface="Courier New"/>
                <a:sym typeface="Courier New"/>
              </a:rPr>
              <a:t>RECOMMENDATION</a:t>
            </a:r>
            <a:r>
              <a:rPr lang="en-US" sz="800">
                <a:solidFill>
                  <a:srgbClr val="000000"/>
                </a:solidFill>
                <a:latin typeface="Courier New"/>
                <a:ea typeface="Courier New"/>
                <a:cs typeface="Courier New"/>
                <a:sym typeface="Courier New"/>
              </a:rPr>
              <a:t>     </a:t>
            </a:r>
            <a:r>
              <a:rPr lang="en-US" sz="800">
                <a:solidFill>
                  <a:srgbClr val="79839A"/>
                </a:solidFill>
                <a:latin typeface="Courier New"/>
                <a:ea typeface="Courier New"/>
                <a:cs typeface="Courier New"/>
                <a:sym typeface="Courier New"/>
              </a:rPr>
              <a:t>VALUE</a:t>
            </a:r>
            <a:endParaRPr sz="800">
              <a:solidFill>
                <a:schemeClr val="dk1"/>
              </a:solidFill>
              <a:latin typeface="Courier New"/>
              <a:ea typeface="Courier New"/>
              <a:cs typeface="Courier New"/>
              <a:sym typeface="Courier New"/>
            </a:endParaRPr>
          </a:p>
        </p:txBody>
      </p:sp>
      <p:sp>
        <p:nvSpPr>
          <p:cNvPr id="488" name="Google Shape;488;p14"/>
          <p:cNvSpPr/>
          <p:nvPr/>
        </p:nvSpPr>
        <p:spPr>
          <a:xfrm>
            <a:off x="658368" y="530352"/>
            <a:ext cx="9052560" cy="472966"/>
          </a:xfrm>
          <a:prstGeom prst="rect">
            <a:avLst/>
          </a:prstGeom>
          <a:noFill/>
          <a:ln>
            <a:noFill/>
          </a:ln>
        </p:spPr>
        <p:txBody>
          <a:bodyPr spcFirstLastPara="1" wrap="square" lIns="0" tIns="0" rIns="0" bIns="0" anchor="ctr" anchorCtr="0">
            <a:noAutofit/>
          </a:bodyPr>
          <a:lstStyle/>
          <a:p>
            <a:pPr marL="0" marR="0" lvl="0" indent="0" algn="l" rtl="0">
              <a:lnSpc>
                <a:spcPct val="92000"/>
              </a:lnSpc>
              <a:spcBef>
                <a:spcPts val="0"/>
              </a:spcBef>
              <a:spcAft>
                <a:spcPts val="0"/>
              </a:spcAft>
              <a:buClr>
                <a:srgbClr val="13234C"/>
              </a:buClr>
              <a:buSzPts val="3000"/>
              <a:buFont typeface="Arial"/>
              <a:buNone/>
            </a:pPr>
            <a:r>
              <a:rPr lang="en-US" sz="3000" b="1">
                <a:solidFill>
                  <a:srgbClr val="13234C"/>
                </a:solidFill>
                <a:latin typeface="29LT Adir" panose="00000506000000000000" pitchFamily="50" charset="-78"/>
                <a:cs typeface="29LT Adir" panose="00000506000000000000" pitchFamily="50" charset="-78"/>
                <a:sym typeface="Arial"/>
              </a:rPr>
              <a:t>Candidate Payload Assessment</a:t>
            </a:r>
            <a:endParaRPr sz="30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489" name="Google Shape;489;p14"/>
          <p:cNvSpPr/>
          <p:nvPr/>
        </p:nvSpPr>
        <p:spPr>
          <a:xfrm>
            <a:off x="658368" y="1058182"/>
            <a:ext cx="9052560" cy="3291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4C5468"/>
              </a:buClr>
              <a:buSzPts val="1400"/>
              <a:buFont typeface="Arial"/>
              <a:buNone/>
            </a:pPr>
            <a:r>
              <a:rPr lang="en-US" sz="1400">
                <a:solidFill>
                  <a:srgbClr val="4C5468"/>
                </a:solidFill>
                <a:latin typeface="29LT Adir" panose="00000506000000000000" pitchFamily="50" charset="-78"/>
                <a:cs typeface="29LT Adir" panose="00000506000000000000" pitchFamily="50" charset="-78"/>
                <a:sym typeface="Arial"/>
              </a:rPr>
              <a:t>Five candidate payloads were assessed against the required observable and the orbiter, only architecture.</a:t>
            </a:r>
            <a:endParaRPr sz="1400">
              <a:solidFill>
                <a:schemeClr val="dk1"/>
              </a:solidFill>
              <a:latin typeface="29LT Adir" panose="00000506000000000000" pitchFamily="50" charset="-78"/>
              <a:cs typeface="29LT Adir" panose="00000506000000000000" pitchFamily="50" charset="-78"/>
              <a:sym typeface="Arial"/>
            </a:endParaRPr>
          </a:p>
        </p:txBody>
      </p:sp>
      <p:sp>
        <p:nvSpPr>
          <p:cNvPr id="490" name="Google Shape;490;p14"/>
          <p:cNvSpPr/>
          <p:nvPr/>
        </p:nvSpPr>
        <p:spPr>
          <a:xfrm>
            <a:off x="658368" y="1920240"/>
            <a:ext cx="10874959" cy="566928"/>
          </a:xfrm>
          <a:prstGeom prst="roundRect">
            <a:avLst>
              <a:gd name="adj" fmla="val 11290"/>
            </a:avLst>
          </a:prstGeom>
          <a:solidFill>
            <a:srgbClr val="FFFFFF"/>
          </a:solidFill>
          <a:ln w="9525" cap="flat" cmpd="sng">
            <a:solidFill>
              <a:srgbClr val="C4CFE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1" name="Google Shape;491;p14"/>
          <p:cNvSpPr/>
          <p:nvPr/>
        </p:nvSpPr>
        <p:spPr>
          <a:xfrm>
            <a:off x="987552" y="1920240"/>
            <a:ext cx="47548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400"/>
              <a:buFont typeface="Arial"/>
              <a:buNone/>
            </a:pPr>
            <a:r>
              <a:rPr lang="en-US" sz="1600">
                <a:solidFill>
                  <a:srgbClr val="13234C"/>
                </a:solidFill>
                <a:latin typeface="29LT Adir" panose="00000506000000000000" pitchFamily="50" charset="-78"/>
                <a:cs typeface="29LT Adir" panose="00000506000000000000" pitchFamily="50" charset="-78"/>
                <a:sym typeface="Arial"/>
              </a:rPr>
              <a:t>Mössbauer Spectrometer</a:t>
            </a:r>
            <a:endParaRPr sz="16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492" name="Google Shape;492;p14"/>
          <p:cNvSpPr/>
          <p:nvPr/>
        </p:nvSpPr>
        <p:spPr>
          <a:xfrm>
            <a:off x="5760720" y="2061972"/>
            <a:ext cx="283464" cy="283464"/>
          </a:xfrm>
          <a:prstGeom prst="ellipse">
            <a:avLst/>
          </a:prstGeom>
          <a:solidFill>
            <a:srgbClr val="C0563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3" name="Google Shape;493;p14"/>
          <p:cNvSpPr/>
          <p:nvPr/>
        </p:nvSpPr>
        <p:spPr>
          <a:xfrm>
            <a:off x="5760720" y="2061972"/>
            <a:ext cx="283464" cy="2834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Arial"/>
              <a:buNone/>
            </a:pPr>
            <a:r>
              <a:rPr lang="en-US" sz="1200" b="1">
                <a:solidFill>
                  <a:srgbClr val="FFFFFF"/>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494" name="Google Shape;494;p14"/>
          <p:cNvSpPr/>
          <p:nvPr/>
        </p:nvSpPr>
        <p:spPr>
          <a:xfrm>
            <a:off x="6272784" y="1920240"/>
            <a:ext cx="493776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C5468"/>
              </a:buClr>
              <a:buSzPts val="1100"/>
              <a:buFont typeface="Courier New"/>
              <a:buNone/>
            </a:pPr>
            <a:r>
              <a:rPr lang="en-US" sz="1100">
                <a:solidFill>
                  <a:srgbClr val="4C5468"/>
                </a:solidFill>
                <a:latin typeface="Courier New"/>
                <a:ea typeface="Courier New"/>
                <a:cs typeface="Courier New"/>
                <a:sym typeface="Courier New"/>
              </a:rPr>
              <a:t>Landing required</a:t>
            </a:r>
            <a:endParaRPr sz="1100">
              <a:solidFill>
                <a:schemeClr val="dk1"/>
              </a:solidFill>
              <a:latin typeface="Courier New"/>
              <a:ea typeface="Courier New"/>
              <a:cs typeface="Courier New"/>
              <a:sym typeface="Courier New"/>
            </a:endParaRPr>
          </a:p>
        </p:txBody>
      </p:sp>
      <p:sp>
        <p:nvSpPr>
          <p:cNvPr id="495" name="Google Shape;495;p14"/>
          <p:cNvSpPr/>
          <p:nvPr/>
        </p:nvSpPr>
        <p:spPr>
          <a:xfrm>
            <a:off x="658368" y="2596896"/>
            <a:ext cx="10874959" cy="566928"/>
          </a:xfrm>
          <a:prstGeom prst="roundRect">
            <a:avLst>
              <a:gd name="adj" fmla="val 11290"/>
            </a:avLst>
          </a:prstGeom>
          <a:solidFill>
            <a:srgbClr val="FFFFFF"/>
          </a:solidFill>
          <a:ln w="9525" cap="flat" cmpd="sng">
            <a:solidFill>
              <a:srgbClr val="C4CFE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6" name="Google Shape;496;p14"/>
          <p:cNvSpPr/>
          <p:nvPr/>
        </p:nvSpPr>
        <p:spPr>
          <a:xfrm>
            <a:off x="987552" y="2596896"/>
            <a:ext cx="47548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400"/>
              <a:buFont typeface="Arial"/>
              <a:buNone/>
            </a:pPr>
            <a:r>
              <a:rPr lang="en-US" sz="1600">
                <a:solidFill>
                  <a:srgbClr val="13234C"/>
                </a:solidFill>
                <a:latin typeface="29LT Adir" panose="00000506000000000000" pitchFamily="50" charset="-78"/>
                <a:cs typeface="29LT Adir" panose="00000506000000000000" pitchFamily="50" charset="-78"/>
                <a:sym typeface="Arial"/>
              </a:rPr>
              <a:t>MicrOmega Microscope</a:t>
            </a:r>
            <a:endParaRPr sz="16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497" name="Google Shape;497;p14"/>
          <p:cNvSpPr/>
          <p:nvPr/>
        </p:nvSpPr>
        <p:spPr>
          <a:xfrm>
            <a:off x="5760720" y="2738628"/>
            <a:ext cx="283464" cy="283464"/>
          </a:xfrm>
          <a:prstGeom prst="ellipse">
            <a:avLst/>
          </a:prstGeom>
          <a:solidFill>
            <a:srgbClr val="C0563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498" name="Google Shape;498;p14"/>
          <p:cNvSpPr/>
          <p:nvPr/>
        </p:nvSpPr>
        <p:spPr>
          <a:xfrm>
            <a:off x="5760720" y="2738628"/>
            <a:ext cx="283464" cy="2834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Arial"/>
              <a:buNone/>
            </a:pPr>
            <a:r>
              <a:rPr lang="en-US" sz="1200" b="1">
                <a:solidFill>
                  <a:srgbClr val="FFFFFF"/>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499" name="Google Shape;499;p14"/>
          <p:cNvSpPr/>
          <p:nvPr/>
        </p:nvSpPr>
        <p:spPr>
          <a:xfrm>
            <a:off x="6272784" y="2596896"/>
            <a:ext cx="493776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C5468"/>
              </a:buClr>
              <a:buSzPts val="1100"/>
              <a:buFont typeface="Courier New"/>
              <a:buNone/>
            </a:pPr>
            <a:r>
              <a:rPr lang="en-US" sz="1100">
                <a:solidFill>
                  <a:srgbClr val="4C5468"/>
                </a:solidFill>
                <a:latin typeface="Courier New"/>
                <a:ea typeface="Courier New"/>
                <a:cs typeface="Courier New"/>
                <a:sym typeface="Courier New"/>
              </a:rPr>
              <a:t>Landing required</a:t>
            </a:r>
            <a:endParaRPr sz="1100">
              <a:solidFill>
                <a:schemeClr val="dk1"/>
              </a:solidFill>
              <a:latin typeface="Courier New"/>
              <a:ea typeface="Courier New"/>
              <a:cs typeface="Courier New"/>
              <a:sym typeface="Courier New"/>
            </a:endParaRPr>
          </a:p>
        </p:txBody>
      </p:sp>
      <p:sp>
        <p:nvSpPr>
          <p:cNvPr id="500" name="Google Shape;500;p14"/>
          <p:cNvSpPr/>
          <p:nvPr/>
        </p:nvSpPr>
        <p:spPr>
          <a:xfrm>
            <a:off x="658368" y="3273552"/>
            <a:ext cx="10874959" cy="566928"/>
          </a:xfrm>
          <a:prstGeom prst="roundRect">
            <a:avLst>
              <a:gd name="adj" fmla="val 11290"/>
            </a:avLst>
          </a:prstGeom>
          <a:solidFill>
            <a:srgbClr val="FFFFFF"/>
          </a:solidFill>
          <a:ln w="9525" cap="flat" cmpd="sng">
            <a:solidFill>
              <a:srgbClr val="C4CFE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1" name="Google Shape;501;p14"/>
          <p:cNvSpPr/>
          <p:nvPr/>
        </p:nvSpPr>
        <p:spPr>
          <a:xfrm>
            <a:off x="987552" y="3273552"/>
            <a:ext cx="47548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400"/>
              <a:buFont typeface="Arial"/>
              <a:buNone/>
            </a:pPr>
            <a:r>
              <a:rPr lang="en-US" sz="1600">
                <a:solidFill>
                  <a:srgbClr val="13234C"/>
                </a:solidFill>
                <a:latin typeface="29LT Adir" panose="00000506000000000000" pitchFamily="50" charset="-78"/>
                <a:cs typeface="29LT Adir" panose="00000506000000000000" pitchFamily="50" charset="-78"/>
                <a:sym typeface="Arial"/>
              </a:rPr>
              <a:t>LIBS, ChemCam class</a:t>
            </a:r>
            <a:endParaRPr sz="16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502" name="Google Shape;502;p14"/>
          <p:cNvSpPr/>
          <p:nvPr/>
        </p:nvSpPr>
        <p:spPr>
          <a:xfrm>
            <a:off x="5760720" y="3415284"/>
            <a:ext cx="283464" cy="283464"/>
          </a:xfrm>
          <a:prstGeom prst="ellipse">
            <a:avLst/>
          </a:prstGeom>
          <a:solidFill>
            <a:srgbClr val="C0563F"/>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3" name="Google Shape;503;p14"/>
          <p:cNvSpPr/>
          <p:nvPr/>
        </p:nvSpPr>
        <p:spPr>
          <a:xfrm>
            <a:off x="5760720" y="3415284"/>
            <a:ext cx="283464" cy="2834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Arial"/>
              <a:buNone/>
            </a:pPr>
            <a:r>
              <a:rPr lang="en-US" sz="1200" b="1">
                <a:solidFill>
                  <a:srgbClr val="FFFFFF"/>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504" name="Google Shape;504;p14"/>
          <p:cNvSpPr/>
          <p:nvPr/>
        </p:nvSpPr>
        <p:spPr>
          <a:xfrm>
            <a:off x="6272784" y="3273552"/>
            <a:ext cx="493776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C5468"/>
              </a:buClr>
              <a:buSzPts val="1100"/>
              <a:buFont typeface="Courier New"/>
              <a:buNone/>
            </a:pPr>
            <a:r>
              <a:rPr lang="en-US" sz="1100">
                <a:solidFill>
                  <a:srgbClr val="4C5468"/>
                </a:solidFill>
                <a:latin typeface="Courier New"/>
                <a:ea typeface="Courier New"/>
                <a:cs typeface="Courier New"/>
                <a:sym typeface="Courier New"/>
              </a:rPr>
              <a:t>Close-range operation required</a:t>
            </a:r>
            <a:endParaRPr sz="1100">
              <a:solidFill>
                <a:schemeClr val="dk1"/>
              </a:solidFill>
              <a:latin typeface="Courier New"/>
              <a:ea typeface="Courier New"/>
              <a:cs typeface="Courier New"/>
              <a:sym typeface="Courier New"/>
            </a:endParaRPr>
          </a:p>
        </p:txBody>
      </p:sp>
      <p:sp>
        <p:nvSpPr>
          <p:cNvPr id="505" name="Google Shape;505;p14"/>
          <p:cNvSpPr/>
          <p:nvPr/>
        </p:nvSpPr>
        <p:spPr>
          <a:xfrm>
            <a:off x="658368" y="3950208"/>
            <a:ext cx="10874959" cy="566928"/>
          </a:xfrm>
          <a:prstGeom prst="roundRect">
            <a:avLst>
              <a:gd name="adj" fmla="val 11290"/>
            </a:avLst>
          </a:prstGeom>
          <a:solidFill>
            <a:srgbClr val="FFFFFF"/>
          </a:solidFill>
          <a:ln w="9525" cap="flat" cmpd="sng">
            <a:solidFill>
              <a:srgbClr val="C4CFE0"/>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6" name="Google Shape;506;p14"/>
          <p:cNvSpPr/>
          <p:nvPr/>
        </p:nvSpPr>
        <p:spPr>
          <a:xfrm>
            <a:off x="987552" y="3950208"/>
            <a:ext cx="47548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400"/>
              <a:buFont typeface="Arial"/>
              <a:buNone/>
            </a:pPr>
            <a:r>
              <a:rPr lang="en-US" sz="1600">
                <a:solidFill>
                  <a:srgbClr val="13234C"/>
                </a:solidFill>
                <a:latin typeface="29LT Adir" panose="00000506000000000000" pitchFamily="50" charset="-78"/>
                <a:cs typeface="29LT Adir" panose="00000506000000000000" pitchFamily="50" charset="-78"/>
                <a:sym typeface="Arial"/>
              </a:rPr>
              <a:t>Neutron Spectrometer</a:t>
            </a:r>
            <a:endParaRPr sz="16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507" name="Google Shape;507;p14"/>
          <p:cNvSpPr/>
          <p:nvPr/>
        </p:nvSpPr>
        <p:spPr>
          <a:xfrm>
            <a:off x="5760720" y="4091940"/>
            <a:ext cx="283464" cy="283464"/>
          </a:xfrm>
          <a:prstGeom prst="ellipse">
            <a:avLst/>
          </a:prstGeom>
          <a:solidFill>
            <a:srgbClr val="E8A33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08" name="Google Shape;508;p14"/>
          <p:cNvSpPr/>
          <p:nvPr/>
        </p:nvSpPr>
        <p:spPr>
          <a:xfrm>
            <a:off x="5760720" y="4091940"/>
            <a:ext cx="283464" cy="2834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Arial"/>
              <a:buNone/>
            </a:pPr>
            <a:r>
              <a:rPr lang="en-US" sz="1200" b="1">
                <a:solidFill>
                  <a:srgbClr val="FFFFFF"/>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509" name="Google Shape;509;p14"/>
          <p:cNvSpPr/>
          <p:nvPr/>
        </p:nvSpPr>
        <p:spPr>
          <a:xfrm>
            <a:off x="6272784" y="3950208"/>
            <a:ext cx="493776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C5468"/>
              </a:buClr>
              <a:buSzPts val="1100"/>
              <a:buFont typeface="Courier New"/>
              <a:buNone/>
            </a:pPr>
            <a:r>
              <a:rPr lang="en-US" sz="1100">
                <a:solidFill>
                  <a:srgbClr val="4C5468"/>
                </a:solidFill>
                <a:latin typeface="Courier New"/>
                <a:ea typeface="Courier New"/>
                <a:cs typeface="Courier New"/>
                <a:sym typeface="Courier New"/>
              </a:rPr>
              <a:t>Partial scientific match</a:t>
            </a:r>
            <a:endParaRPr sz="1100">
              <a:solidFill>
                <a:schemeClr val="dk1"/>
              </a:solidFill>
              <a:latin typeface="Courier New"/>
              <a:ea typeface="Courier New"/>
              <a:cs typeface="Courier New"/>
              <a:sym typeface="Courier New"/>
            </a:endParaRPr>
          </a:p>
        </p:txBody>
      </p:sp>
      <p:sp>
        <p:nvSpPr>
          <p:cNvPr id="511" name="Google Shape;511;p14"/>
          <p:cNvSpPr/>
          <p:nvPr/>
        </p:nvSpPr>
        <p:spPr>
          <a:xfrm>
            <a:off x="987552" y="4626864"/>
            <a:ext cx="475488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500"/>
              <a:buFont typeface="Arial"/>
              <a:buNone/>
            </a:pPr>
            <a:r>
              <a:rPr lang="en-US" sz="1600">
                <a:solidFill>
                  <a:srgbClr val="13234C"/>
                </a:solidFill>
                <a:latin typeface="29LT Adir" panose="00000506000000000000" pitchFamily="50" charset="-78"/>
                <a:cs typeface="29LT Adir" panose="00000506000000000000" pitchFamily="50" charset="-78"/>
                <a:sym typeface="Arial"/>
              </a:rPr>
              <a:t>Gamma-Ray Spectrometer</a:t>
            </a:r>
            <a:endParaRPr sz="16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512" name="Google Shape;512;p14"/>
          <p:cNvSpPr/>
          <p:nvPr/>
        </p:nvSpPr>
        <p:spPr>
          <a:xfrm>
            <a:off x="5760720" y="4768596"/>
            <a:ext cx="283464" cy="283464"/>
          </a:xfrm>
          <a:prstGeom prst="ellipse">
            <a:avLst/>
          </a:prstGeom>
          <a:solidFill>
            <a:srgbClr val="2E9E6B"/>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13" name="Google Shape;513;p14"/>
          <p:cNvSpPr/>
          <p:nvPr/>
        </p:nvSpPr>
        <p:spPr>
          <a:xfrm>
            <a:off x="5760720" y="4768596"/>
            <a:ext cx="283464" cy="28346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200"/>
              <a:buFont typeface="Arial"/>
              <a:buNone/>
            </a:pPr>
            <a:r>
              <a:rPr lang="en-US" sz="1200" b="1">
                <a:solidFill>
                  <a:srgbClr val="FFFFFF"/>
                </a:solidFill>
                <a:latin typeface="Arial"/>
                <a:ea typeface="Arial"/>
                <a:cs typeface="Arial"/>
                <a:sym typeface="Arial"/>
              </a:rPr>
              <a:t>✓</a:t>
            </a:r>
            <a:endParaRPr sz="1200">
              <a:solidFill>
                <a:schemeClr val="dk1"/>
              </a:solidFill>
              <a:latin typeface="Calibri"/>
              <a:ea typeface="Calibri"/>
              <a:cs typeface="Calibri"/>
              <a:sym typeface="Calibri"/>
            </a:endParaRPr>
          </a:p>
        </p:txBody>
      </p:sp>
      <p:sp>
        <p:nvSpPr>
          <p:cNvPr id="514" name="Google Shape;514;p14"/>
          <p:cNvSpPr/>
          <p:nvPr/>
        </p:nvSpPr>
        <p:spPr>
          <a:xfrm>
            <a:off x="6272784" y="4626864"/>
            <a:ext cx="4937760" cy="56692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F6B4A"/>
              </a:buClr>
              <a:buSzPts val="1100"/>
              <a:buFont typeface="Courier New"/>
              <a:buNone/>
            </a:pPr>
            <a:r>
              <a:rPr lang="en-US" sz="1100" b="1">
                <a:solidFill>
                  <a:srgbClr val="1F6B4A"/>
                </a:solidFill>
                <a:latin typeface="Courier New"/>
                <a:ea typeface="Courier New"/>
                <a:cs typeface="Courier New"/>
                <a:sym typeface="Courier New"/>
              </a:rPr>
              <a:t>Direct match</a:t>
            </a:r>
            <a:endParaRPr sz="1100">
              <a:solidFill>
                <a:schemeClr val="dk1"/>
              </a:solidFill>
              <a:latin typeface="Courier New"/>
              <a:ea typeface="Courier New"/>
              <a:cs typeface="Courier New"/>
              <a:sym typeface="Courier New"/>
            </a:endParaRPr>
          </a:p>
        </p:txBody>
      </p:sp>
      <p:sp>
        <p:nvSpPr>
          <p:cNvPr id="517" name="Google Shape;517;p14"/>
          <p:cNvSpPr/>
          <p:nvPr/>
        </p:nvSpPr>
        <p:spPr>
          <a:xfrm>
            <a:off x="6035040" y="6272784"/>
            <a:ext cx="484632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79839A"/>
              </a:buClr>
              <a:buSzPts val="900"/>
              <a:buFont typeface="Arial"/>
              <a:buNone/>
            </a:pPr>
            <a:r>
              <a:rPr lang="en-US" sz="900" i="1">
                <a:solidFill>
                  <a:srgbClr val="79839A"/>
                </a:solidFill>
                <a:latin typeface="Arial"/>
                <a:ea typeface="Arial"/>
                <a:cs typeface="Arial"/>
                <a:sym typeface="Arial"/>
              </a:rPr>
              <a:t>Full five-criteria assessment in appendix.</a:t>
            </a:r>
            <a:endParaRPr sz="900">
              <a:solidFill>
                <a:schemeClr val="dk1"/>
              </a:solidFill>
              <a:latin typeface="Calibri"/>
              <a:ea typeface="Calibri"/>
              <a:cs typeface="Calibri"/>
              <a:sym typeface="Calibri"/>
            </a:endParaRPr>
          </a:p>
        </p:txBody>
      </p:sp>
      <p:sp>
        <p:nvSpPr>
          <p:cNvPr id="518" name="Google Shape;518;p14"/>
          <p:cNvSpPr/>
          <p:nvPr/>
        </p:nvSpPr>
        <p:spPr>
          <a:xfrm>
            <a:off x="10881360" y="6272784"/>
            <a:ext cx="694944"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79839A"/>
              </a:buClr>
              <a:buSzPts val="1000"/>
              <a:buFont typeface="Arial"/>
              <a:buNone/>
            </a:pPr>
            <a:r>
              <a:rPr lang="en-US" sz="1000">
                <a:solidFill>
                  <a:srgbClr val="79839A"/>
                </a:solidFill>
                <a:latin typeface="Arial"/>
                <a:ea typeface="Arial"/>
                <a:cs typeface="Arial"/>
                <a:sym typeface="Arial"/>
              </a:rPr>
              <a:t>11</a:t>
            </a:r>
            <a:endParaRPr sz="1000">
              <a:solidFill>
                <a:schemeClr val="dk1"/>
              </a:solidFill>
              <a:latin typeface="Calibri"/>
              <a:ea typeface="Calibri"/>
              <a:cs typeface="Calibri"/>
              <a:sym typeface="Calibri"/>
            </a:endParaRPr>
          </a:p>
        </p:txBody>
      </p:sp>
      <p:pic>
        <p:nvPicPr>
          <p:cNvPr id="519" name="Google Shape;519;p14" descr="/home/claude/work/a2/logo_dark.png"/>
          <p:cNvPicPr preferRelativeResize="0"/>
          <p:nvPr/>
        </p:nvPicPr>
        <p:blipFill rotWithShape="1">
          <a:blip r:embed="rId5">
            <a:alphaModFix/>
          </a:blip>
          <a:srcRect/>
          <a:stretch/>
        </p:blipFill>
        <p:spPr>
          <a:xfrm>
            <a:off x="10616340" y="122984"/>
            <a:ext cx="1450538" cy="814736"/>
          </a:xfrm>
          <a:prstGeom prst="rect">
            <a:avLst/>
          </a:prstGeom>
          <a:noFill/>
          <a:ln>
            <a:noFill/>
          </a:ln>
        </p:spPr>
      </p:pic>
      <p:sp>
        <p:nvSpPr>
          <p:cNvPr id="520" name="Google Shape;520;p14"/>
          <p:cNvSpPr txBox="1"/>
          <p:nvPr/>
        </p:nvSpPr>
        <p:spPr>
          <a:xfrm>
            <a:off x="5626159" y="6581001"/>
            <a:ext cx="939681"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a:solidFill>
                  <a:srgbClr val="000000"/>
                </a:solidFill>
                <a:latin typeface="Calibri"/>
                <a:ea typeface="Calibri"/>
                <a:cs typeface="Calibri"/>
                <a:sym typeface="Calibri"/>
              </a:rPr>
              <a:t>   </a:t>
            </a:r>
            <a:r>
              <a:rPr lang="en-US" sz="1200">
                <a:solidFill>
                  <a:srgbClr val="339966"/>
                </a:solidFill>
                <a:latin typeface="Calibri"/>
                <a:ea typeface="Calibri"/>
                <a:cs typeface="Calibri"/>
                <a:sym typeface="Calibri"/>
              </a:rPr>
              <a:t>Public</a:t>
            </a:r>
            <a:r>
              <a:rPr lang="en-US" sz="1200">
                <a:solidFill>
                  <a:srgbClr val="000000"/>
                </a:solidFill>
                <a:latin typeface="Calibri"/>
                <a:ea typeface="Calibri"/>
                <a:cs typeface="Calibri"/>
                <a:sym typeface="Calibri"/>
              </a:rPr>
              <a:t>   </a:t>
            </a:r>
            <a:r>
              <a:rPr lang="en-US" sz="1200">
                <a:solidFill>
                  <a:srgbClr val="339966"/>
                </a:solidFill>
                <a:latin typeface="Calibri"/>
                <a:ea typeface="Calibri"/>
                <a:cs typeface="Calibri"/>
                <a:sym typeface="Calibri"/>
              </a:rPr>
              <a:t>عام</a:t>
            </a:r>
            <a:endParaRPr sz="1200">
              <a:solidFill>
                <a:srgbClr val="339966"/>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Shape 525"/>
        <p:cNvGrpSpPr/>
        <p:nvPr/>
      </p:nvGrpSpPr>
      <p:grpSpPr>
        <a:xfrm>
          <a:off x="0" y="0"/>
          <a:ext cx="0" cy="0"/>
          <a:chOff x="0" y="0"/>
          <a:chExt cx="0" cy="0"/>
        </a:xfrm>
      </p:grpSpPr>
      <p:pic>
        <p:nvPicPr>
          <p:cNvPr id="526" name="Google Shape;526;p15" descr="/home/claude/work/a2/glow_deep.jpg"/>
          <p:cNvPicPr preferRelativeResize="0"/>
          <p:nvPr/>
        </p:nvPicPr>
        <p:blipFill rotWithShape="1">
          <a:blip r:embed="rId3">
            <a:alphaModFix/>
          </a:blip>
          <a:srcRect/>
          <a:stretch/>
        </p:blipFill>
        <p:spPr>
          <a:xfrm>
            <a:off x="0" y="0"/>
            <a:ext cx="12191695" cy="6858000"/>
          </a:xfrm>
          <a:prstGeom prst="rect">
            <a:avLst/>
          </a:prstGeom>
          <a:noFill/>
          <a:ln>
            <a:noFill/>
          </a:ln>
        </p:spPr>
      </p:pic>
      <p:pic>
        <p:nvPicPr>
          <p:cNvPr id="527" name="Google Shape;527;p15" descr="/home/claude/work/a2/orbiter.png"/>
          <p:cNvPicPr preferRelativeResize="0"/>
          <p:nvPr/>
        </p:nvPicPr>
        <p:blipFill rotWithShape="1">
          <a:blip r:embed="rId4">
            <a:alphaModFix amt="70000"/>
          </a:blip>
          <a:srcRect/>
          <a:stretch/>
        </p:blipFill>
        <p:spPr>
          <a:xfrm rot="504685">
            <a:off x="7652691" y="-70249"/>
            <a:ext cx="3965649" cy="5280988"/>
          </a:xfrm>
          <a:prstGeom prst="rect">
            <a:avLst/>
          </a:prstGeom>
          <a:noFill/>
          <a:ln>
            <a:noFill/>
          </a:ln>
        </p:spPr>
      </p:pic>
      <p:pic>
        <p:nvPicPr>
          <p:cNvPr id="528" name="Google Shape;528;p15" descr="/home/claude/work/a2/logo_white.png"/>
          <p:cNvPicPr preferRelativeResize="0"/>
          <p:nvPr/>
        </p:nvPicPr>
        <p:blipFill rotWithShape="1">
          <a:blip r:embed="rId5">
            <a:alphaModFix/>
          </a:blip>
          <a:srcRect/>
          <a:stretch/>
        </p:blipFill>
        <p:spPr>
          <a:xfrm>
            <a:off x="10806379" y="293641"/>
            <a:ext cx="1133856" cy="478231"/>
          </a:xfrm>
          <a:prstGeom prst="rect">
            <a:avLst/>
          </a:prstGeom>
          <a:noFill/>
          <a:ln>
            <a:noFill/>
          </a:ln>
        </p:spPr>
      </p:pic>
      <p:sp>
        <p:nvSpPr>
          <p:cNvPr id="529" name="Google Shape;529;p15"/>
          <p:cNvSpPr/>
          <p:nvPr/>
        </p:nvSpPr>
        <p:spPr>
          <a:xfrm>
            <a:off x="658368" y="6272784"/>
            <a:ext cx="85953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4607C"/>
              </a:buClr>
              <a:buSzPts val="800"/>
              <a:buFont typeface="Courier New"/>
              <a:buNone/>
            </a:pPr>
            <a:r>
              <a:rPr lang="en-US" sz="800">
                <a:solidFill>
                  <a:srgbClr val="54607C"/>
                </a:solidFill>
                <a:latin typeface="Courier New"/>
                <a:ea typeface="Courier New"/>
                <a:cs typeface="Courier New"/>
                <a:sym typeface="Courier New"/>
              </a:rPr>
              <a:t>BASELINE</a:t>
            </a:r>
            <a:r>
              <a:rPr lang="en-US" sz="800">
                <a:solidFill>
                  <a:srgbClr val="000000"/>
                </a:solidFill>
                <a:latin typeface="Courier New"/>
                <a:ea typeface="Courier New"/>
                <a:cs typeface="Courier New"/>
                <a:sym typeface="Courier New"/>
              </a:rPr>
              <a:t>     </a:t>
            </a:r>
            <a:r>
              <a:rPr lang="en-US" sz="800">
                <a:solidFill>
                  <a:srgbClr val="54607C"/>
                </a:solidFill>
                <a:latin typeface="Courier New"/>
                <a:ea typeface="Courier New"/>
                <a:cs typeface="Courier New"/>
                <a:sym typeface="Courier New"/>
              </a:rPr>
              <a:t>KNOWLEDGE GAPS</a:t>
            </a:r>
            <a:r>
              <a:rPr lang="en-US" sz="800">
                <a:solidFill>
                  <a:srgbClr val="000000"/>
                </a:solidFill>
                <a:latin typeface="Courier New"/>
                <a:ea typeface="Courier New"/>
                <a:cs typeface="Courier New"/>
                <a:sym typeface="Courier New"/>
              </a:rPr>
              <a:t>     </a:t>
            </a:r>
            <a:r>
              <a:rPr lang="en-US" sz="800">
                <a:solidFill>
                  <a:srgbClr val="54607C"/>
                </a:solidFill>
                <a:latin typeface="Courier New"/>
                <a:ea typeface="Courier New"/>
                <a:cs typeface="Courier New"/>
                <a:sym typeface="Courier New"/>
              </a:rPr>
              <a:t>SELECTION</a:t>
            </a:r>
            <a:r>
              <a:rPr lang="en-US" sz="800">
                <a:solidFill>
                  <a:srgbClr val="000000"/>
                </a:solidFill>
                <a:latin typeface="Courier New"/>
                <a:ea typeface="Courier New"/>
                <a:cs typeface="Courier New"/>
                <a:sym typeface="Courier New"/>
              </a:rPr>
              <a:t>     </a:t>
            </a:r>
            <a:r>
              <a:rPr lang="en-US" sz="800" b="1">
                <a:solidFill>
                  <a:srgbClr val="E8A33D"/>
                </a:solidFill>
                <a:latin typeface="Courier New"/>
                <a:ea typeface="Courier New"/>
                <a:cs typeface="Courier New"/>
                <a:sym typeface="Courier New"/>
              </a:rPr>
              <a:t>RECOMMENDATION</a:t>
            </a:r>
            <a:r>
              <a:rPr lang="en-US" sz="800">
                <a:solidFill>
                  <a:srgbClr val="000000"/>
                </a:solidFill>
                <a:latin typeface="Courier New"/>
                <a:ea typeface="Courier New"/>
                <a:cs typeface="Courier New"/>
                <a:sym typeface="Courier New"/>
              </a:rPr>
              <a:t>     </a:t>
            </a:r>
            <a:r>
              <a:rPr lang="en-US" sz="800">
                <a:solidFill>
                  <a:srgbClr val="54607C"/>
                </a:solidFill>
                <a:latin typeface="Courier New"/>
                <a:ea typeface="Courier New"/>
                <a:cs typeface="Courier New"/>
                <a:sym typeface="Courier New"/>
              </a:rPr>
              <a:t>VALUE</a:t>
            </a:r>
            <a:endParaRPr sz="800">
              <a:solidFill>
                <a:schemeClr val="dk1"/>
              </a:solidFill>
              <a:latin typeface="Courier New"/>
              <a:ea typeface="Courier New"/>
              <a:cs typeface="Courier New"/>
              <a:sym typeface="Courier New"/>
            </a:endParaRPr>
          </a:p>
        </p:txBody>
      </p:sp>
      <p:sp>
        <p:nvSpPr>
          <p:cNvPr id="530" name="Google Shape;530;p15"/>
          <p:cNvSpPr/>
          <p:nvPr/>
        </p:nvSpPr>
        <p:spPr>
          <a:xfrm>
            <a:off x="658368" y="530352"/>
            <a:ext cx="9052560" cy="475488"/>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9BA7C0"/>
              </a:buClr>
              <a:buSzPts val="2600"/>
              <a:buFont typeface="Arial"/>
              <a:buNone/>
            </a:pPr>
            <a:r>
              <a:rPr lang="en-US" sz="2600" b="1" dirty="0">
                <a:solidFill>
                  <a:srgbClr val="9BA7C0"/>
                </a:solidFill>
                <a:latin typeface="29LT Adir" panose="00000506000000000000" pitchFamily="50" charset="-78"/>
                <a:cs typeface="29LT Adir" panose="00000506000000000000" pitchFamily="50" charset="-78"/>
                <a:sym typeface="Arial"/>
              </a:rPr>
              <a:t>Recommendation</a:t>
            </a:r>
            <a:endParaRPr sz="26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531" name="Google Shape;531;p15"/>
          <p:cNvSpPr/>
          <p:nvPr/>
        </p:nvSpPr>
        <p:spPr>
          <a:xfrm>
            <a:off x="658368" y="1371600"/>
            <a:ext cx="73152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B0F0"/>
              </a:buClr>
              <a:buSzPts val="1000"/>
              <a:buFont typeface="Courier New"/>
              <a:buNone/>
            </a:pPr>
            <a:r>
              <a:rPr lang="en-US" sz="1000" b="1">
                <a:solidFill>
                  <a:srgbClr val="00B0F0"/>
                </a:solidFill>
                <a:latin typeface="Courier New"/>
                <a:ea typeface="Courier New"/>
                <a:cs typeface="Courier New"/>
                <a:sym typeface="Courier New"/>
              </a:rPr>
              <a:t>RECOMMENDED PAYLOAD ENHANCEMENT</a:t>
            </a:r>
            <a:endParaRPr sz="1000">
              <a:solidFill>
                <a:srgbClr val="00B0F0"/>
              </a:solidFill>
              <a:latin typeface="Courier New"/>
              <a:ea typeface="Courier New"/>
              <a:cs typeface="Courier New"/>
              <a:sym typeface="Courier New"/>
            </a:endParaRPr>
          </a:p>
        </p:txBody>
      </p:sp>
      <p:sp>
        <p:nvSpPr>
          <p:cNvPr id="532" name="Google Shape;532;p15"/>
          <p:cNvSpPr/>
          <p:nvPr/>
        </p:nvSpPr>
        <p:spPr>
          <a:xfrm>
            <a:off x="658368" y="1645920"/>
            <a:ext cx="8778240" cy="713232"/>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FFFFFF"/>
              </a:buClr>
              <a:buSzPts val="3800"/>
              <a:buFont typeface="Arial"/>
              <a:buNone/>
            </a:pPr>
            <a:r>
              <a:rPr lang="en-US" sz="3800" b="1" dirty="0">
                <a:solidFill>
                  <a:srgbClr val="FFFFFF"/>
                </a:solidFill>
                <a:latin typeface="29LT Adir" panose="00000506000000000000" pitchFamily="50" charset="-78"/>
                <a:cs typeface="29LT Adir" panose="00000506000000000000" pitchFamily="50" charset="-78"/>
                <a:sym typeface="Arial"/>
              </a:rPr>
              <a:t>Gamma-Ray Spectrometer</a:t>
            </a:r>
            <a:endParaRPr sz="38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533" name="Google Shape;533;p15"/>
          <p:cNvSpPr/>
          <p:nvPr/>
        </p:nvSpPr>
        <p:spPr>
          <a:xfrm>
            <a:off x="658368" y="2468880"/>
            <a:ext cx="1737360" cy="9144"/>
          </a:xfrm>
          <a:prstGeom prst="rect">
            <a:avLst/>
          </a:prstGeom>
          <a:solidFill>
            <a:srgbClr val="4A587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4" name="Google Shape;534;p15"/>
          <p:cNvSpPr/>
          <p:nvPr/>
        </p:nvSpPr>
        <p:spPr>
          <a:xfrm>
            <a:off x="658368" y="2560320"/>
            <a:ext cx="5486400" cy="274320"/>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9CBBE6"/>
              </a:buClr>
              <a:buSzPts val="1200"/>
              <a:buFont typeface="Courier New"/>
              <a:buNone/>
            </a:pPr>
            <a:r>
              <a:rPr lang="en-US" sz="1200">
                <a:solidFill>
                  <a:srgbClr val="9CBBE6"/>
                </a:solidFill>
                <a:latin typeface="Courier New"/>
                <a:ea typeface="Courier New"/>
                <a:cs typeface="Courier New"/>
                <a:sym typeface="Courier New"/>
              </a:rPr>
              <a:t>RAMSES Main Orbiter</a:t>
            </a:r>
            <a:endParaRPr sz="1200">
              <a:solidFill>
                <a:schemeClr val="dk1"/>
              </a:solidFill>
              <a:latin typeface="Courier New"/>
              <a:ea typeface="Courier New"/>
              <a:cs typeface="Courier New"/>
              <a:sym typeface="Courier New"/>
            </a:endParaRPr>
          </a:p>
        </p:txBody>
      </p:sp>
      <p:sp>
        <p:nvSpPr>
          <p:cNvPr id="535" name="Google Shape;535;p15"/>
          <p:cNvSpPr/>
          <p:nvPr/>
        </p:nvSpPr>
        <p:spPr>
          <a:xfrm>
            <a:off x="658368" y="3035808"/>
            <a:ext cx="274320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BA7C0"/>
              </a:buClr>
              <a:buSzPts val="1200"/>
              <a:buFont typeface="Courier New"/>
              <a:buNone/>
            </a:pPr>
            <a:r>
              <a:rPr lang="en-US" sz="1200" b="1">
                <a:solidFill>
                  <a:srgbClr val="9BA7C0"/>
                </a:solidFill>
                <a:latin typeface="Courier New"/>
                <a:ea typeface="Courier New"/>
                <a:cs typeface="Courier New"/>
                <a:sym typeface="Courier New"/>
              </a:rPr>
              <a:t>WHY</a:t>
            </a:r>
            <a:endParaRPr sz="1200">
              <a:solidFill>
                <a:schemeClr val="dk1"/>
              </a:solidFill>
              <a:latin typeface="Courier New"/>
              <a:ea typeface="Courier New"/>
              <a:cs typeface="Courier New"/>
              <a:sym typeface="Courier New"/>
            </a:endParaRPr>
          </a:p>
        </p:txBody>
      </p:sp>
      <p:sp>
        <p:nvSpPr>
          <p:cNvPr id="536" name="Google Shape;536;p15"/>
          <p:cNvSpPr/>
          <p:nvPr/>
        </p:nvSpPr>
        <p:spPr>
          <a:xfrm>
            <a:off x="658368" y="3328416"/>
            <a:ext cx="2014057" cy="1207008"/>
          </a:xfrm>
          <a:prstGeom prst="roundRect">
            <a:avLst>
              <a:gd name="adj" fmla="val 6061"/>
            </a:avLst>
          </a:prstGeom>
          <a:solidFill>
            <a:srgbClr val="111A2E"/>
          </a:solidFill>
          <a:ln w="9525" cap="flat" cmpd="sng">
            <a:solidFill>
              <a:srgbClr val="2A35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37" name="Google Shape;537;p15"/>
          <p:cNvSpPr/>
          <p:nvPr/>
        </p:nvSpPr>
        <p:spPr>
          <a:xfrm>
            <a:off x="859536" y="3493008"/>
            <a:ext cx="54864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B0F0"/>
              </a:buClr>
              <a:buSzPts val="1100"/>
              <a:buFont typeface="Courier New"/>
              <a:buNone/>
            </a:pPr>
            <a:r>
              <a:rPr lang="en-US" sz="1100" b="1">
                <a:solidFill>
                  <a:srgbClr val="00B0F0"/>
                </a:solidFill>
                <a:latin typeface="Courier New"/>
                <a:ea typeface="Courier New"/>
                <a:cs typeface="Courier New"/>
                <a:sym typeface="Courier New"/>
              </a:rPr>
              <a:t>01</a:t>
            </a:r>
            <a:endParaRPr sz="1100">
              <a:solidFill>
                <a:srgbClr val="00B0F0"/>
              </a:solidFill>
              <a:latin typeface="Courier New"/>
              <a:ea typeface="Courier New"/>
              <a:cs typeface="Courier New"/>
              <a:sym typeface="Courier New"/>
            </a:endParaRPr>
          </a:p>
        </p:txBody>
      </p:sp>
      <p:sp>
        <p:nvSpPr>
          <p:cNvPr id="538" name="Google Shape;538;p15"/>
          <p:cNvSpPr/>
          <p:nvPr/>
        </p:nvSpPr>
        <p:spPr>
          <a:xfrm>
            <a:off x="859536" y="3785616"/>
            <a:ext cx="1611721" cy="658368"/>
          </a:xfrm>
          <a:prstGeom prst="rect">
            <a:avLst/>
          </a:prstGeom>
          <a:noFill/>
          <a:ln>
            <a:noFill/>
          </a:ln>
        </p:spPr>
        <p:txBody>
          <a:bodyPr spcFirstLastPara="1" wrap="square" lIns="0" tIns="0" rIns="0" bIns="0" anchor="t" anchorCtr="0">
            <a:noAutofit/>
          </a:bodyPr>
          <a:lstStyle/>
          <a:p>
            <a:pPr marL="0" marR="0" lvl="0" indent="0" algn="l" rtl="0">
              <a:lnSpc>
                <a:spcPct val="114000"/>
              </a:lnSpc>
              <a:spcBef>
                <a:spcPts val="0"/>
              </a:spcBef>
              <a:spcAft>
                <a:spcPts val="0"/>
              </a:spcAft>
              <a:buClr>
                <a:srgbClr val="FFFFFF"/>
              </a:buClr>
              <a:buSzPts val="1400"/>
              <a:buFont typeface="Arial"/>
              <a:buNone/>
            </a:pPr>
            <a:r>
              <a:rPr lang="en-US" sz="1400" dirty="0">
                <a:solidFill>
                  <a:srgbClr val="FFFFFF"/>
                </a:solidFill>
                <a:latin typeface="29LT Adir" panose="00000506000000000000" pitchFamily="50" charset="-78"/>
                <a:cs typeface="29LT Adir" panose="00000506000000000000" pitchFamily="50" charset="-78"/>
                <a:sym typeface="Arial"/>
              </a:rPr>
              <a:t>Independent of reflected light</a:t>
            </a:r>
            <a:endParaRPr sz="1400" dirty="0">
              <a:solidFill>
                <a:schemeClr val="dk1"/>
              </a:solidFill>
              <a:latin typeface="29LT Adir" panose="00000506000000000000" pitchFamily="50" charset="-78"/>
              <a:cs typeface="29LT Adir" panose="00000506000000000000" pitchFamily="50" charset="-78"/>
              <a:sym typeface="Arial"/>
            </a:endParaRPr>
          </a:p>
        </p:txBody>
      </p:sp>
      <p:sp>
        <p:nvSpPr>
          <p:cNvPr id="539" name="Google Shape;539;p15"/>
          <p:cNvSpPr/>
          <p:nvPr/>
        </p:nvSpPr>
        <p:spPr>
          <a:xfrm>
            <a:off x="2873593" y="3328416"/>
            <a:ext cx="2014057" cy="1207008"/>
          </a:xfrm>
          <a:prstGeom prst="roundRect">
            <a:avLst>
              <a:gd name="adj" fmla="val 6061"/>
            </a:avLst>
          </a:prstGeom>
          <a:solidFill>
            <a:srgbClr val="111A2E"/>
          </a:solidFill>
          <a:ln w="9525" cap="flat" cmpd="sng">
            <a:solidFill>
              <a:srgbClr val="2A35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0" name="Google Shape;540;p15"/>
          <p:cNvSpPr/>
          <p:nvPr/>
        </p:nvSpPr>
        <p:spPr>
          <a:xfrm>
            <a:off x="3074761" y="3493008"/>
            <a:ext cx="54864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B0F0"/>
              </a:buClr>
              <a:buSzPts val="1100"/>
              <a:buFont typeface="Courier New"/>
              <a:buNone/>
            </a:pPr>
            <a:r>
              <a:rPr lang="en-US" sz="1100" b="1">
                <a:solidFill>
                  <a:srgbClr val="00B0F0"/>
                </a:solidFill>
                <a:latin typeface="Courier New"/>
                <a:ea typeface="Courier New"/>
                <a:cs typeface="Courier New"/>
                <a:sym typeface="Courier New"/>
              </a:rPr>
              <a:t>02</a:t>
            </a:r>
            <a:endParaRPr sz="1100">
              <a:solidFill>
                <a:srgbClr val="00B0F0"/>
              </a:solidFill>
              <a:latin typeface="Courier New"/>
              <a:ea typeface="Courier New"/>
              <a:cs typeface="Courier New"/>
              <a:sym typeface="Courier New"/>
            </a:endParaRPr>
          </a:p>
        </p:txBody>
      </p:sp>
      <p:sp>
        <p:nvSpPr>
          <p:cNvPr id="541" name="Google Shape;541;p15"/>
          <p:cNvSpPr/>
          <p:nvPr/>
        </p:nvSpPr>
        <p:spPr>
          <a:xfrm>
            <a:off x="3074761" y="3785616"/>
            <a:ext cx="1611721" cy="658368"/>
          </a:xfrm>
          <a:prstGeom prst="rect">
            <a:avLst/>
          </a:prstGeom>
          <a:noFill/>
          <a:ln>
            <a:noFill/>
          </a:ln>
        </p:spPr>
        <p:txBody>
          <a:bodyPr spcFirstLastPara="1" wrap="square" lIns="0" tIns="0" rIns="0" bIns="0" anchor="t" anchorCtr="0">
            <a:noAutofit/>
          </a:bodyPr>
          <a:lstStyle/>
          <a:p>
            <a:pPr marL="0" marR="0" lvl="0" indent="0" algn="l" rtl="0">
              <a:lnSpc>
                <a:spcPct val="114000"/>
              </a:lnSpc>
              <a:spcBef>
                <a:spcPts val="0"/>
              </a:spcBef>
              <a:spcAft>
                <a:spcPts val="0"/>
              </a:spcAft>
              <a:buClr>
                <a:srgbClr val="FFFFFF"/>
              </a:buClr>
              <a:buSzPts val="1400"/>
              <a:buFont typeface="Arial"/>
              <a:buNone/>
            </a:pPr>
            <a:r>
              <a:rPr lang="en-US" sz="1400">
                <a:solidFill>
                  <a:srgbClr val="FFFFFF"/>
                </a:solidFill>
                <a:latin typeface="29LT Adir" panose="00000506000000000000" pitchFamily="50" charset="-78"/>
                <a:cs typeface="29LT Adir" panose="00000506000000000000" pitchFamily="50" charset="-78"/>
                <a:sym typeface="Arial"/>
              </a:rPr>
              <a:t>Measures elemental abundance</a:t>
            </a:r>
            <a:endParaRPr sz="1400">
              <a:solidFill>
                <a:schemeClr val="dk1"/>
              </a:solidFill>
              <a:latin typeface="29LT Adir" panose="00000506000000000000" pitchFamily="50" charset="-78"/>
              <a:cs typeface="29LT Adir" panose="00000506000000000000" pitchFamily="50" charset="-78"/>
              <a:sym typeface="Arial"/>
            </a:endParaRPr>
          </a:p>
        </p:txBody>
      </p:sp>
      <p:sp>
        <p:nvSpPr>
          <p:cNvPr id="542" name="Google Shape;542;p15"/>
          <p:cNvSpPr/>
          <p:nvPr/>
        </p:nvSpPr>
        <p:spPr>
          <a:xfrm>
            <a:off x="5088819" y="3328416"/>
            <a:ext cx="2014057" cy="1207008"/>
          </a:xfrm>
          <a:prstGeom prst="roundRect">
            <a:avLst>
              <a:gd name="adj" fmla="val 6061"/>
            </a:avLst>
          </a:prstGeom>
          <a:solidFill>
            <a:srgbClr val="111A2E"/>
          </a:solidFill>
          <a:ln w="9525" cap="flat" cmpd="sng">
            <a:solidFill>
              <a:srgbClr val="2A35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3" name="Google Shape;543;p15"/>
          <p:cNvSpPr/>
          <p:nvPr/>
        </p:nvSpPr>
        <p:spPr>
          <a:xfrm>
            <a:off x="5289987" y="3493008"/>
            <a:ext cx="54864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B0F0"/>
              </a:buClr>
              <a:buSzPts val="1100"/>
              <a:buFont typeface="Courier New"/>
              <a:buNone/>
            </a:pPr>
            <a:r>
              <a:rPr lang="en-US" sz="1100" b="1">
                <a:solidFill>
                  <a:srgbClr val="00B0F0"/>
                </a:solidFill>
                <a:latin typeface="Courier New"/>
                <a:ea typeface="Courier New"/>
                <a:cs typeface="Courier New"/>
                <a:sym typeface="Courier New"/>
              </a:rPr>
              <a:t>03</a:t>
            </a:r>
            <a:endParaRPr sz="1100">
              <a:solidFill>
                <a:srgbClr val="00B0F0"/>
              </a:solidFill>
              <a:latin typeface="Courier New"/>
              <a:ea typeface="Courier New"/>
              <a:cs typeface="Courier New"/>
              <a:sym typeface="Courier New"/>
            </a:endParaRPr>
          </a:p>
        </p:txBody>
      </p:sp>
      <p:sp>
        <p:nvSpPr>
          <p:cNvPr id="544" name="Google Shape;544;p15"/>
          <p:cNvSpPr/>
          <p:nvPr/>
        </p:nvSpPr>
        <p:spPr>
          <a:xfrm>
            <a:off x="5289987" y="3785616"/>
            <a:ext cx="1611721" cy="658368"/>
          </a:xfrm>
          <a:prstGeom prst="rect">
            <a:avLst/>
          </a:prstGeom>
          <a:noFill/>
          <a:ln>
            <a:noFill/>
          </a:ln>
        </p:spPr>
        <p:txBody>
          <a:bodyPr spcFirstLastPara="1" wrap="square" lIns="0" tIns="0" rIns="0" bIns="0" anchor="t" anchorCtr="0">
            <a:noAutofit/>
          </a:bodyPr>
          <a:lstStyle/>
          <a:p>
            <a:pPr marL="0" marR="0" lvl="0" indent="0" algn="l" rtl="0">
              <a:lnSpc>
                <a:spcPct val="114000"/>
              </a:lnSpc>
              <a:spcBef>
                <a:spcPts val="0"/>
              </a:spcBef>
              <a:spcAft>
                <a:spcPts val="0"/>
              </a:spcAft>
              <a:buClr>
                <a:srgbClr val="FFFFFF"/>
              </a:buClr>
              <a:buSzPts val="1400"/>
              <a:buFont typeface="Arial"/>
              <a:buNone/>
            </a:pPr>
            <a:r>
              <a:rPr lang="en-US" sz="1400">
                <a:solidFill>
                  <a:srgbClr val="FFFFFF"/>
                </a:solidFill>
                <a:latin typeface="29LT Adir" panose="00000506000000000000" pitchFamily="50" charset="-78"/>
                <a:cs typeface="29LT Adir" panose="00000506000000000000" pitchFamily="50" charset="-78"/>
                <a:sym typeface="Arial"/>
              </a:rPr>
              <a:t>Samples below the weathered layer</a:t>
            </a:r>
            <a:endParaRPr sz="1400">
              <a:solidFill>
                <a:schemeClr val="dk1"/>
              </a:solidFill>
              <a:latin typeface="29LT Adir" panose="00000506000000000000" pitchFamily="50" charset="-78"/>
              <a:cs typeface="29LT Adir" panose="00000506000000000000" pitchFamily="50" charset="-78"/>
              <a:sym typeface="Arial"/>
            </a:endParaRPr>
          </a:p>
        </p:txBody>
      </p:sp>
      <p:sp>
        <p:nvSpPr>
          <p:cNvPr id="545" name="Google Shape;545;p15"/>
          <p:cNvSpPr/>
          <p:nvPr/>
        </p:nvSpPr>
        <p:spPr>
          <a:xfrm>
            <a:off x="7304044" y="3328416"/>
            <a:ext cx="2014057" cy="1207008"/>
          </a:xfrm>
          <a:prstGeom prst="roundRect">
            <a:avLst>
              <a:gd name="adj" fmla="val 6061"/>
            </a:avLst>
          </a:prstGeom>
          <a:solidFill>
            <a:srgbClr val="111A2E"/>
          </a:solidFill>
          <a:ln w="9525" cap="flat" cmpd="sng">
            <a:solidFill>
              <a:srgbClr val="2A35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6" name="Google Shape;546;p15"/>
          <p:cNvSpPr/>
          <p:nvPr/>
        </p:nvSpPr>
        <p:spPr>
          <a:xfrm>
            <a:off x="7505212" y="3493008"/>
            <a:ext cx="54864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B0F0"/>
              </a:buClr>
              <a:buSzPts val="1100"/>
              <a:buFont typeface="Courier New"/>
              <a:buNone/>
            </a:pPr>
            <a:r>
              <a:rPr lang="en-US" sz="1100" b="1">
                <a:solidFill>
                  <a:srgbClr val="00B0F0"/>
                </a:solidFill>
                <a:latin typeface="Courier New"/>
                <a:ea typeface="Courier New"/>
                <a:cs typeface="Courier New"/>
                <a:sym typeface="Courier New"/>
              </a:rPr>
              <a:t>04</a:t>
            </a:r>
            <a:endParaRPr sz="1100">
              <a:solidFill>
                <a:srgbClr val="00B0F0"/>
              </a:solidFill>
              <a:latin typeface="Courier New"/>
              <a:ea typeface="Courier New"/>
              <a:cs typeface="Courier New"/>
              <a:sym typeface="Courier New"/>
            </a:endParaRPr>
          </a:p>
        </p:txBody>
      </p:sp>
      <p:sp>
        <p:nvSpPr>
          <p:cNvPr id="547" name="Google Shape;547;p15"/>
          <p:cNvSpPr/>
          <p:nvPr/>
        </p:nvSpPr>
        <p:spPr>
          <a:xfrm>
            <a:off x="7505212" y="3785616"/>
            <a:ext cx="1611721" cy="658368"/>
          </a:xfrm>
          <a:prstGeom prst="rect">
            <a:avLst/>
          </a:prstGeom>
          <a:noFill/>
          <a:ln>
            <a:noFill/>
          </a:ln>
        </p:spPr>
        <p:txBody>
          <a:bodyPr spcFirstLastPara="1" wrap="square" lIns="0" tIns="0" rIns="0" bIns="0" anchor="t" anchorCtr="0">
            <a:noAutofit/>
          </a:bodyPr>
          <a:lstStyle/>
          <a:p>
            <a:pPr marL="0" marR="0" lvl="0" indent="0" algn="l" rtl="0">
              <a:lnSpc>
                <a:spcPct val="114000"/>
              </a:lnSpc>
              <a:spcBef>
                <a:spcPts val="0"/>
              </a:spcBef>
              <a:spcAft>
                <a:spcPts val="0"/>
              </a:spcAft>
              <a:buClr>
                <a:srgbClr val="FFFFFF"/>
              </a:buClr>
              <a:buSzPts val="1400"/>
              <a:buFont typeface="Arial"/>
              <a:buNone/>
            </a:pPr>
            <a:r>
              <a:rPr lang="en-US" sz="1400">
                <a:solidFill>
                  <a:srgbClr val="FFFFFF"/>
                </a:solidFill>
                <a:latin typeface="29LT Adir" panose="00000506000000000000" pitchFamily="50" charset="-78"/>
                <a:cs typeface="29LT Adir" panose="00000506000000000000" pitchFamily="50" charset="-78"/>
                <a:sym typeface="Arial"/>
              </a:rPr>
              <a:t>Strengthens HAMLET's interpretation</a:t>
            </a:r>
            <a:endParaRPr sz="1400">
              <a:solidFill>
                <a:schemeClr val="dk1"/>
              </a:solidFill>
              <a:latin typeface="29LT Adir" panose="00000506000000000000" pitchFamily="50" charset="-78"/>
              <a:cs typeface="29LT Adir" panose="00000506000000000000" pitchFamily="50" charset="-78"/>
              <a:sym typeface="Arial"/>
            </a:endParaRPr>
          </a:p>
        </p:txBody>
      </p:sp>
      <p:sp>
        <p:nvSpPr>
          <p:cNvPr id="548" name="Google Shape;548;p15"/>
          <p:cNvSpPr/>
          <p:nvPr/>
        </p:nvSpPr>
        <p:spPr>
          <a:xfrm>
            <a:off x="9519270" y="3328416"/>
            <a:ext cx="2014057" cy="1207008"/>
          </a:xfrm>
          <a:prstGeom prst="roundRect">
            <a:avLst>
              <a:gd name="adj" fmla="val 6061"/>
            </a:avLst>
          </a:prstGeom>
          <a:solidFill>
            <a:srgbClr val="111A2E"/>
          </a:solidFill>
          <a:ln w="9525" cap="flat" cmpd="sng">
            <a:solidFill>
              <a:srgbClr val="2A35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49" name="Google Shape;549;p15"/>
          <p:cNvSpPr/>
          <p:nvPr/>
        </p:nvSpPr>
        <p:spPr>
          <a:xfrm>
            <a:off x="9720438" y="3493008"/>
            <a:ext cx="54864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B0F0"/>
              </a:buClr>
              <a:buSzPts val="1100"/>
              <a:buFont typeface="Courier New"/>
              <a:buNone/>
            </a:pPr>
            <a:r>
              <a:rPr lang="en-US" sz="1100" b="1">
                <a:solidFill>
                  <a:srgbClr val="00B0F0"/>
                </a:solidFill>
                <a:latin typeface="Courier New"/>
                <a:ea typeface="Courier New"/>
                <a:cs typeface="Courier New"/>
                <a:sym typeface="Courier New"/>
              </a:rPr>
              <a:t>05</a:t>
            </a:r>
            <a:endParaRPr sz="1100">
              <a:solidFill>
                <a:srgbClr val="00B0F0"/>
              </a:solidFill>
              <a:latin typeface="Courier New"/>
              <a:ea typeface="Courier New"/>
              <a:cs typeface="Courier New"/>
              <a:sym typeface="Courier New"/>
            </a:endParaRPr>
          </a:p>
        </p:txBody>
      </p:sp>
      <p:sp>
        <p:nvSpPr>
          <p:cNvPr id="550" name="Google Shape;550;p15"/>
          <p:cNvSpPr/>
          <p:nvPr/>
        </p:nvSpPr>
        <p:spPr>
          <a:xfrm>
            <a:off x="9720438" y="3785616"/>
            <a:ext cx="1611721" cy="658368"/>
          </a:xfrm>
          <a:prstGeom prst="rect">
            <a:avLst/>
          </a:prstGeom>
          <a:noFill/>
          <a:ln>
            <a:noFill/>
          </a:ln>
        </p:spPr>
        <p:txBody>
          <a:bodyPr spcFirstLastPara="1" wrap="square" lIns="0" tIns="0" rIns="0" bIns="0" anchor="t" anchorCtr="0">
            <a:noAutofit/>
          </a:bodyPr>
          <a:lstStyle/>
          <a:p>
            <a:pPr marL="0" marR="0" lvl="0" indent="0" algn="l" rtl="0">
              <a:lnSpc>
                <a:spcPct val="114000"/>
              </a:lnSpc>
              <a:spcBef>
                <a:spcPts val="0"/>
              </a:spcBef>
              <a:spcAft>
                <a:spcPts val="0"/>
              </a:spcAft>
              <a:buClr>
                <a:srgbClr val="FFFFFF"/>
              </a:buClr>
              <a:buSzPts val="1400"/>
              <a:buFont typeface="Arial"/>
              <a:buNone/>
            </a:pPr>
            <a:r>
              <a:rPr lang="en-US" sz="1400">
                <a:solidFill>
                  <a:srgbClr val="FFFFFF"/>
                </a:solidFill>
                <a:latin typeface="29LT Adir" panose="00000506000000000000" pitchFamily="50" charset="-78"/>
                <a:cs typeface="29LT Adir" panose="00000506000000000000" pitchFamily="50" charset="-78"/>
                <a:sym typeface="Arial"/>
              </a:rPr>
              <a:t>Fits the existing mission architecture</a:t>
            </a:r>
            <a:endParaRPr sz="1400">
              <a:solidFill>
                <a:schemeClr val="dk1"/>
              </a:solidFill>
              <a:latin typeface="29LT Adir" panose="00000506000000000000" pitchFamily="50" charset="-78"/>
              <a:cs typeface="29LT Adir" panose="00000506000000000000" pitchFamily="50" charset="-78"/>
              <a:sym typeface="Arial"/>
            </a:endParaRPr>
          </a:p>
        </p:txBody>
      </p:sp>
      <p:sp>
        <p:nvSpPr>
          <p:cNvPr id="551" name="Google Shape;551;p15"/>
          <p:cNvSpPr/>
          <p:nvPr/>
        </p:nvSpPr>
        <p:spPr>
          <a:xfrm>
            <a:off x="658368" y="4828032"/>
            <a:ext cx="2880360" cy="1060704"/>
          </a:xfrm>
          <a:prstGeom prst="roundRect">
            <a:avLst>
              <a:gd name="adj" fmla="val 6897"/>
            </a:avLst>
          </a:prstGeom>
          <a:solidFill>
            <a:srgbClr val="111A2E"/>
          </a:solidFill>
          <a:ln w="9525" cap="flat" cmpd="sng">
            <a:solidFill>
              <a:srgbClr val="2A3552"/>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2" name="Google Shape;552;p15"/>
          <p:cNvSpPr/>
          <p:nvPr/>
        </p:nvSpPr>
        <p:spPr>
          <a:xfrm>
            <a:off x="658368" y="5047488"/>
            <a:ext cx="2880360"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700"/>
              <a:buFont typeface="Arial"/>
              <a:buNone/>
            </a:pPr>
            <a:r>
              <a:rPr lang="en-US" sz="1700" dirty="0">
                <a:solidFill>
                  <a:srgbClr val="FFFFFF"/>
                </a:solidFill>
                <a:latin typeface="29LT Adir" panose="00000506000000000000" pitchFamily="50" charset="-78"/>
                <a:cs typeface="29LT Adir" panose="00000506000000000000" pitchFamily="50" charset="-78"/>
                <a:sym typeface="Arial"/>
              </a:rPr>
              <a:t>HAMLET</a:t>
            </a:r>
            <a:endParaRPr sz="17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553" name="Google Shape;553;p15"/>
          <p:cNvSpPr/>
          <p:nvPr/>
        </p:nvSpPr>
        <p:spPr>
          <a:xfrm>
            <a:off x="658368" y="5394960"/>
            <a:ext cx="288036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9BA7C0"/>
              </a:buClr>
              <a:buSzPts val="1050"/>
              <a:buFont typeface="Arial"/>
              <a:buNone/>
            </a:pPr>
            <a:r>
              <a:rPr lang="en-US" sz="1050">
                <a:solidFill>
                  <a:srgbClr val="9BA7C0"/>
                </a:solidFill>
                <a:latin typeface="29LT Adir" panose="00000506000000000000" pitchFamily="50" charset="-78"/>
                <a:cs typeface="29LT Adir" panose="00000506000000000000" pitchFamily="50" charset="-78"/>
                <a:sym typeface="Arial"/>
              </a:rPr>
              <a:t>Mineralogy</a:t>
            </a:r>
            <a:endParaRPr sz="105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554" name="Google Shape;554;p15"/>
          <p:cNvSpPr/>
          <p:nvPr/>
        </p:nvSpPr>
        <p:spPr>
          <a:xfrm>
            <a:off x="3611880" y="4828032"/>
            <a:ext cx="548640" cy="1060704"/>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00B0F0"/>
              </a:buClr>
              <a:buSzPts val="2400"/>
              <a:buFont typeface="Arial"/>
              <a:buNone/>
            </a:pPr>
            <a:r>
              <a:rPr lang="en-US" sz="2400" b="1">
                <a:solidFill>
                  <a:srgbClr val="00B0F0"/>
                </a:solidFill>
                <a:latin typeface="Arial"/>
                <a:ea typeface="Arial"/>
                <a:cs typeface="Arial"/>
                <a:sym typeface="Arial"/>
              </a:rPr>
              <a:t>+</a:t>
            </a:r>
            <a:endParaRPr sz="2400">
              <a:solidFill>
                <a:srgbClr val="00B0F0"/>
              </a:solidFill>
              <a:latin typeface="Calibri"/>
              <a:ea typeface="Calibri"/>
              <a:cs typeface="Calibri"/>
              <a:sym typeface="Calibri"/>
            </a:endParaRPr>
          </a:p>
        </p:txBody>
      </p:sp>
      <p:sp>
        <p:nvSpPr>
          <p:cNvPr id="555" name="Google Shape;555;p15"/>
          <p:cNvSpPr/>
          <p:nvPr/>
        </p:nvSpPr>
        <p:spPr>
          <a:xfrm>
            <a:off x="4206240" y="4828032"/>
            <a:ext cx="2880360" cy="1060704"/>
          </a:xfrm>
          <a:prstGeom prst="roundRect">
            <a:avLst>
              <a:gd name="adj" fmla="val 6897"/>
            </a:avLst>
          </a:prstGeom>
          <a:solidFill>
            <a:srgbClr val="2A2113"/>
          </a:solidFill>
          <a:ln w="19050" cap="flat" cmpd="sng">
            <a:solidFill>
              <a:srgbClr val="E6CB6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6" name="Google Shape;556;p15"/>
          <p:cNvSpPr/>
          <p:nvPr/>
        </p:nvSpPr>
        <p:spPr>
          <a:xfrm>
            <a:off x="4206240" y="5047488"/>
            <a:ext cx="2880360" cy="292608"/>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E8A33D"/>
              </a:buClr>
              <a:buSzPts val="1700"/>
              <a:buFont typeface="Arial"/>
              <a:buNone/>
            </a:pPr>
            <a:r>
              <a:rPr lang="en-US" sz="1700">
                <a:solidFill>
                  <a:srgbClr val="E8A33D"/>
                </a:solidFill>
                <a:latin typeface="29LT Adir" panose="00000506000000000000" pitchFamily="50" charset="-78"/>
                <a:cs typeface="29LT Adir" panose="00000506000000000000" pitchFamily="50" charset="-78"/>
                <a:sym typeface="Arial"/>
              </a:rPr>
              <a:t>GRS</a:t>
            </a:r>
            <a:endParaRPr sz="17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557" name="Google Shape;557;p15"/>
          <p:cNvSpPr/>
          <p:nvPr/>
        </p:nvSpPr>
        <p:spPr>
          <a:xfrm>
            <a:off x="4206240" y="5394960"/>
            <a:ext cx="2880360" cy="25603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D8BE92"/>
              </a:buClr>
              <a:buSzPts val="1050"/>
              <a:buFont typeface="Arial"/>
              <a:buNone/>
            </a:pPr>
            <a:r>
              <a:rPr lang="en-US" sz="1050">
                <a:solidFill>
                  <a:srgbClr val="D8BE92"/>
                </a:solidFill>
                <a:latin typeface="29LT Adir" panose="00000506000000000000" pitchFamily="50" charset="-78"/>
                <a:cs typeface="29LT Adir" panose="00000506000000000000" pitchFamily="50" charset="-78"/>
                <a:sym typeface="Arial"/>
              </a:rPr>
              <a:t>Elements</a:t>
            </a:r>
            <a:endParaRPr sz="105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558" name="Google Shape;558;p15"/>
          <p:cNvSpPr/>
          <p:nvPr/>
        </p:nvSpPr>
        <p:spPr>
          <a:xfrm>
            <a:off x="7370064" y="5239512"/>
            <a:ext cx="384048" cy="237744"/>
          </a:xfrm>
          <a:prstGeom prst="rightArrow">
            <a:avLst>
              <a:gd name="adj1" fmla="val 50000"/>
              <a:gd name="adj2" fmla="val 50000"/>
            </a:avLst>
          </a:prstGeom>
          <a:solidFill>
            <a:srgbClr val="6DD9FF"/>
          </a:solidFill>
          <a:ln w="9525" cap="flat" cmpd="sng">
            <a:solidFill>
              <a:srgbClr val="00B0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59" name="Google Shape;559;p15"/>
          <p:cNvSpPr/>
          <p:nvPr/>
        </p:nvSpPr>
        <p:spPr>
          <a:xfrm>
            <a:off x="8028432" y="4828032"/>
            <a:ext cx="3502152" cy="1060704"/>
          </a:xfrm>
          <a:prstGeom prst="roundRect">
            <a:avLst>
              <a:gd name="adj" fmla="val 6897"/>
            </a:avLst>
          </a:prstGeom>
          <a:solidFill>
            <a:srgbClr val="F0F0F0"/>
          </a:solidFill>
          <a:ln w="9525" cap="flat" cmpd="sng">
            <a:solidFill>
              <a:schemeClr val="lt1"/>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60" name="Google Shape;560;p15"/>
          <p:cNvSpPr/>
          <p:nvPr/>
        </p:nvSpPr>
        <p:spPr>
          <a:xfrm>
            <a:off x="10881360" y="6272784"/>
            <a:ext cx="694944"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54607C"/>
              </a:buClr>
              <a:buSzPts val="1000"/>
              <a:buFont typeface="Arial"/>
              <a:buNone/>
            </a:pPr>
            <a:r>
              <a:rPr lang="en-US" sz="1000">
                <a:solidFill>
                  <a:srgbClr val="54607C"/>
                </a:solidFill>
                <a:latin typeface="Arial"/>
                <a:ea typeface="Arial"/>
                <a:cs typeface="Arial"/>
                <a:sym typeface="Arial"/>
              </a:rPr>
              <a:t>12</a:t>
            </a:r>
            <a:endParaRPr sz="1000">
              <a:solidFill>
                <a:schemeClr val="dk1"/>
              </a:solidFill>
              <a:latin typeface="Calibri"/>
              <a:ea typeface="Calibri"/>
              <a:cs typeface="Calibri"/>
              <a:sym typeface="Calibri"/>
            </a:endParaRPr>
          </a:p>
        </p:txBody>
      </p:sp>
      <p:sp>
        <p:nvSpPr>
          <p:cNvPr id="561" name="Google Shape;561;p15"/>
          <p:cNvSpPr/>
          <p:nvPr/>
        </p:nvSpPr>
        <p:spPr>
          <a:xfrm>
            <a:off x="8311072" y="5326080"/>
            <a:ext cx="2880360" cy="292608"/>
          </a:xfrm>
          <a:prstGeom prst="rect">
            <a:avLst/>
          </a:prstGeom>
          <a:noFill/>
          <a:ln>
            <a:noFill/>
          </a:ln>
        </p:spPr>
        <p:txBody>
          <a:bodyPr spcFirstLastPara="1" wrap="square" lIns="0" tIns="0" rIns="0" bIns="0" anchor="ctr" anchorCtr="0">
            <a:noAutofit/>
          </a:bodyPr>
          <a:lstStyle/>
          <a:p>
            <a:pPr marL="0" marR="0" lvl="0" indent="0" algn="ctr" rtl="0">
              <a:lnSpc>
                <a:spcPct val="105000"/>
              </a:lnSpc>
              <a:spcBef>
                <a:spcPts val="0"/>
              </a:spcBef>
              <a:spcAft>
                <a:spcPts val="0"/>
              </a:spcAft>
              <a:buNone/>
            </a:pPr>
            <a:r>
              <a:rPr lang="en-US" sz="1800">
                <a:solidFill>
                  <a:schemeClr val="dk1"/>
                </a:solidFill>
                <a:latin typeface="29LT Adir" panose="00000506000000000000" pitchFamily="50" charset="-78"/>
                <a:cs typeface="29LT Adir" panose="00000506000000000000" pitchFamily="50" charset="-78"/>
                <a:sym typeface="Arial"/>
              </a:rPr>
              <a:t>More efficient</a:t>
            </a:r>
            <a:endParaRPr sz="1800">
              <a:solidFill>
                <a:schemeClr val="dk1"/>
              </a:solidFill>
              <a:latin typeface="29LT Adir" panose="00000506000000000000" pitchFamily="50" charset="-78"/>
              <a:ea typeface="Calibri"/>
              <a:cs typeface="29LT Adir" panose="00000506000000000000" pitchFamily="50" charset="-78"/>
              <a:sym typeface="Calibri"/>
            </a:endParaRPr>
          </a:p>
          <a:p>
            <a:pPr marL="0" marR="0" lvl="0" indent="0" algn="ctr" rtl="0">
              <a:lnSpc>
                <a:spcPct val="105000"/>
              </a:lnSpc>
              <a:spcBef>
                <a:spcPts val="0"/>
              </a:spcBef>
              <a:spcAft>
                <a:spcPts val="0"/>
              </a:spcAft>
              <a:buNone/>
            </a:pPr>
            <a:r>
              <a:rPr lang="en-US" sz="1800">
                <a:solidFill>
                  <a:schemeClr val="dk1"/>
                </a:solidFill>
                <a:latin typeface="29LT Adir" panose="00000506000000000000" pitchFamily="50" charset="-78"/>
                <a:cs typeface="29LT Adir" panose="00000506000000000000" pitchFamily="50" charset="-78"/>
                <a:sym typeface="Arial"/>
              </a:rPr>
              <a:t>composition</a:t>
            </a:r>
            <a:endParaRPr sz="1800">
              <a:solidFill>
                <a:schemeClr val="dk1"/>
              </a:solidFill>
              <a:latin typeface="29LT Adir" panose="00000506000000000000" pitchFamily="50" charset="-78"/>
              <a:ea typeface="Calibri"/>
              <a:cs typeface="29LT Adir" panose="00000506000000000000" pitchFamily="50" charset="-78"/>
              <a:sym typeface="Calibri"/>
            </a:endParaRPr>
          </a:p>
          <a:p>
            <a:pPr marL="0" marR="0" lvl="0" indent="0" algn="ctr" rtl="0">
              <a:spcBef>
                <a:spcPts val="0"/>
              </a:spcBef>
              <a:spcAft>
                <a:spcPts val="0"/>
              </a:spcAft>
              <a:buClr>
                <a:schemeClr val="dk1"/>
              </a:buClr>
              <a:buSzPts val="1700"/>
              <a:buFont typeface="Calibri"/>
              <a:buNone/>
            </a:pPr>
            <a:endParaRPr sz="17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562" name="Google Shape;562;p15"/>
          <p:cNvSpPr txBox="1"/>
          <p:nvPr/>
        </p:nvSpPr>
        <p:spPr>
          <a:xfrm>
            <a:off x="5626159" y="6581001"/>
            <a:ext cx="939681"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a:solidFill>
                  <a:srgbClr val="000000"/>
                </a:solidFill>
                <a:latin typeface="Calibri"/>
                <a:ea typeface="Calibri"/>
                <a:cs typeface="Calibri"/>
                <a:sym typeface="Calibri"/>
              </a:rPr>
              <a:t>   </a:t>
            </a:r>
            <a:r>
              <a:rPr lang="en-US" sz="1200">
                <a:solidFill>
                  <a:srgbClr val="339966"/>
                </a:solidFill>
                <a:latin typeface="Calibri"/>
                <a:ea typeface="Calibri"/>
                <a:cs typeface="Calibri"/>
                <a:sym typeface="Calibri"/>
              </a:rPr>
              <a:t>Public</a:t>
            </a:r>
            <a:r>
              <a:rPr lang="en-US" sz="1200">
                <a:solidFill>
                  <a:srgbClr val="000000"/>
                </a:solidFill>
                <a:latin typeface="Calibri"/>
                <a:ea typeface="Calibri"/>
                <a:cs typeface="Calibri"/>
                <a:sym typeface="Calibri"/>
              </a:rPr>
              <a:t>   </a:t>
            </a:r>
            <a:r>
              <a:rPr lang="en-US" sz="1200">
                <a:solidFill>
                  <a:srgbClr val="339966"/>
                </a:solidFill>
                <a:latin typeface="Calibri"/>
                <a:ea typeface="Calibri"/>
                <a:cs typeface="Calibri"/>
                <a:sym typeface="Calibri"/>
              </a:rPr>
              <a:t>عام</a:t>
            </a:r>
            <a:endParaRPr sz="1200">
              <a:solidFill>
                <a:srgbClr val="339966"/>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D9E1EF"/>
        </a:solidFill>
        <a:effectLst/>
      </p:bgPr>
    </p:bg>
    <p:spTree>
      <p:nvGrpSpPr>
        <p:cNvPr id="1" name="Shape 567"/>
        <p:cNvGrpSpPr/>
        <p:nvPr/>
      </p:nvGrpSpPr>
      <p:grpSpPr>
        <a:xfrm>
          <a:off x="0" y="0"/>
          <a:ext cx="0" cy="0"/>
          <a:chOff x="0" y="0"/>
          <a:chExt cx="0" cy="0"/>
        </a:xfrm>
      </p:grpSpPr>
      <p:pic>
        <p:nvPicPr>
          <p:cNvPr id="3" name="Google Shape;48;p5" descr="/home/claude/work/a2/light_wash.jpg">
            <a:extLst>
              <a:ext uri="{FF2B5EF4-FFF2-40B4-BE49-F238E27FC236}">
                <a16:creationId xmlns:a16="http://schemas.microsoft.com/office/drawing/2014/main" id="{EAD1A430-55E0-1530-AEBD-1A65D57CB424}"/>
              </a:ext>
            </a:extLst>
          </p:cNvPr>
          <p:cNvPicPr preferRelativeResize="0"/>
          <p:nvPr/>
        </p:nvPicPr>
        <p:blipFill rotWithShape="1">
          <a:blip r:embed="rId3">
            <a:alphaModFix/>
            <a:extLst>
              <a:ext uri="{BEBA8EAE-BF5A-486C-A8C5-ECC9F3942E4B}">
                <a14:imgProps xmlns:a14="http://schemas.microsoft.com/office/drawing/2010/main">
                  <a14:imgLayer r:embed="rId4">
                    <a14:imgEffect>
                      <a14:brightnessContrast contrast="40000"/>
                    </a14:imgEffect>
                  </a14:imgLayer>
                </a14:imgProps>
              </a:ext>
            </a:extLst>
          </a:blip>
          <a:srcRect/>
          <a:stretch/>
        </p:blipFill>
        <p:spPr>
          <a:xfrm>
            <a:off x="0" y="-9331"/>
            <a:ext cx="12191695" cy="6858000"/>
          </a:xfrm>
          <a:prstGeom prst="rect">
            <a:avLst/>
          </a:prstGeom>
          <a:noFill/>
          <a:ln>
            <a:noFill/>
          </a:ln>
        </p:spPr>
      </p:pic>
      <p:sp>
        <p:nvSpPr>
          <p:cNvPr id="569" name="Google Shape;569;p16"/>
          <p:cNvSpPr/>
          <p:nvPr/>
        </p:nvSpPr>
        <p:spPr>
          <a:xfrm>
            <a:off x="658368" y="6272784"/>
            <a:ext cx="85953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79839A"/>
              </a:buClr>
              <a:buSzPts val="800"/>
              <a:buFont typeface="Courier New"/>
              <a:buNone/>
            </a:pPr>
            <a:r>
              <a:rPr lang="en-US" sz="800">
                <a:solidFill>
                  <a:srgbClr val="79839A"/>
                </a:solidFill>
                <a:latin typeface="Courier New"/>
                <a:ea typeface="Courier New"/>
                <a:cs typeface="Courier New"/>
                <a:sym typeface="Courier New"/>
              </a:rPr>
              <a:t>BASELINE</a:t>
            </a:r>
            <a:r>
              <a:rPr lang="en-US" sz="800">
                <a:solidFill>
                  <a:srgbClr val="000000"/>
                </a:solidFill>
                <a:latin typeface="Courier New"/>
                <a:ea typeface="Courier New"/>
                <a:cs typeface="Courier New"/>
                <a:sym typeface="Courier New"/>
              </a:rPr>
              <a:t>     </a:t>
            </a:r>
            <a:r>
              <a:rPr lang="en-US" sz="800">
                <a:solidFill>
                  <a:srgbClr val="79839A"/>
                </a:solidFill>
                <a:latin typeface="Courier New"/>
                <a:ea typeface="Courier New"/>
                <a:cs typeface="Courier New"/>
                <a:sym typeface="Courier New"/>
              </a:rPr>
              <a:t>KNOWLEDGE GAPS</a:t>
            </a:r>
            <a:r>
              <a:rPr lang="en-US" sz="800">
                <a:solidFill>
                  <a:srgbClr val="000000"/>
                </a:solidFill>
                <a:latin typeface="Courier New"/>
                <a:ea typeface="Courier New"/>
                <a:cs typeface="Courier New"/>
                <a:sym typeface="Courier New"/>
              </a:rPr>
              <a:t>     </a:t>
            </a:r>
            <a:r>
              <a:rPr lang="en-US" sz="800">
                <a:solidFill>
                  <a:srgbClr val="79839A"/>
                </a:solidFill>
                <a:latin typeface="Courier New"/>
                <a:ea typeface="Courier New"/>
                <a:cs typeface="Courier New"/>
                <a:sym typeface="Courier New"/>
              </a:rPr>
              <a:t>SELECTION</a:t>
            </a:r>
            <a:r>
              <a:rPr lang="en-US" sz="800">
                <a:solidFill>
                  <a:srgbClr val="000000"/>
                </a:solidFill>
                <a:latin typeface="Courier New"/>
                <a:ea typeface="Courier New"/>
                <a:cs typeface="Courier New"/>
                <a:sym typeface="Courier New"/>
              </a:rPr>
              <a:t>     </a:t>
            </a:r>
            <a:r>
              <a:rPr lang="en-US" sz="800" b="1">
                <a:solidFill>
                  <a:srgbClr val="13234C"/>
                </a:solidFill>
                <a:latin typeface="Courier New"/>
                <a:ea typeface="Courier New"/>
                <a:cs typeface="Courier New"/>
                <a:sym typeface="Courier New"/>
              </a:rPr>
              <a:t>RECOMMENDATION</a:t>
            </a:r>
            <a:r>
              <a:rPr lang="en-US" sz="800">
                <a:solidFill>
                  <a:srgbClr val="000000"/>
                </a:solidFill>
                <a:latin typeface="Courier New"/>
                <a:ea typeface="Courier New"/>
                <a:cs typeface="Courier New"/>
                <a:sym typeface="Courier New"/>
              </a:rPr>
              <a:t>     </a:t>
            </a:r>
            <a:r>
              <a:rPr lang="en-US" sz="800">
                <a:solidFill>
                  <a:srgbClr val="79839A"/>
                </a:solidFill>
                <a:latin typeface="Courier New"/>
                <a:ea typeface="Courier New"/>
                <a:cs typeface="Courier New"/>
                <a:sym typeface="Courier New"/>
              </a:rPr>
              <a:t>VALUE</a:t>
            </a:r>
            <a:endParaRPr sz="800">
              <a:solidFill>
                <a:schemeClr val="dk1"/>
              </a:solidFill>
              <a:latin typeface="Courier New"/>
              <a:ea typeface="Courier New"/>
              <a:cs typeface="Courier New"/>
              <a:sym typeface="Courier New"/>
            </a:endParaRPr>
          </a:p>
        </p:txBody>
      </p:sp>
      <p:sp>
        <p:nvSpPr>
          <p:cNvPr id="570" name="Google Shape;570;p16"/>
          <p:cNvSpPr/>
          <p:nvPr/>
        </p:nvSpPr>
        <p:spPr>
          <a:xfrm>
            <a:off x="658368" y="530352"/>
            <a:ext cx="9052560" cy="472966"/>
          </a:xfrm>
          <a:prstGeom prst="rect">
            <a:avLst/>
          </a:prstGeom>
          <a:noFill/>
          <a:ln>
            <a:noFill/>
          </a:ln>
        </p:spPr>
        <p:txBody>
          <a:bodyPr spcFirstLastPara="1" wrap="square" lIns="0" tIns="0" rIns="0" bIns="0" anchor="ctr" anchorCtr="0">
            <a:noAutofit/>
          </a:bodyPr>
          <a:lstStyle/>
          <a:p>
            <a:pPr marL="0" marR="0" lvl="0" indent="0" algn="l" rtl="0">
              <a:lnSpc>
                <a:spcPct val="92000"/>
              </a:lnSpc>
              <a:spcBef>
                <a:spcPts val="0"/>
              </a:spcBef>
              <a:spcAft>
                <a:spcPts val="0"/>
              </a:spcAft>
              <a:buClr>
                <a:srgbClr val="13234C"/>
              </a:buClr>
              <a:buSzPts val="3000"/>
              <a:buFont typeface="Arial"/>
              <a:buNone/>
            </a:pPr>
            <a:r>
              <a:rPr lang="en-US" sz="3000" b="1">
                <a:solidFill>
                  <a:srgbClr val="13234C"/>
                </a:solidFill>
                <a:latin typeface="29LT Adir" panose="00000506000000000000" pitchFamily="50" charset="-78"/>
                <a:cs typeface="29LT Adir" panose="00000506000000000000" pitchFamily="50" charset="-78"/>
                <a:sym typeface="Arial"/>
              </a:rPr>
              <a:t>Implementation Route</a:t>
            </a:r>
            <a:endParaRPr sz="30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571" name="Google Shape;571;p16"/>
          <p:cNvSpPr/>
          <p:nvPr/>
        </p:nvSpPr>
        <p:spPr>
          <a:xfrm>
            <a:off x="658368" y="1058182"/>
            <a:ext cx="9052560" cy="3291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4C5468"/>
              </a:buClr>
              <a:buSzPts val="1400"/>
              <a:buFont typeface="Arial"/>
              <a:buNone/>
            </a:pPr>
            <a:r>
              <a:rPr lang="en-US" sz="1400">
                <a:solidFill>
                  <a:srgbClr val="4C5468"/>
                </a:solidFill>
                <a:latin typeface="29LT Adir" panose="00000506000000000000" pitchFamily="50" charset="-78"/>
                <a:cs typeface="29LT Adir" panose="00000506000000000000" pitchFamily="50" charset="-78"/>
                <a:sym typeface="Arial"/>
              </a:rPr>
              <a:t>A proven implementation route exists</a:t>
            </a:r>
            <a:endParaRPr sz="1400">
              <a:solidFill>
                <a:schemeClr val="dk1"/>
              </a:solidFill>
              <a:latin typeface="29LT Adir" panose="00000506000000000000" pitchFamily="50" charset="-78"/>
              <a:cs typeface="29LT Adir" panose="00000506000000000000" pitchFamily="50" charset="-78"/>
              <a:sym typeface="Arial"/>
            </a:endParaRPr>
          </a:p>
        </p:txBody>
      </p:sp>
      <p:sp>
        <p:nvSpPr>
          <p:cNvPr id="572" name="Google Shape;572;p16"/>
          <p:cNvSpPr/>
          <p:nvPr/>
        </p:nvSpPr>
        <p:spPr>
          <a:xfrm>
            <a:off x="658368" y="1956816"/>
            <a:ext cx="3063240" cy="1627632"/>
          </a:xfrm>
          <a:prstGeom prst="roundRect">
            <a:avLst>
              <a:gd name="adj" fmla="val 5056"/>
            </a:avLst>
          </a:prstGeom>
          <a:solidFill>
            <a:srgbClr val="FFFFFF"/>
          </a:solidFill>
          <a:ln w="9525" cap="flat" cmpd="sng">
            <a:solidFill>
              <a:srgbClr val="C4CFE0"/>
            </a:solidFill>
            <a:prstDash val="solid"/>
            <a:round/>
            <a:headEnd type="none" w="sm" len="sm"/>
            <a:tailEnd type="none" w="sm" len="sm"/>
          </a:ln>
          <a:effectLst>
            <a:outerShdw blurRad="127000" dist="25400" dir="5400000" algn="bl" rotWithShape="0">
              <a:srgbClr val="0B1226">
                <a:alpha val="1019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573" name="Google Shape;573;p16"/>
          <p:cNvSpPr/>
          <p:nvPr/>
        </p:nvSpPr>
        <p:spPr>
          <a:xfrm>
            <a:off x="932688" y="2176272"/>
            <a:ext cx="251460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2200"/>
              <a:buFont typeface="Arial"/>
              <a:buNone/>
            </a:pPr>
            <a:r>
              <a:rPr lang="en-US" sz="2200" b="1">
                <a:solidFill>
                  <a:srgbClr val="13234C"/>
                </a:solidFill>
                <a:latin typeface="29LT Adir" panose="00000506000000000000" pitchFamily="50" charset="-78"/>
                <a:cs typeface="29LT Adir" panose="00000506000000000000" pitchFamily="50" charset="-78"/>
                <a:sym typeface="Arial"/>
              </a:rPr>
              <a:t>APL</a:t>
            </a:r>
            <a:endParaRPr sz="22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574" name="Google Shape;574;p16"/>
          <p:cNvSpPr/>
          <p:nvPr/>
        </p:nvSpPr>
        <p:spPr>
          <a:xfrm>
            <a:off x="932688" y="2578608"/>
            <a:ext cx="2514600" cy="420624"/>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79839A"/>
              </a:buClr>
              <a:buSzPts val="1200"/>
              <a:buFont typeface="Arial"/>
              <a:buNone/>
            </a:pPr>
            <a:r>
              <a:rPr lang="en-US" sz="1200">
                <a:solidFill>
                  <a:srgbClr val="79839A"/>
                </a:solidFill>
                <a:latin typeface="29LT Adir" panose="00000506000000000000" pitchFamily="50" charset="-78"/>
                <a:cs typeface="29LT Adir" panose="00000506000000000000" pitchFamily="50" charset="-78"/>
                <a:sym typeface="Arial"/>
              </a:rPr>
              <a:t>Johns Hopkins Applied Physics Laboratory</a:t>
            </a:r>
            <a:endParaRPr sz="1200">
              <a:solidFill>
                <a:schemeClr val="dk1"/>
              </a:solidFill>
              <a:latin typeface="29LT Adir" panose="00000506000000000000" pitchFamily="50" charset="-78"/>
              <a:cs typeface="29LT Adir" panose="00000506000000000000" pitchFamily="50" charset="-78"/>
              <a:sym typeface="Arial"/>
            </a:endParaRPr>
          </a:p>
        </p:txBody>
      </p:sp>
      <p:sp>
        <p:nvSpPr>
          <p:cNvPr id="575" name="Google Shape;575;p16"/>
          <p:cNvSpPr/>
          <p:nvPr/>
        </p:nvSpPr>
        <p:spPr>
          <a:xfrm>
            <a:off x="932688" y="3054096"/>
            <a:ext cx="2514600" cy="384048"/>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151B29"/>
              </a:buClr>
              <a:buSzPts val="1200"/>
              <a:buFont typeface="Arial"/>
              <a:buNone/>
            </a:pPr>
            <a:r>
              <a:rPr lang="en-US" sz="1200">
                <a:solidFill>
                  <a:srgbClr val="151B29"/>
                </a:solidFill>
                <a:latin typeface="29LT Adir" panose="00000506000000000000" pitchFamily="50" charset="-78"/>
                <a:cs typeface="29LT Adir" panose="00000506000000000000" pitchFamily="50" charset="-78"/>
                <a:sym typeface="Arial"/>
              </a:rPr>
              <a:t>Instrument build &amp; integration</a:t>
            </a:r>
            <a:endParaRPr sz="1200">
              <a:solidFill>
                <a:schemeClr val="dk1"/>
              </a:solidFill>
              <a:latin typeface="29LT Adir" panose="00000506000000000000" pitchFamily="50" charset="-78"/>
              <a:cs typeface="29LT Adir" panose="00000506000000000000" pitchFamily="50" charset="-78"/>
              <a:sym typeface="Arial"/>
            </a:endParaRPr>
          </a:p>
        </p:txBody>
      </p:sp>
      <p:sp>
        <p:nvSpPr>
          <p:cNvPr id="576" name="Google Shape;576;p16"/>
          <p:cNvSpPr/>
          <p:nvPr/>
        </p:nvSpPr>
        <p:spPr>
          <a:xfrm>
            <a:off x="3950208" y="1956816"/>
            <a:ext cx="3063240" cy="1627632"/>
          </a:xfrm>
          <a:prstGeom prst="roundRect">
            <a:avLst>
              <a:gd name="adj" fmla="val 5056"/>
            </a:avLst>
          </a:prstGeom>
          <a:solidFill>
            <a:srgbClr val="FFFFFF"/>
          </a:solidFill>
          <a:ln w="9525" cap="flat" cmpd="sng">
            <a:solidFill>
              <a:srgbClr val="C4CFE0"/>
            </a:solidFill>
            <a:prstDash val="solid"/>
            <a:round/>
            <a:headEnd type="none" w="sm" len="sm"/>
            <a:tailEnd type="none" w="sm" len="sm"/>
          </a:ln>
          <a:effectLst>
            <a:outerShdw blurRad="127000" dist="25400" dir="5400000" algn="bl" rotWithShape="0">
              <a:srgbClr val="0B1226">
                <a:alpha val="1019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577" name="Google Shape;577;p16"/>
          <p:cNvSpPr/>
          <p:nvPr/>
        </p:nvSpPr>
        <p:spPr>
          <a:xfrm>
            <a:off x="4224528" y="2176272"/>
            <a:ext cx="2514600" cy="38404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2200"/>
              <a:buFont typeface="Arial"/>
              <a:buNone/>
            </a:pPr>
            <a:r>
              <a:rPr lang="en-US" sz="2200" b="1">
                <a:solidFill>
                  <a:srgbClr val="13234C"/>
                </a:solidFill>
                <a:latin typeface="29LT Adir" panose="00000506000000000000" pitchFamily="50" charset="-78"/>
                <a:cs typeface="29LT Adir" panose="00000506000000000000" pitchFamily="50" charset="-78"/>
                <a:sym typeface="Arial"/>
              </a:rPr>
              <a:t>LLNL</a:t>
            </a:r>
            <a:endParaRPr sz="22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578" name="Google Shape;578;p16"/>
          <p:cNvSpPr/>
          <p:nvPr/>
        </p:nvSpPr>
        <p:spPr>
          <a:xfrm>
            <a:off x="4224528" y="2578608"/>
            <a:ext cx="2514600" cy="420624"/>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79839A"/>
              </a:buClr>
              <a:buSzPts val="1200"/>
              <a:buFont typeface="Arial"/>
              <a:buNone/>
            </a:pPr>
            <a:r>
              <a:rPr lang="en-US" sz="1200">
                <a:solidFill>
                  <a:srgbClr val="79839A"/>
                </a:solidFill>
                <a:latin typeface="29LT Adir" panose="00000506000000000000" pitchFamily="50" charset="-78"/>
                <a:cs typeface="29LT Adir" panose="00000506000000000000" pitchFamily="50" charset="-78"/>
                <a:sym typeface="Arial"/>
              </a:rPr>
              <a:t>Lawrence Livermore National Laboratory</a:t>
            </a:r>
            <a:endParaRPr sz="1200">
              <a:solidFill>
                <a:schemeClr val="dk1"/>
              </a:solidFill>
              <a:latin typeface="29LT Adir" panose="00000506000000000000" pitchFamily="50" charset="-78"/>
              <a:cs typeface="29LT Adir" panose="00000506000000000000" pitchFamily="50" charset="-78"/>
              <a:sym typeface="Arial"/>
            </a:endParaRPr>
          </a:p>
        </p:txBody>
      </p:sp>
      <p:sp>
        <p:nvSpPr>
          <p:cNvPr id="579" name="Google Shape;579;p16"/>
          <p:cNvSpPr/>
          <p:nvPr/>
        </p:nvSpPr>
        <p:spPr>
          <a:xfrm>
            <a:off x="4224528" y="3054096"/>
            <a:ext cx="2514600" cy="384048"/>
          </a:xfrm>
          <a:prstGeom prst="rect">
            <a:avLst/>
          </a:prstGeom>
          <a:noFill/>
          <a:ln>
            <a:noFill/>
          </a:ln>
        </p:spPr>
        <p:txBody>
          <a:bodyPr spcFirstLastPara="1" wrap="square" lIns="0" tIns="0" rIns="0" bIns="0" anchor="ctr" anchorCtr="0">
            <a:noAutofit/>
          </a:bodyPr>
          <a:lstStyle/>
          <a:p>
            <a:pPr marL="0" marR="0" lvl="0" indent="0" algn="l" rtl="0">
              <a:lnSpc>
                <a:spcPct val="110000"/>
              </a:lnSpc>
              <a:spcBef>
                <a:spcPts val="0"/>
              </a:spcBef>
              <a:spcAft>
                <a:spcPts val="0"/>
              </a:spcAft>
              <a:buClr>
                <a:srgbClr val="151B29"/>
              </a:buClr>
              <a:buSzPts val="1200"/>
              <a:buFont typeface="Arial"/>
              <a:buNone/>
            </a:pPr>
            <a:r>
              <a:rPr lang="en-US" sz="1200">
                <a:solidFill>
                  <a:srgbClr val="151B29"/>
                </a:solidFill>
                <a:latin typeface="29LT Adir" panose="00000506000000000000" pitchFamily="50" charset="-78"/>
                <a:cs typeface="29LT Adir" panose="00000506000000000000" pitchFamily="50" charset="-78"/>
                <a:sym typeface="Arial"/>
              </a:rPr>
              <a:t>High-purity germanium detector</a:t>
            </a:r>
            <a:endParaRPr sz="1200">
              <a:solidFill>
                <a:schemeClr val="dk1"/>
              </a:solidFill>
              <a:latin typeface="29LT Adir" panose="00000506000000000000" pitchFamily="50" charset="-78"/>
              <a:cs typeface="29LT Adir" panose="00000506000000000000" pitchFamily="50" charset="-78"/>
              <a:sym typeface="Arial"/>
            </a:endParaRPr>
          </a:p>
        </p:txBody>
      </p:sp>
      <p:sp>
        <p:nvSpPr>
          <p:cNvPr id="580" name="Google Shape;580;p16"/>
          <p:cNvSpPr/>
          <p:nvPr/>
        </p:nvSpPr>
        <p:spPr>
          <a:xfrm>
            <a:off x="7790688" y="1956816"/>
            <a:ext cx="3739896" cy="1627632"/>
          </a:xfrm>
          <a:prstGeom prst="roundRect">
            <a:avLst>
              <a:gd name="adj" fmla="val 5056"/>
            </a:avLst>
          </a:prstGeom>
          <a:solidFill>
            <a:srgbClr val="0E1A38"/>
          </a:solidFill>
          <a:ln>
            <a:noFill/>
          </a:ln>
          <a:effectLst>
            <a:outerShdw blurRad="50800" dist="38100" dir="5400000" algn="t" rotWithShape="0">
              <a:srgbClr val="000000">
                <a:alpha val="40000"/>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581" name="Google Shape;581;p16"/>
          <p:cNvSpPr/>
          <p:nvPr/>
        </p:nvSpPr>
        <p:spPr>
          <a:xfrm>
            <a:off x="7790688" y="2340864"/>
            <a:ext cx="3739896" cy="347472"/>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900"/>
              <a:buFont typeface="Arial"/>
              <a:buNone/>
            </a:pPr>
            <a:r>
              <a:rPr lang="en-US" sz="1900" b="1">
                <a:solidFill>
                  <a:srgbClr val="FFFFFF"/>
                </a:solidFill>
                <a:latin typeface="29LT Adir" panose="00000506000000000000" pitchFamily="50" charset="-78"/>
                <a:cs typeface="29LT Adir" panose="00000506000000000000" pitchFamily="50" charset="-78"/>
                <a:sym typeface="Arial"/>
              </a:rPr>
              <a:t>Heritage-based GRS</a:t>
            </a:r>
            <a:endParaRPr sz="19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582" name="Google Shape;582;p16"/>
          <p:cNvSpPr/>
          <p:nvPr/>
        </p:nvSpPr>
        <p:spPr>
          <a:xfrm>
            <a:off x="7790688" y="2761488"/>
            <a:ext cx="3739896" cy="548640"/>
          </a:xfrm>
          <a:prstGeom prst="rect">
            <a:avLst/>
          </a:prstGeom>
          <a:noFill/>
          <a:ln>
            <a:noFill/>
          </a:ln>
        </p:spPr>
        <p:txBody>
          <a:bodyPr spcFirstLastPara="1" wrap="square" lIns="0" tIns="0" rIns="0" bIns="0" anchor="ctr" anchorCtr="0">
            <a:noAutofit/>
          </a:bodyPr>
          <a:lstStyle/>
          <a:p>
            <a:pPr marL="0" marR="0" lvl="0" indent="0" algn="ctr" rtl="0">
              <a:lnSpc>
                <a:spcPct val="116000"/>
              </a:lnSpc>
              <a:spcBef>
                <a:spcPts val="0"/>
              </a:spcBef>
              <a:spcAft>
                <a:spcPts val="0"/>
              </a:spcAft>
              <a:buClr>
                <a:srgbClr val="9CBBE6"/>
              </a:buClr>
              <a:buSzPts val="1200"/>
              <a:buFont typeface="Arial"/>
              <a:buNone/>
            </a:pPr>
            <a:r>
              <a:rPr lang="en-US" sz="1200">
                <a:solidFill>
                  <a:srgbClr val="9CBBE6"/>
                </a:solidFill>
                <a:latin typeface="29LT Adir" panose="00000506000000000000" pitchFamily="50" charset="-78"/>
                <a:cs typeface="29LT Adir" panose="00000506000000000000" pitchFamily="50" charset="-78"/>
                <a:sym typeface="Arial"/>
              </a:rPr>
              <a:t>A flight spare, engineering model,</a:t>
            </a:r>
            <a:endParaRPr sz="1200">
              <a:solidFill>
                <a:schemeClr val="dk1"/>
              </a:solidFill>
              <a:latin typeface="29LT Adir" panose="00000506000000000000" pitchFamily="50" charset="-78"/>
              <a:cs typeface="29LT Adir" panose="00000506000000000000" pitchFamily="50" charset="-78"/>
              <a:sym typeface="Arial"/>
            </a:endParaRPr>
          </a:p>
          <a:p>
            <a:pPr marL="0" marR="0" lvl="0" indent="0" algn="ctr" rtl="0">
              <a:lnSpc>
                <a:spcPct val="116000"/>
              </a:lnSpc>
              <a:spcBef>
                <a:spcPts val="0"/>
              </a:spcBef>
              <a:spcAft>
                <a:spcPts val="0"/>
              </a:spcAft>
              <a:buClr>
                <a:srgbClr val="9CBBE6"/>
              </a:buClr>
              <a:buSzPts val="1200"/>
              <a:buFont typeface="Arial"/>
              <a:buNone/>
            </a:pPr>
            <a:r>
              <a:rPr lang="en-US" sz="1200">
                <a:solidFill>
                  <a:srgbClr val="9CBBE6"/>
                </a:solidFill>
                <a:latin typeface="29LT Adir" panose="00000506000000000000" pitchFamily="50" charset="-78"/>
                <a:cs typeface="29LT Adir" panose="00000506000000000000" pitchFamily="50" charset="-78"/>
                <a:sym typeface="Arial"/>
              </a:rPr>
              <a:t>or repeat of the Psyche design</a:t>
            </a:r>
            <a:endParaRPr sz="1200">
              <a:solidFill>
                <a:schemeClr val="dk1"/>
              </a:solidFill>
              <a:latin typeface="29LT Adir" panose="00000506000000000000" pitchFamily="50" charset="-78"/>
              <a:cs typeface="29LT Adir" panose="00000506000000000000" pitchFamily="50" charset="-78"/>
              <a:sym typeface="Arial"/>
            </a:endParaRPr>
          </a:p>
        </p:txBody>
      </p:sp>
      <p:sp>
        <p:nvSpPr>
          <p:cNvPr id="583" name="Google Shape;583;p16"/>
          <p:cNvSpPr/>
          <p:nvPr/>
        </p:nvSpPr>
        <p:spPr>
          <a:xfrm>
            <a:off x="658368" y="3803904"/>
            <a:ext cx="10874959" cy="658368"/>
          </a:xfrm>
          <a:prstGeom prst="roundRect">
            <a:avLst>
              <a:gd name="adj" fmla="val 9722"/>
            </a:avLst>
          </a:prstGeom>
          <a:solidFill>
            <a:srgbClr val="FFF8EC"/>
          </a:solidFill>
          <a:ln w="9525" cap="flat" cmpd="sng">
            <a:solidFill>
              <a:srgbClr val="F0DCB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584" name="Google Shape;584;p16"/>
          <p:cNvSpPr/>
          <p:nvPr/>
        </p:nvSpPr>
        <p:spPr>
          <a:xfrm>
            <a:off x="969264" y="3803904"/>
            <a:ext cx="10253167" cy="65836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8A6316"/>
              </a:buClr>
              <a:buSzPts val="1400"/>
              <a:buFont typeface="Courier New"/>
              <a:buNone/>
            </a:pPr>
            <a:r>
              <a:rPr lang="en-US" sz="1400" dirty="0">
                <a:solidFill>
                  <a:srgbClr val="8A6316"/>
                </a:solidFill>
                <a:latin typeface="29LT Adir" panose="00000506000000000000" pitchFamily="50" charset="-78"/>
                <a:ea typeface="Courier New"/>
                <a:cs typeface="29LT Adir" panose="00000506000000000000" pitchFamily="50" charset="-78"/>
                <a:sym typeface="Courier New"/>
              </a:rPr>
              <a:t>Previous Missions</a:t>
            </a:r>
            <a:r>
              <a:rPr lang="en-US" sz="1400" b="1" dirty="0">
                <a:solidFill>
                  <a:srgbClr val="8A6316"/>
                </a:solidFill>
                <a:latin typeface="Courier New"/>
                <a:ea typeface="Courier New"/>
                <a:cs typeface="Courier New"/>
                <a:sym typeface="Courier New"/>
              </a:rPr>
              <a:t>:  </a:t>
            </a:r>
            <a:r>
              <a:rPr lang="en-US" sz="1400" dirty="0" err="1">
                <a:solidFill>
                  <a:srgbClr val="13234C"/>
                </a:solidFill>
                <a:latin typeface="Courier New"/>
                <a:ea typeface="Courier New"/>
                <a:cs typeface="Courier New"/>
                <a:sym typeface="Courier New"/>
              </a:rPr>
              <a:t>MEGANE·MESSENGER·Psyche</a:t>
            </a:r>
            <a:r>
              <a:rPr lang="en-US" sz="1400" dirty="0">
                <a:solidFill>
                  <a:srgbClr val="151B29"/>
                </a:solidFill>
                <a:latin typeface="Courier New"/>
                <a:ea typeface="Courier New"/>
                <a:cs typeface="Courier New"/>
                <a:sym typeface="Courier New"/>
              </a:rPr>
              <a:t> </a:t>
            </a:r>
            <a:r>
              <a:rPr lang="en-US" sz="1400" dirty="0">
                <a:solidFill>
                  <a:srgbClr val="151B29"/>
                </a:solidFill>
                <a:latin typeface="29LT Adir" panose="00000506000000000000" pitchFamily="50" charset="-78"/>
                <a:cs typeface="29LT Adir" panose="00000506000000000000" pitchFamily="50" charset="-78"/>
                <a:sym typeface="Arial"/>
              </a:rPr>
              <a:t>one agency contributing a gamma-ray spectrometer to another agency's small-body mission</a:t>
            </a:r>
            <a:r>
              <a:rPr lang="en-US" sz="1200" dirty="0">
                <a:solidFill>
                  <a:srgbClr val="151B29"/>
                </a:solidFill>
                <a:latin typeface="29LT Adir" panose="00000506000000000000" pitchFamily="50" charset="-78"/>
                <a:cs typeface="29LT Adir" panose="00000506000000000000" pitchFamily="50" charset="-78"/>
                <a:sym typeface="Arial"/>
              </a:rPr>
              <a:t>.</a:t>
            </a:r>
            <a:endParaRPr sz="1100" dirty="0">
              <a:solidFill>
                <a:schemeClr val="dk1"/>
              </a:solidFill>
              <a:latin typeface="29LT Adir" panose="00000506000000000000" pitchFamily="50" charset="-78"/>
              <a:cs typeface="29LT Adir" panose="00000506000000000000" pitchFamily="50" charset="-78"/>
              <a:sym typeface="Arial"/>
            </a:endParaRPr>
          </a:p>
        </p:txBody>
      </p:sp>
      <p:sp>
        <p:nvSpPr>
          <p:cNvPr id="585" name="Google Shape;585;p16"/>
          <p:cNvSpPr/>
          <p:nvPr/>
        </p:nvSpPr>
        <p:spPr>
          <a:xfrm>
            <a:off x="658368" y="4663440"/>
            <a:ext cx="365760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A33D"/>
              </a:buClr>
              <a:buSzPts val="1100"/>
              <a:buFont typeface="Courier New"/>
              <a:buNone/>
            </a:pPr>
            <a:r>
              <a:rPr lang="en-US" sz="1100" b="1">
                <a:solidFill>
                  <a:srgbClr val="E8A33D"/>
                </a:solidFill>
                <a:latin typeface="Courier New"/>
                <a:ea typeface="Courier New"/>
                <a:cs typeface="Courier New"/>
                <a:sym typeface="Courier New"/>
              </a:rPr>
              <a:t>WHAT’S NEXT?</a:t>
            </a:r>
            <a:endParaRPr sz="1100">
              <a:solidFill>
                <a:schemeClr val="dk1"/>
              </a:solidFill>
              <a:latin typeface="Courier New"/>
              <a:ea typeface="Courier New"/>
              <a:cs typeface="Courier New"/>
              <a:sym typeface="Courier New"/>
            </a:endParaRPr>
          </a:p>
        </p:txBody>
      </p:sp>
      <p:sp>
        <p:nvSpPr>
          <p:cNvPr id="586" name="Google Shape;586;p16"/>
          <p:cNvSpPr/>
          <p:nvPr/>
        </p:nvSpPr>
        <p:spPr>
          <a:xfrm>
            <a:off x="658368" y="4974336"/>
            <a:ext cx="3466490" cy="1060704"/>
          </a:xfrm>
          <a:prstGeom prst="roundRect">
            <a:avLst>
              <a:gd name="adj" fmla="val 7759"/>
            </a:avLst>
          </a:prstGeom>
          <a:solidFill>
            <a:srgbClr val="FFFFFF"/>
          </a:solidFill>
          <a:ln w="9525" cap="flat" cmpd="sng">
            <a:solidFill>
              <a:srgbClr val="C4CFE0"/>
            </a:solidFill>
            <a:prstDash val="solid"/>
            <a:round/>
            <a:headEnd type="none" w="sm" len="sm"/>
            <a:tailEnd type="none" w="sm" len="sm"/>
          </a:ln>
          <a:effectLst>
            <a:outerShdw blurRad="127000" dist="25400" dir="5400000" algn="bl" rotWithShape="0">
              <a:srgbClr val="0B1226">
                <a:alpha val="1019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29LT Adir" panose="00000506000000000000" pitchFamily="50" charset="-78"/>
              <a:cs typeface="29LT Adir" panose="00000506000000000000" pitchFamily="50" charset="-78"/>
              <a:sym typeface="Arial"/>
            </a:endParaRPr>
          </a:p>
        </p:txBody>
      </p:sp>
      <p:sp>
        <p:nvSpPr>
          <p:cNvPr id="587" name="Google Shape;587;p16"/>
          <p:cNvSpPr/>
          <p:nvPr/>
        </p:nvSpPr>
        <p:spPr>
          <a:xfrm>
            <a:off x="896112" y="5175504"/>
            <a:ext cx="310896" cy="310896"/>
          </a:xfrm>
          <a:prstGeom prst="ellipse">
            <a:avLst/>
          </a:prstGeom>
          <a:solidFill>
            <a:srgbClr val="13234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29LT Adir" panose="00000506000000000000" pitchFamily="50" charset="-78"/>
              <a:cs typeface="29LT Adir" panose="00000506000000000000" pitchFamily="50" charset="-78"/>
              <a:sym typeface="Arial"/>
            </a:endParaRPr>
          </a:p>
        </p:txBody>
      </p:sp>
      <p:sp>
        <p:nvSpPr>
          <p:cNvPr id="588" name="Google Shape;588;p16"/>
          <p:cNvSpPr/>
          <p:nvPr/>
        </p:nvSpPr>
        <p:spPr>
          <a:xfrm>
            <a:off x="896112" y="5175504"/>
            <a:ext cx="310896"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Courier New"/>
              <a:buNone/>
            </a:pPr>
            <a:r>
              <a:rPr lang="en-US" sz="1050" b="1">
                <a:solidFill>
                  <a:srgbClr val="FFFFFF"/>
                </a:solidFill>
                <a:latin typeface="29LT Adir" panose="00000506000000000000" pitchFamily="50" charset="-78"/>
                <a:ea typeface="Courier New"/>
                <a:cs typeface="29LT Adir" panose="00000506000000000000" pitchFamily="50" charset="-78"/>
                <a:sym typeface="Courier New"/>
              </a:rPr>
              <a:t>01</a:t>
            </a:r>
            <a:endParaRPr sz="1050">
              <a:solidFill>
                <a:schemeClr val="dk1"/>
              </a:solidFill>
              <a:latin typeface="29LT Adir" panose="00000506000000000000" pitchFamily="50" charset="-78"/>
              <a:ea typeface="Courier New"/>
              <a:cs typeface="29LT Adir" panose="00000506000000000000" pitchFamily="50" charset="-78"/>
              <a:sym typeface="Courier New"/>
            </a:endParaRPr>
          </a:p>
        </p:txBody>
      </p:sp>
      <p:sp>
        <p:nvSpPr>
          <p:cNvPr id="589" name="Google Shape;589;p16"/>
          <p:cNvSpPr/>
          <p:nvPr/>
        </p:nvSpPr>
        <p:spPr>
          <a:xfrm>
            <a:off x="1298448" y="5138928"/>
            <a:ext cx="2588666" cy="402336"/>
          </a:xfrm>
          <a:prstGeom prst="rect">
            <a:avLst/>
          </a:prstGeom>
          <a:noFill/>
          <a:ln>
            <a:noFill/>
          </a:ln>
        </p:spPr>
        <p:txBody>
          <a:bodyPr spcFirstLastPara="1" wrap="square" lIns="0" tIns="0" rIns="0" bIns="0" anchor="ctr" anchorCtr="0">
            <a:noAutofit/>
          </a:bodyPr>
          <a:lstStyle/>
          <a:p>
            <a:pPr marL="0" marR="0" lvl="0" indent="0" algn="l" rtl="0">
              <a:lnSpc>
                <a:spcPct val="95000"/>
              </a:lnSpc>
              <a:spcBef>
                <a:spcPts val="0"/>
              </a:spcBef>
              <a:spcAft>
                <a:spcPts val="0"/>
              </a:spcAft>
              <a:buClr>
                <a:srgbClr val="13234C"/>
              </a:buClr>
              <a:buSzPts val="1400"/>
              <a:buFont typeface="Arial"/>
              <a:buNone/>
            </a:pPr>
            <a:r>
              <a:rPr lang="en-US" sz="1400" b="1">
                <a:solidFill>
                  <a:srgbClr val="13234C"/>
                </a:solidFill>
                <a:latin typeface="29LT Adir" panose="00000506000000000000" pitchFamily="50" charset="-78"/>
                <a:cs typeface="29LT Adir" panose="00000506000000000000" pitchFamily="50" charset="-78"/>
                <a:sym typeface="Arial"/>
              </a:rPr>
              <a:t>Leadership approval</a:t>
            </a:r>
            <a:endParaRPr sz="1400">
              <a:solidFill>
                <a:schemeClr val="dk1"/>
              </a:solidFill>
              <a:latin typeface="29LT Adir" panose="00000506000000000000" pitchFamily="50" charset="-78"/>
              <a:cs typeface="29LT Adir" panose="00000506000000000000" pitchFamily="50" charset="-78"/>
              <a:sym typeface="Arial"/>
            </a:endParaRPr>
          </a:p>
        </p:txBody>
      </p:sp>
      <p:sp>
        <p:nvSpPr>
          <p:cNvPr id="590" name="Google Shape;590;p16"/>
          <p:cNvSpPr/>
          <p:nvPr/>
        </p:nvSpPr>
        <p:spPr>
          <a:xfrm>
            <a:off x="896112" y="5554782"/>
            <a:ext cx="2991002" cy="36576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4C5468"/>
              </a:buClr>
              <a:buSzPts val="1200"/>
              <a:buFont typeface="Arial"/>
              <a:buNone/>
            </a:pPr>
            <a:r>
              <a:rPr lang="en-US" sz="1200">
                <a:solidFill>
                  <a:srgbClr val="4C5468"/>
                </a:solidFill>
                <a:latin typeface="29LT Adir" panose="00000506000000000000" pitchFamily="50" charset="-78"/>
                <a:cs typeface="29LT Adir" panose="00000506000000000000" pitchFamily="50" charset="-78"/>
                <a:sym typeface="Arial"/>
              </a:rPr>
              <a:t>Authorise engagement on a payload contribution.</a:t>
            </a:r>
            <a:endParaRPr sz="1200">
              <a:solidFill>
                <a:schemeClr val="dk1"/>
              </a:solidFill>
              <a:latin typeface="29LT Adir" panose="00000506000000000000" pitchFamily="50" charset="-78"/>
              <a:cs typeface="29LT Adir" panose="00000506000000000000" pitchFamily="50" charset="-78"/>
              <a:sym typeface="Arial"/>
            </a:endParaRPr>
          </a:p>
        </p:txBody>
      </p:sp>
      <p:sp>
        <p:nvSpPr>
          <p:cNvPr id="591" name="Google Shape;591;p16"/>
          <p:cNvSpPr/>
          <p:nvPr/>
        </p:nvSpPr>
        <p:spPr>
          <a:xfrm>
            <a:off x="4362602" y="4974336"/>
            <a:ext cx="3466490" cy="1060704"/>
          </a:xfrm>
          <a:prstGeom prst="roundRect">
            <a:avLst>
              <a:gd name="adj" fmla="val 7759"/>
            </a:avLst>
          </a:prstGeom>
          <a:solidFill>
            <a:srgbClr val="FFFFFF"/>
          </a:solidFill>
          <a:ln w="9525" cap="flat" cmpd="sng">
            <a:solidFill>
              <a:srgbClr val="C4CFE0"/>
            </a:solidFill>
            <a:prstDash val="solid"/>
            <a:round/>
            <a:headEnd type="none" w="sm" len="sm"/>
            <a:tailEnd type="none" w="sm" len="sm"/>
          </a:ln>
          <a:effectLst>
            <a:outerShdw blurRad="127000" dist="25400" dir="5400000" algn="bl" rotWithShape="0">
              <a:srgbClr val="0B1226">
                <a:alpha val="1019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29LT Adir" panose="00000506000000000000" pitchFamily="50" charset="-78"/>
              <a:cs typeface="29LT Adir" panose="00000506000000000000" pitchFamily="50" charset="-78"/>
              <a:sym typeface="Arial"/>
            </a:endParaRPr>
          </a:p>
        </p:txBody>
      </p:sp>
      <p:sp>
        <p:nvSpPr>
          <p:cNvPr id="592" name="Google Shape;592;p16"/>
          <p:cNvSpPr/>
          <p:nvPr/>
        </p:nvSpPr>
        <p:spPr>
          <a:xfrm>
            <a:off x="4600346" y="5175504"/>
            <a:ext cx="310896" cy="310896"/>
          </a:xfrm>
          <a:prstGeom prst="ellipse">
            <a:avLst/>
          </a:prstGeom>
          <a:solidFill>
            <a:srgbClr val="13234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29LT Adir" panose="00000506000000000000" pitchFamily="50" charset="-78"/>
              <a:cs typeface="29LT Adir" panose="00000506000000000000" pitchFamily="50" charset="-78"/>
              <a:sym typeface="Arial"/>
            </a:endParaRPr>
          </a:p>
        </p:txBody>
      </p:sp>
      <p:sp>
        <p:nvSpPr>
          <p:cNvPr id="593" name="Google Shape;593;p16"/>
          <p:cNvSpPr/>
          <p:nvPr/>
        </p:nvSpPr>
        <p:spPr>
          <a:xfrm>
            <a:off x="4600346" y="5175504"/>
            <a:ext cx="310896"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Courier New"/>
              <a:buNone/>
            </a:pPr>
            <a:r>
              <a:rPr lang="en-US" sz="1050" b="1">
                <a:solidFill>
                  <a:srgbClr val="FFFFFF"/>
                </a:solidFill>
                <a:latin typeface="29LT Adir" panose="00000506000000000000" pitchFamily="50" charset="-78"/>
                <a:ea typeface="Courier New"/>
                <a:cs typeface="29LT Adir" panose="00000506000000000000" pitchFamily="50" charset="-78"/>
                <a:sym typeface="Courier New"/>
              </a:rPr>
              <a:t>02</a:t>
            </a:r>
            <a:endParaRPr sz="1050">
              <a:solidFill>
                <a:schemeClr val="dk1"/>
              </a:solidFill>
              <a:latin typeface="29LT Adir" panose="00000506000000000000" pitchFamily="50" charset="-78"/>
              <a:ea typeface="Courier New"/>
              <a:cs typeface="29LT Adir" panose="00000506000000000000" pitchFamily="50" charset="-78"/>
              <a:sym typeface="Courier New"/>
            </a:endParaRPr>
          </a:p>
        </p:txBody>
      </p:sp>
      <p:sp>
        <p:nvSpPr>
          <p:cNvPr id="594" name="Google Shape;594;p16"/>
          <p:cNvSpPr/>
          <p:nvPr/>
        </p:nvSpPr>
        <p:spPr>
          <a:xfrm>
            <a:off x="5002682" y="5138928"/>
            <a:ext cx="2588666" cy="402336"/>
          </a:xfrm>
          <a:prstGeom prst="rect">
            <a:avLst/>
          </a:prstGeom>
          <a:noFill/>
          <a:ln>
            <a:noFill/>
          </a:ln>
        </p:spPr>
        <p:txBody>
          <a:bodyPr spcFirstLastPara="1" wrap="square" lIns="0" tIns="0" rIns="0" bIns="0" anchor="ctr" anchorCtr="0">
            <a:noAutofit/>
          </a:bodyPr>
          <a:lstStyle/>
          <a:p>
            <a:pPr marL="0" marR="0" lvl="0" indent="0" algn="l" rtl="0">
              <a:lnSpc>
                <a:spcPct val="95000"/>
              </a:lnSpc>
              <a:spcBef>
                <a:spcPts val="0"/>
              </a:spcBef>
              <a:spcAft>
                <a:spcPts val="0"/>
              </a:spcAft>
              <a:buClr>
                <a:srgbClr val="13234C"/>
              </a:buClr>
              <a:buSzPts val="1400"/>
              <a:buFont typeface="Arial"/>
              <a:buNone/>
            </a:pPr>
            <a:r>
              <a:rPr lang="en-US" sz="1400" b="1">
                <a:solidFill>
                  <a:srgbClr val="13234C"/>
                </a:solidFill>
                <a:latin typeface="29LT Adir" panose="00000506000000000000" pitchFamily="50" charset="-78"/>
                <a:cs typeface="29LT Adir" panose="00000506000000000000" pitchFamily="50" charset="-78"/>
                <a:sym typeface="Arial"/>
              </a:rPr>
              <a:t>ESA / JAXA accommodation discussion</a:t>
            </a:r>
            <a:endParaRPr sz="1400">
              <a:solidFill>
                <a:schemeClr val="dk1"/>
              </a:solidFill>
              <a:latin typeface="29LT Adir" panose="00000506000000000000" pitchFamily="50" charset="-78"/>
              <a:cs typeface="29LT Adir" panose="00000506000000000000" pitchFamily="50" charset="-78"/>
              <a:sym typeface="Arial"/>
            </a:endParaRPr>
          </a:p>
        </p:txBody>
      </p:sp>
      <p:sp>
        <p:nvSpPr>
          <p:cNvPr id="595" name="Google Shape;595;p16"/>
          <p:cNvSpPr/>
          <p:nvPr/>
        </p:nvSpPr>
        <p:spPr>
          <a:xfrm>
            <a:off x="4600346" y="5554782"/>
            <a:ext cx="2991002" cy="36576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4C5468"/>
              </a:buClr>
              <a:buSzPts val="1200"/>
              <a:buFont typeface="Arial"/>
              <a:buNone/>
            </a:pPr>
            <a:r>
              <a:rPr lang="en-US" sz="1200">
                <a:solidFill>
                  <a:srgbClr val="4C5468"/>
                </a:solidFill>
                <a:latin typeface="29LT Adir" panose="00000506000000000000" pitchFamily="50" charset="-78"/>
                <a:cs typeface="29LT Adir" panose="00000506000000000000" pitchFamily="50" charset="-78"/>
                <a:sym typeface="Arial"/>
              </a:rPr>
              <a:t>Confirm the route and the mission-of-opportunity mechanism.</a:t>
            </a:r>
            <a:endParaRPr sz="1200">
              <a:solidFill>
                <a:schemeClr val="dk1"/>
              </a:solidFill>
              <a:latin typeface="29LT Adir" panose="00000506000000000000" pitchFamily="50" charset="-78"/>
              <a:cs typeface="29LT Adir" panose="00000506000000000000" pitchFamily="50" charset="-78"/>
              <a:sym typeface="Arial"/>
            </a:endParaRPr>
          </a:p>
        </p:txBody>
      </p:sp>
      <p:sp>
        <p:nvSpPr>
          <p:cNvPr id="596" name="Google Shape;596;p16"/>
          <p:cNvSpPr/>
          <p:nvPr/>
        </p:nvSpPr>
        <p:spPr>
          <a:xfrm>
            <a:off x="8066837" y="4974336"/>
            <a:ext cx="3466490" cy="1060704"/>
          </a:xfrm>
          <a:prstGeom prst="roundRect">
            <a:avLst>
              <a:gd name="adj" fmla="val 7759"/>
            </a:avLst>
          </a:prstGeom>
          <a:solidFill>
            <a:srgbClr val="FFFFFF"/>
          </a:solidFill>
          <a:ln w="9525" cap="flat" cmpd="sng">
            <a:solidFill>
              <a:srgbClr val="C4CFE0"/>
            </a:solidFill>
            <a:prstDash val="solid"/>
            <a:round/>
            <a:headEnd type="none" w="sm" len="sm"/>
            <a:tailEnd type="none" w="sm" len="sm"/>
          </a:ln>
          <a:effectLst>
            <a:outerShdw blurRad="127000" dist="25400" dir="5400000" algn="bl" rotWithShape="0">
              <a:srgbClr val="0B1226">
                <a:alpha val="1019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29LT Adir" panose="00000506000000000000" pitchFamily="50" charset="-78"/>
              <a:cs typeface="29LT Adir" panose="00000506000000000000" pitchFamily="50" charset="-78"/>
              <a:sym typeface="Arial"/>
            </a:endParaRPr>
          </a:p>
        </p:txBody>
      </p:sp>
      <p:sp>
        <p:nvSpPr>
          <p:cNvPr id="597" name="Google Shape;597;p16"/>
          <p:cNvSpPr/>
          <p:nvPr/>
        </p:nvSpPr>
        <p:spPr>
          <a:xfrm>
            <a:off x="8304581" y="5175504"/>
            <a:ext cx="310896" cy="310896"/>
          </a:xfrm>
          <a:prstGeom prst="ellipse">
            <a:avLst/>
          </a:prstGeom>
          <a:solidFill>
            <a:srgbClr val="13234C"/>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29LT Adir" panose="00000506000000000000" pitchFamily="50" charset="-78"/>
              <a:cs typeface="29LT Adir" panose="00000506000000000000" pitchFamily="50" charset="-78"/>
              <a:sym typeface="Arial"/>
            </a:endParaRPr>
          </a:p>
        </p:txBody>
      </p:sp>
      <p:sp>
        <p:nvSpPr>
          <p:cNvPr id="598" name="Google Shape;598;p16"/>
          <p:cNvSpPr/>
          <p:nvPr/>
        </p:nvSpPr>
        <p:spPr>
          <a:xfrm>
            <a:off x="8304581" y="5175504"/>
            <a:ext cx="310896" cy="310896"/>
          </a:xfrm>
          <a:prstGeom prst="rect">
            <a:avLst/>
          </a:prstGeom>
          <a:noFill/>
          <a:ln>
            <a:noFill/>
          </a:ln>
        </p:spPr>
        <p:txBody>
          <a:bodyPr spcFirstLastPara="1" wrap="square" lIns="0" tIns="0" rIns="0" bIns="0" anchor="ctr" anchorCtr="0">
            <a:noAutofit/>
          </a:bodyPr>
          <a:lstStyle/>
          <a:p>
            <a:pPr marL="0" marR="0" lvl="0" indent="0" algn="ctr" rtl="0">
              <a:spcBef>
                <a:spcPts val="0"/>
              </a:spcBef>
              <a:spcAft>
                <a:spcPts val="0"/>
              </a:spcAft>
              <a:buClr>
                <a:srgbClr val="FFFFFF"/>
              </a:buClr>
              <a:buSzPts val="1050"/>
              <a:buFont typeface="Courier New"/>
              <a:buNone/>
            </a:pPr>
            <a:r>
              <a:rPr lang="en-US" sz="1050" b="1">
                <a:solidFill>
                  <a:srgbClr val="FFFFFF"/>
                </a:solidFill>
                <a:latin typeface="29LT Adir" panose="00000506000000000000" pitchFamily="50" charset="-78"/>
                <a:ea typeface="Courier New"/>
                <a:cs typeface="29LT Adir" panose="00000506000000000000" pitchFamily="50" charset="-78"/>
                <a:sym typeface="Courier New"/>
              </a:rPr>
              <a:t>03</a:t>
            </a:r>
            <a:endParaRPr sz="1050">
              <a:solidFill>
                <a:schemeClr val="dk1"/>
              </a:solidFill>
              <a:latin typeface="29LT Adir" panose="00000506000000000000" pitchFamily="50" charset="-78"/>
              <a:ea typeface="Courier New"/>
              <a:cs typeface="29LT Adir" panose="00000506000000000000" pitchFamily="50" charset="-78"/>
              <a:sym typeface="Courier New"/>
            </a:endParaRPr>
          </a:p>
        </p:txBody>
      </p:sp>
      <p:sp>
        <p:nvSpPr>
          <p:cNvPr id="599" name="Google Shape;599;p16"/>
          <p:cNvSpPr/>
          <p:nvPr/>
        </p:nvSpPr>
        <p:spPr>
          <a:xfrm>
            <a:off x="8706917" y="5138928"/>
            <a:ext cx="2588666" cy="402336"/>
          </a:xfrm>
          <a:prstGeom prst="rect">
            <a:avLst/>
          </a:prstGeom>
          <a:noFill/>
          <a:ln>
            <a:noFill/>
          </a:ln>
        </p:spPr>
        <p:txBody>
          <a:bodyPr spcFirstLastPara="1" wrap="square" lIns="0" tIns="0" rIns="0" bIns="0" anchor="ctr" anchorCtr="0">
            <a:noAutofit/>
          </a:bodyPr>
          <a:lstStyle/>
          <a:p>
            <a:pPr marL="0" marR="0" lvl="0" indent="0" algn="l" rtl="0">
              <a:lnSpc>
                <a:spcPct val="95000"/>
              </a:lnSpc>
              <a:spcBef>
                <a:spcPts val="0"/>
              </a:spcBef>
              <a:spcAft>
                <a:spcPts val="0"/>
              </a:spcAft>
              <a:buClr>
                <a:srgbClr val="13234C"/>
              </a:buClr>
              <a:buSzPts val="1400"/>
              <a:buFont typeface="Arial"/>
              <a:buNone/>
            </a:pPr>
            <a:r>
              <a:rPr lang="en-US" sz="1400" b="1">
                <a:solidFill>
                  <a:srgbClr val="13234C"/>
                </a:solidFill>
                <a:latin typeface="29LT Adir" panose="00000506000000000000" pitchFamily="50" charset="-78"/>
                <a:cs typeface="29LT Adir" panose="00000506000000000000" pitchFamily="50" charset="-78"/>
                <a:sym typeface="Arial"/>
              </a:rPr>
              <a:t>APL / LLNL technical engagement</a:t>
            </a:r>
            <a:endParaRPr sz="1400">
              <a:solidFill>
                <a:schemeClr val="dk1"/>
              </a:solidFill>
              <a:latin typeface="29LT Adir" panose="00000506000000000000" pitchFamily="50" charset="-78"/>
              <a:cs typeface="29LT Adir" panose="00000506000000000000" pitchFamily="50" charset="-78"/>
              <a:sym typeface="Arial"/>
            </a:endParaRPr>
          </a:p>
        </p:txBody>
      </p:sp>
      <p:sp>
        <p:nvSpPr>
          <p:cNvPr id="600" name="Google Shape;600;p16"/>
          <p:cNvSpPr/>
          <p:nvPr/>
        </p:nvSpPr>
        <p:spPr>
          <a:xfrm>
            <a:off x="8304581" y="5554782"/>
            <a:ext cx="2991002" cy="365760"/>
          </a:xfrm>
          <a:prstGeom prst="rect">
            <a:avLst/>
          </a:prstGeom>
          <a:noFill/>
          <a:ln>
            <a:noFill/>
          </a:ln>
        </p:spPr>
        <p:txBody>
          <a:bodyPr spcFirstLastPara="1" wrap="square" lIns="0" tIns="0" rIns="0" bIns="0" anchor="t" anchorCtr="0">
            <a:noAutofit/>
          </a:bodyPr>
          <a:lstStyle/>
          <a:p>
            <a:pPr marL="0" marR="0" lvl="0" indent="0" algn="l" rtl="0">
              <a:lnSpc>
                <a:spcPct val="110000"/>
              </a:lnSpc>
              <a:spcBef>
                <a:spcPts val="0"/>
              </a:spcBef>
              <a:spcAft>
                <a:spcPts val="0"/>
              </a:spcAft>
              <a:buClr>
                <a:srgbClr val="4C5468"/>
              </a:buClr>
              <a:buSzPts val="1200"/>
              <a:buFont typeface="Arial"/>
              <a:buNone/>
            </a:pPr>
            <a:r>
              <a:rPr lang="en-US" sz="1200">
                <a:solidFill>
                  <a:srgbClr val="4C5468"/>
                </a:solidFill>
                <a:latin typeface="29LT Adir" panose="00000506000000000000" pitchFamily="50" charset="-78"/>
                <a:cs typeface="29LT Adir" panose="00000506000000000000" pitchFamily="50" charset="-78"/>
                <a:sym typeface="Arial"/>
              </a:rPr>
              <a:t>Open the first technical exchange.</a:t>
            </a:r>
            <a:endParaRPr sz="1200">
              <a:solidFill>
                <a:schemeClr val="dk1"/>
              </a:solidFill>
              <a:latin typeface="29LT Adir" panose="00000506000000000000" pitchFamily="50" charset="-78"/>
              <a:cs typeface="29LT Adir" panose="00000506000000000000" pitchFamily="50" charset="-78"/>
              <a:sym typeface="Arial"/>
            </a:endParaRPr>
          </a:p>
        </p:txBody>
      </p:sp>
      <p:sp>
        <p:nvSpPr>
          <p:cNvPr id="601" name="Google Shape;601;p16"/>
          <p:cNvSpPr/>
          <p:nvPr/>
        </p:nvSpPr>
        <p:spPr>
          <a:xfrm>
            <a:off x="4846320" y="6272784"/>
            <a:ext cx="6035040" cy="256032"/>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79839A"/>
              </a:buClr>
              <a:buSzPts val="900"/>
              <a:buFont typeface="Arial"/>
              <a:buNone/>
            </a:pPr>
            <a:r>
              <a:rPr lang="en-US" sz="900" i="1">
                <a:solidFill>
                  <a:srgbClr val="79839A"/>
                </a:solidFill>
                <a:latin typeface="Arial"/>
                <a:ea typeface="Arial"/>
                <a:cs typeface="Arial"/>
                <a:sym typeface="Arial"/>
              </a:rPr>
              <a:t>Accommodation detail, open technical items and export-control considerations in appendix.</a:t>
            </a:r>
            <a:endParaRPr sz="900">
              <a:solidFill>
                <a:schemeClr val="dk1"/>
              </a:solidFill>
              <a:latin typeface="Calibri"/>
              <a:ea typeface="Calibri"/>
              <a:cs typeface="Calibri"/>
              <a:sym typeface="Calibri"/>
            </a:endParaRPr>
          </a:p>
        </p:txBody>
      </p:sp>
      <p:sp>
        <p:nvSpPr>
          <p:cNvPr id="602" name="Google Shape;602;p16"/>
          <p:cNvSpPr/>
          <p:nvPr/>
        </p:nvSpPr>
        <p:spPr>
          <a:xfrm>
            <a:off x="10881360" y="6272784"/>
            <a:ext cx="694944" cy="274320"/>
          </a:xfrm>
          <a:prstGeom prst="rect">
            <a:avLst/>
          </a:prstGeom>
          <a:noFill/>
          <a:ln>
            <a:noFill/>
          </a:ln>
        </p:spPr>
        <p:txBody>
          <a:bodyPr spcFirstLastPara="1" wrap="square" lIns="0" tIns="0" rIns="0" bIns="0" anchor="ctr" anchorCtr="0">
            <a:noAutofit/>
          </a:bodyPr>
          <a:lstStyle/>
          <a:p>
            <a:pPr marL="0" marR="0" lvl="0" indent="0" algn="r" rtl="0">
              <a:spcBef>
                <a:spcPts val="0"/>
              </a:spcBef>
              <a:spcAft>
                <a:spcPts val="0"/>
              </a:spcAft>
              <a:buClr>
                <a:srgbClr val="79839A"/>
              </a:buClr>
              <a:buSzPts val="1000"/>
              <a:buFont typeface="Arial"/>
              <a:buNone/>
            </a:pPr>
            <a:r>
              <a:rPr lang="en-US" sz="1000">
                <a:solidFill>
                  <a:srgbClr val="79839A"/>
                </a:solidFill>
                <a:latin typeface="Arial"/>
                <a:ea typeface="Arial"/>
                <a:cs typeface="Arial"/>
                <a:sym typeface="Arial"/>
              </a:rPr>
              <a:t>13</a:t>
            </a:r>
            <a:endParaRPr sz="1000">
              <a:solidFill>
                <a:schemeClr val="dk1"/>
              </a:solidFill>
              <a:latin typeface="Calibri"/>
              <a:ea typeface="Calibri"/>
              <a:cs typeface="Calibri"/>
              <a:sym typeface="Calibri"/>
            </a:endParaRPr>
          </a:p>
        </p:txBody>
      </p:sp>
      <p:pic>
        <p:nvPicPr>
          <p:cNvPr id="603" name="Google Shape;603;p16" descr="/home/claude/work/a2/logo_dark.png"/>
          <p:cNvPicPr preferRelativeResize="0"/>
          <p:nvPr/>
        </p:nvPicPr>
        <p:blipFill rotWithShape="1">
          <a:blip r:embed="rId5">
            <a:alphaModFix/>
          </a:blip>
          <a:srcRect/>
          <a:stretch/>
        </p:blipFill>
        <p:spPr>
          <a:xfrm>
            <a:off x="10616340" y="122984"/>
            <a:ext cx="1450538" cy="814736"/>
          </a:xfrm>
          <a:prstGeom prst="rect">
            <a:avLst/>
          </a:prstGeom>
          <a:noFill/>
          <a:ln>
            <a:noFill/>
          </a:ln>
        </p:spPr>
      </p:pic>
      <p:sp>
        <p:nvSpPr>
          <p:cNvPr id="604" name="Google Shape;604;p16"/>
          <p:cNvSpPr/>
          <p:nvPr/>
        </p:nvSpPr>
        <p:spPr>
          <a:xfrm>
            <a:off x="7254453" y="2643469"/>
            <a:ext cx="384048" cy="237744"/>
          </a:xfrm>
          <a:prstGeom prst="rightArrow">
            <a:avLst>
              <a:gd name="adj1" fmla="val 50000"/>
              <a:gd name="adj2" fmla="val 50000"/>
            </a:avLst>
          </a:prstGeom>
          <a:solidFill>
            <a:srgbClr val="6DD9FF"/>
          </a:solidFill>
          <a:ln w="9525" cap="flat" cmpd="sng">
            <a:solidFill>
              <a:srgbClr val="00B0F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605" name="Google Shape;605;p16"/>
          <p:cNvSpPr txBox="1"/>
          <p:nvPr/>
        </p:nvSpPr>
        <p:spPr>
          <a:xfrm>
            <a:off x="5626159" y="6581001"/>
            <a:ext cx="939681"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a:solidFill>
                  <a:srgbClr val="000000"/>
                </a:solidFill>
                <a:latin typeface="Calibri"/>
                <a:ea typeface="Calibri"/>
                <a:cs typeface="Calibri"/>
                <a:sym typeface="Calibri"/>
              </a:rPr>
              <a:t>   </a:t>
            </a:r>
            <a:r>
              <a:rPr lang="en-US" sz="1200">
                <a:solidFill>
                  <a:srgbClr val="339966"/>
                </a:solidFill>
                <a:latin typeface="Calibri"/>
                <a:ea typeface="Calibri"/>
                <a:cs typeface="Calibri"/>
                <a:sym typeface="Calibri"/>
              </a:rPr>
              <a:t>Public</a:t>
            </a:r>
            <a:r>
              <a:rPr lang="en-US" sz="1200">
                <a:solidFill>
                  <a:srgbClr val="000000"/>
                </a:solidFill>
                <a:latin typeface="Calibri"/>
                <a:ea typeface="Calibri"/>
                <a:cs typeface="Calibri"/>
                <a:sym typeface="Calibri"/>
              </a:rPr>
              <a:t>   </a:t>
            </a:r>
            <a:r>
              <a:rPr lang="en-US" sz="1200">
                <a:solidFill>
                  <a:srgbClr val="339966"/>
                </a:solidFill>
                <a:latin typeface="Calibri"/>
                <a:ea typeface="Calibri"/>
                <a:cs typeface="Calibri"/>
                <a:sym typeface="Calibri"/>
              </a:rPr>
              <a:t>عام</a:t>
            </a:r>
            <a:endParaRPr sz="1200">
              <a:solidFill>
                <a:srgbClr val="339966"/>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Shape 610"/>
        <p:cNvGrpSpPr/>
        <p:nvPr/>
      </p:nvGrpSpPr>
      <p:grpSpPr>
        <a:xfrm>
          <a:off x="0" y="0"/>
          <a:ext cx="0" cy="0"/>
          <a:chOff x="0" y="0"/>
          <a:chExt cx="0" cy="0"/>
        </a:xfrm>
      </p:grpSpPr>
      <p:pic>
        <p:nvPicPr>
          <p:cNvPr id="611" name="Google Shape;611;p17" descr="/home/claude/work/a2/glow_deep.jpg"/>
          <p:cNvPicPr preferRelativeResize="0"/>
          <p:nvPr/>
        </p:nvPicPr>
        <p:blipFill rotWithShape="1">
          <a:blip r:embed="rId3">
            <a:alphaModFix/>
          </a:blip>
          <a:srcRect/>
          <a:stretch/>
        </p:blipFill>
        <p:spPr>
          <a:xfrm>
            <a:off x="0" y="0"/>
            <a:ext cx="12191695" cy="6858000"/>
          </a:xfrm>
          <a:prstGeom prst="rect">
            <a:avLst/>
          </a:prstGeom>
          <a:noFill/>
          <a:ln>
            <a:noFill/>
          </a:ln>
        </p:spPr>
      </p:pic>
      <p:pic>
        <p:nvPicPr>
          <p:cNvPr id="612" name="Google Shape;612;p17" descr="/home/claude/work/a2/earth_left.png"/>
          <p:cNvPicPr preferRelativeResize="0"/>
          <p:nvPr/>
        </p:nvPicPr>
        <p:blipFill rotWithShape="1">
          <a:blip r:embed="rId4">
            <a:alphaModFix/>
          </a:blip>
          <a:srcRect/>
          <a:stretch/>
        </p:blipFill>
        <p:spPr>
          <a:xfrm>
            <a:off x="5982511" y="68997"/>
            <a:ext cx="6172608" cy="5641722"/>
          </a:xfrm>
          <a:prstGeom prst="rect">
            <a:avLst/>
          </a:prstGeom>
          <a:noFill/>
          <a:ln>
            <a:noFill/>
          </a:ln>
        </p:spPr>
      </p:pic>
      <p:pic>
        <p:nvPicPr>
          <p:cNvPr id="613" name="Google Shape;613;p17" descr="/home/claude/work/a2/logo_white.png"/>
          <p:cNvPicPr preferRelativeResize="0"/>
          <p:nvPr/>
        </p:nvPicPr>
        <p:blipFill rotWithShape="1">
          <a:blip r:embed="rId5">
            <a:alphaModFix/>
          </a:blip>
          <a:srcRect/>
          <a:stretch/>
        </p:blipFill>
        <p:spPr>
          <a:xfrm>
            <a:off x="10788577" y="329184"/>
            <a:ext cx="1133856" cy="478231"/>
          </a:xfrm>
          <a:prstGeom prst="rect">
            <a:avLst/>
          </a:prstGeom>
          <a:noFill/>
          <a:ln>
            <a:noFill/>
          </a:ln>
        </p:spPr>
      </p:pic>
      <p:sp>
        <p:nvSpPr>
          <p:cNvPr id="614" name="Google Shape;614;p17"/>
          <p:cNvSpPr/>
          <p:nvPr/>
        </p:nvSpPr>
        <p:spPr>
          <a:xfrm>
            <a:off x="658368" y="6272784"/>
            <a:ext cx="8595360" cy="27432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54607C"/>
              </a:buClr>
              <a:buSzPts val="800"/>
              <a:buFont typeface="Courier New"/>
              <a:buNone/>
            </a:pPr>
            <a:r>
              <a:rPr lang="en-US" sz="800">
                <a:solidFill>
                  <a:srgbClr val="54607C"/>
                </a:solidFill>
                <a:latin typeface="Courier New"/>
                <a:ea typeface="Courier New"/>
                <a:cs typeface="Courier New"/>
                <a:sym typeface="Courier New"/>
              </a:rPr>
              <a:t>BASELINE</a:t>
            </a:r>
            <a:r>
              <a:rPr lang="en-US" sz="800">
                <a:solidFill>
                  <a:srgbClr val="000000"/>
                </a:solidFill>
                <a:latin typeface="Courier New"/>
                <a:ea typeface="Courier New"/>
                <a:cs typeface="Courier New"/>
                <a:sym typeface="Courier New"/>
              </a:rPr>
              <a:t>     </a:t>
            </a:r>
            <a:r>
              <a:rPr lang="en-US" sz="800">
                <a:solidFill>
                  <a:srgbClr val="54607C"/>
                </a:solidFill>
                <a:latin typeface="Courier New"/>
                <a:ea typeface="Courier New"/>
                <a:cs typeface="Courier New"/>
                <a:sym typeface="Courier New"/>
              </a:rPr>
              <a:t>KNOWLEDGE GAPS</a:t>
            </a:r>
            <a:r>
              <a:rPr lang="en-US" sz="800">
                <a:solidFill>
                  <a:srgbClr val="000000"/>
                </a:solidFill>
                <a:latin typeface="Courier New"/>
                <a:ea typeface="Courier New"/>
                <a:cs typeface="Courier New"/>
                <a:sym typeface="Courier New"/>
              </a:rPr>
              <a:t>     </a:t>
            </a:r>
            <a:r>
              <a:rPr lang="en-US" sz="800">
                <a:solidFill>
                  <a:srgbClr val="54607C"/>
                </a:solidFill>
                <a:latin typeface="Courier New"/>
                <a:ea typeface="Courier New"/>
                <a:cs typeface="Courier New"/>
                <a:sym typeface="Courier New"/>
              </a:rPr>
              <a:t>SELECTION</a:t>
            </a:r>
            <a:r>
              <a:rPr lang="en-US" sz="800">
                <a:solidFill>
                  <a:srgbClr val="000000"/>
                </a:solidFill>
                <a:latin typeface="Courier New"/>
                <a:ea typeface="Courier New"/>
                <a:cs typeface="Courier New"/>
                <a:sym typeface="Courier New"/>
              </a:rPr>
              <a:t>     </a:t>
            </a:r>
            <a:r>
              <a:rPr lang="en-US" sz="800">
                <a:solidFill>
                  <a:srgbClr val="54607C"/>
                </a:solidFill>
                <a:latin typeface="Courier New"/>
                <a:ea typeface="Courier New"/>
                <a:cs typeface="Courier New"/>
                <a:sym typeface="Courier New"/>
              </a:rPr>
              <a:t>RECOMMENDATION</a:t>
            </a:r>
            <a:r>
              <a:rPr lang="en-US" sz="800">
                <a:solidFill>
                  <a:srgbClr val="000000"/>
                </a:solidFill>
                <a:latin typeface="Courier New"/>
                <a:ea typeface="Courier New"/>
                <a:cs typeface="Courier New"/>
                <a:sym typeface="Courier New"/>
              </a:rPr>
              <a:t>     </a:t>
            </a:r>
            <a:r>
              <a:rPr lang="en-US" sz="800" b="1">
                <a:solidFill>
                  <a:srgbClr val="E8A33D"/>
                </a:solidFill>
                <a:latin typeface="Courier New"/>
                <a:ea typeface="Courier New"/>
                <a:cs typeface="Courier New"/>
                <a:sym typeface="Courier New"/>
              </a:rPr>
              <a:t>VALUE</a:t>
            </a:r>
            <a:endParaRPr sz="800">
              <a:solidFill>
                <a:schemeClr val="dk1"/>
              </a:solidFill>
              <a:latin typeface="Courier New"/>
              <a:ea typeface="Courier New"/>
              <a:cs typeface="Courier New"/>
              <a:sym typeface="Courier New"/>
            </a:endParaRPr>
          </a:p>
        </p:txBody>
      </p:sp>
      <p:sp>
        <p:nvSpPr>
          <p:cNvPr id="615" name="Google Shape;615;p17"/>
          <p:cNvSpPr/>
          <p:nvPr/>
        </p:nvSpPr>
        <p:spPr>
          <a:xfrm>
            <a:off x="658368" y="1298448"/>
            <a:ext cx="6766560" cy="914400"/>
          </a:xfrm>
          <a:prstGeom prst="rect">
            <a:avLst/>
          </a:prstGeom>
          <a:noFill/>
          <a:ln>
            <a:noFill/>
          </a:ln>
        </p:spPr>
        <p:txBody>
          <a:bodyPr spcFirstLastPara="1" wrap="square" lIns="0" tIns="0" rIns="0" bIns="0" anchor="ctr" anchorCtr="0">
            <a:noAutofit/>
          </a:bodyPr>
          <a:lstStyle/>
          <a:p>
            <a:pPr marL="0" marR="0" lvl="0" indent="0" algn="l" rtl="0">
              <a:lnSpc>
                <a:spcPct val="95000"/>
              </a:lnSpc>
              <a:spcBef>
                <a:spcPts val="0"/>
              </a:spcBef>
              <a:spcAft>
                <a:spcPts val="0"/>
              </a:spcAft>
              <a:buClr>
                <a:srgbClr val="FFFFFF"/>
              </a:buClr>
              <a:buSzPts val="3600"/>
              <a:buFont typeface="Arial"/>
              <a:buNone/>
            </a:pPr>
            <a:r>
              <a:rPr lang="en-US" sz="3600" b="1">
                <a:solidFill>
                  <a:srgbClr val="FFFFFF"/>
                </a:solidFill>
                <a:latin typeface="29LT Adir" panose="00000506000000000000" pitchFamily="50" charset="-78"/>
                <a:cs typeface="29LT Adir" panose="00000506000000000000" pitchFamily="50" charset="-78"/>
                <a:sym typeface="Arial"/>
              </a:rPr>
              <a:t>Why This Matters to SSA</a:t>
            </a:r>
            <a:endParaRPr sz="360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616" name="Google Shape;616;p17"/>
          <p:cNvSpPr/>
          <p:nvPr/>
        </p:nvSpPr>
        <p:spPr>
          <a:xfrm>
            <a:off x="658368" y="2395728"/>
            <a:ext cx="1737360" cy="9144"/>
          </a:xfrm>
          <a:prstGeom prst="rect">
            <a:avLst/>
          </a:prstGeom>
          <a:solidFill>
            <a:srgbClr val="4A587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617" name="Google Shape;617;p17"/>
          <p:cNvSpPr/>
          <p:nvPr/>
        </p:nvSpPr>
        <p:spPr>
          <a:xfrm>
            <a:off x="658368" y="2688336"/>
            <a:ext cx="5029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B0F0"/>
              </a:buClr>
              <a:buSzPts val="1200"/>
              <a:buFont typeface="Courier New"/>
              <a:buNone/>
            </a:pPr>
            <a:r>
              <a:rPr lang="en-US" sz="1600" b="1">
                <a:solidFill>
                  <a:srgbClr val="00B0F0"/>
                </a:solidFill>
                <a:latin typeface="Courier New"/>
                <a:ea typeface="Courier New"/>
                <a:cs typeface="Courier New"/>
                <a:sym typeface="Courier New"/>
              </a:rPr>
              <a:t>01</a:t>
            </a:r>
            <a:endParaRPr sz="1600">
              <a:solidFill>
                <a:srgbClr val="00B0F0"/>
              </a:solidFill>
              <a:latin typeface="Courier New"/>
              <a:ea typeface="Courier New"/>
              <a:cs typeface="Courier New"/>
              <a:sym typeface="Courier New"/>
            </a:endParaRPr>
          </a:p>
        </p:txBody>
      </p:sp>
      <p:sp>
        <p:nvSpPr>
          <p:cNvPr id="618" name="Google Shape;618;p17"/>
          <p:cNvSpPr/>
          <p:nvPr/>
        </p:nvSpPr>
        <p:spPr>
          <a:xfrm>
            <a:off x="1207008" y="2651760"/>
            <a:ext cx="51206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800"/>
              <a:buFont typeface="Courier New"/>
              <a:buNone/>
            </a:pPr>
            <a:r>
              <a:rPr lang="en-US" sz="1800" b="1">
                <a:solidFill>
                  <a:srgbClr val="FFFFFF"/>
                </a:solidFill>
                <a:latin typeface="Courier New"/>
                <a:ea typeface="Courier New"/>
                <a:cs typeface="Courier New"/>
                <a:sym typeface="Courier New"/>
              </a:rPr>
              <a:t>Scientific</a:t>
            </a:r>
            <a:endParaRPr sz="1800">
              <a:solidFill>
                <a:schemeClr val="dk1"/>
              </a:solidFill>
              <a:latin typeface="Courier New"/>
              <a:ea typeface="Courier New"/>
              <a:cs typeface="Courier New"/>
              <a:sym typeface="Courier New"/>
            </a:endParaRPr>
          </a:p>
        </p:txBody>
      </p:sp>
      <p:sp>
        <p:nvSpPr>
          <p:cNvPr id="619" name="Google Shape;619;p17"/>
          <p:cNvSpPr/>
          <p:nvPr/>
        </p:nvSpPr>
        <p:spPr>
          <a:xfrm>
            <a:off x="1207008" y="2980944"/>
            <a:ext cx="539496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BA7C0"/>
              </a:buClr>
              <a:buSzPts val="1400"/>
              <a:buFont typeface="Arial"/>
              <a:buNone/>
            </a:pPr>
            <a:r>
              <a:rPr lang="en-US" sz="1400" dirty="0">
                <a:solidFill>
                  <a:srgbClr val="9BA7C0"/>
                </a:solidFill>
                <a:latin typeface="29LT Adir" panose="00000506000000000000" pitchFamily="50" charset="-78"/>
                <a:cs typeface="29LT Adir" panose="00000506000000000000" pitchFamily="50" charset="-78"/>
                <a:sym typeface="Arial"/>
              </a:rPr>
              <a:t>Adds a dataset RAMSES cannot generate independently.</a:t>
            </a:r>
            <a:endParaRPr sz="1400" dirty="0">
              <a:solidFill>
                <a:schemeClr val="dk1"/>
              </a:solidFill>
              <a:latin typeface="29LT Adir" panose="00000506000000000000" pitchFamily="50" charset="-78"/>
              <a:cs typeface="29LT Adir" panose="00000506000000000000" pitchFamily="50" charset="-78"/>
              <a:sym typeface="Arial"/>
            </a:endParaRPr>
          </a:p>
        </p:txBody>
      </p:sp>
      <p:sp>
        <p:nvSpPr>
          <p:cNvPr id="620" name="Google Shape;620;p17"/>
          <p:cNvSpPr/>
          <p:nvPr/>
        </p:nvSpPr>
        <p:spPr>
          <a:xfrm>
            <a:off x="658368" y="3401568"/>
            <a:ext cx="5943600" cy="9144"/>
          </a:xfrm>
          <a:prstGeom prst="rect">
            <a:avLst/>
          </a:prstGeom>
          <a:solidFill>
            <a:srgbClr val="212C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621" name="Google Shape;621;p17"/>
          <p:cNvSpPr/>
          <p:nvPr/>
        </p:nvSpPr>
        <p:spPr>
          <a:xfrm>
            <a:off x="658368" y="3547872"/>
            <a:ext cx="5029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B0F0"/>
              </a:buClr>
              <a:buSzPts val="1200"/>
              <a:buFont typeface="Courier New"/>
              <a:buNone/>
            </a:pPr>
            <a:r>
              <a:rPr lang="en-US" sz="1600" b="1">
                <a:solidFill>
                  <a:srgbClr val="00B0F0"/>
                </a:solidFill>
                <a:latin typeface="Courier New"/>
                <a:ea typeface="Courier New"/>
                <a:cs typeface="Courier New"/>
                <a:sym typeface="Courier New"/>
              </a:rPr>
              <a:t>02</a:t>
            </a:r>
            <a:endParaRPr sz="1600">
              <a:solidFill>
                <a:srgbClr val="00B0F0"/>
              </a:solidFill>
              <a:latin typeface="Courier New"/>
              <a:ea typeface="Courier New"/>
              <a:cs typeface="Courier New"/>
              <a:sym typeface="Courier New"/>
            </a:endParaRPr>
          </a:p>
        </p:txBody>
      </p:sp>
      <p:sp>
        <p:nvSpPr>
          <p:cNvPr id="622" name="Google Shape;622;p17"/>
          <p:cNvSpPr/>
          <p:nvPr/>
        </p:nvSpPr>
        <p:spPr>
          <a:xfrm>
            <a:off x="1207008" y="3511296"/>
            <a:ext cx="51206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800"/>
              <a:buFont typeface="Courier New"/>
              <a:buNone/>
            </a:pPr>
            <a:r>
              <a:rPr lang="en-US" sz="1800" b="1">
                <a:solidFill>
                  <a:srgbClr val="FFFFFF"/>
                </a:solidFill>
                <a:latin typeface="Courier New"/>
                <a:ea typeface="Courier New"/>
                <a:cs typeface="Courier New"/>
                <a:sym typeface="Courier New"/>
              </a:rPr>
              <a:t>Strategic</a:t>
            </a:r>
            <a:endParaRPr sz="1800">
              <a:solidFill>
                <a:schemeClr val="dk1"/>
              </a:solidFill>
              <a:latin typeface="Courier New"/>
              <a:ea typeface="Courier New"/>
              <a:cs typeface="Courier New"/>
              <a:sym typeface="Courier New"/>
            </a:endParaRPr>
          </a:p>
        </p:txBody>
      </p:sp>
      <p:sp>
        <p:nvSpPr>
          <p:cNvPr id="623" name="Google Shape;623;p17"/>
          <p:cNvSpPr/>
          <p:nvPr/>
        </p:nvSpPr>
        <p:spPr>
          <a:xfrm>
            <a:off x="1207008" y="3840480"/>
            <a:ext cx="539496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BA7C0"/>
              </a:buClr>
              <a:buSzPts val="1400"/>
              <a:buFont typeface="Arial"/>
              <a:buNone/>
            </a:pPr>
            <a:r>
              <a:rPr lang="en-US" sz="1400">
                <a:solidFill>
                  <a:srgbClr val="9BA7C0"/>
                </a:solidFill>
                <a:latin typeface="29LT Adir" panose="00000506000000000000" pitchFamily="50" charset="-78"/>
                <a:cs typeface="29LT Adir" panose="00000506000000000000" pitchFamily="50" charset="-78"/>
                <a:sym typeface="Arial"/>
              </a:rPr>
              <a:t>Moves SSA from observer to contributor on a flagship mission.</a:t>
            </a:r>
            <a:endParaRPr sz="1400">
              <a:solidFill>
                <a:schemeClr val="dk1"/>
              </a:solidFill>
              <a:latin typeface="29LT Adir" panose="00000506000000000000" pitchFamily="50" charset="-78"/>
              <a:cs typeface="29LT Adir" panose="00000506000000000000" pitchFamily="50" charset="-78"/>
              <a:sym typeface="Arial"/>
            </a:endParaRPr>
          </a:p>
        </p:txBody>
      </p:sp>
      <p:sp>
        <p:nvSpPr>
          <p:cNvPr id="624" name="Google Shape;624;p17"/>
          <p:cNvSpPr/>
          <p:nvPr/>
        </p:nvSpPr>
        <p:spPr>
          <a:xfrm>
            <a:off x="658368" y="4261104"/>
            <a:ext cx="5943600" cy="9144"/>
          </a:xfrm>
          <a:prstGeom prst="rect">
            <a:avLst/>
          </a:prstGeom>
          <a:solidFill>
            <a:srgbClr val="212C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625" name="Google Shape;625;p17"/>
          <p:cNvSpPr/>
          <p:nvPr/>
        </p:nvSpPr>
        <p:spPr>
          <a:xfrm>
            <a:off x="658368" y="4407408"/>
            <a:ext cx="5029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B0F0"/>
              </a:buClr>
              <a:buSzPts val="1200"/>
              <a:buFont typeface="Courier New"/>
              <a:buNone/>
            </a:pPr>
            <a:r>
              <a:rPr lang="en-US" sz="1600" b="1">
                <a:solidFill>
                  <a:srgbClr val="00B0F0"/>
                </a:solidFill>
                <a:latin typeface="Courier New"/>
                <a:ea typeface="Courier New"/>
                <a:cs typeface="Courier New"/>
                <a:sym typeface="Courier New"/>
              </a:rPr>
              <a:t>03</a:t>
            </a:r>
            <a:endParaRPr sz="1600">
              <a:solidFill>
                <a:srgbClr val="00B0F0"/>
              </a:solidFill>
              <a:latin typeface="Courier New"/>
              <a:ea typeface="Courier New"/>
              <a:cs typeface="Courier New"/>
              <a:sym typeface="Courier New"/>
            </a:endParaRPr>
          </a:p>
        </p:txBody>
      </p:sp>
      <p:sp>
        <p:nvSpPr>
          <p:cNvPr id="626" name="Google Shape;626;p17"/>
          <p:cNvSpPr/>
          <p:nvPr/>
        </p:nvSpPr>
        <p:spPr>
          <a:xfrm>
            <a:off x="1207008" y="4370832"/>
            <a:ext cx="51206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800"/>
              <a:buFont typeface="Courier New"/>
              <a:buNone/>
            </a:pPr>
            <a:r>
              <a:rPr lang="en-US" sz="1800" b="1">
                <a:solidFill>
                  <a:srgbClr val="FFFFFF"/>
                </a:solidFill>
                <a:latin typeface="Courier New"/>
                <a:ea typeface="Courier New"/>
                <a:cs typeface="Courier New"/>
                <a:sym typeface="Courier New"/>
              </a:rPr>
              <a:t>Programmatic</a:t>
            </a:r>
            <a:endParaRPr sz="1800">
              <a:solidFill>
                <a:schemeClr val="dk1"/>
              </a:solidFill>
              <a:latin typeface="Courier New"/>
              <a:ea typeface="Courier New"/>
              <a:cs typeface="Courier New"/>
              <a:sym typeface="Courier New"/>
            </a:endParaRPr>
          </a:p>
        </p:txBody>
      </p:sp>
      <p:sp>
        <p:nvSpPr>
          <p:cNvPr id="627" name="Google Shape;627;p17"/>
          <p:cNvSpPr/>
          <p:nvPr/>
        </p:nvSpPr>
        <p:spPr>
          <a:xfrm>
            <a:off x="1207008" y="4700016"/>
            <a:ext cx="539496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BA7C0"/>
              </a:buClr>
              <a:buSzPts val="1400"/>
              <a:buFont typeface="Arial"/>
              <a:buNone/>
            </a:pPr>
            <a:r>
              <a:rPr lang="en-US" sz="1400">
                <a:solidFill>
                  <a:srgbClr val="9BA7C0"/>
                </a:solidFill>
                <a:latin typeface="29LT Adir" panose="00000506000000000000" pitchFamily="50" charset="-78"/>
                <a:cs typeface="29LT Adir" panose="00000506000000000000" pitchFamily="50" charset="-78"/>
                <a:sym typeface="Arial"/>
              </a:rPr>
              <a:t>Uses a proven instrument and a proven partnership model.</a:t>
            </a:r>
            <a:endParaRPr sz="1400">
              <a:solidFill>
                <a:schemeClr val="dk1"/>
              </a:solidFill>
              <a:latin typeface="29LT Adir" panose="00000506000000000000" pitchFamily="50" charset="-78"/>
              <a:cs typeface="29LT Adir" panose="00000506000000000000" pitchFamily="50" charset="-78"/>
              <a:sym typeface="Arial"/>
            </a:endParaRPr>
          </a:p>
        </p:txBody>
      </p:sp>
      <p:sp>
        <p:nvSpPr>
          <p:cNvPr id="628" name="Google Shape;628;p17"/>
          <p:cNvSpPr/>
          <p:nvPr/>
        </p:nvSpPr>
        <p:spPr>
          <a:xfrm>
            <a:off x="658368" y="5120640"/>
            <a:ext cx="5943600" cy="9144"/>
          </a:xfrm>
          <a:prstGeom prst="rect">
            <a:avLst/>
          </a:prstGeom>
          <a:solidFill>
            <a:srgbClr val="212C48"/>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2000">
              <a:solidFill>
                <a:schemeClr val="dk1"/>
              </a:solidFill>
              <a:latin typeface="Calibri"/>
              <a:ea typeface="Calibri"/>
              <a:cs typeface="Calibri"/>
              <a:sym typeface="Calibri"/>
            </a:endParaRPr>
          </a:p>
        </p:txBody>
      </p:sp>
      <p:sp>
        <p:nvSpPr>
          <p:cNvPr id="629" name="Google Shape;629;p17"/>
          <p:cNvSpPr/>
          <p:nvPr/>
        </p:nvSpPr>
        <p:spPr>
          <a:xfrm>
            <a:off x="658368" y="5266944"/>
            <a:ext cx="502920" cy="256032"/>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00B0F0"/>
              </a:buClr>
              <a:buSzPts val="1200"/>
              <a:buFont typeface="Courier New"/>
              <a:buNone/>
            </a:pPr>
            <a:r>
              <a:rPr lang="en-US" sz="1600" b="1">
                <a:solidFill>
                  <a:srgbClr val="00B0F0"/>
                </a:solidFill>
                <a:latin typeface="Courier New"/>
                <a:ea typeface="Courier New"/>
                <a:cs typeface="Courier New"/>
                <a:sym typeface="Courier New"/>
              </a:rPr>
              <a:t>04</a:t>
            </a:r>
            <a:endParaRPr sz="1600">
              <a:solidFill>
                <a:srgbClr val="00B0F0"/>
              </a:solidFill>
              <a:latin typeface="Courier New"/>
              <a:ea typeface="Courier New"/>
              <a:cs typeface="Courier New"/>
              <a:sym typeface="Courier New"/>
            </a:endParaRPr>
          </a:p>
        </p:txBody>
      </p:sp>
      <p:sp>
        <p:nvSpPr>
          <p:cNvPr id="630" name="Google Shape;630;p17"/>
          <p:cNvSpPr/>
          <p:nvPr/>
        </p:nvSpPr>
        <p:spPr>
          <a:xfrm>
            <a:off x="1207008" y="5230368"/>
            <a:ext cx="5120640" cy="292608"/>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1800"/>
              <a:buFont typeface="Courier New"/>
              <a:buNone/>
            </a:pPr>
            <a:r>
              <a:rPr lang="en-US" sz="1800" b="1">
                <a:solidFill>
                  <a:srgbClr val="FFFFFF"/>
                </a:solidFill>
                <a:latin typeface="Courier New"/>
                <a:ea typeface="Courier New"/>
                <a:cs typeface="Courier New"/>
                <a:sym typeface="Courier New"/>
              </a:rPr>
              <a:t>Actionable</a:t>
            </a:r>
            <a:endParaRPr sz="1800">
              <a:solidFill>
                <a:schemeClr val="dk1"/>
              </a:solidFill>
              <a:latin typeface="Courier New"/>
              <a:ea typeface="Courier New"/>
              <a:cs typeface="Courier New"/>
              <a:sym typeface="Courier New"/>
            </a:endParaRPr>
          </a:p>
        </p:txBody>
      </p:sp>
      <p:sp>
        <p:nvSpPr>
          <p:cNvPr id="631" name="Google Shape;631;p17"/>
          <p:cNvSpPr/>
          <p:nvPr/>
        </p:nvSpPr>
        <p:spPr>
          <a:xfrm>
            <a:off x="1207008" y="5559552"/>
            <a:ext cx="5394960" cy="32918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9BA7C0"/>
              </a:buClr>
              <a:buSzPts val="1400"/>
              <a:buFont typeface="Arial"/>
              <a:buNone/>
            </a:pPr>
            <a:r>
              <a:rPr lang="en-US" sz="1400">
                <a:solidFill>
                  <a:srgbClr val="9BA7C0"/>
                </a:solidFill>
                <a:latin typeface="29LT Adir" panose="00000506000000000000" pitchFamily="50" charset="-78"/>
                <a:cs typeface="29LT Adir" panose="00000506000000000000" pitchFamily="50" charset="-78"/>
                <a:sym typeface="Arial"/>
              </a:rPr>
              <a:t>A credible acquisition route exists now.</a:t>
            </a:r>
            <a:endParaRPr sz="1400">
              <a:solidFill>
                <a:schemeClr val="dk1"/>
              </a:solidFill>
              <a:latin typeface="29LT Adir" panose="00000506000000000000" pitchFamily="50" charset="-78"/>
              <a:cs typeface="29LT Adir" panose="00000506000000000000" pitchFamily="50" charset="-78"/>
              <a:sym typeface="Arial"/>
            </a:endParaRPr>
          </a:p>
        </p:txBody>
      </p:sp>
      <p:sp>
        <p:nvSpPr>
          <p:cNvPr id="632" name="Google Shape;632;p17"/>
          <p:cNvSpPr txBox="1"/>
          <p:nvPr/>
        </p:nvSpPr>
        <p:spPr>
          <a:xfrm>
            <a:off x="5626159" y="6581001"/>
            <a:ext cx="939681"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a:solidFill>
                  <a:srgbClr val="000000"/>
                </a:solidFill>
                <a:latin typeface="Calibri"/>
                <a:ea typeface="Calibri"/>
                <a:cs typeface="Calibri"/>
                <a:sym typeface="Calibri"/>
              </a:rPr>
              <a:t>   </a:t>
            </a:r>
            <a:r>
              <a:rPr lang="en-US" sz="1200">
                <a:solidFill>
                  <a:srgbClr val="339966"/>
                </a:solidFill>
                <a:latin typeface="Calibri"/>
                <a:ea typeface="Calibri"/>
                <a:cs typeface="Calibri"/>
                <a:sym typeface="Calibri"/>
              </a:rPr>
              <a:t>Public</a:t>
            </a:r>
            <a:r>
              <a:rPr lang="en-US" sz="1200">
                <a:solidFill>
                  <a:srgbClr val="000000"/>
                </a:solidFill>
                <a:latin typeface="Calibri"/>
                <a:ea typeface="Calibri"/>
                <a:cs typeface="Calibri"/>
                <a:sym typeface="Calibri"/>
              </a:rPr>
              <a:t>   </a:t>
            </a:r>
            <a:r>
              <a:rPr lang="en-US" sz="1200">
                <a:solidFill>
                  <a:srgbClr val="339966"/>
                </a:solidFill>
                <a:latin typeface="Calibri"/>
                <a:ea typeface="Calibri"/>
                <a:cs typeface="Calibri"/>
                <a:sym typeface="Calibri"/>
              </a:rPr>
              <a:t>عام</a:t>
            </a:r>
            <a:endParaRPr sz="1200">
              <a:solidFill>
                <a:srgbClr val="339966"/>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70B16"/>
        </a:solidFill>
        <a:effectLst/>
      </p:bgPr>
    </p:bg>
    <p:spTree>
      <p:nvGrpSpPr>
        <p:cNvPr id="1" name="Shape 637"/>
        <p:cNvGrpSpPr/>
        <p:nvPr/>
      </p:nvGrpSpPr>
      <p:grpSpPr>
        <a:xfrm>
          <a:off x="0" y="0"/>
          <a:ext cx="0" cy="0"/>
          <a:chOff x="0" y="0"/>
          <a:chExt cx="0" cy="0"/>
        </a:xfrm>
      </p:grpSpPr>
      <p:pic>
        <p:nvPicPr>
          <p:cNvPr id="638" name="Google Shape;638;p18" descr="ESA - ESA's Ramses mission to asteroid Apophis"/>
          <p:cNvPicPr preferRelativeResize="0"/>
          <p:nvPr/>
        </p:nvPicPr>
        <p:blipFill rotWithShape="1">
          <a:blip r:embed="rId3">
            <a:alphaModFix amt="35000"/>
          </a:blip>
          <a:srcRect/>
          <a:stretch/>
        </p:blipFill>
        <p:spPr>
          <a:xfrm>
            <a:off x="23646" y="0"/>
            <a:ext cx="12144705" cy="6884605"/>
          </a:xfrm>
          <a:prstGeom prst="rect">
            <a:avLst/>
          </a:prstGeom>
          <a:noFill/>
          <a:ln>
            <a:noFill/>
          </a:ln>
        </p:spPr>
      </p:pic>
      <p:sp>
        <p:nvSpPr>
          <p:cNvPr id="639" name="Google Shape;639;p18"/>
          <p:cNvSpPr/>
          <p:nvPr/>
        </p:nvSpPr>
        <p:spPr>
          <a:xfrm>
            <a:off x="1005840" y="2834640"/>
            <a:ext cx="7863840" cy="1097280"/>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FFFFFF"/>
              </a:buClr>
              <a:buSzPts val="5400"/>
              <a:buFont typeface="Arial"/>
              <a:buNone/>
            </a:pPr>
            <a:r>
              <a:rPr lang="en-US" sz="5400" b="1" dirty="0">
                <a:solidFill>
                  <a:srgbClr val="FFFFFF"/>
                </a:solidFill>
                <a:latin typeface="29LT Adir" panose="00000506000000000000" pitchFamily="50" charset="-78"/>
                <a:cs typeface="29LT Adir" panose="00000506000000000000" pitchFamily="50" charset="-78"/>
                <a:sym typeface="Arial"/>
              </a:rPr>
              <a:t>Thank you!</a:t>
            </a:r>
            <a:endParaRPr sz="5400" dirty="0">
              <a:solidFill>
                <a:schemeClr val="dk1"/>
              </a:solidFill>
              <a:latin typeface="29LT Adir" panose="00000506000000000000" pitchFamily="50" charset="-78"/>
              <a:ea typeface="Calibri"/>
              <a:cs typeface="29LT Adir" panose="00000506000000000000" pitchFamily="50" charset="-78"/>
              <a:sym typeface="Calibri"/>
            </a:endParaRPr>
          </a:p>
        </p:txBody>
      </p:sp>
      <p:sp>
        <p:nvSpPr>
          <p:cNvPr id="640" name="Google Shape;640;p18"/>
          <p:cNvSpPr/>
          <p:nvPr/>
        </p:nvSpPr>
        <p:spPr>
          <a:xfrm>
            <a:off x="1051560" y="4041648"/>
            <a:ext cx="1920240" cy="9144"/>
          </a:xfrm>
          <a:prstGeom prst="rect">
            <a:avLst/>
          </a:prstGeom>
          <a:solidFill>
            <a:srgbClr val="18B5F0"/>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pic>
        <p:nvPicPr>
          <p:cNvPr id="641" name="Google Shape;641;p18" descr="/home/claude/work/a2/logo_white.png"/>
          <p:cNvPicPr preferRelativeResize="0"/>
          <p:nvPr/>
        </p:nvPicPr>
        <p:blipFill rotWithShape="1">
          <a:blip r:embed="rId4">
            <a:alphaModFix/>
          </a:blip>
          <a:srcRect/>
          <a:stretch/>
        </p:blipFill>
        <p:spPr>
          <a:xfrm>
            <a:off x="10285730" y="329184"/>
            <a:ext cx="1636703" cy="690319"/>
          </a:xfrm>
          <a:prstGeom prst="rect">
            <a:avLst/>
          </a:prstGeom>
          <a:noFill/>
          <a:ln>
            <a:noFill/>
          </a:ln>
        </p:spPr>
      </p:pic>
      <p:sp>
        <p:nvSpPr>
          <p:cNvPr id="642" name="Google Shape;642;p18"/>
          <p:cNvSpPr txBox="1"/>
          <p:nvPr/>
        </p:nvSpPr>
        <p:spPr>
          <a:xfrm>
            <a:off x="5626159" y="6581001"/>
            <a:ext cx="939681"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a:solidFill>
                  <a:srgbClr val="000000"/>
                </a:solidFill>
                <a:latin typeface="Calibri"/>
                <a:ea typeface="Calibri"/>
                <a:cs typeface="Calibri"/>
                <a:sym typeface="Calibri"/>
              </a:rPr>
              <a:t>   </a:t>
            </a:r>
            <a:r>
              <a:rPr lang="en-US" sz="1200">
                <a:solidFill>
                  <a:srgbClr val="339966"/>
                </a:solidFill>
                <a:latin typeface="Calibri"/>
                <a:ea typeface="Calibri"/>
                <a:cs typeface="Calibri"/>
                <a:sym typeface="Calibri"/>
              </a:rPr>
              <a:t>Public</a:t>
            </a:r>
            <a:r>
              <a:rPr lang="en-US" sz="1200">
                <a:solidFill>
                  <a:srgbClr val="000000"/>
                </a:solidFill>
                <a:latin typeface="Calibri"/>
                <a:ea typeface="Calibri"/>
                <a:cs typeface="Calibri"/>
                <a:sym typeface="Calibri"/>
              </a:rPr>
              <a:t>   </a:t>
            </a:r>
            <a:r>
              <a:rPr lang="en-US" sz="1200">
                <a:solidFill>
                  <a:srgbClr val="339966"/>
                </a:solidFill>
                <a:latin typeface="Calibri"/>
                <a:ea typeface="Calibri"/>
                <a:cs typeface="Calibri"/>
                <a:sym typeface="Calibri"/>
              </a:rPr>
              <a:t>عام</a:t>
            </a:r>
            <a:endParaRPr sz="1200">
              <a:solidFill>
                <a:srgbClr val="339966"/>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rgbClr val="D9E1EF"/>
        </a:solidFill>
        <a:effectLst/>
      </p:bgPr>
    </p:bg>
    <p:spTree>
      <p:nvGrpSpPr>
        <p:cNvPr id="1" name="Shape 647"/>
        <p:cNvGrpSpPr/>
        <p:nvPr/>
      </p:nvGrpSpPr>
      <p:grpSpPr>
        <a:xfrm>
          <a:off x="0" y="0"/>
          <a:ext cx="0" cy="0"/>
          <a:chOff x="0" y="0"/>
          <a:chExt cx="0" cy="0"/>
        </a:xfrm>
      </p:grpSpPr>
      <p:pic>
        <p:nvPicPr>
          <p:cNvPr id="648" name="Google Shape;648;p19" descr="/home/claude/work/a2/light_wash.jpg"/>
          <p:cNvPicPr preferRelativeResize="0"/>
          <p:nvPr/>
        </p:nvPicPr>
        <p:blipFill rotWithShape="1">
          <a:blip r:embed="rId3">
            <a:alphaModFix/>
          </a:blip>
          <a:srcRect/>
          <a:stretch/>
        </p:blipFill>
        <p:spPr>
          <a:xfrm>
            <a:off x="0" y="0"/>
            <a:ext cx="12191695" cy="6858000"/>
          </a:xfrm>
          <a:prstGeom prst="rect">
            <a:avLst/>
          </a:prstGeom>
          <a:noFill/>
          <a:ln>
            <a:noFill/>
          </a:ln>
        </p:spPr>
      </p:pic>
      <p:sp>
        <p:nvSpPr>
          <p:cNvPr id="649" name="Google Shape;649;p19"/>
          <p:cNvSpPr/>
          <p:nvPr/>
        </p:nvSpPr>
        <p:spPr>
          <a:xfrm>
            <a:off x="658368" y="530352"/>
            <a:ext cx="905256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A33D"/>
              </a:buClr>
              <a:buSzPts val="950"/>
              <a:buFont typeface="Arial"/>
              <a:buNone/>
            </a:pPr>
            <a:r>
              <a:rPr lang="en-US" sz="950" b="1">
                <a:solidFill>
                  <a:srgbClr val="E8A33D"/>
                </a:solidFill>
                <a:latin typeface="Arial"/>
                <a:ea typeface="Arial"/>
                <a:cs typeface="Arial"/>
                <a:sym typeface="Arial"/>
              </a:rPr>
              <a:t>APPENDIX</a:t>
            </a:r>
            <a:endParaRPr sz="950">
              <a:solidFill>
                <a:schemeClr val="dk1"/>
              </a:solidFill>
              <a:latin typeface="Calibri"/>
              <a:ea typeface="Calibri"/>
              <a:cs typeface="Calibri"/>
              <a:sym typeface="Calibri"/>
            </a:endParaRPr>
          </a:p>
        </p:txBody>
      </p:sp>
      <p:sp>
        <p:nvSpPr>
          <p:cNvPr id="650" name="Google Shape;650;p19"/>
          <p:cNvSpPr/>
          <p:nvPr/>
        </p:nvSpPr>
        <p:spPr>
          <a:xfrm>
            <a:off x="658368" y="795528"/>
            <a:ext cx="9052560" cy="409903"/>
          </a:xfrm>
          <a:prstGeom prst="rect">
            <a:avLst/>
          </a:prstGeom>
          <a:noFill/>
          <a:ln>
            <a:noFill/>
          </a:ln>
        </p:spPr>
        <p:txBody>
          <a:bodyPr spcFirstLastPara="1" wrap="square" lIns="0" tIns="0" rIns="0" bIns="0" anchor="ctr" anchorCtr="0">
            <a:noAutofit/>
          </a:bodyPr>
          <a:lstStyle/>
          <a:p>
            <a:pPr marL="0" marR="0" lvl="0" indent="0" algn="l" rtl="0">
              <a:lnSpc>
                <a:spcPct val="92000"/>
              </a:lnSpc>
              <a:spcBef>
                <a:spcPts val="0"/>
              </a:spcBef>
              <a:spcAft>
                <a:spcPts val="0"/>
              </a:spcAft>
              <a:buClr>
                <a:srgbClr val="13234C"/>
              </a:buClr>
              <a:buSzPts val="2600"/>
              <a:buFont typeface="Arial"/>
              <a:buNone/>
            </a:pPr>
            <a:r>
              <a:rPr lang="en-US" sz="2600" b="1">
                <a:solidFill>
                  <a:srgbClr val="13234C"/>
                </a:solidFill>
                <a:latin typeface="Arial"/>
                <a:ea typeface="Arial"/>
                <a:cs typeface="Arial"/>
                <a:sym typeface="Arial"/>
              </a:rPr>
              <a:t>Candidate Trade Study — Full Assessment</a:t>
            </a:r>
            <a:endParaRPr sz="2600">
              <a:solidFill>
                <a:schemeClr val="dk1"/>
              </a:solidFill>
              <a:latin typeface="Calibri"/>
              <a:ea typeface="Calibri"/>
              <a:cs typeface="Calibri"/>
              <a:sym typeface="Calibri"/>
            </a:endParaRPr>
          </a:p>
        </p:txBody>
      </p:sp>
      <p:sp>
        <p:nvSpPr>
          <p:cNvPr id="651" name="Google Shape;651;p19"/>
          <p:cNvSpPr/>
          <p:nvPr/>
        </p:nvSpPr>
        <p:spPr>
          <a:xfrm>
            <a:off x="658368" y="1260295"/>
            <a:ext cx="9052560" cy="3291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4C5468"/>
              </a:buClr>
              <a:buSzPts val="1250"/>
              <a:buFont typeface="Arial"/>
              <a:buNone/>
            </a:pPr>
            <a:r>
              <a:rPr lang="en-US" sz="1250">
                <a:solidFill>
                  <a:srgbClr val="4C5468"/>
                </a:solidFill>
                <a:latin typeface="Arial"/>
                <a:ea typeface="Arial"/>
                <a:cs typeface="Arial"/>
                <a:sym typeface="Arial"/>
              </a:rPr>
              <a:t>Architecture is a screening criterion, not a differentiator. A candidate is scored only until the criterion that removes it.</a:t>
            </a:r>
            <a:endParaRPr sz="1250">
              <a:solidFill>
                <a:schemeClr val="dk1"/>
              </a:solidFill>
              <a:latin typeface="Calibri"/>
              <a:ea typeface="Calibri"/>
              <a:cs typeface="Calibri"/>
              <a:sym typeface="Calibri"/>
            </a:endParaRPr>
          </a:p>
        </p:txBody>
      </p:sp>
      <p:graphicFrame>
        <p:nvGraphicFramePr>
          <p:cNvPr id="652" name="Google Shape;652;p19"/>
          <p:cNvGraphicFramePr/>
          <p:nvPr/>
        </p:nvGraphicFramePr>
        <p:xfrm>
          <a:off x="658368" y="2139696"/>
          <a:ext cx="10829225" cy="1865400"/>
        </p:xfrm>
        <a:graphic>
          <a:graphicData uri="http://schemas.openxmlformats.org/drawingml/2006/table">
            <a:tbl>
              <a:tblPr>
                <a:noFill/>
                <a:tableStyleId>{3F18019F-0D7F-44A6-9491-1058076FFA4A}</a:tableStyleId>
              </a:tblPr>
              <a:tblGrid>
                <a:gridCol w="2423150">
                  <a:extLst>
                    <a:ext uri="{9D8B030D-6E8A-4147-A177-3AD203B41FA5}">
                      <a16:colId xmlns:a16="http://schemas.microsoft.com/office/drawing/2014/main" val="20000"/>
                    </a:ext>
                  </a:extLst>
                </a:gridCol>
                <a:gridCol w="1783075">
                  <a:extLst>
                    <a:ext uri="{9D8B030D-6E8A-4147-A177-3AD203B41FA5}">
                      <a16:colId xmlns:a16="http://schemas.microsoft.com/office/drawing/2014/main" val="20001"/>
                    </a:ext>
                  </a:extLst>
                </a:gridCol>
                <a:gridCol w="2423150">
                  <a:extLst>
                    <a:ext uri="{9D8B030D-6E8A-4147-A177-3AD203B41FA5}">
                      <a16:colId xmlns:a16="http://schemas.microsoft.com/office/drawing/2014/main" val="20002"/>
                    </a:ext>
                  </a:extLst>
                </a:gridCol>
                <a:gridCol w="777250">
                  <a:extLst>
                    <a:ext uri="{9D8B030D-6E8A-4147-A177-3AD203B41FA5}">
                      <a16:colId xmlns:a16="http://schemas.microsoft.com/office/drawing/2014/main" val="20003"/>
                    </a:ext>
                  </a:extLst>
                </a:gridCol>
                <a:gridCol w="1874525">
                  <a:extLst>
                    <a:ext uri="{9D8B030D-6E8A-4147-A177-3AD203B41FA5}">
                      <a16:colId xmlns:a16="http://schemas.microsoft.com/office/drawing/2014/main" val="20004"/>
                    </a:ext>
                  </a:extLst>
                </a:gridCol>
                <a:gridCol w="1548075">
                  <a:extLst>
                    <a:ext uri="{9D8B030D-6E8A-4147-A177-3AD203B41FA5}">
                      <a16:colId xmlns:a16="http://schemas.microsoft.com/office/drawing/2014/main" val="20005"/>
                    </a:ext>
                  </a:extLst>
                </a:gridCol>
              </a:tblGrid>
              <a:tr h="310900">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Candidate</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13234C"/>
                    </a:solidFill>
                  </a:tcPr>
                </a:tc>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Architecture</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13234C"/>
                    </a:solidFill>
                  </a:tcPr>
                </a:tc>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Scientific complementarity</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13234C"/>
                    </a:solidFill>
                  </a:tcPr>
                </a:tc>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TRL</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13234C"/>
                    </a:solidFill>
                  </a:tcPr>
                </a:tc>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Operational complexity</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13234C"/>
                    </a:solidFill>
                  </a:tcPr>
                </a:tc>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Power</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13234C"/>
                    </a:solidFill>
                  </a:tcPr>
                </a:tc>
                <a:extLst>
                  <a:ext uri="{0D108BD9-81ED-4DB2-BD59-A6C34878D82A}">
                    <a16:rowId xmlns:a16="http://schemas.microsoft.com/office/drawing/2014/main" val="10000"/>
                  </a:ext>
                </a:extLst>
              </a:tr>
              <a:tr h="310900">
                <a:tc>
                  <a:txBody>
                    <a:bodyPr/>
                    <a:lstStyle/>
                    <a:p>
                      <a:pPr marL="0" marR="0" lvl="0" indent="0" algn="l" rtl="0">
                        <a:spcBef>
                          <a:spcPts val="0"/>
                        </a:spcBef>
                        <a:spcAft>
                          <a:spcPts val="0"/>
                        </a:spcAft>
                        <a:buClr>
                          <a:srgbClr val="1F6B4A"/>
                        </a:buClr>
                        <a:buSzPts val="1000"/>
                        <a:buFont typeface="Arial"/>
                        <a:buNone/>
                      </a:pPr>
                      <a:r>
                        <a:rPr lang="en-US" sz="1000" b="1" u="none" strike="noStrike" cap="none">
                          <a:solidFill>
                            <a:srgbClr val="1F6B4A"/>
                          </a:solidFill>
                          <a:latin typeface="Arial"/>
                          <a:ea typeface="Arial"/>
                          <a:cs typeface="Arial"/>
                          <a:sym typeface="Arial"/>
                        </a:rPr>
                        <a:t>Gamma-Ray Spectrometer</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2F9F5"/>
                    </a:solidFill>
                  </a:tcPr>
                </a:tc>
                <a:tc>
                  <a:txBody>
                    <a:bodyPr/>
                    <a:lstStyle/>
                    <a:p>
                      <a:pPr marL="0" marR="0" lvl="0" indent="0" algn="l" rtl="0">
                        <a:spcBef>
                          <a:spcPts val="0"/>
                        </a:spcBef>
                        <a:spcAft>
                          <a:spcPts val="0"/>
                        </a:spcAft>
                        <a:buClr>
                          <a:srgbClr val="1F6B4A"/>
                        </a:buClr>
                        <a:buSzPts val="1000"/>
                        <a:buFont typeface="Arial"/>
                        <a:buNone/>
                      </a:pPr>
                      <a:r>
                        <a:rPr lang="en-US" sz="1000" u="none" strike="noStrike" cap="none">
                          <a:solidFill>
                            <a:srgbClr val="1F6B4A"/>
                          </a:solidFill>
                          <a:latin typeface="Arial"/>
                          <a:ea typeface="Arial"/>
                          <a:cs typeface="Arial"/>
                          <a:sym typeface="Arial"/>
                        </a:rPr>
                        <a:t>Fits orbiter</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2F9F5"/>
                    </a:solidFill>
                  </a:tcPr>
                </a:tc>
                <a:tc>
                  <a:txBody>
                    <a:bodyPr/>
                    <a:lstStyle/>
                    <a:p>
                      <a:pPr marL="0" marR="0" lvl="0" indent="0" algn="l" rtl="0">
                        <a:spcBef>
                          <a:spcPts val="0"/>
                        </a:spcBef>
                        <a:spcAft>
                          <a:spcPts val="0"/>
                        </a:spcAft>
                        <a:buClr>
                          <a:srgbClr val="1F6B4A"/>
                        </a:buClr>
                        <a:buSzPts val="1000"/>
                        <a:buFont typeface="Arial"/>
                        <a:buNone/>
                      </a:pPr>
                      <a:r>
                        <a:rPr lang="en-US" sz="1000" u="none" strike="noStrike" cap="none">
                          <a:solidFill>
                            <a:srgbClr val="1F6B4A"/>
                          </a:solidFill>
                          <a:latin typeface="Arial"/>
                          <a:ea typeface="Arial"/>
                          <a:cs typeface="Arial"/>
                          <a:sym typeface="Arial"/>
                        </a:rPr>
                        <a:t>Complements</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2F9F5"/>
                    </a:solidFill>
                  </a:tcPr>
                </a:tc>
                <a:tc>
                  <a:txBody>
                    <a:bodyPr/>
                    <a:lstStyle/>
                    <a:p>
                      <a:pPr marL="0" marR="0" lvl="0" indent="0" algn="l" rtl="0">
                        <a:spcBef>
                          <a:spcPts val="0"/>
                        </a:spcBef>
                        <a:spcAft>
                          <a:spcPts val="0"/>
                        </a:spcAft>
                        <a:buClr>
                          <a:srgbClr val="1F6B4A"/>
                        </a:buClr>
                        <a:buSzPts val="1000"/>
                        <a:buFont typeface="Arial"/>
                        <a:buNone/>
                      </a:pPr>
                      <a:r>
                        <a:rPr lang="en-US" sz="1000" u="none" strike="noStrike" cap="none">
                          <a:solidFill>
                            <a:srgbClr val="1F6B4A"/>
                          </a:solidFill>
                          <a:latin typeface="Arial"/>
                          <a:ea typeface="Arial"/>
                          <a:cs typeface="Arial"/>
                          <a:sym typeface="Arial"/>
                        </a:rPr>
                        <a:t>High</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2F9F5"/>
                    </a:solidFill>
                  </a:tcPr>
                </a:tc>
                <a:tc>
                  <a:txBody>
                    <a:bodyPr/>
                    <a:lstStyle/>
                    <a:p>
                      <a:pPr marL="0" marR="0" lvl="0" indent="0" algn="l" rtl="0">
                        <a:spcBef>
                          <a:spcPts val="0"/>
                        </a:spcBef>
                        <a:spcAft>
                          <a:spcPts val="0"/>
                        </a:spcAft>
                        <a:buClr>
                          <a:srgbClr val="1F6B4A"/>
                        </a:buClr>
                        <a:buSzPts val="1000"/>
                        <a:buFont typeface="Arial"/>
                        <a:buNone/>
                      </a:pPr>
                      <a:r>
                        <a:rPr lang="en-US" sz="1000" u="none" strike="noStrike" cap="none">
                          <a:solidFill>
                            <a:srgbClr val="1F6B4A"/>
                          </a:solidFill>
                          <a:latin typeface="Arial"/>
                          <a:ea typeface="Arial"/>
                          <a:cs typeface="Arial"/>
                          <a:sym typeface="Arial"/>
                        </a:rPr>
                        <a:t>Low</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2F9F5"/>
                    </a:solidFill>
                  </a:tcPr>
                </a:tc>
                <a:tc>
                  <a:txBody>
                    <a:bodyPr/>
                    <a:lstStyle/>
                    <a:p>
                      <a:pPr marL="0" marR="0" lvl="0" indent="0" algn="l" rtl="0">
                        <a:spcBef>
                          <a:spcPts val="0"/>
                        </a:spcBef>
                        <a:spcAft>
                          <a:spcPts val="0"/>
                        </a:spcAft>
                        <a:buClr>
                          <a:srgbClr val="1F6B4A"/>
                        </a:buClr>
                        <a:buSzPts val="1000"/>
                        <a:buFont typeface="Arial"/>
                        <a:buNone/>
                      </a:pPr>
                      <a:r>
                        <a:rPr lang="en-US" sz="1000" u="none" strike="noStrike" cap="none">
                          <a:solidFill>
                            <a:srgbClr val="1F6B4A"/>
                          </a:solidFill>
                          <a:latin typeface="Arial"/>
                          <a:ea typeface="Arial"/>
                          <a:cs typeface="Arial"/>
                          <a:sym typeface="Arial"/>
                        </a:rPr>
                        <a:t>Modest</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2F9F5"/>
                    </a:solidFill>
                  </a:tcPr>
                </a:tc>
                <a:extLst>
                  <a:ext uri="{0D108BD9-81ED-4DB2-BD59-A6C34878D82A}">
                    <a16:rowId xmlns:a16="http://schemas.microsoft.com/office/drawing/2014/main" val="10001"/>
                  </a:ext>
                </a:extLst>
              </a:tr>
              <a:tr h="310900">
                <a:tc>
                  <a:txBody>
                    <a:bodyPr/>
                    <a:lstStyle/>
                    <a:p>
                      <a:pPr marL="0" marR="0" lvl="0" indent="0" algn="l" rtl="0">
                        <a:spcBef>
                          <a:spcPts val="0"/>
                        </a:spcBef>
                        <a:spcAft>
                          <a:spcPts val="0"/>
                        </a:spcAft>
                        <a:buClr>
                          <a:srgbClr val="151B29"/>
                        </a:buClr>
                        <a:buSzPts val="1000"/>
                        <a:buFont typeface="Arial"/>
                        <a:buNone/>
                      </a:pPr>
                      <a:r>
                        <a:rPr lang="en-US" sz="1000" u="none" strike="noStrike" cap="none">
                          <a:solidFill>
                            <a:srgbClr val="151B29"/>
                          </a:solidFill>
                          <a:latin typeface="Arial"/>
                          <a:ea typeface="Arial"/>
                          <a:cs typeface="Arial"/>
                          <a:sym typeface="Arial"/>
                        </a:rPr>
                        <a:t>Neutron Spectrometer</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51B29"/>
                        </a:buClr>
                        <a:buSzPts val="1000"/>
                        <a:buFont typeface="Arial"/>
                        <a:buNone/>
                      </a:pPr>
                      <a:r>
                        <a:rPr lang="en-US" sz="1000" u="none" strike="noStrike" cap="none">
                          <a:solidFill>
                            <a:srgbClr val="151B29"/>
                          </a:solidFill>
                          <a:latin typeface="Arial"/>
                          <a:ea typeface="Arial"/>
                          <a:cs typeface="Arial"/>
                          <a:sym typeface="Arial"/>
                        </a:rPr>
                        <a:t>Fits orbiter</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51B29"/>
                        </a:buClr>
                        <a:buSzPts val="1000"/>
                        <a:buFont typeface="Arial"/>
                        <a:buNone/>
                      </a:pPr>
                      <a:r>
                        <a:rPr lang="en-US" sz="1000" u="none" strike="noStrike" cap="none">
                          <a:solidFill>
                            <a:srgbClr val="151B29"/>
                          </a:solidFill>
                          <a:latin typeface="Arial"/>
                          <a:ea typeface="Arial"/>
                          <a:cs typeface="Arial"/>
                          <a:sym typeface="Arial"/>
                        </a:rPr>
                        <a:t>Partial</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51B29"/>
                        </a:buClr>
                        <a:buSzPts val="1000"/>
                        <a:buFont typeface="Arial"/>
                        <a:buNone/>
                      </a:pPr>
                      <a:r>
                        <a:rPr lang="en-US" sz="1000" u="none" strike="noStrike" cap="none">
                          <a:solidFill>
                            <a:srgbClr val="151B29"/>
                          </a:solidFill>
                          <a:latin typeface="Arial"/>
                          <a:ea typeface="Arial"/>
                          <a:cs typeface="Arial"/>
                          <a:sym typeface="Arial"/>
                        </a:rPr>
                        <a:t>High</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51B29"/>
                        </a:buClr>
                        <a:buSzPts val="1000"/>
                        <a:buFont typeface="Arial"/>
                        <a:buNone/>
                      </a:pPr>
                      <a:r>
                        <a:rPr lang="en-US" sz="1000" u="none" strike="noStrike" cap="none">
                          <a:solidFill>
                            <a:srgbClr val="151B29"/>
                          </a:solidFill>
                          <a:latin typeface="Arial"/>
                          <a:ea typeface="Arial"/>
                          <a:cs typeface="Arial"/>
                          <a:sym typeface="Arial"/>
                        </a:rPr>
                        <a:t>Low</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51B29"/>
                        </a:buClr>
                        <a:buSzPts val="1000"/>
                        <a:buFont typeface="Arial"/>
                        <a:buNone/>
                      </a:pPr>
                      <a:r>
                        <a:rPr lang="en-US" sz="1000" u="none" strike="noStrike" cap="none">
                          <a:solidFill>
                            <a:srgbClr val="151B29"/>
                          </a:solidFill>
                          <a:latin typeface="Arial"/>
                          <a:ea typeface="Arial"/>
                          <a:cs typeface="Arial"/>
                          <a:sym typeface="Arial"/>
                        </a:rPr>
                        <a:t>Modest</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FFFFF"/>
                    </a:solidFill>
                  </a:tcPr>
                </a:tc>
                <a:extLst>
                  <a:ext uri="{0D108BD9-81ED-4DB2-BD59-A6C34878D82A}">
                    <a16:rowId xmlns:a16="http://schemas.microsoft.com/office/drawing/2014/main" val="10002"/>
                  </a:ext>
                </a:extLst>
              </a:tr>
              <a:tr h="310900">
                <a:tc>
                  <a:txBody>
                    <a:bodyPr/>
                    <a:lstStyle/>
                    <a:p>
                      <a:pPr marL="0" marR="0" lvl="0" indent="0" algn="l" rtl="0">
                        <a:spcBef>
                          <a:spcPts val="0"/>
                        </a:spcBef>
                        <a:spcAft>
                          <a:spcPts val="0"/>
                        </a:spcAft>
                        <a:buClr>
                          <a:srgbClr val="151B29"/>
                        </a:buClr>
                        <a:buSzPts val="1000"/>
                        <a:buFont typeface="Arial"/>
                        <a:buNone/>
                      </a:pPr>
                      <a:r>
                        <a:rPr lang="en-US" sz="1000" u="none" strike="noStrike" cap="none">
                          <a:solidFill>
                            <a:srgbClr val="151B29"/>
                          </a:solidFill>
                          <a:latin typeface="Arial"/>
                          <a:ea typeface="Arial"/>
                          <a:cs typeface="Arial"/>
                          <a:sym typeface="Arial"/>
                        </a:rPr>
                        <a:t>Mössbauer Spectrometer</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E8EDF6"/>
                    </a:solidFill>
                  </a:tcPr>
                </a:tc>
                <a:tc>
                  <a:txBody>
                    <a:bodyPr/>
                    <a:lstStyle/>
                    <a:p>
                      <a:pPr marL="0" marR="0" lvl="0" indent="0" algn="l" rtl="0">
                        <a:spcBef>
                          <a:spcPts val="0"/>
                        </a:spcBef>
                        <a:spcAft>
                          <a:spcPts val="0"/>
                        </a:spcAft>
                        <a:buClr>
                          <a:srgbClr val="151B29"/>
                        </a:buClr>
                        <a:buSzPts val="1000"/>
                        <a:buFont typeface="Arial"/>
                        <a:buNone/>
                      </a:pPr>
                      <a:r>
                        <a:rPr lang="en-US" sz="1000" u="none" strike="noStrike" cap="none">
                          <a:solidFill>
                            <a:srgbClr val="151B29"/>
                          </a:solidFill>
                          <a:latin typeface="Arial"/>
                          <a:ea typeface="Arial"/>
                          <a:cs typeface="Arial"/>
                          <a:sym typeface="Arial"/>
                        </a:rPr>
                        <a:t>Requires lander</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E8EDF6"/>
                    </a:solidFill>
                  </a:tcPr>
                </a:tc>
                <a:tc>
                  <a:txBody>
                    <a:bodyPr/>
                    <a:lstStyle/>
                    <a:p>
                      <a:pPr marL="0" marR="0" lvl="0" indent="0" algn="l" rtl="0">
                        <a:spcBef>
                          <a:spcPts val="0"/>
                        </a:spcBef>
                        <a:spcAft>
                          <a:spcPts val="0"/>
                        </a:spcAft>
                        <a:buClr>
                          <a:srgbClr val="151B29"/>
                        </a:buClr>
                        <a:buSzPts val="1000"/>
                        <a:buFont typeface="Arial"/>
                        <a:buNone/>
                      </a:pPr>
                      <a:r>
                        <a:rPr lang="en-US" sz="1000" u="none" strike="noStrike" cap="none">
                          <a:solidFill>
                            <a:srgbClr val="151B29"/>
                          </a:solidFill>
                          <a:latin typeface="Arial"/>
                          <a:ea typeface="Arial"/>
                          <a:cs typeface="Arial"/>
                          <a:sym typeface="Arial"/>
                        </a:rPr>
                        <a:t>—</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E8EDF6"/>
                    </a:solidFill>
                  </a:tcPr>
                </a:tc>
                <a:tc>
                  <a:txBody>
                    <a:bodyPr/>
                    <a:lstStyle/>
                    <a:p>
                      <a:pPr marL="0" marR="0" lvl="0" indent="0" algn="l" rtl="0">
                        <a:spcBef>
                          <a:spcPts val="0"/>
                        </a:spcBef>
                        <a:spcAft>
                          <a:spcPts val="0"/>
                        </a:spcAft>
                        <a:buClr>
                          <a:srgbClr val="151B29"/>
                        </a:buClr>
                        <a:buSzPts val="1000"/>
                        <a:buFont typeface="Arial"/>
                        <a:buNone/>
                      </a:pPr>
                      <a:r>
                        <a:rPr lang="en-US" sz="1000" u="none" strike="noStrike" cap="none">
                          <a:solidFill>
                            <a:srgbClr val="151B29"/>
                          </a:solidFill>
                          <a:latin typeface="Arial"/>
                          <a:ea typeface="Arial"/>
                          <a:cs typeface="Arial"/>
                          <a:sym typeface="Arial"/>
                        </a:rPr>
                        <a:t>High</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E8EDF6"/>
                    </a:solidFill>
                  </a:tcPr>
                </a:tc>
                <a:tc>
                  <a:txBody>
                    <a:bodyPr/>
                    <a:lstStyle/>
                    <a:p>
                      <a:pPr marL="0" marR="0" lvl="0" indent="0" algn="l" rtl="0">
                        <a:spcBef>
                          <a:spcPts val="0"/>
                        </a:spcBef>
                        <a:spcAft>
                          <a:spcPts val="0"/>
                        </a:spcAft>
                        <a:buClr>
                          <a:srgbClr val="151B29"/>
                        </a:buClr>
                        <a:buSzPts val="1000"/>
                        <a:buFont typeface="Arial"/>
                        <a:buNone/>
                      </a:pPr>
                      <a:r>
                        <a:rPr lang="en-US" sz="1000" u="none" strike="noStrike" cap="none">
                          <a:solidFill>
                            <a:srgbClr val="151B29"/>
                          </a:solidFill>
                          <a:latin typeface="Arial"/>
                          <a:ea typeface="Arial"/>
                          <a:cs typeface="Arial"/>
                          <a:sym typeface="Arial"/>
                        </a:rPr>
                        <a:t>—</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E8EDF6"/>
                    </a:solidFill>
                  </a:tcPr>
                </a:tc>
                <a:tc>
                  <a:txBody>
                    <a:bodyPr/>
                    <a:lstStyle/>
                    <a:p>
                      <a:pPr marL="0" marR="0" lvl="0" indent="0" algn="l" rtl="0">
                        <a:spcBef>
                          <a:spcPts val="0"/>
                        </a:spcBef>
                        <a:spcAft>
                          <a:spcPts val="0"/>
                        </a:spcAft>
                        <a:buClr>
                          <a:srgbClr val="151B29"/>
                        </a:buClr>
                        <a:buSzPts val="1000"/>
                        <a:buFont typeface="Arial"/>
                        <a:buNone/>
                      </a:pPr>
                      <a:r>
                        <a:rPr lang="en-US" sz="1000" u="none" strike="noStrike" cap="none">
                          <a:solidFill>
                            <a:srgbClr val="151B29"/>
                          </a:solidFill>
                          <a:latin typeface="Arial"/>
                          <a:ea typeface="Arial"/>
                          <a:cs typeface="Arial"/>
                          <a:sym typeface="Arial"/>
                        </a:rPr>
                        <a:t>—</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E8EDF6"/>
                    </a:solidFill>
                  </a:tcPr>
                </a:tc>
                <a:extLst>
                  <a:ext uri="{0D108BD9-81ED-4DB2-BD59-A6C34878D82A}">
                    <a16:rowId xmlns:a16="http://schemas.microsoft.com/office/drawing/2014/main" val="10003"/>
                  </a:ext>
                </a:extLst>
              </a:tr>
              <a:tr h="310900">
                <a:tc>
                  <a:txBody>
                    <a:bodyPr/>
                    <a:lstStyle/>
                    <a:p>
                      <a:pPr marL="0" marR="0" lvl="0" indent="0" algn="l" rtl="0">
                        <a:spcBef>
                          <a:spcPts val="0"/>
                        </a:spcBef>
                        <a:spcAft>
                          <a:spcPts val="0"/>
                        </a:spcAft>
                        <a:buClr>
                          <a:srgbClr val="151B29"/>
                        </a:buClr>
                        <a:buSzPts val="1000"/>
                        <a:buFont typeface="Arial"/>
                        <a:buNone/>
                      </a:pPr>
                      <a:r>
                        <a:rPr lang="en-US" sz="1000" u="none" strike="noStrike" cap="none">
                          <a:solidFill>
                            <a:srgbClr val="151B29"/>
                          </a:solidFill>
                          <a:latin typeface="Arial"/>
                          <a:ea typeface="Arial"/>
                          <a:cs typeface="Arial"/>
                          <a:sym typeface="Arial"/>
                        </a:rPr>
                        <a:t>MicrOmega Microscope</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51B29"/>
                        </a:buClr>
                        <a:buSzPts val="1000"/>
                        <a:buFont typeface="Arial"/>
                        <a:buNone/>
                      </a:pPr>
                      <a:r>
                        <a:rPr lang="en-US" sz="1000" u="none" strike="noStrike" cap="none">
                          <a:solidFill>
                            <a:srgbClr val="151B29"/>
                          </a:solidFill>
                          <a:latin typeface="Arial"/>
                          <a:ea typeface="Arial"/>
                          <a:cs typeface="Arial"/>
                          <a:sym typeface="Arial"/>
                        </a:rPr>
                        <a:t>Requires lander</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51B29"/>
                        </a:buClr>
                        <a:buSzPts val="1000"/>
                        <a:buFont typeface="Arial"/>
                        <a:buNone/>
                      </a:pPr>
                      <a:r>
                        <a:rPr lang="en-US" sz="1000" u="none" strike="noStrike" cap="none">
                          <a:solidFill>
                            <a:srgbClr val="151B29"/>
                          </a:solidFill>
                          <a:latin typeface="Arial"/>
                          <a:ea typeface="Arial"/>
                          <a:cs typeface="Arial"/>
                          <a:sym typeface="Arial"/>
                        </a:rPr>
                        <a:t>—</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51B29"/>
                        </a:buClr>
                        <a:buSzPts val="1000"/>
                        <a:buFont typeface="Arial"/>
                        <a:buNone/>
                      </a:pPr>
                      <a:r>
                        <a:rPr lang="en-US" sz="1000" u="none" strike="noStrike" cap="none">
                          <a:solidFill>
                            <a:srgbClr val="151B29"/>
                          </a:solidFill>
                          <a:latin typeface="Arial"/>
                          <a:ea typeface="Arial"/>
                          <a:cs typeface="Arial"/>
                          <a:sym typeface="Arial"/>
                        </a:rPr>
                        <a:t>High</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51B29"/>
                        </a:buClr>
                        <a:buSzPts val="1000"/>
                        <a:buFont typeface="Arial"/>
                        <a:buNone/>
                      </a:pPr>
                      <a:r>
                        <a:rPr lang="en-US" sz="1000" u="none" strike="noStrike" cap="none">
                          <a:solidFill>
                            <a:srgbClr val="151B29"/>
                          </a:solidFill>
                          <a:latin typeface="Arial"/>
                          <a:ea typeface="Arial"/>
                          <a:cs typeface="Arial"/>
                          <a:sym typeface="Arial"/>
                        </a:rPr>
                        <a:t>—</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51B29"/>
                        </a:buClr>
                        <a:buSzPts val="1000"/>
                        <a:buFont typeface="Arial"/>
                        <a:buNone/>
                      </a:pPr>
                      <a:r>
                        <a:rPr lang="en-US" sz="1000" u="none" strike="noStrike" cap="none">
                          <a:solidFill>
                            <a:srgbClr val="151B29"/>
                          </a:solidFill>
                          <a:latin typeface="Arial"/>
                          <a:ea typeface="Arial"/>
                          <a:cs typeface="Arial"/>
                          <a:sym typeface="Arial"/>
                        </a:rPr>
                        <a:t>—</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FFFFF"/>
                    </a:solidFill>
                  </a:tcPr>
                </a:tc>
                <a:extLst>
                  <a:ext uri="{0D108BD9-81ED-4DB2-BD59-A6C34878D82A}">
                    <a16:rowId xmlns:a16="http://schemas.microsoft.com/office/drawing/2014/main" val="10004"/>
                  </a:ext>
                </a:extLst>
              </a:tr>
              <a:tr h="310900">
                <a:tc>
                  <a:txBody>
                    <a:bodyPr/>
                    <a:lstStyle/>
                    <a:p>
                      <a:pPr marL="0" marR="0" lvl="0" indent="0" algn="l" rtl="0">
                        <a:spcBef>
                          <a:spcPts val="0"/>
                        </a:spcBef>
                        <a:spcAft>
                          <a:spcPts val="0"/>
                        </a:spcAft>
                        <a:buClr>
                          <a:srgbClr val="151B29"/>
                        </a:buClr>
                        <a:buSzPts val="1000"/>
                        <a:buFont typeface="Arial"/>
                        <a:buNone/>
                      </a:pPr>
                      <a:r>
                        <a:rPr lang="en-US" sz="1000" u="none" strike="noStrike" cap="none">
                          <a:solidFill>
                            <a:srgbClr val="151B29"/>
                          </a:solidFill>
                          <a:latin typeface="Arial"/>
                          <a:ea typeface="Arial"/>
                          <a:cs typeface="Arial"/>
                          <a:sym typeface="Arial"/>
                        </a:rPr>
                        <a:t>LIBS, ChemCam class</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E8EDF6"/>
                    </a:solidFill>
                  </a:tcPr>
                </a:tc>
                <a:tc>
                  <a:txBody>
                    <a:bodyPr/>
                    <a:lstStyle/>
                    <a:p>
                      <a:pPr marL="0" marR="0" lvl="0" indent="0" algn="l" rtl="0">
                        <a:spcBef>
                          <a:spcPts val="0"/>
                        </a:spcBef>
                        <a:spcAft>
                          <a:spcPts val="0"/>
                        </a:spcAft>
                        <a:buClr>
                          <a:srgbClr val="151B29"/>
                        </a:buClr>
                        <a:buSzPts val="1000"/>
                        <a:buFont typeface="Arial"/>
                        <a:buNone/>
                      </a:pPr>
                      <a:r>
                        <a:rPr lang="en-US" sz="1000" u="none" strike="noStrike" cap="none">
                          <a:solidFill>
                            <a:srgbClr val="151B29"/>
                          </a:solidFill>
                          <a:latin typeface="Arial"/>
                          <a:ea typeface="Arial"/>
                          <a:cs typeface="Arial"/>
                          <a:sym typeface="Arial"/>
                        </a:rPr>
                        <a:t>Requires close range</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E8EDF6"/>
                    </a:solidFill>
                  </a:tcPr>
                </a:tc>
                <a:tc>
                  <a:txBody>
                    <a:bodyPr/>
                    <a:lstStyle/>
                    <a:p>
                      <a:pPr marL="0" marR="0" lvl="0" indent="0" algn="l" rtl="0">
                        <a:spcBef>
                          <a:spcPts val="0"/>
                        </a:spcBef>
                        <a:spcAft>
                          <a:spcPts val="0"/>
                        </a:spcAft>
                        <a:buClr>
                          <a:srgbClr val="151B29"/>
                        </a:buClr>
                        <a:buSzPts val="1000"/>
                        <a:buFont typeface="Arial"/>
                        <a:buNone/>
                      </a:pPr>
                      <a:r>
                        <a:rPr lang="en-US" sz="1000" u="none" strike="noStrike" cap="none">
                          <a:solidFill>
                            <a:srgbClr val="151B29"/>
                          </a:solidFill>
                          <a:latin typeface="Arial"/>
                          <a:ea typeface="Arial"/>
                          <a:cs typeface="Arial"/>
                          <a:sym typeface="Arial"/>
                        </a:rPr>
                        <a:t>—</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E8EDF6"/>
                    </a:solidFill>
                  </a:tcPr>
                </a:tc>
                <a:tc>
                  <a:txBody>
                    <a:bodyPr/>
                    <a:lstStyle/>
                    <a:p>
                      <a:pPr marL="0" marR="0" lvl="0" indent="0" algn="l" rtl="0">
                        <a:spcBef>
                          <a:spcPts val="0"/>
                        </a:spcBef>
                        <a:spcAft>
                          <a:spcPts val="0"/>
                        </a:spcAft>
                        <a:buClr>
                          <a:srgbClr val="151B29"/>
                        </a:buClr>
                        <a:buSzPts val="1000"/>
                        <a:buFont typeface="Arial"/>
                        <a:buNone/>
                      </a:pPr>
                      <a:r>
                        <a:rPr lang="en-US" sz="1000" u="none" strike="noStrike" cap="none">
                          <a:solidFill>
                            <a:srgbClr val="151B29"/>
                          </a:solidFill>
                          <a:latin typeface="Arial"/>
                          <a:ea typeface="Arial"/>
                          <a:cs typeface="Arial"/>
                          <a:sym typeface="Arial"/>
                        </a:rPr>
                        <a:t>High</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E8EDF6"/>
                    </a:solidFill>
                  </a:tcPr>
                </a:tc>
                <a:tc>
                  <a:txBody>
                    <a:bodyPr/>
                    <a:lstStyle/>
                    <a:p>
                      <a:pPr marL="0" marR="0" lvl="0" indent="0" algn="l" rtl="0">
                        <a:spcBef>
                          <a:spcPts val="0"/>
                        </a:spcBef>
                        <a:spcAft>
                          <a:spcPts val="0"/>
                        </a:spcAft>
                        <a:buClr>
                          <a:srgbClr val="151B29"/>
                        </a:buClr>
                        <a:buSzPts val="1000"/>
                        <a:buFont typeface="Arial"/>
                        <a:buNone/>
                      </a:pPr>
                      <a:r>
                        <a:rPr lang="en-US" sz="1000" u="none" strike="noStrike" cap="none">
                          <a:solidFill>
                            <a:srgbClr val="151B29"/>
                          </a:solidFill>
                          <a:latin typeface="Arial"/>
                          <a:ea typeface="Arial"/>
                          <a:cs typeface="Arial"/>
                          <a:sym typeface="Arial"/>
                        </a:rPr>
                        <a:t>—</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E8EDF6"/>
                    </a:solidFill>
                  </a:tcPr>
                </a:tc>
                <a:tc>
                  <a:txBody>
                    <a:bodyPr/>
                    <a:lstStyle/>
                    <a:p>
                      <a:pPr marL="0" marR="0" lvl="0" indent="0" algn="l" rtl="0">
                        <a:spcBef>
                          <a:spcPts val="0"/>
                        </a:spcBef>
                        <a:spcAft>
                          <a:spcPts val="0"/>
                        </a:spcAft>
                        <a:buClr>
                          <a:srgbClr val="151B29"/>
                        </a:buClr>
                        <a:buSzPts val="1000"/>
                        <a:buFont typeface="Arial"/>
                        <a:buNone/>
                      </a:pPr>
                      <a:r>
                        <a:rPr lang="en-US" sz="1000" u="none" strike="noStrike" cap="none">
                          <a:solidFill>
                            <a:srgbClr val="151B29"/>
                          </a:solidFill>
                          <a:latin typeface="Arial"/>
                          <a:ea typeface="Arial"/>
                          <a:cs typeface="Arial"/>
                          <a:sym typeface="Arial"/>
                        </a:rPr>
                        <a:t>—</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E8EDF6"/>
                    </a:solidFill>
                  </a:tcPr>
                </a:tc>
                <a:extLst>
                  <a:ext uri="{0D108BD9-81ED-4DB2-BD59-A6C34878D82A}">
                    <a16:rowId xmlns:a16="http://schemas.microsoft.com/office/drawing/2014/main" val="10005"/>
                  </a:ext>
                </a:extLst>
              </a:tr>
            </a:tbl>
          </a:graphicData>
        </a:graphic>
      </p:graphicFrame>
      <p:sp>
        <p:nvSpPr>
          <p:cNvPr id="653" name="Google Shape;653;p19"/>
          <p:cNvSpPr/>
          <p:nvPr/>
        </p:nvSpPr>
        <p:spPr>
          <a:xfrm>
            <a:off x="658368" y="4206240"/>
            <a:ext cx="3466490" cy="1883664"/>
          </a:xfrm>
          <a:prstGeom prst="roundRect">
            <a:avLst>
              <a:gd name="adj" fmla="val 4369"/>
            </a:avLst>
          </a:prstGeom>
          <a:solidFill>
            <a:srgbClr val="FFFFFF"/>
          </a:solidFill>
          <a:ln w="9525" cap="flat" cmpd="sng">
            <a:solidFill>
              <a:srgbClr val="C4CFE0"/>
            </a:solidFill>
            <a:prstDash val="solid"/>
            <a:round/>
            <a:headEnd type="none" w="sm" len="sm"/>
            <a:tailEnd type="none" w="sm" len="sm"/>
          </a:ln>
          <a:effectLst>
            <a:outerShdw blurRad="127000" dist="25400" dir="5400000" algn="bl" rotWithShape="0">
              <a:srgbClr val="0B1226">
                <a:alpha val="1019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4" name="Google Shape;654;p19"/>
          <p:cNvSpPr/>
          <p:nvPr/>
        </p:nvSpPr>
        <p:spPr>
          <a:xfrm>
            <a:off x="914400" y="4425696"/>
            <a:ext cx="2954426" cy="457200"/>
          </a:xfrm>
          <a:prstGeom prst="rect">
            <a:avLst/>
          </a:prstGeom>
          <a:noFill/>
          <a:ln>
            <a:noFill/>
          </a:ln>
        </p:spPr>
        <p:txBody>
          <a:bodyPr spcFirstLastPara="1" wrap="square" lIns="0" tIns="0" rIns="0" bIns="0" anchor="ctr" anchorCtr="0">
            <a:noAutofit/>
          </a:bodyPr>
          <a:lstStyle/>
          <a:p>
            <a:pPr marL="0" marR="0" lvl="0" indent="0" algn="l" rtl="0">
              <a:lnSpc>
                <a:spcPct val="96000"/>
              </a:lnSpc>
              <a:spcBef>
                <a:spcPts val="0"/>
              </a:spcBef>
              <a:spcAft>
                <a:spcPts val="0"/>
              </a:spcAft>
              <a:buClr>
                <a:srgbClr val="13234C"/>
              </a:buClr>
              <a:buSzPts val="1300"/>
              <a:buFont typeface="Arial"/>
              <a:buNone/>
            </a:pPr>
            <a:r>
              <a:rPr lang="en-US" sz="1300" b="1">
                <a:solidFill>
                  <a:srgbClr val="13234C"/>
                </a:solidFill>
                <a:latin typeface="Arial"/>
                <a:ea typeface="Arial"/>
                <a:cs typeface="Arial"/>
                <a:sym typeface="Arial"/>
              </a:rPr>
              <a:t>Incompatible with an orbiter-only contribution</a:t>
            </a:r>
            <a:endParaRPr sz="1300">
              <a:solidFill>
                <a:schemeClr val="dk1"/>
              </a:solidFill>
              <a:latin typeface="Calibri"/>
              <a:ea typeface="Calibri"/>
              <a:cs typeface="Calibri"/>
              <a:sym typeface="Calibri"/>
            </a:endParaRPr>
          </a:p>
        </p:txBody>
      </p:sp>
      <p:sp>
        <p:nvSpPr>
          <p:cNvPr id="655" name="Google Shape;655;p19"/>
          <p:cNvSpPr/>
          <p:nvPr/>
        </p:nvSpPr>
        <p:spPr>
          <a:xfrm>
            <a:off x="914400" y="4956048"/>
            <a:ext cx="2954426" cy="969264"/>
          </a:xfrm>
          <a:prstGeom prst="rect">
            <a:avLst/>
          </a:prstGeom>
          <a:noFill/>
          <a:ln>
            <a:noFill/>
          </a:ln>
        </p:spPr>
        <p:txBody>
          <a:bodyPr spcFirstLastPara="1" wrap="square" lIns="0" tIns="0" rIns="0" bIns="0" anchor="t" anchorCtr="0">
            <a:noAutofit/>
          </a:bodyPr>
          <a:lstStyle/>
          <a:p>
            <a:pPr marL="0" marR="0" lvl="0" indent="0" algn="l" rtl="0">
              <a:lnSpc>
                <a:spcPct val="114000"/>
              </a:lnSpc>
              <a:spcBef>
                <a:spcPts val="0"/>
              </a:spcBef>
              <a:spcAft>
                <a:spcPts val="0"/>
              </a:spcAft>
              <a:buClr>
                <a:srgbClr val="4C5468"/>
              </a:buClr>
              <a:buSzPts val="950"/>
              <a:buFont typeface="Arial"/>
              <a:buNone/>
            </a:pPr>
            <a:r>
              <a:rPr lang="en-US" sz="950">
                <a:solidFill>
                  <a:srgbClr val="4C5468"/>
                </a:solidFill>
                <a:latin typeface="Arial"/>
                <a:ea typeface="Arial"/>
                <a:cs typeface="Arial"/>
                <a:sym typeface="Arial"/>
              </a:rPr>
              <a:t>Mössbauer and MicrOmega are contact instruments requiring a landed platform; LIBS is close-range and requires high pointing precision. Establishing that sub-surface observation does not require a landing removed the premise beneath all three.</a:t>
            </a:r>
            <a:endParaRPr sz="950">
              <a:solidFill>
                <a:schemeClr val="dk1"/>
              </a:solidFill>
              <a:latin typeface="Calibri"/>
              <a:ea typeface="Calibri"/>
              <a:cs typeface="Calibri"/>
              <a:sym typeface="Calibri"/>
            </a:endParaRPr>
          </a:p>
        </p:txBody>
      </p:sp>
      <p:sp>
        <p:nvSpPr>
          <p:cNvPr id="656" name="Google Shape;656;p19"/>
          <p:cNvSpPr/>
          <p:nvPr/>
        </p:nvSpPr>
        <p:spPr>
          <a:xfrm>
            <a:off x="4362602" y="4206240"/>
            <a:ext cx="3466490" cy="1883664"/>
          </a:xfrm>
          <a:prstGeom prst="roundRect">
            <a:avLst>
              <a:gd name="adj" fmla="val 4369"/>
            </a:avLst>
          </a:prstGeom>
          <a:solidFill>
            <a:srgbClr val="FFFFFF"/>
          </a:solidFill>
          <a:ln w="9525" cap="flat" cmpd="sng">
            <a:solidFill>
              <a:srgbClr val="C4CFE0"/>
            </a:solidFill>
            <a:prstDash val="solid"/>
            <a:round/>
            <a:headEnd type="none" w="sm" len="sm"/>
            <a:tailEnd type="none" w="sm" len="sm"/>
          </a:ln>
          <a:effectLst>
            <a:outerShdw blurRad="127000" dist="25400" dir="5400000" algn="bl" rotWithShape="0">
              <a:srgbClr val="0B1226">
                <a:alpha val="1019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57" name="Google Shape;657;p19"/>
          <p:cNvSpPr/>
          <p:nvPr/>
        </p:nvSpPr>
        <p:spPr>
          <a:xfrm>
            <a:off x="4618634" y="4425696"/>
            <a:ext cx="2954426" cy="457200"/>
          </a:xfrm>
          <a:prstGeom prst="rect">
            <a:avLst/>
          </a:prstGeom>
          <a:noFill/>
          <a:ln>
            <a:noFill/>
          </a:ln>
        </p:spPr>
        <p:txBody>
          <a:bodyPr spcFirstLastPara="1" wrap="square" lIns="0" tIns="0" rIns="0" bIns="0" anchor="ctr" anchorCtr="0">
            <a:noAutofit/>
          </a:bodyPr>
          <a:lstStyle/>
          <a:p>
            <a:pPr marL="0" marR="0" lvl="0" indent="0" algn="l" rtl="0">
              <a:lnSpc>
                <a:spcPct val="96000"/>
              </a:lnSpc>
              <a:spcBef>
                <a:spcPts val="0"/>
              </a:spcBef>
              <a:spcAft>
                <a:spcPts val="0"/>
              </a:spcAft>
              <a:buClr>
                <a:srgbClr val="13234C"/>
              </a:buClr>
              <a:buSzPts val="1300"/>
              <a:buFont typeface="Arial"/>
              <a:buNone/>
            </a:pPr>
            <a:r>
              <a:rPr lang="en-US" sz="1300" b="1">
                <a:solidFill>
                  <a:srgbClr val="13234C"/>
                </a:solidFill>
                <a:latin typeface="Arial"/>
                <a:ea typeface="Arial"/>
                <a:cs typeface="Arial"/>
                <a:sym typeface="Arial"/>
              </a:rPr>
              <a:t>Separated on scientific complementarity</a:t>
            </a:r>
            <a:endParaRPr sz="1300">
              <a:solidFill>
                <a:schemeClr val="dk1"/>
              </a:solidFill>
              <a:latin typeface="Calibri"/>
              <a:ea typeface="Calibri"/>
              <a:cs typeface="Calibri"/>
              <a:sym typeface="Calibri"/>
            </a:endParaRPr>
          </a:p>
        </p:txBody>
      </p:sp>
      <p:sp>
        <p:nvSpPr>
          <p:cNvPr id="658" name="Google Shape;658;p19"/>
          <p:cNvSpPr/>
          <p:nvPr/>
        </p:nvSpPr>
        <p:spPr>
          <a:xfrm>
            <a:off x="4618634" y="4956048"/>
            <a:ext cx="2954426" cy="969264"/>
          </a:xfrm>
          <a:prstGeom prst="rect">
            <a:avLst/>
          </a:prstGeom>
          <a:noFill/>
          <a:ln>
            <a:noFill/>
          </a:ln>
        </p:spPr>
        <p:txBody>
          <a:bodyPr spcFirstLastPara="1" wrap="square" lIns="0" tIns="0" rIns="0" bIns="0" anchor="t" anchorCtr="0">
            <a:noAutofit/>
          </a:bodyPr>
          <a:lstStyle/>
          <a:p>
            <a:pPr marL="0" marR="0" lvl="0" indent="0" algn="l" rtl="0">
              <a:lnSpc>
                <a:spcPct val="114000"/>
              </a:lnSpc>
              <a:spcBef>
                <a:spcPts val="0"/>
              </a:spcBef>
              <a:spcAft>
                <a:spcPts val="0"/>
              </a:spcAft>
              <a:buClr>
                <a:srgbClr val="4C5468"/>
              </a:buClr>
              <a:buSzPts val="950"/>
              <a:buFont typeface="Arial"/>
              <a:buNone/>
            </a:pPr>
            <a:r>
              <a:rPr lang="en-US" sz="950">
                <a:solidFill>
                  <a:srgbClr val="4C5468"/>
                </a:solidFill>
                <a:latin typeface="Arial"/>
                <a:ea typeface="Arial"/>
                <a:cs typeface="Arial"/>
                <a:sym typeface="Arial"/>
              </a:rPr>
              <a:t>Neutron spectroscopy primarily constrains hydrogen and volatile abundance, which does not enter the mineralogical inversion. Resolving this gap requires multi-element ratios such as Mg/Si and Fe/Si.</a:t>
            </a:r>
            <a:endParaRPr sz="950">
              <a:solidFill>
                <a:schemeClr val="dk1"/>
              </a:solidFill>
              <a:latin typeface="Calibri"/>
              <a:ea typeface="Calibri"/>
              <a:cs typeface="Calibri"/>
              <a:sym typeface="Calibri"/>
            </a:endParaRPr>
          </a:p>
        </p:txBody>
      </p:sp>
      <p:sp>
        <p:nvSpPr>
          <p:cNvPr id="659" name="Google Shape;659;p19"/>
          <p:cNvSpPr/>
          <p:nvPr/>
        </p:nvSpPr>
        <p:spPr>
          <a:xfrm>
            <a:off x="8066837" y="4206240"/>
            <a:ext cx="3466490" cy="1883664"/>
          </a:xfrm>
          <a:prstGeom prst="roundRect">
            <a:avLst>
              <a:gd name="adj" fmla="val 4369"/>
            </a:avLst>
          </a:prstGeom>
          <a:solidFill>
            <a:srgbClr val="FFFFFF"/>
          </a:solidFill>
          <a:ln w="9525" cap="flat" cmpd="sng">
            <a:solidFill>
              <a:srgbClr val="C4CFE0"/>
            </a:solidFill>
            <a:prstDash val="solid"/>
            <a:round/>
            <a:headEnd type="none" w="sm" len="sm"/>
            <a:tailEnd type="none" w="sm" len="sm"/>
          </a:ln>
          <a:effectLst>
            <a:outerShdw blurRad="127000" dist="25400" dir="5400000" algn="bl" rotWithShape="0">
              <a:srgbClr val="0B1226">
                <a:alpha val="1019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60" name="Google Shape;660;p19"/>
          <p:cNvSpPr/>
          <p:nvPr/>
        </p:nvSpPr>
        <p:spPr>
          <a:xfrm>
            <a:off x="8322869" y="4425696"/>
            <a:ext cx="2954426" cy="457200"/>
          </a:xfrm>
          <a:prstGeom prst="rect">
            <a:avLst/>
          </a:prstGeom>
          <a:noFill/>
          <a:ln>
            <a:noFill/>
          </a:ln>
        </p:spPr>
        <p:txBody>
          <a:bodyPr spcFirstLastPara="1" wrap="square" lIns="0" tIns="0" rIns="0" bIns="0" anchor="ctr" anchorCtr="0">
            <a:noAutofit/>
          </a:bodyPr>
          <a:lstStyle/>
          <a:p>
            <a:pPr marL="0" marR="0" lvl="0" indent="0" algn="l" rtl="0">
              <a:lnSpc>
                <a:spcPct val="96000"/>
              </a:lnSpc>
              <a:spcBef>
                <a:spcPts val="0"/>
              </a:spcBef>
              <a:spcAft>
                <a:spcPts val="0"/>
              </a:spcAft>
              <a:buClr>
                <a:srgbClr val="13234C"/>
              </a:buClr>
              <a:buSzPts val="1300"/>
              <a:buFont typeface="Arial"/>
              <a:buNone/>
            </a:pPr>
            <a:r>
              <a:rPr lang="en-US" sz="1300" b="1">
                <a:solidFill>
                  <a:srgbClr val="13234C"/>
                </a:solidFill>
                <a:latin typeface="Arial"/>
                <a:ea typeface="Arial"/>
                <a:cs typeface="Arial"/>
                <a:sym typeface="Arial"/>
              </a:rPr>
              <a:t>The wrong quantity, well accessed</a:t>
            </a:r>
            <a:endParaRPr sz="1300">
              <a:solidFill>
                <a:schemeClr val="dk1"/>
              </a:solidFill>
              <a:latin typeface="Calibri"/>
              <a:ea typeface="Calibri"/>
              <a:cs typeface="Calibri"/>
              <a:sym typeface="Calibri"/>
            </a:endParaRPr>
          </a:p>
        </p:txBody>
      </p:sp>
      <p:sp>
        <p:nvSpPr>
          <p:cNvPr id="661" name="Google Shape;661;p19"/>
          <p:cNvSpPr/>
          <p:nvPr/>
        </p:nvSpPr>
        <p:spPr>
          <a:xfrm>
            <a:off x="8322869" y="4956048"/>
            <a:ext cx="2954426" cy="969264"/>
          </a:xfrm>
          <a:prstGeom prst="rect">
            <a:avLst/>
          </a:prstGeom>
          <a:noFill/>
          <a:ln>
            <a:noFill/>
          </a:ln>
        </p:spPr>
        <p:txBody>
          <a:bodyPr spcFirstLastPara="1" wrap="square" lIns="0" tIns="0" rIns="0" bIns="0" anchor="t" anchorCtr="0">
            <a:noAutofit/>
          </a:bodyPr>
          <a:lstStyle/>
          <a:p>
            <a:pPr marL="0" marR="0" lvl="0" indent="0" algn="l" rtl="0">
              <a:lnSpc>
                <a:spcPct val="114000"/>
              </a:lnSpc>
              <a:spcBef>
                <a:spcPts val="0"/>
              </a:spcBef>
              <a:spcAft>
                <a:spcPts val="0"/>
              </a:spcAft>
              <a:buClr>
                <a:srgbClr val="4C5468"/>
              </a:buClr>
              <a:buSzPts val="950"/>
              <a:buFont typeface="Arial"/>
              <a:buNone/>
            </a:pPr>
            <a:r>
              <a:rPr lang="en-US" sz="950">
                <a:solidFill>
                  <a:srgbClr val="4C5468"/>
                </a:solidFill>
                <a:latin typeface="Arial"/>
                <a:ea typeface="Arial"/>
                <a:cs typeface="Arial"/>
                <a:sym typeface="Arial"/>
              </a:rPr>
              <a:t>LIBS solves access better than any other candidate and still returns the wrong quantity. Bulk elemental abundance barely moves under weathering, so profiling elements through the rind would most likely return no difference.</a:t>
            </a:r>
            <a:endParaRPr sz="950">
              <a:solidFill>
                <a:schemeClr val="dk1"/>
              </a:solidFill>
              <a:latin typeface="Calibri"/>
              <a:ea typeface="Calibri"/>
              <a:cs typeface="Calibri"/>
              <a:sym typeface="Calibri"/>
            </a:endParaRPr>
          </a:p>
        </p:txBody>
      </p:sp>
      <p:pic>
        <p:nvPicPr>
          <p:cNvPr id="662" name="Google Shape;662;p19" descr="/home/claude/work/a2/logo_dark.png"/>
          <p:cNvPicPr preferRelativeResize="0"/>
          <p:nvPr/>
        </p:nvPicPr>
        <p:blipFill rotWithShape="1">
          <a:blip r:embed="rId4">
            <a:alphaModFix/>
          </a:blip>
          <a:srcRect/>
          <a:stretch/>
        </p:blipFill>
        <p:spPr>
          <a:xfrm>
            <a:off x="10616340" y="122984"/>
            <a:ext cx="1450538" cy="814736"/>
          </a:xfrm>
          <a:prstGeom prst="rect">
            <a:avLst/>
          </a:prstGeom>
          <a:noFill/>
          <a:ln>
            <a:noFill/>
          </a:ln>
        </p:spPr>
      </p:pic>
      <p:sp>
        <p:nvSpPr>
          <p:cNvPr id="663" name="Google Shape;663;p19"/>
          <p:cNvSpPr txBox="1"/>
          <p:nvPr/>
        </p:nvSpPr>
        <p:spPr>
          <a:xfrm>
            <a:off x="5626159" y="6581001"/>
            <a:ext cx="939681"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a:solidFill>
                  <a:srgbClr val="000000"/>
                </a:solidFill>
                <a:latin typeface="Calibri"/>
                <a:ea typeface="Calibri"/>
                <a:cs typeface="Calibri"/>
                <a:sym typeface="Calibri"/>
              </a:rPr>
              <a:t>   </a:t>
            </a:r>
            <a:r>
              <a:rPr lang="en-US" sz="1200">
                <a:solidFill>
                  <a:srgbClr val="339966"/>
                </a:solidFill>
                <a:latin typeface="Calibri"/>
                <a:ea typeface="Calibri"/>
                <a:cs typeface="Calibri"/>
                <a:sym typeface="Calibri"/>
              </a:rPr>
              <a:t>Public</a:t>
            </a:r>
            <a:r>
              <a:rPr lang="en-US" sz="1200">
                <a:solidFill>
                  <a:srgbClr val="000000"/>
                </a:solidFill>
                <a:latin typeface="Calibri"/>
                <a:ea typeface="Calibri"/>
                <a:cs typeface="Calibri"/>
                <a:sym typeface="Calibri"/>
              </a:rPr>
              <a:t>   </a:t>
            </a:r>
            <a:r>
              <a:rPr lang="en-US" sz="1200">
                <a:solidFill>
                  <a:srgbClr val="339966"/>
                </a:solidFill>
                <a:latin typeface="Calibri"/>
                <a:ea typeface="Calibri"/>
                <a:cs typeface="Calibri"/>
                <a:sym typeface="Calibri"/>
              </a:rPr>
              <a:t>عام</a:t>
            </a:r>
            <a:endParaRPr sz="1200">
              <a:solidFill>
                <a:srgbClr val="339966"/>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bg>
      <p:bgPr>
        <a:solidFill>
          <a:srgbClr val="D9E1EF"/>
        </a:solidFill>
        <a:effectLst/>
      </p:bgPr>
    </p:bg>
    <p:spTree>
      <p:nvGrpSpPr>
        <p:cNvPr id="1" name="Shape 668"/>
        <p:cNvGrpSpPr/>
        <p:nvPr/>
      </p:nvGrpSpPr>
      <p:grpSpPr>
        <a:xfrm>
          <a:off x="0" y="0"/>
          <a:ext cx="0" cy="0"/>
          <a:chOff x="0" y="0"/>
          <a:chExt cx="0" cy="0"/>
        </a:xfrm>
      </p:grpSpPr>
      <p:pic>
        <p:nvPicPr>
          <p:cNvPr id="669" name="Google Shape;669;p20" descr="/home/claude/work/a2/light_wash.jpg"/>
          <p:cNvPicPr preferRelativeResize="0"/>
          <p:nvPr/>
        </p:nvPicPr>
        <p:blipFill rotWithShape="1">
          <a:blip r:embed="rId3">
            <a:alphaModFix/>
          </a:blip>
          <a:srcRect/>
          <a:stretch/>
        </p:blipFill>
        <p:spPr>
          <a:xfrm>
            <a:off x="0" y="0"/>
            <a:ext cx="12191695" cy="6858000"/>
          </a:xfrm>
          <a:prstGeom prst="rect">
            <a:avLst/>
          </a:prstGeom>
          <a:noFill/>
          <a:ln>
            <a:noFill/>
          </a:ln>
        </p:spPr>
      </p:pic>
      <p:sp>
        <p:nvSpPr>
          <p:cNvPr id="670" name="Google Shape;670;p20"/>
          <p:cNvSpPr/>
          <p:nvPr/>
        </p:nvSpPr>
        <p:spPr>
          <a:xfrm>
            <a:off x="658368" y="530352"/>
            <a:ext cx="905256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A33D"/>
              </a:buClr>
              <a:buSzPts val="950"/>
              <a:buFont typeface="Arial"/>
              <a:buNone/>
            </a:pPr>
            <a:r>
              <a:rPr lang="en-US" sz="950" b="1">
                <a:solidFill>
                  <a:srgbClr val="E8A33D"/>
                </a:solidFill>
                <a:latin typeface="Arial"/>
                <a:ea typeface="Arial"/>
                <a:cs typeface="Arial"/>
                <a:sym typeface="Arial"/>
              </a:rPr>
              <a:t>APPENDIX</a:t>
            </a:r>
            <a:endParaRPr sz="950">
              <a:solidFill>
                <a:schemeClr val="dk1"/>
              </a:solidFill>
              <a:latin typeface="Calibri"/>
              <a:ea typeface="Calibri"/>
              <a:cs typeface="Calibri"/>
              <a:sym typeface="Calibri"/>
            </a:endParaRPr>
          </a:p>
        </p:txBody>
      </p:sp>
      <p:sp>
        <p:nvSpPr>
          <p:cNvPr id="671" name="Google Shape;671;p20"/>
          <p:cNvSpPr/>
          <p:nvPr/>
        </p:nvSpPr>
        <p:spPr>
          <a:xfrm>
            <a:off x="658368" y="795528"/>
            <a:ext cx="9052560" cy="409903"/>
          </a:xfrm>
          <a:prstGeom prst="rect">
            <a:avLst/>
          </a:prstGeom>
          <a:noFill/>
          <a:ln>
            <a:noFill/>
          </a:ln>
        </p:spPr>
        <p:txBody>
          <a:bodyPr spcFirstLastPara="1" wrap="square" lIns="0" tIns="0" rIns="0" bIns="0" anchor="ctr" anchorCtr="0">
            <a:noAutofit/>
          </a:bodyPr>
          <a:lstStyle/>
          <a:p>
            <a:pPr marL="0" marR="0" lvl="0" indent="0" algn="l" rtl="0">
              <a:lnSpc>
                <a:spcPct val="92000"/>
              </a:lnSpc>
              <a:spcBef>
                <a:spcPts val="0"/>
              </a:spcBef>
              <a:spcAft>
                <a:spcPts val="0"/>
              </a:spcAft>
              <a:buClr>
                <a:srgbClr val="13234C"/>
              </a:buClr>
              <a:buSzPts val="2600"/>
              <a:buFont typeface="Arial"/>
              <a:buNone/>
            </a:pPr>
            <a:r>
              <a:rPr lang="en-US" sz="2600" b="1">
                <a:solidFill>
                  <a:srgbClr val="13234C"/>
                </a:solidFill>
                <a:latin typeface="Arial"/>
                <a:ea typeface="Arial"/>
                <a:cs typeface="Arial"/>
                <a:sym typeface="Arial"/>
              </a:rPr>
              <a:t>Accommodation &amp; Open Technical Items</a:t>
            </a:r>
            <a:endParaRPr sz="2600">
              <a:solidFill>
                <a:schemeClr val="dk1"/>
              </a:solidFill>
              <a:latin typeface="Calibri"/>
              <a:ea typeface="Calibri"/>
              <a:cs typeface="Calibri"/>
              <a:sym typeface="Calibri"/>
            </a:endParaRPr>
          </a:p>
        </p:txBody>
      </p:sp>
      <p:sp>
        <p:nvSpPr>
          <p:cNvPr id="672" name="Google Shape;672;p20"/>
          <p:cNvSpPr/>
          <p:nvPr/>
        </p:nvSpPr>
        <p:spPr>
          <a:xfrm>
            <a:off x="658368" y="1260295"/>
            <a:ext cx="9052560" cy="3291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4C5468"/>
              </a:buClr>
              <a:buSzPts val="1250"/>
              <a:buFont typeface="Arial"/>
              <a:buNone/>
            </a:pPr>
            <a:r>
              <a:rPr lang="en-US" sz="1250">
                <a:solidFill>
                  <a:srgbClr val="4C5468"/>
                </a:solidFill>
                <a:latin typeface="Arial"/>
                <a:ea typeface="Arial"/>
                <a:cs typeface="Arial"/>
                <a:sym typeface="Arial"/>
              </a:rPr>
              <a:t>Detail supporting the recommendation and the first technical exchange.</a:t>
            </a:r>
            <a:endParaRPr sz="1250">
              <a:solidFill>
                <a:schemeClr val="dk1"/>
              </a:solidFill>
              <a:latin typeface="Calibri"/>
              <a:ea typeface="Calibri"/>
              <a:cs typeface="Calibri"/>
              <a:sym typeface="Calibri"/>
            </a:endParaRPr>
          </a:p>
        </p:txBody>
      </p:sp>
      <p:sp>
        <p:nvSpPr>
          <p:cNvPr id="673" name="Google Shape;673;p20"/>
          <p:cNvSpPr/>
          <p:nvPr/>
        </p:nvSpPr>
        <p:spPr>
          <a:xfrm>
            <a:off x="658368" y="2084832"/>
            <a:ext cx="3466490" cy="1883664"/>
          </a:xfrm>
          <a:prstGeom prst="roundRect">
            <a:avLst>
              <a:gd name="adj" fmla="val 4369"/>
            </a:avLst>
          </a:prstGeom>
          <a:solidFill>
            <a:srgbClr val="FFFFFF"/>
          </a:solidFill>
          <a:ln w="9525" cap="flat" cmpd="sng">
            <a:solidFill>
              <a:srgbClr val="C4CFE0"/>
            </a:solidFill>
            <a:prstDash val="solid"/>
            <a:round/>
            <a:headEnd type="none" w="sm" len="sm"/>
            <a:tailEnd type="none" w="sm" len="sm"/>
          </a:ln>
          <a:effectLst>
            <a:outerShdw blurRad="127000" dist="25400" dir="5400000" algn="bl" rotWithShape="0">
              <a:srgbClr val="0B1226">
                <a:alpha val="1019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4" name="Google Shape;674;p20"/>
          <p:cNvSpPr/>
          <p:nvPr/>
        </p:nvSpPr>
        <p:spPr>
          <a:xfrm>
            <a:off x="914400" y="2286000"/>
            <a:ext cx="2954426" cy="420624"/>
          </a:xfrm>
          <a:prstGeom prst="rect">
            <a:avLst/>
          </a:prstGeom>
          <a:noFill/>
          <a:ln>
            <a:noFill/>
          </a:ln>
        </p:spPr>
        <p:txBody>
          <a:bodyPr spcFirstLastPara="1" wrap="square" lIns="0" tIns="0" rIns="0" bIns="0" anchor="ctr" anchorCtr="0">
            <a:noAutofit/>
          </a:bodyPr>
          <a:lstStyle/>
          <a:p>
            <a:pPr marL="0" marR="0" lvl="0" indent="0" algn="l" rtl="0">
              <a:lnSpc>
                <a:spcPct val="96000"/>
              </a:lnSpc>
              <a:spcBef>
                <a:spcPts val="0"/>
              </a:spcBef>
              <a:spcAft>
                <a:spcPts val="0"/>
              </a:spcAft>
              <a:buClr>
                <a:srgbClr val="13234C"/>
              </a:buClr>
              <a:buSzPts val="1300"/>
              <a:buFont typeface="Arial"/>
              <a:buNone/>
            </a:pPr>
            <a:r>
              <a:rPr lang="en-US" sz="1300" b="1">
                <a:solidFill>
                  <a:srgbClr val="13234C"/>
                </a:solidFill>
                <a:latin typeface="Arial"/>
                <a:ea typeface="Arial"/>
                <a:cs typeface="Arial"/>
                <a:sym typeface="Arial"/>
              </a:rPr>
              <a:t>Platform: main orbiter, not Farinella</a:t>
            </a:r>
            <a:endParaRPr sz="1300">
              <a:solidFill>
                <a:schemeClr val="dk1"/>
              </a:solidFill>
              <a:latin typeface="Calibri"/>
              <a:ea typeface="Calibri"/>
              <a:cs typeface="Calibri"/>
              <a:sym typeface="Calibri"/>
            </a:endParaRPr>
          </a:p>
        </p:txBody>
      </p:sp>
      <p:sp>
        <p:nvSpPr>
          <p:cNvPr id="675" name="Google Shape;675;p20"/>
          <p:cNvSpPr/>
          <p:nvPr/>
        </p:nvSpPr>
        <p:spPr>
          <a:xfrm>
            <a:off x="914400" y="2816352"/>
            <a:ext cx="2954426" cy="1005840"/>
          </a:xfrm>
          <a:prstGeom prst="rect">
            <a:avLst/>
          </a:prstGeom>
          <a:noFill/>
          <a:ln>
            <a:noFill/>
          </a:ln>
        </p:spPr>
        <p:txBody>
          <a:bodyPr spcFirstLastPara="1" wrap="square" lIns="0" tIns="0" rIns="0" bIns="0" anchor="t" anchorCtr="0">
            <a:noAutofit/>
          </a:bodyPr>
          <a:lstStyle/>
          <a:p>
            <a:pPr marL="0" marR="0" lvl="0" indent="0" algn="l" rtl="0">
              <a:lnSpc>
                <a:spcPct val="114000"/>
              </a:lnSpc>
              <a:spcBef>
                <a:spcPts val="0"/>
              </a:spcBef>
              <a:spcAft>
                <a:spcPts val="0"/>
              </a:spcAft>
              <a:buClr>
                <a:srgbClr val="4C5468"/>
              </a:buClr>
              <a:buSzPts val="900"/>
              <a:buFont typeface="Arial"/>
              <a:buNone/>
            </a:pPr>
            <a:r>
              <a:rPr lang="en-US" sz="900">
                <a:solidFill>
                  <a:srgbClr val="4C5468"/>
                </a:solidFill>
                <a:latin typeface="Arial"/>
                <a:ea typeface="Arial"/>
                <a:cs typeface="Arial"/>
                <a:sym typeface="Arial"/>
              </a:rPr>
              <a:t>The cooled germanium sensor exceeds what a 6U-XL CubeSat carries in mass and standing power, and the measurement needs an accumulation window of months. It also belongs beside HAMLET: a shared platform means shared observation geometry and coverage, which is what permits one map to be subtracted from the other.</a:t>
            </a:r>
            <a:endParaRPr sz="900">
              <a:solidFill>
                <a:schemeClr val="dk1"/>
              </a:solidFill>
              <a:latin typeface="Calibri"/>
              <a:ea typeface="Calibri"/>
              <a:cs typeface="Calibri"/>
              <a:sym typeface="Calibri"/>
            </a:endParaRPr>
          </a:p>
        </p:txBody>
      </p:sp>
      <p:sp>
        <p:nvSpPr>
          <p:cNvPr id="676" name="Google Shape;676;p20"/>
          <p:cNvSpPr/>
          <p:nvPr/>
        </p:nvSpPr>
        <p:spPr>
          <a:xfrm>
            <a:off x="4362602" y="2084832"/>
            <a:ext cx="3466490" cy="1883664"/>
          </a:xfrm>
          <a:prstGeom prst="roundRect">
            <a:avLst>
              <a:gd name="adj" fmla="val 4369"/>
            </a:avLst>
          </a:prstGeom>
          <a:solidFill>
            <a:srgbClr val="FFFFFF"/>
          </a:solidFill>
          <a:ln w="9525" cap="flat" cmpd="sng">
            <a:solidFill>
              <a:srgbClr val="C4CFE0"/>
            </a:solidFill>
            <a:prstDash val="solid"/>
            <a:round/>
            <a:headEnd type="none" w="sm" len="sm"/>
            <a:tailEnd type="none" w="sm" len="sm"/>
          </a:ln>
          <a:effectLst>
            <a:outerShdw blurRad="127000" dist="25400" dir="5400000" algn="bl" rotWithShape="0">
              <a:srgbClr val="0B1226">
                <a:alpha val="1019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77" name="Google Shape;677;p20"/>
          <p:cNvSpPr/>
          <p:nvPr/>
        </p:nvSpPr>
        <p:spPr>
          <a:xfrm>
            <a:off x="4618634" y="2286000"/>
            <a:ext cx="2954426" cy="420624"/>
          </a:xfrm>
          <a:prstGeom prst="rect">
            <a:avLst/>
          </a:prstGeom>
          <a:noFill/>
          <a:ln>
            <a:noFill/>
          </a:ln>
        </p:spPr>
        <p:txBody>
          <a:bodyPr spcFirstLastPara="1" wrap="square" lIns="0" tIns="0" rIns="0" bIns="0" anchor="ctr" anchorCtr="0">
            <a:noAutofit/>
          </a:bodyPr>
          <a:lstStyle/>
          <a:p>
            <a:pPr marL="0" marR="0" lvl="0" indent="0" algn="l" rtl="0">
              <a:lnSpc>
                <a:spcPct val="96000"/>
              </a:lnSpc>
              <a:spcBef>
                <a:spcPts val="0"/>
              </a:spcBef>
              <a:spcAft>
                <a:spcPts val="0"/>
              </a:spcAft>
              <a:buClr>
                <a:srgbClr val="13234C"/>
              </a:buClr>
              <a:buSzPts val="1300"/>
              <a:buFont typeface="Arial"/>
              <a:buNone/>
            </a:pPr>
            <a:r>
              <a:rPr lang="en-US" sz="1300" b="1">
                <a:solidFill>
                  <a:srgbClr val="13234C"/>
                </a:solidFill>
                <a:latin typeface="Arial"/>
                <a:ea typeface="Arial"/>
                <a:cs typeface="Arial"/>
                <a:sym typeface="Arial"/>
              </a:rPr>
              <a:t>Spatial resolution</a:t>
            </a:r>
            <a:endParaRPr sz="1300">
              <a:solidFill>
                <a:schemeClr val="dk1"/>
              </a:solidFill>
              <a:latin typeface="Calibri"/>
              <a:ea typeface="Calibri"/>
              <a:cs typeface="Calibri"/>
              <a:sym typeface="Calibri"/>
            </a:endParaRPr>
          </a:p>
        </p:txBody>
      </p:sp>
      <p:sp>
        <p:nvSpPr>
          <p:cNvPr id="678" name="Google Shape;678;p20"/>
          <p:cNvSpPr/>
          <p:nvPr/>
        </p:nvSpPr>
        <p:spPr>
          <a:xfrm>
            <a:off x="4618634" y="2816352"/>
            <a:ext cx="2954426" cy="1005840"/>
          </a:xfrm>
          <a:prstGeom prst="rect">
            <a:avLst/>
          </a:prstGeom>
          <a:noFill/>
          <a:ln>
            <a:noFill/>
          </a:ln>
        </p:spPr>
        <p:txBody>
          <a:bodyPr spcFirstLastPara="1" wrap="square" lIns="0" tIns="0" rIns="0" bIns="0" anchor="t" anchorCtr="0">
            <a:noAutofit/>
          </a:bodyPr>
          <a:lstStyle/>
          <a:p>
            <a:pPr marL="0" marR="0" lvl="0" indent="0" algn="l" rtl="0">
              <a:lnSpc>
                <a:spcPct val="114000"/>
              </a:lnSpc>
              <a:spcBef>
                <a:spcPts val="0"/>
              </a:spcBef>
              <a:spcAft>
                <a:spcPts val="0"/>
              </a:spcAft>
              <a:buClr>
                <a:srgbClr val="4C5468"/>
              </a:buClr>
              <a:buSzPts val="900"/>
              <a:buFont typeface="Arial"/>
              <a:buNone/>
            </a:pPr>
            <a:r>
              <a:rPr lang="en-US" sz="900">
                <a:solidFill>
                  <a:srgbClr val="4C5468"/>
                </a:solidFill>
                <a:latin typeface="Arial"/>
                <a:ea typeface="Arial"/>
                <a:cs typeface="Arial"/>
                <a:sym typeface="Arial"/>
              </a:rPr>
              <a:t>Reads a broad patch, tens to hundreds of metres. The mission already maps in detail; this supplies the calibrated value that map is read against.</a:t>
            </a:r>
            <a:endParaRPr sz="900">
              <a:solidFill>
                <a:schemeClr val="dk1"/>
              </a:solidFill>
              <a:latin typeface="Calibri"/>
              <a:ea typeface="Calibri"/>
              <a:cs typeface="Calibri"/>
              <a:sym typeface="Calibri"/>
            </a:endParaRPr>
          </a:p>
        </p:txBody>
      </p:sp>
      <p:sp>
        <p:nvSpPr>
          <p:cNvPr id="679" name="Google Shape;679;p20"/>
          <p:cNvSpPr/>
          <p:nvPr/>
        </p:nvSpPr>
        <p:spPr>
          <a:xfrm>
            <a:off x="8066837" y="2084832"/>
            <a:ext cx="3466490" cy="1883664"/>
          </a:xfrm>
          <a:prstGeom prst="roundRect">
            <a:avLst>
              <a:gd name="adj" fmla="val 4369"/>
            </a:avLst>
          </a:prstGeom>
          <a:solidFill>
            <a:srgbClr val="FFFFFF"/>
          </a:solidFill>
          <a:ln w="9525" cap="flat" cmpd="sng">
            <a:solidFill>
              <a:srgbClr val="C4CFE0"/>
            </a:solidFill>
            <a:prstDash val="solid"/>
            <a:round/>
            <a:headEnd type="none" w="sm" len="sm"/>
            <a:tailEnd type="none" w="sm" len="sm"/>
          </a:ln>
          <a:effectLst>
            <a:outerShdw blurRad="127000" dist="25400" dir="5400000" algn="bl" rotWithShape="0">
              <a:srgbClr val="0B1226">
                <a:alpha val="1019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0" name="Google Shape;680;p20"/>
          <p:cNvSpPr/>
          <p:nvPr/>
        </p:nvSpPr>
        <p:spPr>
          <a:xfrm>
            <a:off x="8322869" y="2286000"/>
            <a:ext cx="2954426" cy="420624"/>
          </a:xfrm>
          <a:prstGeom prst="rect">
            <a:avLst/>
          </a:prstGeom>
          <a:noFill/>
          <a:ln>
            <a:noFill/>
          </a:ln>
        </p:spPr>
        <p:txBody>
          <a:bodyPr spcFirstLastPara="1" wrap="square" lIns="0" tIns="0" rIns="0" bIns="0" anchor="ctr" anchorCtr="0">
            <a:noAutofit/>
          </a:bodyPr>
          <a:lstStyle/>
          <a:p>
            <a:pPr marL="0" marR="0" lvl="0" indent="0" algn="l" rtl="0">
              <a:lnSpc>
                <a:spcPct val="96000"/>
              </a:lnSpc>
              <a:spcBef>
                <a:spcPts val="0"/>
              </a:spcBef>
              <a:spcAft>
                <a:spcPts val="0"/>
              </a:spcAft>
              <a:buClr>
                <a:srgbClr val="13234C"/>
              </a:buClr>
              <a:buSzPts val="1300"/>
              <a:buFont typeface="Arial"/>
              <a:buNone/>
            </a:pPr>
            <a:r>
              <a:rPr lang="en-US" sz="1300" b="1">
                <a:solidFill>
                  <a:srgbClr val="13234C"/>
                </a:solidFill>
                <a:latin typeface="Arial"/>
                <a:ea typeface="Arial"/>
                <a:cs typeface="Arial"/>
                <a:sym typeface="Arial"/>
              </a:rPr>
              <a:t>Integration time</a:t>
            </a:r>
            <a:endParaRPr sz="1300">
              <a:solidFill>
                <a:schemeClr val="dk1"/>
              </a:solidFill>
              <a:latin typeface="Calibri"/>
              <a:ea typeface="Calibri"/>
              <a:cs typeface="Calibri"/>
              <a:sym typeface="Calibri"/>
            </a:endParaRPr>
          </a:p>
        </p:txBody>
      </p:sp>
      <p:sp>
        <p:nvSpPr>
          <p:cNvPr id="681" name="Google Shape;681;p20"/>
          <p:cNvSpPr/>
          <p:nvPr/>
        </p:nvSpPr>
        <p:spPr>
          <a:xfrm>
            <a:off x="8322869" y="2816352"/>
            <a:ext cx="2954426" cy="1005840"/>
          </a:xfrm>
          <a:prstGeom prst="rect">
            <a:avLst/>
          </a:prstGeom>
          <a:noFill/>
          <a:ln>
            <a:noFill/>
          </a:ln>
        </p:spPr>
        <p:txBody>
          <a:bodyPr spcFirstLastPara="1" wrap="square" lIns="0" tIns="0" rIns="0" bIns="0" anchor="t" anchorCtr="0">
            <a:noAutofit/>
          </a:bodyPr>
          <a:lstStyle/>
          <a:p>
            <a:pPr marL="0" marR="0" lvl="0" indent="0" algn="l" rtl="0">
              <a:lnSpc>
                <a:spcPct val="114000"/>
              </a:lnSpc>
              <a:spcBef>
                <a:spcPts val="0"/>
              </a:spcBef>
              <a:spcAft>
                <a:spcPts val="0"/>
              </a:spcAft>
              <a:buClr>
                <a:srgbClr val="4C5468"/>
              </a:buClr>
              <a:buSzPts val="900"/>
              <a:buFont typeface="Arial"/>
              <a:buNone/>
            </a:pPr>
            <a:r>
              <a:rPr lang="en-US" sz="900">
                <a:solidFill>
                  <a:srgbClr val="4C5468"/>
                </a:solidFill>
                <a:latin typeface="Arial"/>
                <a:ea typeface="Arial"/>
                <a:cs typeface="Arial"/>
                <a:sym typeface="Arial"/>
              </a:rPr>
              <a:t>Gamma emission is faint, so precision accumulates over hours and days. The instrument is passive — no laser, no mechanism, no pointing — and gathers while the spacecraft works.</a:t>
            </a:r>
            <a:endParaRPr sz="900">
              <a:solidFill>
                <a:schemeClr val="dk1"/>
              </a:solidFill>
              <a:latin typeface="Calibri"/>
              <a:ea typeface="Calibri"/>
              <a:cs typeface="Calibri"/>
              <a:sym typeface="Calibri"/>
            </a:endParaRPr>
          </a:p>
        </p:txBody>
      </p:sp>
      <p:sp>
        <p:nvSpPr>
          <p:cNvPr id="682" name="Google Shape;682;p20"/>
          <p:cNvSpPr/>
          <p:nvPr/>
        </p:nvSpPr>
        <p:spPr>
          <a:xfrm>
            <a:off x="658368" y="4187952"/>
            <a:ext cx="640080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C5468"/>
              </a:buClr>
              <a:buSzPts val="900"/>
              <a:buFont typeface="Arial"/>
              <a:buNone/>
            </a:pPr>
            <a:r>
              <a:rPr lang="en-US" sz="900" b="1">
                <a:solidFill>
                  <a:srgbClr val="4C5468"/>
                </a:solidFill>
                <a:latin typeface="Arial"/>
                <a:ea typeface="Arial"/>
                <a:cs typeface="Arial"/>
                <a:sym typeface="Arial"/>
              </a:rPr>
              <a:t>PARTNERSHIP — GAMMA-RAY SPECTROMETERS BUILT</a:t>
            </a:r>
            <a:endParaRPr sz="900">
              <a:solidFill>
                <a:schemeClr val="dk1"/>
              </a:solidFill>
              <a:latin typeface="Calibri"/>
              <a:ea typeface="Calibri"/>
              <a:cs typeface="Calibri"/>
              <a:sym typeface="Calibri"/>
            </a:endParaRPr>
          </a:p>
        </p:txBody>
      </p:sp>
      <p:graphicFrame>
        <p:nvGraphicFramePr>
          <p:cNvPr id="683" name="Google Shape;683;p20"/>
          <p:cNvGraphicFramePr/>
          <p:nvPr/>
        </p:nvGraphicFramePr>
        <p:xfrm>
          <a:off x="658368" y="4462272"/>
          <a:ext cx="6720825" cy="1049510"/>
        </p:xfrm>
        <a:graphic>
          <a:graphicData uri="http://schemas.openxmlformats.org/drawingml/2006/table">
            <a:tbl>
              <a:tblPr>
                <a:noFill/>
                <a:tableStyleId>{3F18019F-0D7F-44A6-9491-1058076FFA4A}</a:tableStyleId>
              </a:tblPr>
              <a:tblGrid>
                <a:gridCol w="1874525">
                  <a:extLst>
                    <a:ext uri="{9D8B030D-6E8A-4147-A177-3AD203B41FA5}">
                      <a16:colId xmlns:a16="http://schemas.microsoft.com/office/drawing/2014/main" val="20000"/>
                    </a:ext>
                  </a:extLst>
                </a:gridCol>
                <a:gridCol w="2194550">
                  <a:extLst>
                    <a:ext uri="{9D8B030D-6E8A-4147-A177-3AD203B41FA5}">
                      <a16:colId xmlns:a16="http://schemas.microsoft.com/office/drawing/2014/main" val="20001"/>
                    </a:ext>
                  </a:extLst>
                </a:gridCol>
                <a:gridCol w="2651750">
                  <a:extLst>
                    <a:ext uri="{9D8B030D-6E8A-4147-A177-3AD203B41FA5}">
                      <a16:colId xmlns:a16="http://schemas.microsoft.com/office/drawing/2014/main" val="20002"/>
                    </a:ext>
                  </a:extLst>
                </a:gridCol>
              </a:tblGrid>
              <a:tr h="329175">
                <a:tc>
                  <a:txBody>
                    <a:bodyPr/>
                    <a:lstStyle/>
                    <a:p>
                      <a:pPr marL="0" marR="0" lvl="0" indent="0" algn="l" rtl="0">
                        <a:spcBef>
                          <a:spcPts val="0"/>
                        </a:spcBef>
                        <a:spcAft>
                          <a:spcPts val="0"/>
                        </a:spcAft>
                        <a:buClr>
                          <a:srgbClr val="FFFFFF"/>
                        </a:buClr>
                        <a:buSzPts val="950"/>
                        <a:buFont typeface="Arial"/>
                        <a:buNone/>
                      </a:pPr>
                      <a:r>
                        <a:rPr lang="en-US" sz="950" b="1" u="none" strike="noStrike" cap="none">
                          <a:solidFill>
                            <a:srgbClr val="FFFFFF"/>
                          </a:solidFill>
                          <a:latin typeface="Arial"/>
                          <a:ea typeface="Arial"/>
                          <a:cs typeface="Arial"/>
                          <a:sym typeface="Arial"/>
                        </a:rPr>
                        <a:t>Laboratory</a:t>
                      </a:r>
                      <a:endParaRPr sz="95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13234C"/>
                    </a:solidFill>
                  </a:tcPr>
                </a:tc>
                <a:tc>
                  <a:txBody>
                    <a:bodyPr/>
                    <a:lstStyle/>
                    <a:p>
                      <a:pPr marL="0" marR="0" lvl="0" indent="0" algn="l" rtl="0">
                        <a:spcBef>
                          <a:spcPts val="0"/>
                        </a:spcBef>
                        <a:spcAft>
                          <a:spcPts val="0"/>
                        </a:spcAft>
                        <a:buClr>
                          <a:srgbClr val="FFFFFF"/>
                        </a:buClr>
                        <a:buSzPts val="950"/>
                        <a:buFont typeface="Arial"/>
                        <a:buNone/>
                      </a:pPr>
                      <a:r>
                        <a:rPr lang="en-US" sz="950" b="1" u="none" strike="noStrike" cap="none">
                          <a:solidFill>
                            <a:srgbClr val="FFFFFF"/>
                          </a:solidFill>
                          <a:latin typeface="Arial"/>
                          <a:ea typeface="Arial"/>
                          <a:cs typeface="Arial"/>
                          <a:sym typeface="Arial"/>
                        </a:rPr>
                        <a:t>Role</a:t>
                      </a:r>
                      <a:endParaRPr sz="95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13234C"/>
                    </a:solidFill>
                  </a:tcPr>
                </a:tc>
                <a:tc>
                  <a:txBody>
                    <a:bodyPr/>
                    <a:lstStyle/>
                    <a:p>
                      <a:pPr marL="0" marR="0" lvl="0" indent="0" algn="l" rtl="0">
                        <a:spcBef>
                          <a:spcPts val="0"/>
                        </a:spcBef>
                        <a:spcAft>
                          <a:spcPts val="0"/>
                        </a:spcAft>
                        <a:buClr>
                          <a:srgbClr val="FFFFFF"/>
                        </a:buClr>
                        <a:buSzPts val="950"/>
                        <a:buFont typeface="Arial"/>
                        <a:buNone/>
                      </a:pPr>
                      <a:r>
                        <a:rPr lang="en-US" sz="950" b="1" u="none" strike="noStrike" cap="none">
                          <a:solidFill>
                            <a:srgbClr val="FFFFFF"/>
                          </a:solidFill>
                          <a:latin typeface="Arial"/>
                          <a:ea typeface="Arial"/>
                          <a:cs typeface="Arial"/>
                          <a:sym typeface="Arial"/>
                        </a:rPr>
                        <a:t>Instruments built</a:t>
                      </a:r>
                      <a:endParaRPr sz="95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13234C"/>
                    </a:solidFill>
                  </a:tcPr>
                </a:tc>
                <a:extLst>
                  <a:ext uri="{0D108BD9-81ED-4DB2-BD59-A6C34878D82A}">
                    <a16:rowId xmlns:a16="http://schemas.microsoft.com/office/drawing/2014/main" val="10000"/>
                  </a:ext>
                </a:extLst>
              </a:tr>
              <a:tr h="329175">
                <a:tc>
                  <a:txBody>
                    <a:bodyPr/>
                    <a:lstStyle/>
                    <a:p>
                      <a:pPr marL="0" marR="0" lvl="0" indent="0" algn="l" rtl="0">
                        <a:spcBef>
                          <a:spcPts val="0"/>
                        </a:spcBef>
                        <a:spcAft>
                          <a:spcPts val="0"/>
                        </a:spcAft>
                        <a:buClr>
                          <a:srgbClr val="151B29"/>
                        </a:buClr>
                        <a:buSzPts val="950"/>
                        <a:buFont typeface="Arial"/>
                        <a:buNone/>
                      </a:pPr>
                      <a:r>
                        <a:rPr lang="en-US" sz="950" b="1" u="none" strike="noStrike" cap="none">
                          <a:solidFill>
                            <a:srgbClr val="151B29"/>
                          </a:solidFill>
                          <a:latin typeface="Arial"/>
                          <a:ea typeface="Arial"/>
                          <a:cs typeface="Arial"/>
                          <a:sym typeface="Arial"/>
                        </a:rPr>
                        <a:t>Johns Hopkins APL</a:t>
                      </a:r>
                      <a:endParaRPr sz="95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51B29"/>
                        </a:buClr>
                        <a:buSzPts val="950"/>
                        <a:buFont typeface="Arial"/>
                        <a:buNone/>
                      </a:pPr>
                      <a:r>
                        <a:rPr lang="en-US" sz="950" u="none" strike="noStrike" cap="none">
                          <a:solidFill>
                            <a:srgbClr val="151B29"/>
                          </a:solidFill>
                          <a:latin typeface="Arial"/>
                          <a:ea typeface="Arial"/>
                          <a:cs typeface="Arial"/>
                          <a:sym typeface="Arial"/>
                        </a:rPr>
                        <a:t>Instrument lead and integrator</a:t>
                      </a:r>
                      <a:endParaRPr sz="95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51B29"/>
                        </a:buClr>
                        <a:buSzPts val="950"/>
                        <a:buFont typeface="Arial"/>
                        <a:buNone/>
                      </a:pPr>
                      <a:r>
                        <a:rPr lang="en-US" sz="950" u="none" strike="noStrike" cap="none">
                          <a:solidFill>
                            <a:srgbClr val="151B29"/>
                          </a:solidFill>
                          <a:latin typeface="Arial"/>
                          <a:ea typeface="Arial"/>
                          <a:cs typeface="Arial"/>
                          <a:sym typeface="Arial"/>
                        </a:rPr>
                        <a:t>NEAR Shoemaker, MESSENGER, MEGANE, Psyche, Dragonfly</a:t>
                      </a:r>
                      <a:endParaRPr sz="95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329175">
                <a:tc>
                  <a:txBody>
                    <a:bodyPr/>
                    <a:lstStyle/>
                    <a:p>
                      <a:pPr marL="0" marR="0" lvl="0" indent="0" algn="l" rtl="0">
                        <a:spcBef>
                          <a:spcPts val="0"/>
                        </a:spcBef>
                        <a:spcAft>
                          <a:spcPts val="0"/>
                        </a:spcAft>
                        <a:buClr>
                          <a:srgbClr val="151B29"/>
                        </a:buClr>
                        <a:buSzPts val="950"/>
                        <a:buFont typeface="Arial"/>
                        <a:buNone/>
                      </a:pPr>
                      <a:r>
                        <a:rPr lang="en-US" sz="950" b="1" u="none" strike="noStrike" cap="none">
                          <a:solidFill>
                            <a:srgbClr val="151B29"/>
                          </a:solidFill>
                          <a:latin typeface="Arial"/>
                          <a:ea typeface="Arial"/>
                          <a:cs typeface="Arial"/>
                          <a:sym typeface="Arial"/>
                        </a:rPr>
                        <a:t>Lawrence Livermore NL</a:t>
                      </a:r>
                      <a:endParaRPr sz="95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E8EDF6"/>
                    </a:solidFill>
                  </a:tcPr>
                </a:tc>
                <a:tc>
                  <a:txBody>
                    <a:bodyPr/>
                    <a:lstStyle/>
                    <a:p>
                      <a:pPr marL="0" marR="0" lvl="0" indent="0" algn="l" rtl="0">
                        <a:spcBef>
                          <a:spcPts val="0"/>
                        </a:spcBef>
                        <a:spcAft>
                          <a:spcPts val="0"/>
                        </a:spcAft>
                        <a:buClr>
                          <a:srgbClr val="151B29"/>
                        </a:buClr>
                        <a:buSzPts val="950"/>
                        <a:buFont typeface="Arial"/>
                        <a:buNone/>
                      </a:pPr>
                      <a:r>
                        <a:rPr lang="en-US" sz="950" u="none" strike="noStrike" cap="none">
                          <a:solidFill>
                            <a:srgbClr val="151B29"/>
                          </a:solidFill>
                          <a:latin typeface="Arial"/>
                          <a:ea typeface="Arial"/>
                          <a:cs typeface="Arial"/>
                          <a:sym typeface="Arial"/>
                        </a:rPr>
                        <a:t>High-purity germanium sensor</a:t>
                      </a:r>
                      <a:endParaRPr sz="95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E8EDF6"/>
                    </a:solidFill>
                  </a:tcPr>
                </a:tc>
                <a:tc>
                  <a:txBody>
                    <a:bodyPr/>
                    <a:lstStyle/>
                    <a:p>
                      <a:pPr marL="0" marR="0" lvl="0" indent="0" algn="l" rtl="0">
                        <a:spcBef>
                          <a:spcPts val="0"/>
                        </a:spcBef>
                        <a:spcAft>
                          <a:spcPts val="0"/>
                        </a:spcAft>
                        <a:buClr>
                          <a:srgbClr val="151B29"/>
                        </a:buClr>
                        <a:buSzPts val="950"/>
                        <a:buFont typeface="Arial"/>
                        <a:buNone/>
                      </a:pPr>
                      <a:r>
                        <a:rPr lang="en-US" sz="950" u="none" strike="noStrike" cap="none">
                          <a:solidFill>
                            <a:srgbClr val="151B29"/>
                          </a:solidFill>
                          <a:latin typeface="Arial"/>
                          <a:ea typeface="Arial"/>
                          <a:cs typeface="Arial"/>
                          <a:sym typeface="Arial"/>
                        </a:rPr>
                        <a:t>MESSENGER, MEGANE, Psyche</a:t>
                      </a:r>
                      <a:endParaRPr sz="95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E8EDF6"/>
                    </a:solidFill>
                  </a:tcPr>
                </a:tc>
                <a:extLst>
                  <a:ext uri="{0D108BD9-81ED-4DB2-BD59-A6C34878D82A}">
                    <a16:rowId xmlns:a16="http://schemas.microsoft.com/office/drawing/2014/main" val="10002"/>
                  </a:ext>
                </a:extLst>
              </a:tr>
            </a:tbl>
          </a:graphicData>
        </a:graphic>
      </p:graphicFrame>
      <p:sp>
        <p:nvSpPr>
          <p:cNvPr id="684" name="Google Shape;684;p20"/>
          <p:cNvSpPr/>
          <p:nvPr/>
        </p:nvSpPr>
        <p:spPr>
          <a:xfrm>
            <a:off x="7699248" y="4187952"/>
            <a:ext cx="384048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C5468"/>
              </a:buClr>
              <a:buSzPts val="900"/>
              <a:buFont typeface="Arial"/>
              <a:buNone/>
            </a:pPr>
            <a:r>
              <a:rPr lang="en-US" sz="900" b="1">
                <a:solidFill>
                  <a:srgbClr val="4C5468"/>
                </a:solidFill>
                <a:latin typeface="Arial"/>
                <a:ea typeface="Arial"/>
                <a:cs typeface="Arial"/>
                <a:sym typeface="Arial"/>
              </a:rPr>
              <a:t>OPEN FOR THE FIRST TECHNICAL EXCHANGE</a:t>
            </a:r>
            <a:endParaRPr sz="900">
              <a:solidFill>
                <a:schemeClr val="dk1"/>
              </a:solidFill>
              <a:latin typeface="Calibri"/>
              <a:ea typeface="Calibri"/>
              <a:cs typeface="Calibri"/>
              <a:sym typeface="Calibri"/>
            </a:endParaRPr>
          </a:p>
        </p:txBody>
      </p:sp>
      <p:sp>
        <p:nvSpPr>
          <p:cNvPr id="685" name="Google Shape;685;p20"/>
          <p:cNvSpPr/>
          <p:nvPr/>
        </p:nvSpPr>
        <p:spPr>
          <a:xfrm>
            <a:off x="7699248" y="4462272"/>
            <a:ext cx="3831336" cy="1645920"/>
          </a:xfrm>
          <a:prstGeom prst="roundRect">
            <a:avLst>
              <a:gd name="adj" fmla="val 5000"/>
            </a:avLst>
          </a:prstGeom>
          <a:solidFill>
            <a:srgbClr val="FFFFFF"/>
          </a:solidFill>
          <a:ln w="9525" cap="flat" cmpd="sng">
            <a:solidFill>
              <a:srgbClr val="C4CFE0"/>
            </a:solidFill>
            <a:prstDash val="solid"/>
            <a:round/>
            <a:headEnd type="none" w="sm" len="sm"/>
            <a:tailEnd type="none" w="sm" len="sm"/>
          </a:ln>
          <a:effectLst>
            <a:outerShdw blurRad="127000" dist="25400" dir="5400000" algn="bl" rotWithShape="0">
              <a:srgbClr val="0B1226">
                <a:alpha val="1019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6" name="Google Shape;686;p20"/>
          <p:cNvSpPr/>
          <p:nvPr/>
        </p:nvSpPr>
        <p:spPr>
          <a:xfrm>
            <a:off x="7955280" y="4704588"/>
            <a:ext cx="64008" cy="64008"/>
          </a:xfrm>
          <a:prstGeom prst="ellipse">
            <a:avLst/>
          </a:prstGeom>
          <a:solidFill>
            <a:srgbClr val="E8A33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7" name="Google Shape;687;p20"/>
          <p:cNvSpPr/>
          <p:nvPr/>
        </p:nvSpPr>
        <p:spPr>
          <a:xfrm>
            <a:off x="8156448" y="4599432"/>
            <a:ext cx="3200400" cy="512064"/>
          </a:xfrm>
          <a:prstGeom prst="rect">
            <a:avLst/>
          </a:prstGeom>
          <a:noFill/>
          <a:ln>
            <a:noFill/>
          </a:ln>
        </p:spPr>
        <p:txBody>
          <a:bodyPr spcFirstLastPara="1" wrap="square" lIns="0" tIns="0" rIns="0" bIns="0" anchor="t" anchorCtr="0">
            <a:noAutofit/>
          </a:bodyPr>
          <a:lstStyle/>
          <a:p>
            <a:pPr marL="0" marR="0" lvl="0" indent="0" algn="l" rtl="0">
              <a:lnSpc>
                <a:spcPct val="114000"/>
              </a:lnSpc>
              <a:spcBef>
                <a:spcPts val="0"/>
              </a:spcBef>
              <a:spcAft>
                <a:spcPts val="0"/>
              </a:spcAft>
              <a:buClr>
                <a:srgbClr val="151B29"/>
              </a:buClr>
              <a:buSzPts val="900"/>
              <a:buFont typeface="Arial"/>
              <a:buNone/>
            </a:pPr>
            <a:r>
              <a:rPr lang="en-US" sz="900">
                <a:solidFill>
                  <a:srgbClr val="151B29"/>
                </a:solidFill>
                <a:latin typeface="Arial"/>
                <a:ea typeface="Arial"/>
                <a:cs typeface="Arial"/>
                <a:sym typeface="Arial"/>
              </a:rPr>
              <a:t>Footprint achievable at the planned operating altitude.</a:t>
            </a:r>
            <a:endParaRPr sz="900">
              <a:solidFill>
                <a:schemeClr val="dk1"/>
              </a:solidFill>
              <a:latin typeface="Calibri"/>
              <a:ea typeface="Calibri"/>
              <a:cs typeface="Calibri"/>
              <a:sym typeface="Calibri"/>
            </a:endParaRPr>
          </a:p>
        </p:txBody>
      </p:sp>
      <p:sp>
        <p:nvSpPr>
          <p:cNvPr id="688" name="Google Shape;688;p20"/>
          <p:cNvSpPr/>
          <p:nvPr/>
        </p:nvSpPr>
        <p:spPr>
          <a:xfrm>
            <a:off x="7955280" y="5106924"/>
            <a:ext cx="64008" cy="64008"/>
          </a:xfrm>
          <a:prstGeom prst="ellipse">
            <a:avLst/>
          </a:prstGeom>
          <a:solidFill>
            <a:srgbClr val="E8A33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89" name="Google Shape;689;p20"/>
          <p:cNvSpPr/>
          <p:nvPr/>
        </p:nvSpPr>
        <p:spPr>
          <a:xfrm>
            <a:off x="8156448" y="5001768"/>
            <a:ext cx="3200400" cy="512064"/>
          </a:xfrm>
          <a:prstGeom prst="rect">
            <a:avLst/>
          </a:prstGeom>
          <a:noFill/>
          <a:ln>
            <a:noFill/>
          </a:ln>
        </p:spPr>
        <p:txBody>
          <a:bodyPr spcFirstLastPara="1" wrap="square" lIns="0" tIns="0" rIns="0" bIns="0" anchor="t" anchorCtr="0">
            <a:noAutofit/>
          </a:bodyPr>
          <a:lstStyle/>
          <a:p>
            <a:pPr marL="0" marR="0" lvl="0" indent="0" algn="l" rtl="0">
              <a:lnSpc>
                <a:spcPct val="114000"/>
              </a:lnSpc>
              <a:spcBef>
                <a:spcPts val="0"/>
              </a:spcBef>
              <a:spcAft>
                <a:spcPts val="0"/>
              </a:spcAft>
              <a:buClr>
                <a:srgbClr val="151B29"/>
              </a:buClr>
              <a:buSzPts val="900"/>
              <a:buFont typeface="Arial"/>
              <a:buNone/>
            </a:pPr>
            <a:r>
              <a:rPr lang="en-US" sz="900">
                <a:solidFill>
                  <a:srgbClr val="151B29"/>
                </a:solidFill>
                <a:latin typeface="Arial"/>
                <a:ea typeface="Arial"/>
                <a:cs typeface="Arial"/>
                <a:sym typeface="Arial"/>
              </a:rPr>
              <a:t>Boom against body mounting — spacecraft materials generate the same background the instrument measures.</a:t>
            </a:r>
            <a:endParaRPr sz="900">
              <a:solidFill>
                <a:schemeClr val="dk1"/>
              </a:solidFill>
              <a:latin typeface="Calibri"/>
              <a:ea typeface="Calibri"/>
              <a:cs typeface="Calibri"/>
              <a:sym typeface="Calibri"/>
            </a:endParaRPr>
          </a:p>
        </p:txBody>
      </p:sp>
      <p:sp>
        <p:nvSpPr>
          <p:cNvPr id="690" name="Google Shape;690;p20"/>
          <p:cNvSpPr/>
          <p:nvPr/>
        </p:nvSpPr>
        <p:spPr>
          <a:xfrm>
            <a:off x="7955280" y="5637276"/>
            <a:ext cx="64008" cy="64008"/>
          </a:xfrm>
          <a:prstGeom prst="ellipse">
            <a:avLst/>
          </a:prstGeom>
          <a:solidFill>
            <a:srgbClr val="E8A33D"/>
          </a:solid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691" name="Google Shape;691;p20"/>
          <p:cNvSpPr/>
          <p:nvPr/>
        </p:nvSpPr>
        <p:spPr>
          <a:xfrm>
            <a:off x="8156448" y="5532120"/>
            <a:ext cx="3200400" cy="512064"/>
          </a:xfrm>
          <a:prstGeom prst="rect">
            <a:avLst/>
          </a:prstGeom>
          <a:noFill/>
          <a:ln>
            <a:noFill/>
          </a:ln>
        </p:spPr>
        <p:txBody>
          <a:bodyPr spcFirstLastPara="1" wrap="square" lIns="0" tIns="0" rIns="0" bIns="0" anchor="t" anchorCtr="0">
            <a:noAutofit/>
          </a:bodyPr>
          <a:lstStyle/>
          <a:p>
            <a:pPr marL="0" marR="0" lvl="0" indent="0" algn="l" rtl="0">
              <a:lnSpc>
                <a:spcPct val="114000"/>
              </a:lnSpc>
              <a:spcBef>
                <a:spcPts val="0"/>
              </a:spcBef>
              <a:spcAft>
                <a:spcPts val="0"/>
              </a:spcAft>
              <a:buClr>
                <a:srgbClr val="151B29"/>
              </a:buClr>
              <a:buSzPts val="900"/>
              <a:buFont typeface="Arial"/>
              <a:buNone/>
            </a:pPr>
            <a:r>
              <a:rPr lang="en-US" sz="900">
                <a:solidFill>
                  <a:srgbClr val="151B29"/>
                </a:solidFill>
                <a:latin typeface="Arial"/>
                <a:ea typeface="Arial"/>
                <a:cs typeface="Arial"/>
                <a:sym typeface="Arial"/>
              </a:rPr>
              <a:t>Export control and technology transfer: both laboratories are United States national laboratories.</a:t>
            </a:r>
            <a:endParaRPr sz="900">
              <a:solidFill>
                <a:schemeClr val="dk1"/>
              </a:solidFill>
              <a:latin typeface="Calibri"/>
              <a:ea typeface="Calibri"/>
              <a:cs typeface="Calibri"/>
              <a:sym typeface="Calibri"/>
            </a:endParaRPr>
          </a:p>
        </p:txBody>
      </p:sp>
      <p:pic>
        <p:nvPicPr>
          <p:cNvPr id="692" name="Google Shape;692;p20" descr="/home/claude/work/a2/logo_dark.png"/>
          <p:cNvPicPr preferRelativeResize="0"/>
          <p:nvPr/>
        </p:nvPicPr>
        <p:blipFill rotWithShape="1">
          <a:blip r:embed="rId4">
            <a:alphaModFix/>
          </a:blip>
          <a:srcRect/>
          <a:stretch/>
        </p:blipFill>
        <p:spPr>
          <a:xfrm>
            <a:off x="10616340" y="122984"/>
            <a:ext cx="1450538" cy="814736"/>
          </a:xfrm>
          <a:prstGeom prst="rect">
            <a:avLst/>
          </a:prstGeom>
          <a:noFill/>
          <a:ln>
            <a:noFill/>
          </a:ln>
        </p:spPr>
      </p:pic>
      <p:sp>
        <p:nvSpPr>
          <p:cNvPr id="693" name="Google Shape;693;p20"/>
          <p:cNvSpPr txBox="1"/>
          <p:nvPr/>
        </p:nvSpPr>
        <p:spPr>
          <a:xfrm>
            <a:off x="5626159" y="6581001"/>
            <a:ext cx="939681"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a:solidFill>
                  <a:srgbClr val="000000"/>
                </a:solidFill>
                <a:latin typeface="Calibri"/>
                <a:ea typeface="Calibri"/>
                <a:cs typeface="Calibri"/>
                <a:sym typeface="Calibri"/>
              </a:rPr>
              <a:t>   </a:t>
            </a:r>
            <a:r>
              <a:rPr lang="en-US" sz="1200">
                <a:solidFill>
                  <a:srgbClr val="339966"/>
                </a:solidFill>
                <a:latin typeface="Calibri"/>
                <a:ea typeface="Calibri"/>
                <a:cs typeface="Calibri"/>
                <a:sym typeface="Calibri"/>
              </a:rPr>
              <a:t>Public</a:t>
            </a:r>
            <a:r>
              <a:rPr lang="en-US" sz="1200">
                <a:solidFill>
                  <a:srgbClr val="000000"/>
                </a:solidFill>
                <a:latin typeface="Calibri"/>
                <a:ea typeface="Calibri"/>
                <a:cs typeface="Calibri"/>
                <a:sym typeface="Calibri"/>
              </a:rPr>
              <a:t>   </a:t>
            </a:r>
            <a:r>
              <a:rPr lang="en-US" sz="1200">
                <a:solidFill>
                  <a:srgbClr val="339966"/>
                </a:solidFill>
                <a:latin typeface="Calibri"/>
                <a:ea typeface="Calibri"/>
                <a:cs typeface="Calibri"/>
                <a:sym typeface="Calibri"/>
              </a:rPr>
              <a:t>عام</a:t>
            </a:r>
            <a:endParaRPr sz="1200">
              <a:solidFill>
                <a:srgbClr val="339966"/>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bg>
      <p:bgPr>
        <a:solidFill>
          <a:srgbClr val="D9E1EF"/>
        </a:solidFill>
        <a:effectLst/>
      </p:bgPr>
    </p:bg>
    <p:spTree>
      <p:nvGrpSpPr>
        <p:cNvPr id="1" name="Shape 698"/>
        <p:cNvGrpSpPr/>
        <p:nvPr/>
      </p:nvGrpSpPr>
      <p:grpSpPr>
        <a:xfrm>
          <a:off x="0" y="0"/>
          <a:ext cx="0" cy="0"/>
          <a:chOff x="0" y="0"/>
          <a:chExt cx="0" cy="0"/>
        </a:xfrm>
      </p:grpSpPr>
      <p:pic>
        <p:nvPicPr>
          <p:cNvPr id="699" name="Google Shape;699;p21" descr="/home/claude/work/a2/light_wash.jpg"/>
          <p:cNvPicPr preferRelativeResize="0"/>
          <p:nvPr/>
        </p:nvPicPr>
        <p:blipFill rotWithShape="1">
          <a:blip r:embed="rId3">
            <a:alphaModFix/>
          </a:blip>
          <a:srcRect/>
          <a:stretch/>
        </p:blipFill>
        <p:spPr>
          <a:xfrm>
            <a:off x="0" y="0"/>
            <a:ext cx="12191695" cy="6858000"/>
          </a:xfrm>
          <a:prstGeom prst="rect">
            <a:avLst/>
          </a:prstGeom>
          <a:noFill/>
          <a:ln>
            <a:noFill/>
          </a:ln>
        </p:spPr>
      </p:pic>
      <p:sp>
        <p:nvSpPr>
          <p:cNvPr id="700" name="Google Shape;700;p21"/>
          <p:cNvSpPr/>
          <p:nvPr/>
        </p:nvSpPr>
        <p:spPr>
          <a:xfrm>
            <a:off x="658368" y="530352"/>
            <a:ext cx="905256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E8A33D"/>
              </a:buClr>
              <a:buSzPts val="950"/>
              <a:buFont typeface="Arial"/>
              <a:buNone/>
            </a:pPr>
            <a:r>
              <a:rPr lang="en-US" sz="950" b="1">
                <a:solidFill>
                  <a:srgbClr val="E8A33D"/>
                </a:solidFill>
                <a:latin typeface="Arial"/>
                <a:ea typeface="Arial"/>
                <a:cs typeface="Arial"/>
                <a:sym typeface="Arial"/>
              </a:rPr>
              <a:t>APPENDIX</a:t>
            </a:r>
            <a:endParaRPr sz="950">
              <a:solidFill>
                <a:schemeClr val="dk1"/>
              </a:solidFill>
              <a:latin typeface="Calibri"/>
              <a:ea typeface="Calibri"/>
              <a:cs typeface="Calibri"/>
              <a:sym typeface="Calibri"/>
            </a:endParaRPr>
          </a:p>
        </p:txBody>
      </p:sp>
      <p:sp>
        <p:nvSpPr>
          <p:cNvPr id="701" name="Google Shape;701;p21"/>
          <p:cNvSpPr/>
          <p:nvPr/>
        </p:nvSpPr>
        <p:spPr>
          <a:xfrm>
            <a:off x="658368" y="795528"/>
            <a:ext cx="9052560" cy="409903"/>
          </a:xfrm>
          <a:prstGeom prst="rect">
            <a:avLst/>
          </a:prstGeom>
          <a:noFill/>
          <a:ln>
            <a:noFill/>
          </a:ln>
        </p:spPr>
        <p:txBody>
          <a:bodyPr spcFirstLastPara="1" wrap="square" lIns="0" tIns="0" rIns="0" bIns="0" anchor="ctr" anchorCtr="0">
            <a:noAutofit/>
          </a:bodyPr>
          <a:lstStyle/>
          <a:p>
            <a:pPr marL="0" marR="0" lvl="0" indent="0" algn="l" rtl="0">
              <a:lnSpc>
                <a:spcPct val="92000"/>
              </a:lnSpc>
              <a:spcBef>
                <a:spcPts val="0"/>
              </a:spcBef>
              <a:spcAft>
                <a:spcPts val="0"/>
              </a:spcAft>
              <a:buClr>
                <a:srgbClr val="13234C"/>
              </a:buClr>
              <a:buSzPts val="2600"/>
              <a:buFont typeface="Arial"/>
              <a:buNone/>
            </a:pPr>
            <a:r>
              <a:rPr lang="en-US" sz="2600" b="1">
                <a:solidFill>
                  <a:srgbClr val="13234C"/>
                </a:solidFill>
                <a:latin typeface="Arial"/>
                <a:ea typeface="Arial"/>
                <a:cs typeface="Arial"/>
                <a:sym typeface="Arial"/>
              </a:rPr>
              <a:t>Knowledge Gap Register — Evidence</a:t>
            </a:r>
            <a:endParaRPr sz="2600">
              <a:solidFill>
                <a:schemeClr val="dk1"/>
              </a:solidFill>
              <a:latin typeface="Calibri"/>
              <a:ea typeface="Calibri"/>
              <a:cs typeface="Calibri"/>
              <a:sym typeface="Calibri"/>
            </a:endParaRPr>
          </a:p>
        </p:txBody>
      </p:sp>
      <p:sp>
        <p:nvSpPr>
          <p:cNvPr id="702" name="Google Shape;702;p21"/>
          <p:cNvSpPr/>
          <p:nvPr/>
        </p:nvSpPr>
        <p:spPr>
          <a:xfrm>
            <a:off x="658368" y="1260295"/>
            <a:ext cx="9052560" cy="329184"/>
          </a:xfrm>
          <a:prstGeom prst="rect">
            <a:avLst/>
          </a:prstGeom>
          <a:noFill/>
          <a:ln>
            <a:noFill/>
          </a:ln>
        </p:spPr>
        <p:txBody>
          <a:bodyPr spcFirstLastPara="1" wrap="square" lIns="0" tIns="0" rIns="0" bIns="0" anchor="t" anchorCtr="0">
            <a:noAutofit/>
          </a:bodyPr>
          <a:lstStyle/>
          <a:p>
            <a:pPr marL="0" marR="0" lvl="0" indent="0" algn="l" rtl="0">
              <a:spcBef>
                <a:spcPts val="0"/>
              </a:spcBef>
              <a:spcAft>
                <a:spcPts val="0"/>
              </a:spcAft>
              <a:buClr>
                <a:srgbClr val="4C5468"/>
              </a:buClr>
              <a:buSzPts val="1250"/>
              <a:buFont typeface="Arial"/>
              <a:buNone/>
            </a:pPr>
            <a:r>
              <a:rPr lang="en-US" sz="1250">
                <a:solidFill>
                  <a:srgbClr val="4C5468"/>
                </a:solidFill>
                <a:latin typeface="Arial"/>
                <a:ea typeface="Arial"/>
                <a:cs typeface="Arial"/>
                <a:sym typeface="Arial"/>
              </a:rPr>
              <a:t>Why no confirmed instrument meets each registered gap.</a:t>
            </a:r>
            <a:endParaRPr sz="1250">
              <a:solidFill>
                <a:schemeClr val="dk1"/>
              </a:solidFill>
              <a:latin typeface="Calibri"/>
              <a:ea typeface="Calibri"/>
              <a:cs typeface="Calibri"/>
              <a:sym typeface="Calibri"/>
            </a:endParaRPr>
          </a:p>
        </p:txBody>
      </p:sp>
      <p:graphicFrame>
        <p:nvGraphicFramePr>
          <p:cNvPr id="703" name="Google Shape;703;p21"/>
          <p:cNvGraphicFramePr/>
          <p:nvPr/>
        </p:nvGraphicFramePr>
        <p:xfrm>
          <a:off x="658368" y="2011680"/>
          <a:ext cx="10874975" cy="2195580"/>
        </p:xfrm>
        <a:graphic>
          <a:graphicData uri="http://schemas.openxmlformats.org/drawingml/2006/table">
            <a:tbl>
              <a:tblPr>
                <a:noFill/>
                <a:tableStyleId>{3F18019F-0D7F-44A6-9491-1058076FFA4A}</a:tableStyleId>
              </a:tblPr>
              <a:tblGrid>
                <a:gridCol w="777250">
                  <a:extLst>
                    <a:ext uri="{9D8B030D-6E8A-4147-A177-3AD203B41FA5}">
                      <a16:colId xmlns:a16="http://schemas.microsoft.com/office/drawing/2014/main" val="20000"/>
                    </a:ext>
                  </a:extLst>
                </a:gridCol>
                <a:gridCol w="2331725">
                  <a:extLst>
                    <a:ext uri="{9D8B030D-6E8A-4147-A177-3AD203B41FA5}">
                      <a16:colId xmlns:a16="http://schemas.microsoft.com/office/drawing/2014/main" val="20001"/>
                    </a:ext>
                  </a:extLst>
                </a:gridCol>
                <a:gridCol w="5577850">
                  <a:extLst>
                    <a:ext uri="{9D8B030D-6E8A-4147-A177-3AD203B41FA5}">
                      <a16:colId xmlns:a16="http://schemas.microsoft.com/office/drawing/2014/main" val="20002"/>
                    </a:ext>
                  </a:extLst>
                </a:gridCol>
                <a:gridCol w="2188150">
                  <a:extLst>
                    <a:ext uri="{9D8B030D-6E8A-4147-A177-3AD203B41FA5}">
                      <a16:colId xmlns:a16="http://schemas.microsoft.com/office/drawing/2014/main" val="20003"/>
                    </a:ext>
                  </a:extLst>
                </a:gridCol>
              </a:tblGrid>
              <a:tr h="420625">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ID</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13234C"/>
                    </a:solidFill>
                  </a:tcPr>
                </a:tc>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Knowledge gap</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13234C"/>
                    </a:solidFill>
                  </a:tcPr>
                </a:tc>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Why no confirmed instrument meets it</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13234C"/>
                    </a:solidFill>
                  </a:tcPr>
                </a:tc>
                <a:tc>
                  <a:txBody>
                    <a:bodyPr/>
                    <a:lstStyle/>
                    <a:p>
                      <a:pPr marL="0" marR="0" lvl="0" indent="0" algn="l" rtl="0">
                        <a:spcBef>
                          <a:spcPts val="0"/>
                        </a:spcBef>
                        <a:spcAft>
                          <a:spcPts val="0"/>
                        </a:spcAft>
                        <a:buClr>
                          <a:srgbClr val="FFFFFF"/>
                        </a:buClr>
                        <a:buSzPts val="1000"/>
                        <a:buFont typeface="Arial"/>
                        <a:buNone/>
                      </a:pPr>
                      <a:r>
                        <a:rPr lang="en-US" sz="1000" b="1" u="none" strike="noStrike" cap="none">
                          <a:solidFill>
                            <a:srgbClr val="FFFFFF"/>
                          </a:solidFill>
                          <a:latin typeface="Arial"/>
                          <a:ea typeface="Arial"/>
                          <a:cs typeface="Arial"/>
                          <a:sym typeface="Arial"/>
                        </a:rPr>
                        <a:t>Outcome</a:t>
                      </a:r>
                      <a:endParaRPr sz="10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13234C"/>
                    </a:solidFill>
                  </a:tcPr>
                </a:tc>
                <a:extLst>
                  <a:ext uri="{0D108BD9-81ED-4DB2-BD59-A6C34878D82A}">
                    <a16:rowId xmlns:a16="http://schemas.microsoft.com/office/drawing/2014/main" val="10000"/>
                  </a:ext>
                </a:extLst>
              </a:tr>
              <a:tr h="420625">
                <a:tc>
                  <a:txBody>
                    <a:bodyPr/>
                    <a:lstStyle/>
                    <a:p>
                      <a:pPr marL="0" marR="0" lvl="0" indent="0" algn="l" rtl="0">
                        <a:spcBef>
                          <a:spcPts val="0"/>
                        </a:spcBef>
                        <a:spcAft>
                          <a:spcPts val="0"/>
                        </a:spcAft>
                        <a:buClr>
                          <a:srgbClr val="151B29"/>
                        </a:buClr>
                        <a:buSzPts val="900"/>
                        <a:buFont typeface="Arial"/>
                        <a:buNone/>
                      </a:pPr>
                      <a:r>
                        <a:rPr lang="en-US" sz="900" b="1" u="none" strike="noStrike" cap="none">
                          <a:solidFill>
                            <a:srgbClr val="151B29"/>
                          </a:solidFill>
                          <a:latin typeface="Arial"/>
                          <a:ea typeface="Arial"/>
                          <a:cs typeface="Arial"/>
                          <a:sym typeface="Arial"/>
                        </a:rPr>
                        <a:t>GAP-1</a:t>
                      </a:r>
                      <a:endParaRPr sz="9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51B29"/>
                        </a:buClr>
                        <a:buSzPts val="900"/>
                        <a:buFont typeface="Arial"/>
                        <a:buNone/>
                      </a:pPr>
                      <a:r>
                        <a:rPr lang="en-US" sz="900" u="none" strike="noStrike" cap="none">
                          <a:solidFill>
                            <a:srgbClr val="151B29"/>
                          </a:solidFill>
                          <a:latin typeface="Arial"/>
                          <a:ea typeface="Arial"/>
                          <a:cs typeface="Arial"/>
                          <a:sym typeface="Arial"/>
                        </a:rPr>
                        <a:t>Hydration state</a:t>
                      </a:r>
                      <a:endParaRPr sz="9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51B29"/>
                        </a:buClr>
                        <a:buSzPts val="900"/>
                        <a:buFont typeface="Arial"/>
                        <a:buNone/>
                      </a:pPr>
                      <a:r>
                        <a:rPr lang="en-US" sz="900" u="none" strike="noStrike" cap="none">
                          <a:solidFill>
                            <a:srgbClr val="151B29"/>
                          </a:solidFill>
                          <a:latin typeface="Arial"/>
                          <a:ea typeface="Arial"/>
                          <a:cs typeface="Arial"/>
                          <a:sym typeface="Arial"/>
                        </a:rPr>
                        <a:t>HAMLET's range ends at 1500 nm. The diagnostic OH and water bands near 2.0 and 3.0 µm fall outside it, and no other instrument covers that region.</a:t>
                      </a:r>
                      <a:endParaRPr sz="9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51B29"/>
                        </a:buClr>
                        <a:buSzPts val="900"/>
                        <a:buFont typeface="Arial"/>
                        <a:buNone/>
                      </a:pPr>
                      <a:r>
                        <a:rPr lang="en-US" sz="900" u="none" strike="noStrike" cap="none">
                          <a:solidFill>
                            <a:srgbClr val="151B29"/>
                          </a:solidFill>
                          <a:latin typeface="Arial"/>
                          <a:ea typeface="Arial"/>
                          <a:cs typeface="Arial"/>
                          <a:sym typeface="Arial"/>
                        </a:rPr>
                        <a:t>Removed — scientific value</a:t>
                      </a:r>
                      <a:endParaRPr sz="9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20625">
                <a:tc>
                  <a:txBody>
                    <a:bodyPr/>
                    <a:lstStyle/>
                    <a:p>
                      <a:pPr marL="0" marR="0" lvl="0" indent="0" algn="l" rtl="0">
                        <a:spcBef>
                          <a:spcPts val="0"/>
                        </a:spcBef>
                        <a:spcAft>
                          <a:spcPts val="0"/>
                        </a:spcAft>
                        <a:buClr>
                          <a:srgbClr val="151B29"/>
                        </a:buClr>
                        <a:buSzPts val="900"/>
                        <a:buFont typeface="Arial"/>
                        <a:buNone/>
                      </a:pPr>
                      <a:r>
                        <a:rPr lang="en-US" sz="900" b="1" u="none" strike="noStrike" cap="none">
                          <a:solidFill>
                            <a:srgbClr val="151B29"/>
                          </a:solidFill>
                          <a:latin typeface="Arial"/>
                          <a:ea typeface="Arial"/>
                          <a:cs typeface="Arial"/>
                          <a:sym typeface="Arial"/>
                        </a:rPr>
                        <a:t>GAP-2</a:t>
                      </a:r>
                      <a:endParaRPr sz="9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FF8EC"/>
                    </a:solidFill>
                  </a:tcPr>
                </a:tc>
                <a:tc>
                  <a:txBody>
                    <a:bodyPr/>
                    <a:lstStyle/>
                    <a:p>
                      <a:pPr marL="0" marR="0" lvl="0" indent="0" algn="l" rtl="0">
                        <a:spcBef>
                          <a:spcPts val="0"/>
                        </a:spcBef>
                        <a:spcAft>
                          <a:spcPts val="0"/>
                        </a:spcAft>
                        <a:buClr>
                          <a:srgbClr val="151B29"/>
                        </a:buClr>
                        <a:buSzPts val="900"/>
                        <a:buFont typeface="Arial"/>
                        <a:buNone/>
                      </a:pPr>
                      <a:r>
                        <a:rPr lang="en-US" sz="900" u="none" strike="noStrike" cap="none">
                          <a:solidFill>
                            <a:srgbClr val="151B29"/>
                          </a:solidFill>
                          <a:latin typeface="Arial"/>
                          <a:ea typeface="Arial"/>
                          <a:cs typeface="Arial"/>
                          <a:sym typeface="Arial"/>
                        </a:rPr>
                        <a:t>Weathering-corrected composition</a:t>
                      </a:r>
                      <a:endParaRPr sz="9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FF8EC"/>
                    </a:solidFill>
                  </a:tcPr>
                </a:tc>
                <a:tc>
                  <a:txBody>
                    <a:bodyPr/>
                    <a:lstStyle/>
                    <a:p>
                      <a:pPr marL="0" marR="0" lvl="0" indent="0" algn="l" rtl="0">
                        <a:spcBef>
                          <a:spcPts val="0"/>
                        </a:spcBef>
                        <a:spcAft>
                          <a:spcPts val="0"/>
                        </a:spcAft>
                        <a:buClr>
                          <a:srgbClr val="151B29"/>
                        </a:buClr>
                        <a:buSzPts val="900"/>
                        <a:buFont typeface="Arial"/>
                        <a:buNone/>
                      </a:pPr>
                      <a:r>
                        <a:rPr lang="en-US" sz="900" u="none" strike="noStrike" cap="none">
                          <a:solidFill>
                            <a:srgbClr val="151B29"/>
                          </a:solidFill>
                          <a:latin typeface="Arial"/>
                          <a:ea typeface="Arial"/>
                          <a:cs typeface="Arial"/>
                          <a:sym typeface="Arial"/>
                        </a:rPr>
                        <a:t>All compositional instruments observe only the space-weathered surface layer. No independent reference exists against which the correction can be established.</a:t>
                      </a:r>
                      <a:endParaRPr sz="9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FF8EC"/>
                    </a:solidFill>
                  </a:tcPr>
                </a:tc>
                <a:tc>
                  <a:txBody>
                    <a:bodyPr/>
                    <a:lstStyle/>
                    <a:p>
                      <a:pPr marL="0" marR="0" lvl="0" indent="0" algn="l" rtl="0">
                        <a:spcBef>
                          <a:spcPts val="0"/>
                        </a:spcBef>
                        <a:spcAft>
                          <a:spcPts val="0"/>
                        </a:spcAft>
                        <a:buClr>
                          <a:srgbClr val="A8791F"/>
                        </a:buClr>
                        <a:buSzPts val="900"/>
                        <a:buFont typeface="Arial"/>
                        <a:buNone/>
                      </a:pPr>
                      <a:r>
                        <a:rPr lang="en-US" sz="900" b="1" u="none" strike="noStrike" cap="none">
                          <a:solidFill>
                            <a:srgbClr val="A8791F"/>
                          </a:solidFill>
                          <a:latin typeface="Arial"/>
                          <a:ea typeface="Arial"/>
                          <a:cs typeface="Arial"/>
                          <a:sym typeface="Arial"/>
                        </a:rPr>
                        <a:t>SELECTED</a:t>
                      </a:r>
                      <a:endParaRPr sz="9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FF8EC"/>
                    </a:solidFill>
                  </a:tcPr>
                </a:tc>
                <a:extLst>
                  <a:ext uri="{0D108BD9-81ED-4DB2-BD59-A6C34878D82A}">
                    <a16:rowId xmlns:a16="http://schemas.microsoft.com/office/drawing/2014/main" val="10002"/>
                  </a:ext>
                </a:extLst>
              </a:tr>
              <a:tr h="420625">
                <a:tc>
                  <a:txBody>
                    <a:bodyPr/>
                    <a:lstStyle/>
                    <a:p>
                      <a:pPr marL="0" marR="0" lvl="0" indent="0" algn="l" rtl="0">
                        <a:spcBef>
                          <a:spcPts val="0"/>
                        </a:spcBef>
                        <a:spcAft>
                          <a:spcPts val="0"/>
                        </a:spcAft>
                        <a:buClr>
                          <a:srgbClr val="151B29"/>
                        </a:buClr>
                        <a:buSzPts val="900"/>
                        <a:buFont typeface="Arial"/>
                        <a:buNone/>
                      </a:pPr>
                      <a:r>
                        <a:rPr lang="en-US" sz="900" b="1" u="none" strike="noStrike" cap="none">
                          <a:solidFill>
                            <a:srgbClr val="151B29"/>
                          </a:solidFill>
                          <a:latin typeface="Arial"/>
                          <a:ea typeface="Arial"/>
                          <a:cs typeface="Arial"/>
                          <a:sym typeface="Arial"/>
                        </a:rPr>
                        <a:t>GAP-3</a:t>
                      </a:r>
                      <a:endParaRPr sz="9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51B29"/>
                        </a:buClr>
                        <a:buSzPts val="900"/>
                        <a:buFont typeface="Arial"/>
                        <a:buNone/>
                      </a:pPr>
                      <a:r>
                        <a:rPr lang="en-US" sz="900" u="none" strike="noStrike" cap="none">
                          <a:solidFill>
                            <a:srgbClr val="151B29"/>
                          </a:solidFill>
                          <a:latin typeface="Arial"/>
                          <a:ea typeface="Arial"/>
                          <a:cs typeface="Arial"/>
                          <a:sym typeface="Arial"/>
                        </a:rPr>
                        <a:t>Regolith grain-size distribution</a:t>
                      </a:r>
                      <a:endParaRPr sz="9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51B29"/>
                        </a:buClr>
                        <a:buSzPts val="900"/>
                        <a:buFont typeface="Arial"/>
                        <a:buNone/>
                      </a:pPr>
                      <a:r>
                        <a:rPr lang="en-US" sz="900" u="none" strike="noStrike" cap="none">
                          <a:solidFill>
                            <a:srgbClr val="151B29"/>
                          </a:solidFill>
                          <a:latin typeface="Arial"/>
                          <a:ea typeface="Arial"/>
                          <a:cs typeface="Arial"/>
                          <a:sym typeface="Arial"/>
                        </a:rPr>
                        <a:t>TIRI already bears on grain size through thermal inertia. It is a proxy rather than a direct measurement, but it is one the mission already returns, and measuring the distribution itself needs surface contact an orbiter payload cannot give.</a:t>
                      </a:r>
                      <a:endParaRPr sz="9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FFFFF"/>
                    </a:solidFill>
                  </a:tcPr>
                </a:tc>
                <a:tc>
                  <a:txBody>
                    <a:bodyPr/>
                    <a:lstStyle/>
                    <a:p>
                      <a:pPr marL="0" marR="0" lvl="0" indent="0" algn="l" rtl="0">
                        <a:spcBef>
                          <a:spcPts val="0"/>
                        </a:spcBef>
                        <a:spcAft>
                          <a:spcPts val="0"/>
                        </a:spcAft>
                        <a:buClr>
                          <a:srgbClr val="151B29"/>
                        </a:buClr>
                        <a:buSzPts val="900"/>
                        <a:buFont typeface="Arial"/>
                        <a:buNone/>
                      </a:pPr>
                      <a:r>
                        <a:rPr lang="en-US" sz="900" u="none" strike="noStrike" cap="none">
                          <a:solidFill>
                            <a:srgbClr val="151B29"/>
                          </a:solidFill>
                          <a:latin typeface="Arial"/>
                          <a:ea typeface="Arial"/>
                          <a:cs typeface="Arial"/>
                          <a:sym typeface="Arial"/>
                        </a:rPr>
                        <a:t>Removed — mission compatibility</a:t>
                      </a:r>
                      <a:endParaRPr sz="9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20625">
                <a:tc>
                  <a:txBody>
                    <a:bodyPr/>
                    <a:lstStyle/>
                    <a:p>
                      <a:pPr marL="0" marR="0" lvl="0" indent="0" algn="l" rtl="0">
                        <a:spcBef>
                          <a:spcPts val="0"/>
                        </a:spcBef>
                        <a:spcAft>
                          <a:spcPts val="0"/>
                        </a:spcAft>
                        <a:buClr>
                          <a:srgbClr val="151B29"/>
                        </a:buClr>
                        <a:buSzPts val="900"/>
                        <a:buFont typeface="Arial"/>
                        <a:buNone/>
                      </a:pPr>
                      <a:r>
                        <a:rPr lang="en-US" sz="900" b="1" u="none" strike="noStrike" cap="none">
                          <a:solidFill>
                            <a:srgbClr val="151B29"/>
                          </a:solidFill>
                          <a:latin typeface="Arial"/>
                          <a:ea typeface="Arial"/>
                          <a:cs typeface="Arial"/>
                          <a:sym typeface="Arial"/>
                        </a:rPr>
                        <a:t>GAP-4</a:t>
                      </a:r>
                      <a:endParaRPr sz="9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E8EDF6"/>
                    </a:solidFill>
                  </a:tcPr>
                </a:tc>
                <a:tc>
                  <a:txBody>
                    <a:bodyPr/>
                    <a:lstStyle/>
                    <a:p>
                      <a:pPr marL="0" marR="0" lvl="0" indent="0" algn="l" rtl="0">
                        <a:spcBef>
                          <a:spcPts val="0"/>
                        </a:spcBef>
                        <a:spcAft>
                          <a:spcPts val="0"/>
                        </a:spcAft>
                        <a:buClr>
                          <a:srgbClr val="151B29"/>
                        </a:buClr>
                        <a:buSzPts val="900"/>
                        <a:buFont typeface="Arial"/>
                        <a:buNone/>
                      </a:pPr>
                      <a:r>
                        <a:rPr lang="en-US" sz="900" u="none" strike="noStrike" cap="none">
                          <a:solidFill>
                            <a:srgbClr val="151B29"/>
                          </a:solidFill>
                          <a:latin typeface="Arial"/>
                          <a:ea typeface="Arial"/>
                          <a:cs typeface="Arial"/>
                          <a:sym typeface="Arial"/>
                        </a:rPr>
                        <a:t>Free Fe–Ni metallic phase fraction</a:t>
                      </a:r>
                      <a:endParaRPr sz="9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E8EDF6"/>
                    </a:solidFill>
                  </a:tcPr>
                </a:tc>
                <a:tc>
                  <a:txBody>
                    <a:bodyPr/>
                    <a:lstStyle/>
                    <a:p>
                      <a:pPr marL="0" marR="0" lvl="0" indent="0" algn="l" rtl="0">
                        <a:spcBef>
                          <a:spcPts val="0"/>
                        </a:spcBef>
                        <a:spcAft>
                          <a:spcPts val="0"/>
                        </a:spcAft>
                        <a:buClr>
                          <a:srgbClr val="151B29"/>
                        </a:buClr>
                        <a:buSzPts val="900"/>
                        <a:buFont typeface="Arial"/>
                        <a:buNone/>
                      </a:pPr>
                      <a:r>
                        <a:rPr lang="en-US" sz="900" u="none" strike="noStrike" cap="none">
                          <a:solidFill>
                            <a:srgbClr val="151B29"/>
                          </a:solidFill>
                          <a:latin typeface="Arial"/>
                          <a:ea typeface="Arial"/>
                          <a:cs typeface="Arial"/>
                          <a:sym typeface="Arial"/>
                        </a:rPr>
                        <a:t>MARIE and HAMLET each give indirect indications of metal content, but neither separates free metallic iron from iron bound in silicates or oxides.</a:t>
                      </a:r>
                      <a:endParaRPr sz="9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E8EDF6"/>
                    </a:solidFill>
                  </a:tcPr>
                </a:tc>
                <a:tc>
                  <a:txBody>
                    <a:bodyPr/>
                    <a:lstStyle/>
                    <a:p>
                      <a:pPr marL="0" marR="0" lvl="0" indent="0" algn="l" rtl="0">
                        <a:spcBef>
                          <a:spcPts val="0"/>
                        </a:spcBef>
                        <a:spcAft>
                          <a:spcPts val="0"/>
                        </a:spcAft>
                        <a:buClr>
                          <a:srgbClr val="151B29"/>
                        </a:buClr>
                        <a:buSzPts val="900"/>
                        <a:buFont typeface="Arial"/>
                        <a:buNone/>
                      </a:pPr>
                      <a:r>
                        <a:rPr lang="en-US" sz="900" u="none" strike="noStrike" cap="none">
                          <a:solidFill>
                            <a:srgbClr val="151B29"/>
                          </a:solidFill>
                          <a:latin typeface="Arial"/>
                          <a:ea typeface="Arial"/>
                          <a:cs typeface="Arial"/>
                          <a:sym typeface="Arial"/>
                        </a:rPr>
                        <a:t>Removed — scientific value</a:t>
                      </a:r>
                      <a:endParaRPr sz="900" u="none" strike="noStrike" cap="none">
                        <a:latin typeface="Arial"/>
                        <a:ea typeface="Arial"/>
                        <a:cs typeface="Arial"/>
                        <a:sym typeface="Arial"/>
                      </a:endParaRPr>
                    </a:p>
                  </a:txBody>
                  <a:tcPr marL="101600" marR="101600" marT="50800" marB="50800" anchor="ctr">
                    <a:lnL w="9525" cap="flat" cmpd="sng">
                      <a:solidFill>
                        <a:srgbClr val="C4CFE0"/>
                      </a:solidFill>
                      <a:prstDash val="solid"/>
                      <a:round/>
                      <a:headEnd type="none" w="sm" len="sm"/>
                      <a:tailEnd type="none" w="sm" len="sm"/>
                    </a:lnL>
                    <a:lnR w="9525" cap="flat" cmpd="sng">
                      <a:solidFill>
                        <a:srgbClr val="C4CFE0"/>
                      </a:solidFill>
                      <a:prstDash val="solid"/>
                      <a:round/>
                      <a:headEnd type="none" w="sm" len="sm"/>
                      <a:tailEnd type="none" w="sm" len="sm"/>
                    </a:lnR>
                    <a:lnT w="9525" cap="flat" cmpd="sng">
                      <a:solidFill>
                        <a:srgbClr val="C4CFE0"/>
                      </a:solidFill>
                      <a:prstDash val="solid"/>
                      <a:round/>
                      <a:headEnd type="none" w="sm" len="sm"/>
                      <a:tailEnd type="none" w="sm" len="sm"/>
                    </a:lnT>
                    <a:lnB w="9525" cap="flat" cmpd="sng">
                      <a:solidFill>
                        <a:srgbClr val="C4CFE0"/>
                      </a:solidFill>
                      <a:prstDash val="solid"/>
                      <a:round/>
                      <a:headEnd type="none" w="sm" len="sm"/>
                      <a:tailEnd type="none" w="sm" len="sm"/>
                    </a:lnB>
                    <a:solidFill>
                      <a:srgbClr val="E8EDF6"/>
                    </a:solidFill>
                  </a:tcPr>
                </a:tc>
                <a:extLst>
                  <a:ext uri="{0D108BD9-81ED-4DB2-BD59-A6C34878D82A}">
                    <a16:rowId xmlns:a16="http://schemas.microsoft.com/office/drawing/2014/main" val="10004"/>
                  </a:ext>
                </a:extLst>
              </a:tr>
            </a:tbl>
          </a:graphicData>
        </a:graphic>
      </p:graphicFrame>
      <p:sp>
        <p:nvSpPr>
          <p:cNvPr id="704" name="Google Shape;704;p21"/>
          <p:cNvSpPr/>
          <p:nvPr/>
        </p:nvSpPr>
        <p:spPr>
          <a:xfrm>
            <a:off x="658368" y="4700016"/>
            <a:ext cx="6400800" cy="219456"/>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4C5468"/>
              </a:buClr>
              <a:buSzPts val="900"/>
              <a:buFont typeface="Arial"/>
              <a:buNone/>
            </a:pPr>
            <a:r>
              <a:rPr lang="en-US" sz="900" b="1">
                <a:solidFill>
                  <a:srgbClr val="4C5468"/>
                </a:solidFill>
                <a:latin typeface="Arial"/>
                <a:ea typeface="Arial"/>
                <a:cs typeface="Arial"/>
                <a:sym typeface="Arial"/>
              </a:rPr>
              <a:t>HOW THE CONFIRMED PAYLOAD BEARS ON EACH GAP</a:t>
            </a:r>
            <a:endParaRPr sz="900">
              <a:solidFill>
                <a:schemeClr val="dk1"/>
              </a:solidFill>
              <a:latin typeface="Calibri"/>
              <a:ea typeface="Calibri"/>
              <a:cs typeface="Calibri"/>
              <a:sym typeface="Calibri"/>
            </a:endParaRPr>
          </a:p>
        </p:txBody>
      </p:sp>
      <p:sp>
        <p:nvSpPr>
          <p:cNvPr id="705" name="Google Shape;705;p21"/>
          <p:cNvSpPr/>
          <p:nvPr/>
        </p:nvSpPr>
        <p:spPr>
          <a:xfrm>
            <a:off x="658368" y="4992624"/>
            <a:ext cx="2540432" cy="1042416"/>
          </a:xfrm>
          <a:prstGeom prst="roundRect">
            <a:avLst>
              <a:gd name="adj" fmla="val 7895"/>
            </a:avLst>
          </a:prstGeom>
          <a:solidFill>
            <a:srgbClr val="FFFFFF"/>
          </a:solidFill>
          <a:ln w="9525" cap="flat" cmpd="sng">
            <a:solidFill>
              <a:srgbClr val="C4CFE0"/>
            </a:solidFill>
            <a:prstDash val="solid"/>
            <a:round/>
            <a:headEnd type="none" w="sm" len="sm"/>
            <a:tailEnd type="none" w="sm" len="sm"/>
          </a:ln>
          <a:effectLst>
            <a:outerShdw blurRad="127000" dist="25400" dir="5400000" algn="bl" rotWithShape="0">
              <a:srgbClr val="0B1226">
                <a:alpha val="1019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6" name="Google Shape;706;p21"/>
          <p:cNvSpPr/>
          <p:nvPr/>
        </p:nvSpPr>
        <p:spPr>
          <a:xfrm>
            <a:off x="877824" y="5138928"/>
            <a:ext cx="210152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200"/>
              <a:buFont typeface="Arial"/>
              <a:buNone/>
            </a:pPr>
            <a:r>
              <a:rPr lang="en-US" sz="1200" b="1">
                <a:solidFill>
                  <a:srgbClr val="13234C"/>
                </a:solidFill>
                <a:latin typeface="Arial"/>
                <a:ea typeface="Arial"/>
                <a:cs typeface="Arial"/>
                <a:sym typeface="Arial"/>
              </a:rPr>
              <a:t>HAMLET</a:t>
            </a:r>
            <a:endParaRPr sz="1200">
              <a:solidFill>
                <a:schemeClr val="dk1"/>
              </a:solidFill>
              <a:latin typeface="Calibri"/>
              <a:ea typeface="Calibri"/>
              <a:cs typeface="Calibri"/>
              <a:sym typeface="Calibri"/>
            </a:endParaRPr>
          </a:p>
        </p:txBody>
      </p:sp>
      <p:sp>
        <p:nvSpPr>
          <p:cNvPr id="707" name="Google Shape;707;p21"/>
          <p:cNvSpPr/>
          <p:nvPr/>
        </p:nvSpPr>
        <p:spPr>
          <a:xfrm>
            <a:off x="877824" y="5413248"/>
            <a:ext cx="2101520" cy="530352"/>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Clr>
                <a:srgbClr val="4C5468"/>
              </a:buClr>
              <a:buSzPts val="850"/>
              <a:buFont typeface="Arial"/>
              <a:buNone/>
            </a:pPr>
            <a:r>
              <a:rPr lang="en-US" sz="850">
                <a:solidFill>
                  <a:srgbClr val="4C5468"/>
                </a:solidFill>
                <a:latin typeface="Arial"/>
                <a:ea typeface="Arial"/>
                <a:cs typeface="Arial"/>
                <a:sym typeface="Arial"/>
              </a:rPr>
              <a:t>Closed inference, maturity map derived from the spectrum it would correct</a:t>
            </a:r>
            <a:endParaRPr sz="850">
              <a:solidFill>
                <a:schemeClr val="dk1"/>
              </a:solidFill>
              <a:latin typeface="Calibri"/>
              <a:ea typeface="Calibri"/>
              <a:cs typeface="Calibri"/>
              <a:sym typeface="Calibri"/>
            </a:endParaRPr>
          </a:p>
        </p:txBody>
      </p:sp>
      <p:sp>
        <p:nvSpPr>
          <p:cNvPr id="708" name="Google Shape;708;p21"/>
          <p:cNvSpPr/>
          <p:nvPr/>
        </p:nvSpPr>
        <p:spPr>
          <a:xfrm>
            <a:off x="3436544" y="4992624"/>
            <a:ext cx="2540432" cy="1042416"/>
          </a:xfrm>
          <a:prstGeom prst="roundRect">
            <a:avLst>
              <a:gd name="adj" fmla="val 7895"/>
            </a:avLst>
          </a:prstGeom>
          <a:solidFill>
            <a:srgbClr val="FFFFFF"/>
          </a:solidFill>
          <a:ln w="9525" cap="flat" cmpd="sng">
            <a:solidFill>
              <a:srgbClr val="C4CFE0"/>
            </a:solidFill>
            <a:prstDash val="solid"/>
            <a:round/>
            <a:headEnd type="none" w="sm" len="sm"/>
            <a:tailEnd type="none" w="sm" len="sm"/>
          </a:ln>
          <a:effectLst>
            <a:outerShdw blurRad="127000" dist="25400" dir="5400000" algn="bl" rotWithShape="0">
              <a:srgbClr val="0B1226">
                <a:alpha val="1019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09" name="Google Shape;709;p21"/>
          <p:cNvSpPr/>
          <p:nvPr/>
        </p:nvSpPr>
        <p:spPr>
          <a:xfrm>
            <a:off x="3656000" y="5138928"/>
            <a:ext cx="210152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200"/>
              <a:buFont typeface="Arial"/>
              <a:buNone/>
            </a:pPr>
            <a:r>
              <a:rPr lang="en-US" sz="1200" b="1">
                <a:solidFill>
                  <a:srgbClr val="13234C"/>
                </a:solidFill>
                <a:latin typeface="Arial"/>
                <a:ea typeface="Arial"/>
                <a:cs typeface="Arial"/>
                <a:sym typeface="Arial"/>
              </a:rPr>
              <a:t>TIRI</a:t>
            </a:r>
            <a:endParaRPr sz="1200">
              <a:solidFill>
                <a:schemeClr val="dk1"/>
              </a:solidFill>
              <a:latin typeface="Calibri"/>
              <a:ea typeface="Calibri"/>
              <a:cs typeface="Calibri"/>
              <a:sym typeface="Calibri"/>
            </a:endParaRPr>
          </a:p>
        </p:txBody>
      </p:sp>
      <p:sp>
        <p:nvSpPr>
          <p:cNvPr id="710" name="Google Shape;710;p21"/>
          <p:cNvSpPr/>
          <p:nvPr/>
        </p:nvSpPr>
        <p:spPr>
          <a:xfrm>
            <a:off x="3656000" y="5413248"/>
            <a:ext cx="2101520" cy="530352"/>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Clr>
                <a:srgbClr val="4C5468"/>
              </a:buClr>
              <a:buSzPts val="850"/>
              <a:buFont typeface="Arial"/>
              <a:buNone/>
            </a:pPr>
            <a:r>
              <a:rPr lang="en-US" sz="850">
                <a:solidFill>
                  <a:srgbClr val="4C5468"/>
                </a:solidFill>
                <a:latin typeface="Arial"/>
                <a:ea typeface="Arial"/>
                <a:cs typeface="Arial"/>
                <a:sym typeface="Arial"/>
              </a:rPr>
              <a:t>Supplies grain size already, so this study need not measure it</a:t>
            </a:r>
            <a:endParaRPr sz="850">
              <a:solidFill>
                <a:schemeClr val="dk1"/>
              </a:solidFill>
              <a:latin typeface="Calibri"/>
              <a:ea typeface="Calibri"/>
              <a:cs typeface="Calibri"/>
              <a:sym typeface="Calibri"/>
            </a:endParaRPr>
          </a:p>
        </p:txBody>
      </p:sp>
      <p:sp>
        <p:nvSpPr>
          <p:cNvPr id="711" name="Google Shape;711;p21"/>
          <p:cNvSpPr/>
          <p:nvPr/>
        </p:nvSpPr>
        <p:spPr>
          <a:xfrm>
            <a:off x="6214720" y="4992624"/>
            <a:ext cx="2540432" cy="1042416"/>
          </a:xfrm>
          <a:prstGeom prst="roundRect">
            <a:avLst>
              <a:gd name="adj" fmla="val 7895"/>
            </a:avLst>
          </a:prstGeom>
          <a:solidFill>
            <a:srgbClr val="FFFFFF"/>
          </a:solidFill>
          <a:ln w="9525" cap="flat" cmpd="sng">
            <a:solidFill>
              <a:srgbClr val="C4CFE0"/>
            </a:solidFill>
            <a:prstDash val="solid"/>
            <a:round/>
            <a:headEnd type="none" w="sm" len="sm"/>
            <a:tailEnd type="none" w="sm" len="sm"/>
          </a:ln>
          <a:effectLst>
            <a:outerShdw blurRad="127000" dist="25400" dir="5400000" algn="bl" rotWithShape="0">
              <a:srgbClr val="0B1226">
                <a:alpha val="1019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2" name="Google Shape;712;p21"/>
          <p:cNvSpPr/>
          <p:nvPr/>
        </p:nvSpPr>
        <p:spPr>
          <a:xfrm>
            <a:off x="6434176" y="5138928"/>
            <a:ext cx="210152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200"/>
              <a:buFont typeface="Arial"/>
              <a:buNone/>
            </a:pPr>
            <a:r>
              <a:rPr lang="en-US" sz="1200" b="1">
                <a:solidFill>
                  <a:srgbClr val="13234C"/>
                </a:solidFill>
                <a:latin typeface="Arial"/>
                <a:ea typeface="Arial"/>
                <a:cs typeface="Arial"/>
                <a:sym typeface="Arial"/>
              </a:rPr>
              <a:t>Radar</a:t>
            </a:r>
            <a:endParaRPr sz="1200">
              <a:solidFill>
                <a:schemeClr val="dk1"/>
              </a:solidFill>
              <a:latin typeface="Calibri"/>
              <a:ea typeface="Calibri"/>
              <a:cs typeface="Calibri"/>
              <a:sym typeface="Calibri"/>
            </a:endParaRPr>
          </a:p>
        </p:txBody>
      </p:sp>
      <p:sp>
        <p:nvSpPr>
          <p:cNvPr id="713" name="Google Shape;713;p21"/>
          <p:cNvSpPr/>
          <p:nvPr/>
        </p:nvSpPr>
        <p:spPr>
          <a:xfrm>
            <a:off x="6434176" y="5413248"/>
            <a:ext cx="2101520" cy="530352"/>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Clr>
                <a:srgbClr val="4C5468"/>
              </a:buClr>
              <a:buSzPts val="850"/>
              <a:buFont typeface="Arial"/>
              <a:buNone/>
            </a:pPr>
            <a:r>
              <a:rPr lang="en-US" sz="850">
                <a:solidFill>
                  <a:srgbClr val="4C5468"/>
                </a:solidFill>
                <a:latin typeface="Arial"/>
                <a:ea typeface="Arial"/>
                <a:cs typeface="Arial"/>
                <a:sym typeface="Arial"/>
              </a:rPr>
              <a:t>Unrelated, dielectric measurement is blind to nanophase iron</a:t>
            </a:r>
            <a:endParaRPr sz="850">
              <a:solidFill>
                <a:schemeClr val="dk1"/>
              </a:solidFill>
              <a:latin typeface="Calibri"/>
              <a:ea typeface="Calibri"/>
              <a:cs typeface="Calibri"/>
              <a:sym typeface="Calibri"/>
            </a:endParaRPr>
          </a:p>
        </p:txBody>
      </p:sp>
      <p:sp>
        <p:nvSpPr>
          <p:cNvPr id="714" name="Google Shape;714;p21"/>
          <p:cNvSpPr/>
          <p:nvPr/>
        </p:nvSpPr>
        <p:spPr>
          <a:xfrm>
            <a:off x="8992895" y="4992624"/>
            <a:ext cx="2540432" cy="1042416"/>
          </a:xfrm>
          <a:prstGeom prst="roundRect">
            <a:avLst>
              <a:gd name="adj" fmla="val 7895"/>
            </a:avLst>
          </a:prstGeom>
          <a:solidFill>
            <a:srgbClr val="FFFFFF"/>
          </a:solidFill>
          <a:ln w="9525" cap="flat" cmpd="sng">
            <a:solidFill>
              <a:srgbClr val="C4CFE0"/>
            </a:solidFill>
            <a:prstDash val="solid"/>
            <a:round/>
            <a:headEnd type="none" w="sm" len="sm"/>
            <a:tailEnd type="none" w="sm" len="sm"/>
          </a:ln>
          <a:effectLst>
            <a:outerShdw blurRad="127000" dist="25400" dir="5400000" algn="bl" rotWithShape="0">
              <a:srgbClr val="0B1226">
                <a:alpha val="10196"/>
              </a:srgbClr>
            </a:outerShdw>
          </a:effectLst>
        </p:spPr>
        <p:txBody>
          <a:bodyPr spcFirstLastPara="1" wrap="square" lIns="91425" tIns="45700" rIns="91425" bIns="45700" anchor="t" anchorCtr="0">
            <a:noAutofit/>
          </a:bodyPr>
          <a:lstStyle/>
          <a:p>
            <a:pPr marL="0" marR="0" lvl="0" indent="0" algn="l" rtl="0">
              <a:spcBef>
                <a:spcPts val="0"/>
              </a:spcBef>
              <a:spcAft>
                <a:spcPts val="0"/>
              </a:spcAft>
              <a:buNone/>
            </a:pPr>
            <a:endParaRPr sz="1800">
              <a:solidFill>
                <a:schemeClr val="dk1"/>
              </a:solidFill>
              <a:latin typeface="Calibri"/>
              <a:ea typeface="Calibri"/>
              <a:cs typeface="Calibri"/>
              <a:sym typeface="Calibri"/>
            </a:endParaRPr>
          </a:p>
        </p:txBody>
      </p:sp>
      <p:sp>
        <p:nvSpPr>
          <p:cNvPr id="715" name="Google Shape;715;p21"/>
          <p:cNvSpPr/>
          <p:nvPr/>
        </p:nvSpPr>
        <p:spPr>
          <a:xfrm>
            <a:off x="9212351" y="5138928"/>
            <a:ext cx="2101520" cy="237744"/>
          </a:xfrm>
          <a:prstGeom prst="rect">
            <a:avLst/>
          </a:prstGeom>
          <a:noFill/>
          <a:ln>
            <a:noFill/>
          </a:ln>
        </p:spPr>
        <p:txBody>
          <a:bodyPr spcFirstLastPara="1" wrap="square" lIns="0" tIns="0" rIns="0" bIns="0" anchor="ctr" anchorCtr="0">
            <a:noAutofit/>
          </a:bodyPr>
          <a:lstStyle/>
          <a:p>
            <a:pPr marL="0" marR="0" lvl="0" indent="0" algn="l" rtl="0">
              <a:spcBef>
                <a:spcPts val="0"/>
              </a:spcBef>
              <a:spcAft>
                <a:spcPts val="0"/>
              </a:spcAft>
              <a:buClr>
                <a:srgbClr val="13234C"/>
              </a:buClr>
              <a:buSzPts val="1200"/>
              <a:buFont typeface="Arial"/>
              <a:buNone/>
            </a:pPr>
            <a:r>
              <a:rPr lang="en-US" sz="1200" b="1">
                <a:solidFill>
                  <a:srgbClr val="13234C"/>
                </a:solidFill>
                <a:latin typeface="Arial"/>
                <a:ea typeface="Arial"/>
                <a:cs typeface="Arial"/>
                <a:sym typeface="Arial"/>
              </a:rPr>
              <a:t>CHANCES / AFC</a:t>
            </a:r>
            <a:endParaRPr sz="1200">
              <a:solidFill>
                <a:schemeClr val="dk1"/>
              </a:solidFill>
              <a:latin typeface="Calibri"/>
              <a:ea typeface="Calibri"/>
              <a:cs typeface="Calibri"/>
              <a:sym typeface="Calibri"/>
            </a:endParaRPr>
          </a:p>
        </p:txBody>
      </p:sp>
      <p:sp>
        <p:nvSpPr>
          <p:cNvPr id="716" name="Google Shape;716;p21"/>
          <p:cNvSpPr/>
          <p:nvPr/>
        </p:nvSpPr>
        <p:spPr>
          <a:xfrm>
            <a:off x="9212351" y="5413248"/>
            <a:ext cx="2101520" cy="530352"/>
          </a:xfrm>
          <a:prstGeom prst="rect">
            <a:avLst/>
          </a:prstGeom>
          <a:noFill/>
          <a:ln>
            <a:noFill/>
          </a:ln>
        </p:spPr>
        <p:txBody>
          <a:bodyPr spcFirstLastPara="1" wrap="square" lIns="0" tIns="0" rIns="0" bIns="0" anchor="t" anchorCtr="0">
            <a:noAutofit/>
          </a:bodyPr>
          <a:lstStyle/>
          <a:p>
            <a:pPr marL="0" marR="0" lvl="0" indent="0" algn="l" rtl="0">
              <a:lnSpc>
                <a:spcPct val="112000"/>
              </a:lnSpc>
              <a:spcBef>
                <a:spcPts val="0"/>
              </a:spcBef>
              <a:spcAft>
                <a:spcPts val="0"/>
              </a:spcAft>
              <a:buClr>
                <a:srgbClr val="4C5468"/>
              </a:buClr>
              <a:buSzPts val="850"/>
              <a:buFont typeface="Arial"/>
              <a:buNone/>
            </a:pPr>
            <a:r>
              <a:rPr lang="en-US" sz="850">
                <a:solidFill>
                  <a:srgbClr val="4C5468"/>
                </a:solidFill>
                <a:latin typeface="Arial"/>
                <a:ea typeface="Arial"/>
                <a:cs typeface="Arial"/>
                <a:sym typeface="Arial"/>
              </a:rPr>
              <a:t>No overlap, locates where fresh material may be, never quantifies it</a:t>
            </a:r>
            <a:endParaRPr sz="850">
              <a:solidFill>
                <a:schemeClr val="dk1"/>
              </a:solidFill>
              <a:latin typeface="Calibri"/>
              <a:ea typeface="Calibri"/>
              <a:cs typeface="Calibri"/>
              <a:sym typeface="Calibri"/>
            </a:endParaRPr>
          </a:p>
        </p:txBody>
      </p:sp>
      <p:pic>
        <p:nvPicPr>
          <p:cNvPr id="717" name="Google Shape;717;p21" descr="/home/claude/work/a2/logo_dark.png"/>
          <p:cNvPicPr preferRelativeResize="0"/>
          <p:nvPr/>
        </p:nvPicPr>
        <p:blipFill rotWithShape="1">
          <a:blip r:embed="rId4">
            <a:alphaModFix/>
          </a:blip>
          <a:srcRect/>
          <a:stretch/>
        </p:blipFill>
        <p:spPr>
          <a:xfrm>
            <a:off x="10616340" y="122984"/>
            <a:ext cx="1450538" cy="814736"/>
          </a:xfrm>
          <a:prstGeom prst="rect">
            <a:avLst/>
          </a:prstGeom>
          <a:noFill/>
          <a:ln>
            <a:noFill/>
          </a:ln>
        </p:spPr>
      </p:pic>
      <p:sp>
        <p:nvSpPr>
          <p:cNvPr id="718" name="Google Shape;718;p21"/>
          <p:cNvSpPr txBox="1"/>
          <p:nvPr/>
        </p:nvSpPr>
        <p:spPr>
          <a:xfrm>
            <a:off x="5626159" y="6581001"/>
            <a:ext cx="939681" cy="276999"/>
          </a:xfrm>
          <a:prstGeom prst="rect">
            <a:avLst/>
          </a:prstGeom>
          <a:noFill/>
          <a:ln>
            <a:noFill/>
          </a:ln>
        </p:spPr>
        <p:txBody>
          <a:bodyPr spcFirstLastPara="1" wrap="square" lIns="91425" tIns="45700" rIns="91425" bIns="45700" anchor="t" anchorCtr="0">
            <a:spAutoFit/>
          </a:bodyPr>
          <a:lstStyle/>
          <a:p>
            <a:pPr marL="0" marR="0" lvl="0" indent="0" algn="ctr" rtl="0">
              <a:spcBef>
                <a:spcPts val="0"/>
              </a:spcBef>
              <a:spcAft>
                <a:spcPts val="0"/>
              </a:spcAft>
              <a:buNone/>
            </a:pPr>
            <a:r>
              <a:rPr lang="en-US" sz="1200">
                <a:solidFill>
                  <a:srgbClr val="000000"/>
                </a:solidFill>
                <a:latin typeface="Calibri"/>
                <a:ea typeface="Calibri"/>
                <a:cs typeface="Calibri"/>
                <a:sym typeface="Calibri"/>
              </a:rPr>
              <a:t>   </a:t>
            </a:r>
            <a:r>
              <a:rPr lang="en-US" sz="1200">
                <a:solidFill>
                  <a:srgbClr val="339966"/>
                </a:solidFill>
                <a:latin typeface="Calibri"/>
                <a:ea typeface="Calibri"/>
                <a:cs typeface="Calibri"/>
                <a:sym typeface="Calibri"/>
              </a:rPr>
              <a:t>Public</a:t>
            </a:r>
            <a:r>
              <a:rPr lang="en-US" sz="1200">
                <a:solidFill>
                  <a:srgbClr val="000000"/>
                </a:solidFill>
                <a:latin typeface="Calibri"/>
                <a:ea typeface="Calibri"/>
                <a:cs typeface="Calibri"/>
                <a:sym typeface="Calibri"/>
              </a:rPr>
              <a:t>   </a:t>
            </a:r>
            <a:r>
              <a:rPr lang="en-US" sz="1200">
                <a:solidFill>
                  <a:srgbClr val="339966"/>
                </a:solidFill>
                <a:latin typeface="Calibri"/>
                <a:ea typeface="Calibri"/>
                <a:cs typeface="Calibri"/>
                <a:sym typeface="Calibri"/>
              </a:rPr>
              <a:t>عام</a:t>
            </a:r>
            <a:endParaRPr sz="1200">
              <a:solidFill>
                <a:srgbClr val="339966"/>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WrappedLabelHistory xmlns:xsd="http://www.w3.org/2001/XMLSchema" xmlns:xsi="http://www.w3.org/2001/XMLSchema-instance" xmlns="http://www.boldonjames.com/2016/02/Classifier/internal/wrappedLabelHistory">
  <Value>PD94bWwgdmVyc2lvbj0iMS4wIiBlbmNvZGluZz0idXMtYXNjaWkiPz48bGFiZWxIaXN0b3J5IHhtbG5zOnhzZD0iaHR0cDovL3d3dy53My5vcmcvMjAwMS9YTUxTY2hlbWEiIHhtbG5zOnhzaT0iaHR0cDovL3d3dy53My5vcmcvMjAwMS9YTUxTY2hlbWEtaW5zdGFuY2UiIHhtbG5zPSJodHRwOi8vd3d3LmJvbGRvbmphbWVzLmNvbS8yMDE2LzAyL0NsYXNzaWZpZXIvaW50ZXJuYWwvbGFiZWxIaXN0b3J5Ij48aXRlbT48c2lzbCBzaXNsVmVyc2lvbj0iMCIgcG9saWN5PSI4YjljYjhiZi0yZDk0LTQ2MjItOTg4Yi05M2IyMGY2YmU4OTQiIG9yaWdpbj0idXNlclNlbGVjdGVkIiAvPjxVc2VyTmFtZT5TU0NccXVheWRoaWJuPC9Vc2VyTmFtZT48RGF0ZVRpbWU+OC8yMy8yMDI2IDI6NTc6MzQgUE08L0RhdGVUaW1lPjxMYWJlbFN0cmluZz5ObyBNYXJraW5nPC9MYWJlbFN0cmluZz48L2l0ZW0+PC9sYWJlbEhpc3Rvcnk+</Value>
</WrappedLabelHistory>
</file>

<file path=customXml/item2.xml><?xml version="1.0" encoding="utf-8"?>
<sisl xmlns:xsd="http://www.w3.org/2001/XMLSchema" xmlns:xsi="http://www.w3.org/2001/XMLSchema-instance" xmlns="http://www.boldonjames.com/2008/01/sie/internal/label" sislVersion="0" policy="8b9cb8bf-2d94-4622-988b-93b20f6be894" origin="userSelected"/>
</file>

<file path=customXml/itemProps1.xml><?xml version="1.0" encoding="utf-8"?>
<ds:datastoreItem xmlns:ds="http://schemas.openxmlformats.org/officeDocument/2006/customXml" ds:itemID="{5D2F196A-B5EB-42B1-81D2-B1689A6F5C86}">
  <ds:schemaRefs>
    <ds:schemaRef ds:uri="http://www.w3.org/2001/XMLSchema"/>
    <ds:schemaRef ds:uri="http://www.boldonjames.com/2016/02/Classifier/internal/wrappedLabelHistory"/>
  </ds:schemaRefs>
</ds:datastoreItem>
</file>

<file path=customXml/itemProps2.xml><?xml version="1.0" encoding="utf-8"?>
<ds:datastoreItem xmlns:ds="http://schemas.openxmlformats.org/officeDocument/2006/customXml" ds:itemID="{4F36BD03-CC26-4BB6-BAF7-AB9DB0C7BCE2}">
  <ds:schemaRefs>
    <ds:schemaRef ds:uri="http://www.w3.org/2001/XMLSchema"/>
    <ds:schemaRef ds:uri="http://www.boldonjames.com/2008/01/sie/internal/label"/>
  </ds:schemaRefs>
</ds:datastoreItem>
</file>

<file path=docProps/app.xml><?xml version="1.0" encoding="utf-8"?>
<Properties xmlns="http://schemas.openxmlformats.org/officeDocument/2006/extended-properties" xmlns:vt="http://schemas.openxmlformats.org/officeDocument/2006/docPropsVTypes">
  <TotalTime>0</TotalTime>
  <Words>2312</Words>
  <Application>Microsoft Office PowerPoint</Application>
  <PresentationFormat>Widescreen</PresentationFormat>
  <Paragraphs>456</Paragraphs>
  <Slides>19</Slides>
  <Notes>19</Notes>
  <HiddenSlides>3</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29LT Adir</vt:lpstr>
      <vt:lpstr>Arial</vt:lpstr>
      <vt:lpstr>Calibri</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Noora Waleed</cp:lastModifiedBy>
  <cp:revision>1</cp:revision>
  <dcterms:modified xsi:type="dcterms:W3CDTF">2026-08-23T14:57:35Z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docIndexRef">
    <vt:lpwstr>aa9f0fb5-7ae0-414d-aa4c-c6c3b02d5df4</vt:lpwstr>
  </property>
  <property fmtid="{D5CDD505-2E9C-101B-9397-08002B2CF9AE}" pid="3" name="bjDocumentSecurityLabel">
    <vt:lpwstr>No Marking</vt:lpwstr>
  </property>
  <property fmtid="{D5CDD505-2E9C-101B-9397-08002B2CF9AE}" pid="4" name="bjClsUserRVM">
    <vt:lpwstr>[]</vt:lpwstr>
  </property>
  <property fmtid="{D5CDD505-2E9C-101B-9397-08002B2CF9AE}" pid="5" name="bjSaver">
    <vt:lpwstr>RoS5091pzVkqbevZHv0gwGNV2OYvI6N/</vt:lpwstr>
  </property>
  <property fmtid="{D5CDD505-2E9C-101B-9397-08002B2CF9AE}" pid="6" name="bjLabelHistoryID">
    <vt:lpwstr>{5D2F196A-B5EB-42B1-81D2-B1689A6F5C86}</vt:lpwstr>
  </property>
</Properties>
</file>