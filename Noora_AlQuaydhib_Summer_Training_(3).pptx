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3F18019F-0D7F-44A6-9491-1058076FFA4A}">
  <a:tblStyle styleId="{3F18019F-0D7F-44A6-9491-1058076FFA4A}"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11" Type="http://schemas.openxmlformats.org/officeDocument/2006/relationships/slide" Target="slides/slide6.xml"/><Relationship Id="rId22" Type="http://schemas.openxmlformats.org/officeDocument/2006/relationships/slide" Target="slides/slide17.xml"/><Relationship Id="rId10" Type="http://schemas.openxmlformats.org/officeDocument/2006/relationships/slide" Target="slides/slide5.xml"/><Relationship Id="rId21" Type="http://schemas.openxmlformats.org/officeDocument/2006/relationships/slide" Target="slides/slide16.xml"/><Relationship Id="rId13" Type="http://schemas.openxmlformats.org/officeDocument/2006/relationships/slide" Target="slides/slide8.xml"/><Relationship Id="rId24" Type="http://schemas.openxmlformats.org/officeDocument/2006/relationships/slide" Target="slides/slide19.xml"/><Relationship Id="rId12" Type="http://schemas.openxmlformats.org/officeDocument/2006/relationships/slide" Target="slides/slide7.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5" Type="http://schemas.openxmlformats.org/officeDocument/2006/relationships/notesMaster" Target="notesMasters/notesMaster1.xml"/><Relationship Id="rId19" Type="http://schemas.openxmlformats.org/officeDocument/2006/relationships/slide" Target="slides/slide14.xml"/><Relationship Id="rId6" Type="http://schemas.openxmlformats.org/officeDocument/2006/relationships/slide" Target="slides/slide1.xml"/><Relationship Id="rId18" Type="http://schemas.openxmlformats.org/officeDocument/2006/relationships/slide" Target="slides/slide13.xml"/><Relationship Id="rId7" Type="http://schemas.openxmlformats.org/officeDocument/2006/relationships/slide" Target="slides/slide2.xml"/><Relationship Id="rId8"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 name="Shape 20"/>
        <p:cNvGrpSpPr/>
        <p:nvPr/>
      </p:nvGrpSpPr>
      <p:grpSpPr>
        <a:xfrm>
          <a:off x="0" y="0"/>
          <a:ext cx="0" cy="0"/>
          <a:chOff x="0" y="0"/>
          <a:chExt cx="0" cy="0"/>
        </a:xfrm>
      </p:grpSpPr>
      <p:sp>
        <p:nvSpPr>
          <p:cNvPr id="21" name="Google Shape;21;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 name="Google Shape;22;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3" name="Google Shape;23;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6" name="Google Shape;4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4" name="Google Shape;94;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95" name="Google Shape;95;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9" name="Google Shape;159;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160" name="Google Shape;160;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4" name="Google Shape;204;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205" name="Google Shape;205;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p7:notes"/>
          <p:cNvSpPr txBox="1"/>
          <p:nvPr>
            <p:ph idx="1" type="body"/>
          </p:nvPr>
        </p:nvSpPr>
        <p:spPr>
          <a:xfrm>
            <a:off x="685800" y="5791200"/>
            <a:ext cx="5486400" cy="54864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7:notes"/>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6" name="Shape 336"/>
        <p:cNvGrpSpPr/>
        <p:nvPr/>
      </p:nvGrpSpPr>
      <p:grpSpPr>
        <a:xfrm>
          <a:off x="0" y="0"/>
          <a:ext cx="0" cy="0"/>
          <a:chOff x="0" y="0"/>
          <a:chExt cx="0" cy="0"/>
        </a:xfrm>
      </p:grpSpPr>
      <p:sp>
        <p:nvSpPr>
          <p:cNvPr id="337" name="Google Shape;337;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8" name="Google Shape;338;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339" name="Google Shape;339;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65" name="Google Shape;36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366" name="Google Shape;36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7" name="Shape 417"/>
        <p:cNvGrpSpPr/>
        <p:nvPr/>
      </p:nvGrpSpPr>
      <p:grpSpPr>
        <a:xfrm>
          <a:off x="0" y="0"/>
          <a:ext cx="0" cy="0"/>
          <a:chOff x="0" y="0"/>
          <a:chExt cx="0" cy="0"/>
        </a:xfrm>
      </p:grpSpPr>
      <p:sp>
        <p:nvSpPr>
          <p:cNvPr id="418" name="Google Shape;418;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9" name="Google Shape;419;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20" name="Google Shape;420;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52" name="Google Shape;452;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484" name="Google Shape;48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24" name="Google Shape;524;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5" name="Google Shape;565;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566" name="Google Shape;566;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8" name="Google Shape;60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09" name="Google Shape;60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3" name="Shape 633"/>
        <p:cNvGrpSpPr/>
        <p:nvPr/>
      </p:nvGrpSpPr>
      <p:grpSpPr>
        <a:xfrm>
          <a:off x="0" y="0"/>
          <a:ext cx="0" cy="0"/>
          <a:chOff x="0" y="0"/>
          <a:chExt cx="0" cy="0"/>
        </a:xfrm>
      </p:grpSpPr>
      <p:sp>
        <p:nvSpPr>
          <p:cNvPr id="634" name="Google Shape;63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5" name="Google Shape;63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36" name="Google Shape;63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3" name="Shape 643"/>
        <p:cNvGrpSpPr/>
        <p:nvPr/>
      </p:nvGrpSpPr>
      <p:grpSpPr>
        <a:xfrm>
          <a:off x="0" y="0"/>
          <a:ext cx="0" cy="0"/>
          <a:chOff x="0" y="0"/>
          <a:chExt cx="0" cy="0"/>
        </a:xfrm>
      </p:grpSpPr>
      <p:sp>
        <p:nvSpPr>
          <p:cNvPr id="644" name="Google Shape;64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5" name="Google Shape;64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46" name="Google Shape;646;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66" name="Google Shape;666;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67" name="Google Shape;667;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6" name="Google Shape;696;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Arial"/>
              <a:ea typeface="Arial"/>
              <a:cs typeface="Arial"/>
              <a:sym typeface="Arial"/>
            </a:endParaRPr>
          </a:p>
        </p:txBody>
      </p:sp>
      <p:sp>
        <p:nvSpPr>
          <p:cNvPr id="697" name="Google Shape;697;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jp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9.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jp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11" Type="http://schemas.openxmlformats.org/officeDocument/2006/relationships/image" Target="../media/image12.jpg"/><Relationship Id="rId10" Type="http://schemas.openxmlformats.org/officeDocument/2006/relationships/image" Target="../media/image8.jpg"/><Relationship Id="rId13" Type="http://schemas.openxmlformats.org/officeDocument/2006/relationships/image" Target="../media/image11.jpg"/><Relationship Id="rId12" Type="http://schemas.openxmlformats.org/officeDocument/2006/relationships/image" Target="../media/image6.jpg"/><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jpg"/><Relationship Id="rId4" Type="http://schemas.openxmlformats.org/officeDocument/2006/relationships/image" Target="../media/image1.png"/><Relationship Id="rId9" Type="http://schemas.openxmlformats.org/officeDocument/2006/relationships/image" Target="../media/image7.jpg"/><Relationship Id="rId15" Type="http://schemas.openxmlformats.org/officeDocument/2006/relationships/image" Target="../media/image14.jpg"/><Relationship Id="rId14" Type="http://schemas.openxmlformats.org/officeDocument/2006/relationships/image" Target="../media/image5.jpg"/><Relationship Id="rId5" Type="http://schemas.openxmlformats.org/officeDocument/2006/relationships/image" Target="../media/image13.png"/><Relationship Id="rId6" Type="http://schemas.openxmlformats.org/officeDocument/2006/relationships/image" Target="../media/image16.png"/><Relationship Id="rId7" Type="http://schemas.openxmlformats.org/officeDocument/2006/relationships/image" Target="../media/image9.jpg"/><Relationship Id="rId8"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0.png"/><Relationship Id="rId4" Type="http://schemas.openxmlformats.org/officeDocument/2006/relationships/image" Target="../media/image15.jpg"/><Relationship Id="rId5" Type="http://schemas.openxmlformats.org/officeDocument/2006/relationships/image" Target="../media/image22.png"/><Relationship Id="rId6"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8.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jp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jpg"/><Relationship Id="rId4"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7.jpg"/><Relationship Id="rId4" Type="http://schemas.openxmlformats.org/officeDocument/2006/relationships/image" Target="../media/image21.png"/><Relationship Id="rId5"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jp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7.jpg"/><Relationship Id="rId4" Type="http://schemas.openxmlformats.org/officeDocument/2006/relationships/image" Target="../media/image24.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jp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jp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jpg"/><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11" name="Shape 11"/>
        <p:cNvGrpSpPr/>
        <p:nvPr/>
      </p:nvGrpSpPr>
      <p:grpSpPr>
        <a:xfrm>
          <a:off x="0" y="0"/>
          <a:ext cx="0" cy="0"/>
          <a:chOff x="0" y="0"/>
          <a:chExt cx="0" cy="0"/>
        </a:xfrm>
      </p:grpSpPr>
      <p:pic>
        <p:nvPicPr>
          <p:cNvPr descr="/home/claude/work/a2/hero_title.jpg" id="12" name="Google Shape;12;p3"/>
          <p:cNvPicPr preferRelativeResize="0"/>
          <p:nvPr/>
        </p:nvPicPr>
        <p:blipFill rotWithShape="1">
          <a:blip r:embed="rId3">
            <a:alphaModFix amt="70000"/>
          </a:blip>
          <a:srcRect b="0" l="0" r="0" t="0"/>
          <a:stretch/>
        </p:blipFill>
        <p:spPr>
          <a:xfrm>
            <a:off x="0" y="0"/>
            <a:ext cx="12191695" cy="6858000"/>
          </a:xfrm>
          <a:prstGeom prst="rect">
            <a:avLst/>
          </a:prstGeom>
          <a:noFill/>
          <a:ln>
            <a:noFill/>
          </a:ln>
        </p:spPr>
      </p:pic>
      <p:sp>
        <p:nvSpPr>
          <p:cNvPr id="13" name="Google Shape;13;p3"/>
          <p:cNvSpPr/>
          <p:nvPr/>
        </p:nvSpPr>
        <p:spPr>
          <a:xfrm>
            <a:off x="868680" y="3882280"/>
            <a:ext cx="8229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i="0" lang="en-US" sz="1200" u="none" cap="none" strike="noStrike">
                <a:solidFill>
                  <a:srgbClr val="00B0F0"/>
                </a:solidFill>
                <a:latin typeface="Courier New"/>
                <a:ea typeface="Courier New"/>
                <a:cs typeface="Courier New"/>
                <a:sym typeface="Courier New"/>
              </a:rPr>
              <a:t>SSA SUMMER TRAINING | JULY - AUGUST 2026</a:t>
            </a:r>
            <a:endParaRPr b="0" i="0" sz="1200" u="none" cap="none" strike="noStrike">
              <a:solidFill>
                <a:srgbClr val="00B0F0"/>
              </a:solidFill>
              <a:latin typeface="Courier New"/>
              <a:ea typeface="Courier New"/>
              <a:cs typeface="Courier New"/>
              <a:sym typeface="Courier New"/>
            </a:endParaRPr>
          </a:p>
        </p:txBody>
      </p:sp>
      <p:sp>
        <p:nvSpPr>
          <p:cNvPr id="14" name="Google Shape;14;p3"/>
          <p:cNvSpPr/>
          <p:nvPr/>
        </p:nvSpPr>
        <p:spPr>
          <a:xfrm>
            <a:off x="868680" y="4174888"/>
            <a:ext cx="12847320" cy="1005840"/>
          </a:xfrm>
          <a:prstGeom prst="rect">
            <a:avLst/>
          </a:prstGeom>
          <a:noFill/>
          <a:ln>
            <a:noFill/>
          </a:ln>
        </p:spPr>
        <p:txBody>
          <a:bodyPr anchorCtr="0" anchor="t" bIns="0" lIns="0" spcFirstLastPara="1" rIns="0" wrap="square" tIns="0">
            <a:noAutofit/>
          </a:bodyPr>
          <a:lstStyle/>
          <a:p>
            <a:pPr indent="0" lvl="0" marL="0" marR="0" rtl="0" algn="l">
              <a:lnSpc>
                <a:spcPct val="94000"/>
              </a:lnSpc>
              <a:spcBef>
                <a:spcPts val="0"/>
              </a:spcBef>
              <a:spcAft>
                <a:spcPts val="0"/>
              </a:spcAft>
              <a:buClr>
                <a:srgbClr val="FFFFFF"/>
              </a:buClr>
              <a:buSzPts val="3800"/>
              <a:buFont typeface="Arial"/>
              <a:buNone/>
            </a:pPr>
            <a:r>
              <a:rPr b="1" i="0" lang="en-US" sz="3800" u="none" cap="none" strike="noStrike">
                <a:solidFill>
                  <a:srgbClr val="FFFFFF"/>
                </a:solidFill>
                <a:latin typeface="Arial"/>
                <a:ea typeface="Arial"/>
                <a:cs typeface="Arial"/>
                <a:sym typeface="Arial"/>
              </a:rPr>
              <a:t>Noora AlQuaydhib Summer Training Summary</a:t>
            </a:r>
            <a:endParaRPr b="0" i="0" sz="3800" u="none" cap="none" strike="noStrike">
              <a:solidFill>
                <a:schemeClr val="dk1"/>
              </a:solidFill>
              <a:latin typeface="Calibri"/>
              <a:ea typeface="Calibri"/>
              <a:cs typeface="Calibri"/>
              <a:sym typeface="Calibri"/>
            </a:endParaRPr>
          </a:p>
        </p:txBody>
      </p:sp>
      <p:sp>
        <p:nvSpPr>
          <p:cNvPr id="15" name="Google Shape;15;p3"/>
          <p:cNvSpPr/>
          <p:nvPr/>
        </p:nvSpPr>
        <p:spPr>
          <a:xfrm>
            <a:off x="868680" y="4888120"/>
            <a:ext cx="8961120" cy="3657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450"/>
              <a:buFont typeface="Arial"/>
              <a:buNone/>
            </a:pPr>
            <a:r>
              <a:rPr b="0" i="0" lang="en-US" sz="1450" u="none" cap="none" strike="noStrike">
                <a:solidFill>
                  <a:schemeClr val="lt1"/>
                </a:solidFill>
                <a:latin typeface="Arial"/>
                <a:ea typeface="Arial"/>
                <a:cs typeface="Arial"/>
                <a:sym typeface="Arial"/>
              </a:rPr>
              <a:t>Scientific Gap Assessment and Payload Recommendation for RAMSES Mission for Asteroid (99942) Apophis</a:t>
            </a:r>
            <a:endParaRPr b="0" i="0" sz="1450" u="none" cap="none" strike="noStrike">
              <a:solidFill>
                <a:schemeClr val="lt1"/>
              </a:solidFill>
              <a:latin typeface="Arial"/>
              <a:ea typeface="Arial"/>
              <a:cs typeface="Arial"/>
              <a:sym typeface="Arial"/>
            </a:endParaRPr>
          </a:p>
        </p:txBody>
      </p:sp>
      <p:sp>
        <p:nvSpPr>
          <p:cNvPr id="16" name="Google Shape;16;p3"/>
          <p:cNvSpPr/>
          <p:nvPr/>
        </p:nvSpPr>
        <p:spPr>
          <a:xfrm>
            <a:off x="868680" y="5820808"/>
            <a:ext cx="1920240" cy="9144"/>
          </a:xfrm>
          <a:prstGeom prst="rect">
            <a:avLst/>
          </a:prstGeom>
          <a:solidFill>
            <a:srgbClr val="3B4A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 name="Google Shape;17;p3"/>
          <p:cNvSpPr/>
          <p:nvPr/>
        </p:nvSpPr>
        <p:spPr>
          <a:xfrm>
            <a:off x="868680" y="5912248"/>
            <a:ext cx="73152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lt1"/>
              </a:buClr>
              <a:buSzPts val="1200"/>
              <a:buFont typeface="Arial"/>
              <a:buNone/>
            </a:pPr>
            <a:r>
              <a:rPr lang="en-US" sz="1200">
                <a:solidFill>
                  <a:schemeClr val="lt1"/>
                </a:solidFill>
                <a:latin typeface="Arial"/>
                <a:ea typeface="Arial"/>
                <a:cs typeface="Arial"/>
                <a:sym typeface="Arial"/>
              </a:rPr>
              <a:t>Supervised by  Najla AlAhmadi  &amp;  Rawan AlRayes</a:t>
            </a:r>
            <a:endParaRPr sz="1200">
              <a:solidFill>
                <a:schemeClr val="lt1"/>
              </a:solidFill>
              <a:latin typeface="Arial"/>
              <a:ea typeface="Arial"/>
              <a:cs typeface="Arial"/>
              <a:sym typeface="Arial"/>
            </a:endParaRPr>
          </a:p>
        </p:txBody>
      </p:sp>
      <p:pic>
        <p:nvPicPr>
          <p:cNvPr descr="/home/claude/work/a2/logo_white.png" id="18" name="Google Shape;18;p3"/>
          <p:cNvPicPr preferRelativeResize="0"/>
          <p:nvPr/>
        </p:nvPicPr>
        <p:blipFill rotWithShape="1">
          <a:blip r:embed="rId4">
            <a:alphaModFix/>
          </a:blip>
          <a:srcRect b="0" l="0" r="0" t="0"/>
          <a:stretch/>
        </p:blipFill>
        <p:spPr>
          <a:xfrm>
            <a:off x="10353104" y="452014"/>
            <a:ext cx="1520245" cy="641200"/>
          </a:xfrm>
          <a:prstGeom prst="rect">
            <a:avLst/>
          </a:prstGeom>
          <a:noFill/>
          <a:ln>
            <a:noFill/>
          </a:ln>
        </p:spPr>
      </p:pic>
      <p:sp>
        <p:nvSpPr>
          <p:cNvPr id="19" name="Google Shape;19;p3"/>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24" name="Shape 24"/>
        <p:cNvGrpSpPr/>
        <p:nvPr/>
      </p:nvGrpSpPr>
      <p:grpSpPr>
        <a:xfrm>
          <a:off x="0" y="0"/>
          <a:ext cx="0" cy="0"/>
          <a:chOff x="0" y="0"/>
          <a:chExt cx="0" cy="0"/>
        </a:xfrm>
      </p:grpSpPr>
      <p:pic>
        <p:nvPicPr>
          <p:cNvPr descr="/home/claude/work/a2/half_right.png" id="25" name="Google Shape;25;p4"/>
          <p:cNvPicPr preferRelativeResize="0"/>
          <p:nvPr/>
        </p:nvPicPr>
        <p:blipFill rotWithShape="1">
          <a:blip r:embed="rId3">
            <a:alphaModFix/>
          </a:blip>
          <a:srcRect b="0" l="0" r="0" t="0"/>
          <a:stretch/>
        </p:blipFill>
        <p:spPr>
          <a:xfrm>
            <a:off x="6812280" y="0"/>
            <a:ext cx="5379415" cy="5843016"/>
          </a:xfrm>
          <a:prstGeom prst="rect">
            <a:avLst/>
          </a:prstGeom>
          <a:noFill/>
          <a:ln>
            <a:noFill/>
          </a:ln>
        </p:spPr>
      </p:pic>
      <p:pic>
        <p:nvPicPr>
          <p:cNvPr descr="/home/claude/work/a2/logo_white.png" id="26" name="Google Shape;26;p4"/>
          <p:cNvPicPr preferRelativeResize="0"/>
          <p:nvPr/>
        </p:nvPicPr>
        <p:blipFill rotWithShape="1">
          <a:blip r:embed="rId4">
            <a:alphaModFix/>
          </a:blip>
          <a:srcRect b="0" l="0" r="0" t="0"/>
          <a:stretch/>
        </p:blipFill>
        <p:spPr>
          <a:xfrm>
            <a:off x="10797385" y="310896"/>
            <a:ext cx="1133856" cy="478231"/>
          </a:xfrm>
          <a:prstGeom prst="rect">
            <a:avLst/>
          </a:prstGeom>
          <a:noFill/>
          <a:ln>
            <a:noFill/>
          </a:ln>
        </p:spPr>
      </p:pic>
      <p:sp>
        <p:nvSpPr>
          <p:cNvPr id="27" name="Google Shape;27;p4"/>
          <p:cNvSpPr/>
          <p:nvPr/>
        </p:nvSpPr>
        <p:spPr>
          <a:xfrm>
            <a:off x="658368" y="530352"/>
            <a:ext cx="640080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3000"/>
              <a:buFont typeface="Arial"/>
              <a:buNone/>
            </a:pPr>
            <a:r>
              <a:rPr b="1" lang="en-US" sz="3000">
                <a:solidFill>
                  <a:srgbClr val="FFFFFF"/>
                </a:solidFill>
                <a:latin typeface="Arial"/>
                <a:ea typeface="Arial"/>
                <a:cs typeface="Arial"/>
                <a:sym typeface="Arial"/>
              </a:rPr>
              <a:t>Context </a:t>
            </a:r>
            <a:endParaRPr sz="3000">
              <a:solidFill>
                <a:schemeClr val="dk1"/>
              </a:solidFill>
              <a:latin typeface="Calibri"/>
              <a:ea typeface="Calibri"/>
              <a:cs typeface="Calibri"/>
              <a:sym typeface="Calibri"/>
            </a:endParaRPr>
          </a:p>
        </p:txBody>
      </p:sp>
      <p:sp>
        <p:nvSpPr>
          <p:cNvPr id="28" name="Google Shape;28;p4"/>
          <p:cNvSpPr/>
          <p:nvPr/>
        </p:nvSpPr>
        <p:spPr>
          <a:xfrm>
            <a:off x="658368" y="1909587"/>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01</a:t>
            </a:r>
            <a:endParaRPr sz="1200">
              <a:solidFill>
                <a:srgbClr val="00B0F0"/>
              </a:solidFill>
              <a:latin typeface="Courier New"/>
              <a:ea typeface="Courier New"/>
              <a:cs typeface="Courier New"/>
              <a:sym typeface="Courier New"/>
            </a:endParaRPr>
          </a:p>
        </p:txBody>
      </p:sp>
      <p:sp>
        <p:nvSpPr>
          <p:cNvPr id="29" name="Google Shape;29;p4"/>
          <p:cNvSpPr/>
          <p:nvPr/>
        </p:nvSpPr>
        <p:spPr>
          <a:xfrm>
            <a:off x="1161288" y="1891299"/>
            <a:ext cx="5120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lang="en-US" sz="1800">
                <a:solidFill>
                  <a:srgbClr val="FFFFFF"/>
                </a:solidFill>
                <a:latin typeface="Courier New"/>
                <a:ea typeface="Courier New"/>
                <a:cs typeface="Courier New"/>
                <a:sym typeface="Courier New"/>
              </a:rPr>
              <a:t>The Event</a:t>
            </a:r>
            <a:endParaRPr sz="1800">
              <a:solidFill>
                <a:schemeClr val="dk1"/>
              </a:solidFill>
              <a:latin typeface="Courier New"/>
              <a:ea typeface="Courier New"/>
              <a:cs typeface="Courier New"/>
              <a:sym typeface="Courier New"/>
            </a:endParaRPr>
          </a:p>
        </p:txBody>
      </p:sp>
      <p:sp>
        <p:nvSpPr>
          <p:cNvPr id="30" name="Google Shape;30;p4"/>
          <p:cNvSpPr/>
          <p:nvPr/>
        </p:nvSpPr>
        <p:spPr>
          <a:xfrm>
            <a:off x="1161288" y="2165619"/>
            <a:ext cx="5349240" cy="566928"/>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BDC5D5"/>
              </a:buClr>
              <a:buSzPts val="1400"/>
              <a:buFont typeface="Arial"/>
              <a:buNone/>
            </a:pPr>
            <a:r>
              <a:rPr lang="en-US" sz="1400">
                <a:solidFill>
                  <a:srgbClr val="BDC5D5"/>
                </a:solidFill>
                <a:latin typeface="Arial"/>
                <a:ea typeface="Arial"/>
                <a:cs typeface="Arial"/>
                <a:sym typeface="Arial"/>
              </a:rPr>
              <a:t>On 13 April 2029. Apophis passes within ~32,000 km from earth, closer than geostationary satellites, visible to the naked eye.</a:t>
            </a:r>
            <a:endParaRPr sz="1400">
              <a:solidFill>
                <a:srgbClr val="BDC5D5"/>
              </a:solidFill>
              <a:latin typeface="Arial"/>
              <a:ea typeface="Arial"/>
              <a:cs typeface="Arial"/>
              <a:sym typeface="Arial"/>
            </a:endParaRPr>
          </a:p>
        </p:txBody>
      </p:sp>
      <p:sp>
        <p:nvSpPr>
          <p:cNvPr id="31" name="Google Shape;31;p4"/>
          <p:cNvSpPr/>
          <p:nvPr/>
        </p:nvSpPr>
        <p:spPr>
          <a:xfrm>
            <a:off x="658368" y="2805699"/>
            <a:ext cx="5852160" cy="9144"/>
          </a:xfrm>
          <a:prstGeom prst="rect">
            <a:avLst/>
          </a:prstGeom>
          <a:solidFill>
            <a:srgbClr val="1E274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 name="Google Shape;32;p4"/>
          <p:cNvSpPr/>
          <p:nvPr/>
        </p:nvSpPr>
        <p:spPr>
          <a:xfrm>
            <a:off x="658368" y="2878851"/>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02</a:t>
            </a:r>
            <a:endParaRPr sz="1200">
              <a:solidFill>
                <a:srgbClr val="00B0F0"/>
              </a:solidFill>
              <a:latin typeface="Courier New"/>
              <a:ea typeface="Courier New"/>
              <a:cs typeface="Courier New"/>
              <a:sym typeface="Courier New"/>
            </a:endParaRPr>
          </a:p>
        </p:txBody>
      </p:sp>
      <p:sp>
        <p:nvSpPr>
          <p:cNvPr id="33" name="Google Shape;33;p4"/>
          <p:cNvSpPr/>
          <p:nvPr/>
        </p:nvSpPr>
        <p:spPr>
          <a:xfrm>
            <a:off x="1161288" y="2849148"/>
            <a:ext cx="5120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lang="en-US" sz="1800">
                <a:solidFill>
                  <a:srgbClr val="FFFFFF"/>
                </a:solidFill>
                <a:latin typeface="Courier New"/>
                <a:ea typeface="Courier New"/>
                <a:cs typeface="Courier New"/>
                <a:sym typeface="Courier New"/>
              </a:rPr>
              <a:t>The RAMSES Mission</a:t>
            </a:r>
            <a:endParaRPr sz="1800">
              <a:solidFill>
                <a:schemeClr val="dk1"/>
              </a:solidFill>
              <a:latin typeface="Courier New"/>
              <a:ea typeface="Courier New"/>
              <a:cs typeface="Courier New"/>
              <a:sym typeface="Courier New"/>
            </a:endParaRPr>
          </a:p>
        </p:txBody>
      </p:sp>
      <p:sp>
        <p:nvSpPr>
          <p:cNvPr id="34" name="Google Shape;34;p4"/>
          <p:cNvSpPr/>
          <p:nvPr/>
        </p:nvSpPr>
        <p:spPr>
          <a:xfrm>
            <a:off x="1161288" y="3134883"/>
            <a:ext cx="5349240" cy="566928"/>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BDC5D5"/>
              </a:buClr>
              <a:buSzPts val="1400"/>
              <a:buFont typeface="Arial"/>
              <a:buNone/>
            </a:pPr>
            <a:r>
              <a:rPr lang="en-US" sz="1400">
                <a:solidFill>
                  <a:srgbClr val="BDC5D5"/>
                </a:solidFill>
                <a:latin typeface="Arial"/>
                <a:ea typeface="Arial"/>
                <a:cs typeface="Arial"/>
                <a:sym typeface="Arial"/>
              </a:rPr>
              <a:t>An international collaboration between ESA and JAXA. Currently under development and planned to launch in spring 2028, to arrive to Apophis in February 2029.</a:t>
            </a:r>
            <a:endParaRPr sz="1400">
              <a:solidFill>
                <a:srgbClr val="BDC5D5"/>
              </a:solidFill>
              <a:latin typeface="Arial"/>
              <a:ea typeface="Arial"/>
              <a:cs typeface="Arial"/>
              <a:sym typeface="Arial"/>
            </a:endParaRPr>
          </a:p>
        </p:txBody>
      </p:sp>
      <p:sp>
        <p:nvSpPr>
          <p:cNvPr id="35" name="Google Shape;35;p4"/>
          <p:cNvSpPr/>
          <p:nvPr/>
        </p:nvSpPr>
        <p:spPr>
          <a:xfrm>
            <a:off x="658368" y="3848115"/>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03</a:t>
            </a:r>
            <a:endParaRPr sz="1200">
              <a:solidFill>
                <a:srgbClr val="00B0F0"/>
              </a:solidFill>
              <a:latin typeface="Courier New"/>
              <a:ea typeface="Courier New"/>
              <a:cs typeface="Courier New"/>
              <a:sym typeface="Courier New"/>
            </a:endParaRPr>
          </a:p>
        </p:txBody>
      </p:sp>
      <p:sp>
        <p:nvSpPr>
          <p:cNvPr id="36" name="Google Shape;36;p4"/>
          <p:cNvSpPr/>
          <p:nvPr/>
        </p:nvSpPr>
        <p:spPr>
          <a:xfrm>
            <a:off x="1161288" y="4104147"/>
            <a:ext cx="5349240" cy="566928"/>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chemeClr val="dk1"/>
              </a:buClr>
              <a:buSzPts val="1400"/>
              <a:buFont typeface="Calibri"/>
              <a:buNone/>
            </a:pPr>
            <a:r>
              <a:t/>
            </a:r>
            <a:endParaRPr sz="1400">
              <a:solidFill>
                <a:srgbClr val="BDC5D5"/>
              </a:solidFill>
              <a:latin typeface="Arial"/>
              <a:ea typeface="Arial"/>
              <a:cs typeface="Arial"/>
              <a:sym typeface="Arial"/>
            </a:endParaRPr>
          </a:p>
        </p:txBody>
      </p:sp>
      <p:sp>
        <p:nvSpPr>
          <p:cNvPr id="37" name="Google Shape;37;p4"/>
          <p:cNvSpPr/>
          <p:nvPr/>
        </p:nvSpPr>
        <p:spPr>
          <a:xfrm>
            <a:off x="658368" y="3812067"/>
            <a:ext cx="5852160" cy="9144"/>
          </a:xfrm>
          <a:prstGeom prst="rect">
            <a:avLst/>
          </a:prstGeom>
          <a:solidFill>
            <a:srgbClr val="1E274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 name="Google Shape;38;p4"/>
          <p:cNvSpPr/>
          <p:nvPr/>
        </p:nvSpPr>
        <p:spPr>
          <a:xfrm>
            <a:off x="658368" y="4089408"/>
            <a:ext cx="457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1200"/>
              <a:buFont typeface="Calibri"/>
              <a:buNone/>
            </a:pPr>
            <a:r>
              <a:t/>
            </a:r>
            <a:endParaRPr sz="1200">
              <a:solidFill>
                <a:srgbClr val="00B0F0"/>
              </a:solidFill>
              <a:latin typeface="Courier New"/>
              <a:ea typeface="Courier New"/>
              <a:cs typeface="Courier New"/>
              <a:sym typeface="Courier New"/>
            </a:endParaRPr>
          </a:p>
        </p:txBody>
      </p:sp>
      <p:sp>
        <p:nvSpPr>
          <p:cNvPr id="39" name="Google Shape;39;p4"/>
          <p:cNvSpPr/>
          <p:nvPr/>
        </p:nvSpPr>
        <p:spPr>
          <a:xfrm>
            <a:off x="1161288" y="3884686"/>
            <a:ext cx="5120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lang="en-US" sz="1800">
                <a:solidFill>
                  <a:srgbClr val="FFFFFF"/>
                </a:solidFill>
                <a:latin typeface="Courier New"/>
                <a:ea typeface="Courier New"/>
                <a:cs typeface="Courier New"/>
                <a:sym typeface="Courier New"/>
              </a:rPr>
              <a:t>The Goal</a:t>
            </a:r>
            <a:endParaRPr sz="1800">
              <a:solidFill>
                <a:schemeClr val="dk1"/>
              </a:solidFill>
              <a:latin typeface="Courier New"/>
              <a:ea typeface="Courier New"/>
              <a:cs typeface="Courier New"/>
              <a:sym typeface="Courier New"/>
            </a:endParaRPr>
          </a:p>
        </p:txBody>
      </p:sp>
      <p:sp>
        <p:nvSpPr>
          <p:cNvPr id="40" name="Google Shape;40;p4"/>
          <p:cNvSpPr/>
          <p:nvPr/>
        </p:nvSpPr>
        <p:spPr>
          <a:xfrm>
            <a:off x="1161288" y="4159013"/>
            <a:ext cx="5349240" cy="566928"/>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BDC5D5"/>
              </a:buClr>
              <a:buSzPts val="1400"/>
              <a:buFont typeface="Arial"/>
              <a:buNone/>
            </a:pPr>
            <a:r>
              <a:rPr lang="en-US" sz="1400">
                <a:solidFill>
                  <a:srgbClr val="BDC5D5"/>
                </a:solidFill>
                <a:latin typeface="Arial"/>
                <a:ea typeface="Arial"/>
                <a:cs typeface="Arial"/>
                <a:sym typeface="Arial"/>
              </a:rPr>
              <a:t>An SSA instrument converts observer status into participant status on a joint ESA–JAXA mission.</a:t>
            </a:r>
            <a:endParaRPr sz="1400">
              <a:solidFill>
                <a:srgbClr val="BDC5D5"/>
              </a:solidFill>
              <a:latin typeface="Arial"/>
              <a:ea typeface="Arial"/>
              <a:cs typeface="Arial"/>
              <a:sym typeface="Arial"/>
            </a:endParaRPr>
          </a:p>
        </p:txBody>
      </p:sp>
      <p:sp>
        <p:nvSpPr>
          <p:cNvPr id="41" name="Google Shape;41;p4"/>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1</a:t>
            </a:r>
            <a:endParaRPr sz="1000">
              <a:solidFill>
                <a:schemeClr val="dk1"/>
              </a:solidFill>
              <a:latin typeface="Calibri"/>
              <a:ea typeface="Calibri"/>
              <a:cs typeface="Calibri"/>
              <a:sym typeface="Calibri"/>
            </a:endParaRPr>
          </a:p>
        </p:txBody>
      </p:sp>
      <p:sp>
        <p:nvSpPr>
          <p:cNvPr id="42" name="Google Shape;42;p4"/>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47" name="Shape 47"/>
        <p:cNvGrpSpPr/>
        <p:nvPr/>
      </p:nvGrpSpPr>
      <p:grpSpPr>
        <a:xfrm>
          <a:off x="0" y="0"/>
          <a:ext cx="0" cy="0"/>
          <a:chOff x="0" y="0"/>
          <a:chExt cx="0" cy="0"/>
        </a:xfrm>
      </p:grpSpPr>
      <p:pic>
        <p:nvPicPr>
          <p:cNvPr descr="/home/claude/work/a2/light_wash.jpg" id="48" name="Google Shape;48;p5"/>
          <p:cNvPicPr preferRelativeResize="0"/>
          <p:nvPr/>
        </p:nvPicPr>
        <p:blipFill rotWithShape="1">
          <a:blip r:embed="rId3">
            <a:alphaModFix/>
          </a:blip>
          <a:srcRect b="0" l="0" r="0" t="0"/>
          <a:stretch/>
        </p:blipFill>
        <p:spPr>
          <a:xfrm>
            <a:off x="0" y="-9331"/>
            <a:ext cx="12191695" cy="6858000"/>
          </a:xfrm>
          <a:prstGeom prst="rect">
            <a:avLst/>
          </a:prstGeom>
          <a:noFill/>
          <a:ln>
            <a:noFill/>
          </a:ln>
        </p:spPr>
      </p:pic>
      <p:sp>
        <p:nvSpPr>
          <p:cNvPr id="49" name="Google Shape;49;p5"/>
          <p:cNvSpPr/>
          <p:nvPr/>
        </p:nvSpPr>
        <p:spPr>
          <a:xfrm>
            <a:off x="5337048" y="1486924"/>
            <a:ext cx="6531102" cy="4052874"/>
          </a:xfrm>
          <a:prstGeom prst="roundRect">
            <a:avLst>
              <a:gd fmla="val 5625" name="adj"/>
            </a:avLst>
          </a:prstGeom>
          <a:solidFill>
            <a:srgbClr val="FFFFFF"/>
          </a:solidFill>
          <a:ln cap="flat" cmpd="sng" w="19050">
            <a:solidFill>
              <a:srgbClr val="00B0F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0" name="Google Shape;50;p5"/>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Study Objective &amp; Scope</a:t>
            </a:r>
            <a:endParaRPr sz="3000">
              <a:solidFill>
                <a:schemeClr val="dk1"/>
              </a:solidFill>
              <a:latin typeface="Calibri"/>
              <a:ea typeface="Calibri"/>
              <a:cs typeface="Calibri"/>
              <a:sym typeface="Calibri"/>
            </a:endParaRPr>
          </a:p>
        </p:txBody>
      </p:sp>
      <p:sp>
        <p:nvSpPr>
          <p:cNvPr id="51" name="Google Shape;51;p5"/>
          <p:cNvSpPr/>
          <p:nvPr/>
        </p:nvSpPr>
        <p:spPr>
          <a:xfrm>
            <a:off x="1609344" y="1005057"/>
            <a:ext cx="9052560" cy="329184"/>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4C5468"/>
              </a:buClr>
              <a:buSzPts val="1600"/>
              <a:buFont typeface="Arial"/>
              <a:buNone/>
            </a:pPr>
            <a:r>
              <a:rPr lang="en-US" sz="1600">
                <a:solidFill>
                  <a:srgbClr val="4C5468"/>
                </a:solidFill>
                <a:latin typeface="Arial"/>
                <a:ea typeface="Arial"/>
                <a:cs typeface="Arial"/>
                <a:sym typeface="Arial"/>
              </a:rPr>
              <a:t>The second phase of a two-part study. The first selected the mission; this one determines the contribution.</a:t>
            </a:r>
            <a:endParaRPr sz="1600">
              <a:solidFill>
                <a:schemeClr val="dk1"/>
              </a:solidFill>
              <a:latin typeface="Arial"/>
              <a:ea typeface="Arial"/>
              <a:cs typeface="Arial"/>
              <a:sym typeface="Arial"/>
            </a:endParaRPr>
          </a:p>
        </p:txBody>
      </p:sp>
      <p:sp>
        <p:nvSpPr>
          <p:cNvPr id="52" name="Google Shape;52;p5"/>
          <p:cNvSpPr/>
          <p:nvPr/>
        </p:nvSpPr>
        <p:spPr>
          <a:xfrm>
            <a:off x="658368" y="1736469"/>
            <a:ext cx="45262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Courier New"/>
              <a:buNone/>
            </a:pPr>
            <a:r>
              <a:rPr b="1" lang="en-US" sz="1000">
                <a:solidFill>
                  <a:srgbClr val="4C5468"/>
                </a:solidFill>
                <a:latin typeface="Courier New"/>
                <a:ea typeface="Courier New"/>
                <a:cs typeface="Courier New"/>
                <a:sym typeface="Courier New"/>
              </a:rPr>
              <a:t>WHERE THIS STUDY SITS</a:t>
            </a:r>
            <a:endParaRPr sz="1000">
              <a:solidFill>
                <a:schemeClr val="dk1"/>
              </a:solidFill>
              <a:latin typeface="Courier New"/>
              <a:ea typeface="Courier New"/>
              <a:cs typeface="Courier New"/>
              <a:sym typeface="Courier New"/>
            </a:endParaRPr>
          </a:p>
        </p:txBody>
      </p:sp>
      <p:sp>
        <p:nvSpPr>
          <p:cNvPr id="53" name="Google Shape;53;p5"/>
          <p:cNvSpPr/>
          <p:nvPr/>
        </p:nvSpPr>
        <p:spPr>
          <a:xfrm>
            <a:off x="550926" y="2065653"/>
            <a:ext cx="3988689" cy="1463040"/>
          </a:xfrm>
          <a:prstGeom prst="roundRect">
            <a:avLst>
              <a:gd fmla="val 562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4" name="Google Shape;54;p5"/>
          <p:cNvSpPr/>
          <p:nvPr/>
        </p:nvSpPr>
        <p:spPr>
          <a:xfrm>
            <a:off x="522351" y="2285109"/>
            <a:ext cx="3941064"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4C5468"/>
              </a:buClr>
              <a:buSzPts val="1000"/>
              <a:buFont typeface="Courier New"/>
              <a:buNone/>
            </a:pPr>
            <a:r>
              <a:rPr b="1" lang="en-US" sz="1000">
                <a:solidFill>
                  <a:srgbClr val="4C5468"/>
                </a:solidFill>
                <a:latin typeface="Courier New"/>
                <a:ea typeface="Courier New"/>
                <a:cs typeface="Courier New"/>
                <a:sym typeface="Courier New"/>
              </a:rPr>
              <a:t>PHASE 1 — COMPLETED</a:t>
            </a:r>
            <a:endParaRPr sz="1000">
              <a:solidFill>
                <a:schemeClr val="dk1"/>
              </a:solidFill>
              <a:latin typeface="Courier New"/>
              <a:ea typeface="Courier New"/>
              <a:cs typeface="Courier New"/>
              <a:sym typeface="Courier New"/>
            </a:endParaRPr>
          </a:p>
        </p:txBody>
      </p:sp>
      <p:sp>
        <p:nvSpPr>
          <p:cNvPr id="55" name="Google Shape;55;p5"/>
          <p:cNvSpPr/>
          <p:nvPr/>
        </p:nvSpPr>
        <p:spPr>
          <a:xfrm>
            <a:off x="531876" y="2522853"/>
            <a:ext cx="394106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1800"/>
              <a:buFont typeface="Arial"/>
              <a:buNone/>
            </a:pPr>
            <a:r>
              <a:rPr b="1" lang="en-US" sz="1800">
                <a:solidFill>
                  <a:srgbClr val="13234C"/>
                </a:solidFill>
                <a:latin typeface="Arial"/>
                <a:ea typeface="Arial"/>
                <a:cs typeface="Arial"/>
                <a:sym typeface="Arial"/>
              </a:rPr>
              <a:t>Asteroid Mission Study</a:t>
            </a:r>
            <a:endParaRPr sz="1800">
              <a:solidFill>
                <a:schemeClr val="dk1"/>
              </a:solidFill>
              <a:latin typeface="Calibri"/>
              <a:ea typeface="Calibri"/>
              <a:cs typeface="Calibri"/>
              <a:sym typeface="Calibri"/>
            </a:endParaRPr>
          </a:p>
        </p:txBody>
      </p:sp>
      <p:sp>
        <p:nvSpPr>
          <p:cNvPr id="56" name="Google Shape;56;p5"/>
          <p:cNvSpPr/>
          <p:nvPr/>
        </p:nvSpPr>
        <p:spPr>
          <a:xfrm>
            <a:off x="579501" y="2925189"/>
            <a:ext cx="3941064" cy="457200"/>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0"/>
              </a:spcAft>
              <a:buClr>
                <a:srgbClr val="151B29"/>
              </a:buClr>
              <a:buSzPts val="1200"/>
              <a:buFont typeface="Arial"/>
              <a:buNone/>
            </a:pPr>
            <a:r>
              <a:rPr lang="en-US" sz="1200">
                <a:solidFill>
                  <a:srgbClr val="151B29"/>
                </a:solidFill>
                <a:latin typeface="Arial"/>
                <a:ea typeface="Arial"/>
                <a:cs typeface="Arial"/>
                <a:sym typeface="Arial"/>
              </a:rPr>
              <a:t>11 missions benchmarked  → 2 prioritized → RAMSES selected.</a:t>
            </a:r>
            <a:endParaRPr sz="1200">
              <a:solidFill>
                <a:schemeClr val="dk1"/>
              </a:solidFill>
              <a:latin typeface="Arial"/>
              <a:ea typeface="Arial"/>
              <a:cs typeface="Arial"/>
              <a:sym typeface="Arial"/>
            </a:endParaRPr>
          </a:p>
        </p:txBody>
      </p:sp>
      <p:sp>
        <p:nvSpPr>
          <p:cNvPr id="57" name="Google Shape;57;p5"/>
          <p:cNvSpPr/>
          <p:nvPr/>
        </p:nvSpPr>
        <p:spPr>
          <a:xfrm>
            <a:off x="2363724" y="3656709"/>
            <a:ext cx="201168" cy="237744"/>
          </a:xfrm>
          <a:prstGeom prst="downArrow">
            <a:avLst>
              <a:gd fmla="val 50000" name="adj1"/>
              <a:gd fmla="val 50000" name="adj2"/>
            </a:avLst>
          </a:prstGeom>
          <a:solidFill>
            <a:srgbClr val="A8B3C6"/>
          </a:solid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8" name="Google Shape;58;p5"/>
          <p:cNvSpPr/>
          <p:nvPr/>
        </p:nvSpPr>
        <p:spPr>
          <a:xfrm>
            <a:off x="516638" y="4040757"/>
            <a:ext cx="3988688" cy="1463040"/>
          </a:xfrm>
          <a:prstGeom prst="roundRect">
            <a:avLst>
              <a:gd fmla="val 5625" name="adj"/>
            </a:avLst>
          </a:prstGeom>
          <a:solidFill>
            <a:srgbClr val="FFFFFF"/>
          </a:solidFill>
          <a:ln cap="flat" cmpd="sng" w="19050">
            <a:solidFill>
              <a:srgbClr val="00B0F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59" name="Google Shape;59;p5"/>
          <p:cNvSpPr/>
          <p:nvPr/>
        </p:nvSpPr>
        <p:spPr>
          <a:xfrm>
            <a:off x="493776" y="4260213"/>
            <a:ext cx="3941064" cy="20116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A33D"/>
              </a:buClr>
              <a:buSzPts val="1000"/>
              <a:buFont typeface="Courier New"/>
              <a:buNone/>
            </a:pPr>
            <a:r>
              <a:rPr b="1" lang="en-US" sz="1000">
                <a:solidFill>
                  <a:srgbClr val="E8A33D"/>
                </a:solidFill>
                <a:latin typeface="Courier New"/>
                <a:ea typeface="Courier New"/>
                <a:cs typeface="Courier New"/>
                <a:sym typeface="Courier New"/>
              </a:rPr>
              <a:t>PHASE 2 — THIS STUDY</a:t>
            </a:r>
            <a:endParaRPr sz="1000">
              <a:solidFill>
                <a:srgbClr val="E8A33D"/>
              </a:solidFill>
              <a:latin typeface="Courier New"/>
              <a:ea typeface="Courier New"/>
              <a:cs typeface="Courier New"/>
              <a:sym typeface="Courier New"/>
            </a:endParaRPr>
          </a:p>
        </p:txBody>
      </p:sp>
      <p:sp>
        <p:nvSpPr>
          <p:cNvPr id="60" name="Google Shape;60;p5"/>
          <p:cNvSpPr/>
          <p:nvPr/>
        </p:nvSpPr>
        <p:spPr>
          <a:xfrm>
            <a:off x="493776" y="4497957"/>
            <a:ext cx="394106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1800"/>
              <a:buFont typeface="Arial"/>
              <a:buNone/>
            </a:pPr>
            <a:r>
              <a:rPr b="1" lang="en-US" sz="1800">
                <a:solidFill>
                  <a:srgbClr val="13234C"/>
                </a:solidFill>
                <a:latin typeface="Arial"/>
                <a:ea typeface="Arial"/>
                <a:cs typeface="Arial"/>
                <a:sym typeface="Arial"/>
              </a:rPr>
              <a:t>Payload Study</a:t>
            </a:r>
            <a:endParaRPr sz="1800">
              <a:solidFill>
                <a:schemeClr val="dk1"/>
              </a:solidFill>
              <a:latin typeface="Calibri"/>
              <a:ea typeface="Calibri"/>
              <a:cs typeface="Calibri"/>
              <a:sym typeface="Calibri"/>
            </a:endParaRPr>
          </a:p>
        </p:txBody>
      </p:sp>
      <p:sp>
        <p:nvSpPr>
          <p:cNvPr id="61" name="Google Shape;61;p5"/>
          <p:cNvSpPr/>
          <p:nvPr/>
        </p:nvSpPr>
        <p:spPr>
          <a:xfrm>
            <a:off x="493776" y="4900293"/>
            <a:ext cx="3941064" cy="36576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Clr>
                <a:srgbClr val="151B29"/>
              </a:buClr>
              <a:buSzPts val="1400"/>
              <a:buFont typeface="Arial"/>
              <a:buNone/>
            </a:pPr>
            <a:r>
              <a:rPr lang="en-US" sz="1400">
                <a:solidFill>
                  <a:srgbClr val="151B29"/>
                </a:solidFill>
                <a:latin typeface="Arial"/>
                <a:ea typeface="Arial"/>
                <a:cs typeface="Arial"/>
                <a:sym typeface="Arial"/>
              </a:rPr>
              <a:t>What payload to put on the mission?</a:t>
            </a:r>
            <a:endParaRPr sz="1400">
              <a:solidFill>
                <a:schemeClr val="dk1"/>
              </a:solidFill>
              <a:latin typeface="Arial"/>
              <a:ea typeface="Arial"/>
              <a:cs typeface="Arial"/>
              <a:sym typeface="Arial"/>
            </a:endParaRPr>
          </a:p>
        </p:txBody>
      </p:sp>
      <p:sp>
        <p:nvSpPr>
          <p:cNvPr id="62" name="Google Shape;62;p5"/>
          <p:cNvSpPr/>
          <p:nvPr/>
        </p:nvSpPr>
        <p:spPr>
          <a:xfrm>
            <a:off x="5623560" y="1736469"/>
            <a:ext cx="5897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000"/>
              <a:buFont typeface="Arial"/>
              <a:buNone/>
            </a:pPr>
            <a:r>
              <a:rPr b="1" lang="en-US" sz="1000">
                <a:solidFill>
                  <a:srgbClr val="00B0F0"/>
                </a:solidFill>
                <a:latin typeface="Arial"/>
                <a:ea typeface="Arial"/>
                <a:cs typeface="Arial"/>
                <a:sym typeface="Arial"/>
              </a:rPr>
              <a:t>OBJECTIVE</a:t>
            </a:r>
            <a:endParaRPr sz="1000">
              <a:solidFill>
                <a:srgbClr val="00B0F0"/>
              </a:solidFill>
              <a:latin typeface="Calibri"/>
              <a:ea typeface="Calibri"/>
              <a:cs typeface="Calibri"/>
              <a:sym typeface="Calibri"/>
            </a:endParaRPr>
          </a:p>
        </p:txBody>
      </p:sp>
      <p:sp>
        <p:nvSpPr>
          <p:cNvPr id="63" name="Google Shape;63;p5"/>
          <p:cNvSpPr/>
          <p:nvPr/>
        </p:nvSpPr>
        <p:spPr>
          <a:xfrm>
            <a:off x="5623560" y="2065653"/>
            <a:ext cx="5897880" cy="1463040"/>
          </a:xfrm>
          <a:prstGeom prst="roundRect">
            <a:avLst>
              <a:gd fmla="val 5000" name="adj"/>
            </a:avLst>
          </a:prstGeom>
          <a:solidFill>
            <a:srgbClr val="101E42"/>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4" name="Google Shape;64;p5"/>
          <p:cNvSpPr/>
          <p:nvPr/>
        </p:nvSpPr>
        <p:spPr>
          <a:xfrm>
            <a:off x="5934456" y="2065653"/>
            <a:ext cx="5276088" cy="1463040"/>
          </a:xfrm>
          <a:prstGeom prst="rect">
            <a:avLst/>
          </a:prstGeom>
          <a:noFill/>
          <a:ln>
            <a:noFill/>
          </a:ln>
        </p:spPr>
        <p:txBody>
          <a:bodyPr anchorCtr="0" anchor="ctr" bIns="0" lIns="0" spcFirstLastPara="1" rIns="0" wrap="square" tIns="0">
            <a:noAutofit/>
          </a:bodyPr>
          <a:lstStyle/>
          <a:p>
            <a:pPr indent="0" lvl="0" marL="0" marR="0" rtl="0" algn="ctr">
              <a:lnSpc>
                <a:spcPct val="124000"/>
              </a:lnSpc>
              <a:spcBef>
                <a:spcPts val="0"/>
              </a:spcBef>
              <a:spcAft>
                <a:spcPts val="0"/>
              </a:spcAft>
              <a:buClr>
                <a:srgbClr val="E7ECF7"/>
              </a:buClr>
              <a:buSzPts val="1800"/>
              <a:buFont typeface="Arial"/>
              <a:buNone/>
            </a:pPr>
            <a:r>
              <a:rPr lang="en-US" sz="1800">
                <a:solidFill>
                  <a:srgbClr val="E7ECF7"/>
                </a:solidFill>
                <a:latin typeface="Arial"/>
                <a:ea typeface="Arial"/>
                <a:cs typeface="Arial"/>
                <a:sym typeface="Arial"/>
              </a:rPr>
              <a:t>Identify the knowledge gap where an additional payload would most increase the scientific return of RAMSES</a:t>
            </a:r>
            <a:endParaRPr sz="1800">
              <a:solidFill>
                <a:schemeClr val="dk1"/>
              </a:solidFill>
              <a:latin typeface="Arial"/>
              <a:ea typeface="Arial"/>
              <a:cs typeface="Arial"/>
              <a:sym typeface="Arial"/>
            </a:endParaRPr>
          </a:p>
        </p:txBody>
      </p:sp>
      <p:sp>
        <p:nvSpPr>
          <p:cNvPr id="65" name="Google Shape;65;p5"/>
          <p:cNvSpPr/>
          <p:nvPr/>
        </p:nvSpPr>
        <p:spPr>
          <a:xfrm>
            <a:off x="5623560" y="3711573"/>
            <a:ext cx="58978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000"/>
              <a:buFont typeface="Arial"/>
              <a:buNone/>
            </a:pPr>
            <a:r>
              <a:rPr b="1" lang="en-US" sz="1000">
                <a:solidFill>
                  <a:srgbClr val="00B0F0"/>
                </a:solidFill>
                <a:latin typeface="Arial"/>
                <a:ea typeface="Arial"/>
                <a:cs typeface="Arial"/>
                <a:sym typeface="Arial"/>
              </a:rPr>
              <a:t>SCOPE</a:t>
            </a:r>
            <a:endParaRPr sz="1000">
              <a:solidFill>
                <a:srgbClr val="00B0F0"/>
              </a:solidFill>
              <a:latin typeface="Calibri"/>
              <a:ea typeface="Calibri"/>
              <a:cs typeface="Calibri"/>
              <a:sym typeface="Calibri"/>
            </a:endParaRPr>
          </a:p>
        </p:txBody>
      </p:sp>
      <p:sp>
        <p:nvSpPr>
          <p:cNvPr id="66" name="Google Shape;66;p5"/>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2</a:t>
            </a:r>
            <a:endParaRPr sz="1000">
              <a:solidFill>
                <a:schemeClr val="dk1"/>
              </a:solidFill>
              <a:latin typeface="Calibri"/>
              <a:ea typeface="Calibri"/>
              <a:cs typeface="Calibri"/>
              <a:sym typeface="Calibri"/>
            </a:endParaRPr>
          </a:p>
        </p:txBody>
      </p:sp>
      <p:pic>
        <p:nvPicPr>
          <p:cNvPr descr="/home/claude/work/a2/logo_dark.png" id="67" name="Google Shape;67;p5"/>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cxnSp>
        <p:nvCxnSpPr>
          <p:cNvPr id="68" name="Google Shape;68;p5"/>
          <p:cNvCxnSpPr>
            <a:stCxn id="58" idx="3"/>
          </p:cNvCxnSpPr>
          <p:nvPr/>
        </p:nvCxnSpPr>
        <p:spPr>
          <a:xfrm flipH="1" rot="10800000">
            <a:off x="4505326" y="1810677"/>
            <a:ext cx="831600" cy="2961600"/>
          </a:xfrm>
          <a:prstGeom prst="straightConnector1">
            <a:avLst/>
          </a:prstGeom>
          <a:noFill/>
          <a:ln cap="flat" cmpd="sng" w="19050">
            <a:solidFill>
              <a:srgbClr val="00B0F0"/>
            </a:solidFill>
            <a:prstDash val="solid"/>
            <a:miter lim="8000"/>
            <a:headEnd len="sm" w="sm" type="none"/>
            <a:tailEnd len="sm" w="sm" type="none"/>
          </a:ln>
          <a:effectLst>
            <a:outerShdw blurRad="50800" rotWithShape="0" algn="tr" dir="8100000" dist="38100">
              <a:srgbClr val="000000">
                <a:alpha val="40000"/>
              </a:srgbClr>
            </a:outerShdw>
          </a:effectLst>
        </p:spPr>
      </p:cxnSp>
      <p:cxnSp>
        <p:nvCxnSpPr>
          <p:cNvPr id="69" name="Google Shape;69;p5"/>
          <p:cNvCxnSpPr>
            <a:stCxn id="70" idx="4"/>
          </p:cNvCxnSpPr>
          <p:nvPr/>
        </p:nvCxnSpPr>
        <p:spPr>
          <a:xfrm>
            <a:off x="4527373" y="4787098"/>
            <a:ext cx="809700" cy="479100"/>
          </a:xfrm>
          <a:prstGeom prst="straightConnector1">
            <a:avLst/>
          </a:prstGeom>
          <a:noFill/>
          <a:ln cap="flat" cmpd="sng" w="19050">
            <a:solidFill>
              <a:srgbClr val="00B0F0"/>
            </a:solidFill>
            <a:prstDash val="solid"/>
            <a:miter lim="8000"/>
            <a:headEnd len="sm" w="sm" type="none"/>
            <a:tailEnd len="sm" w="sm" type="none"/>
          </a:ln>
          <a:effectLst>
            <a:outerShdw blurRad="50800" rotWithShape="0" algn="tr" dir="8100000" dist="38100">
              <a:srgbClr val="000000">
                <a:alpha val="40000"/>
              </a:srgbClr>
            </a:outerShdw>
          </a:effectLst>
        </p:spPr>
      </p:cxnSp>
      <p:cxnSp>
        <p:nvCxnSpPr>
          <p:cNvPr id="71" name="Google Shape;71;p5"/>
          <p:cNvCxnSpPr>
            <a:endCxn id="72" idx="0"/>
          </p:cNvCxnSpPr>
          <p:nvPr/>
        </p:nvCxnSpPr>
        <p:spPr>
          <a:xfrm flipH="1" rot="10800000">
            <a:off x="5287908" y="1880513"/>
            <a:ext cx="38100" cy="3368400"/>
          </a:xfrm>
          <a:prstGeom prst="straightConnector1">
            <a:avLst/>
          </a:prstGeom>
          <a:noFill/>
          <a:ln cap="flat" cmpd="sng" w="19050">
            <a:solidFill>
              <a:srgbClr val="00B0F0"/>
            </a:solidFill>
            <a:prstDash val="solid"/>
            <a:miter lim="8000"/>
            <a:headEnd len="sm" w="sm" type="none"/>
            <a:tailEnd len="sm" w="sm" type="none"/>
          </a:ln>
        </p:spPr>
      </p:cxnSp>
      <p:sp>
        <p:nvSpPr>
          <p:cNvPr id="72" name="Google Shape;72;p5"/>
          <p:cNvSpPr/>
          <p:nvPr/>
        </p:nvSpPr>
        <p:spPr>
          <a:xfrm flipH="1" rot="503822">
            <a:off x="4730875" y="1864436"/>
            <a:ext cx="752267" cy="2999334"/>
          </a:xfrm>
          <a:prstGeom prst="triangle">
            <a:avLst>
              <a:gd fmla="val 50000"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0" name="Google Shape;70;p5"/>
          <p:cNvSpPr/>
          <p:nvPr/>
        </p:nvSpPr>
        <p:spPr>
          <a:xfrm rot="-10572091">
            <a:off x="4517271" y="4811329"/>
            <a:ext cx="740815" cy="280420"/>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3" name="Google Shape;73;p5"/>
          <p:cNvSpPr/>
          <p:nvPr/>
        </p:nvSpPr>
        <p:spPr>
          <a:xfrm rot="-10436494">
            <a:off x="5078444" y="4887978"/>
            <a:ext cx="179981" cy="280420"/>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4" name="Google Shape;74;p5"/>
          <p:cNvSpPr/>
          <p:nvPr/>
        </p:nvSpPr>
        <p:spPr>
          <a:xfrm flipH="1" rot="1882426">
            <a:off x="5059564" y="4925793"/>
            <a:ext cx="194028" cy="211160"/>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75" name="Google Shape;75;p5"/>
          <p:cNvCxnSpPr/>
          <p:nvPr/>
        </p:nvCxnSpPr>
        <p:spPr>
          <a:xfrm flipH="1" rot="10800000">
            <a:off x="5298947" y="2052528"/>
            <a:ext cx="39503" cy="3177323"/>
          </a:xfrm>
          <a:prstGeom prst="straightConnector1">
            <a:avLst/>
          </a:prstGeom>
          <a:noFill/>
          <a:ln cap="flat" cmpd="sng" w="19050">
            <a:solidFill>
              <a:srgbClr val="00B0F0"/>
            </a:solidFill>
            <a:prstDash val="solid"/>
            <a:miter lim="8000"/>
            <a:headEnd len="sm" w="sm" type="none"/>
            <a:tailEnd len="sm" w="sm" type="none"/>
          </a:ln>
        </p:spPr>
      </p:cxnSp>
      <p:cxnSp>
        <p:nvCxnSpPr>
          <p:cNvPr id="76" name="Google Shape;76;p5"/>
          <p:cNvCxnSpPr/>
          <p:nvPr/>
        </p:nvCxnSpPr>
        <p:spPr>
          <a:xfrm flipH="1" rot="10800000">
            <a:off x="5318251" y="1967557"/>
            <a:ext cx="20009" cy="3262294"/>
          </a:xfrm>
          <a:prstGeom prst="straightConnector1">
            <a:avLst/>
          </a:prstGeom>
          <a:noFill/>
          <a:ln cap="flat" cmpd="sng" w="19050">
            <a:solidFill>
              <a:srgbClr val="00B0F0"/>
            </a:solidFill>
            <a:prstDash val="solid"/>
            <a:miter lim="8000"/>
            <a:headEnd len="sm" w="sm" type="none"/>
            <a:tailEnd len="sm" w="sm" type="none"/>
          </a:ln>
        </p:spPr>
      </p:cxnSp>
      <p:cxnSp>
        <p:nvCxnSpPr>
          <p:cNvPr id="77" name="Google Shape;77;p5"/>
          <p:cNvCxnSpPr/>
          <p:nvPr/>
        </p:nvCxnSpPr>
        <p:spPr>
          <a:xfrm flipH="1" rot="10800000">
            <a:off x="5318251" y="2011976"/>
            <a:ext cx="7620" cy="3236932"/>
          </a:xfrm>
          <a:prstGeom prst="straightConnector1">
            <a:avLst/>
          </a:prstGeom>
          <a:noFill/>
          <a:ln cap="flat" cmpd="sng" w="19050">
            <a:solidFill>
              <a:srgbClr val="00B0F0"/>
            </a:solidFill>
            <a:prstDash val="solid"/>
            <a:miter lim="8000"/>
            <a:headEnd len="sm" w="sm" type="none"/>
            <a:tailEnd len="sm" w="sm" type="none"/>
          </a:ln>
        </p:spPr>
      </p:cxnSp>
      <p:sp>
        <p:nvSpPr>
          <p:cNvPr id="78" name="Google Shape;78;p5"/>
          <p:cNvSpPr/>
          <p:nvPr/>
        </p:nvSpPr>
        <p:spPr>
          <a:xfrm flipH="1" rot="1408918">
            <a:off x="5215200" y="5051620"/>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79" name="Google Shape;79;p5"/>
          <p:cNvSpPr/>
          <p:nvPr/>
        </p:nvSpPr>
        <p:spPr>
          <a:xfrm flipH="1" rot="1408918">
            <a:off x="5181530" y="501952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0" name="Google Shape;80;p5"/>
          <p:cNvSpPr/>
          <p:nvPr/>
        </p:nvSpPr>
        <p:spPr>
          <a:xfrm flipH="1" rot="1408918">
            <a:off x="5188193" y="493996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1" name="Google Shape;81;p5"/>
          <p:cNvSpPr/>
          <p:nvPr/>
        </p:nvSpPr>
        <p:spPr>
          <a:xfrm flipH="1" rot="1408918">
            <a:off x="5194856" y="486040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2" name="Google Shape;82;p5"/>
          <p:cNvSpPr/>
          <p:nvPr/>
        </p:nvSpPr>
        <p:spPr>
          <a:xfrm flipH="1" rot="1408918">
            <a:off x="5201519" y="478084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3" name="Google Shape;83;p5"/>
          <p:cNvSpPr/>
          <p:nvPr/>
        </p:nvSpPr>
        <p:spPr>
          <a:xfrm flipH="1" rot="1408918">
            <a:off x="5208182" y="470128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4" name="Google Shape;84;p5"/>
          <p:cNvSpPr/>
          <p:nvPr/>
        </p:nvSpPr>
        <p:spPr>
          <a:xfrm flipH="1" rot="1408918">
            <a:off x="5214845" y="462172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5" name="Google Shape;85;p5"/>
          <p:cNvSpPr/>
          <p:nvPr/>
        </p:nvSpPr>
        <p:spPr>
          <a:xfrm flipH="1" rot="1408918">
            <a:off x="5221508" y="454216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sp>
        <p:nvSpPr>
          <p:cNvPr id="86" name="Google Shape;86;p5"/>
          <p:cNvSpPr/>
          <p:nvPr/>
        </p:nvSpPr>
        <p:spPr>
          <a:xfrm flipH="1" rot="1408918">
            <a:off x="5228171" y="4462604"/>
            <a:ext cx="115042" cy="151175"/>
          </a:xfrm>
          <a:prstGeom prst="triangle">
            <a:avLst>
              <a:gd fmla="val 26491" name="adj"/>
            </a:avLst>
          </a:prstGeom>
          <a:solidFill>
            <a:srgbClr val="18B5F0"/>
          </a:solidFill>
          <a:ln cap="flat" cmpd="sng" w="12700">
            <a:solidFill>
              <a:srgbClr val="18B5F0"/>
            </a:solidFill>
            <a:prstDash val="solid"/>
            <a:miter lim="8000"/>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800">
              <a:solidFill>
                <a:schemeClr val="lt1"/>
              </a:solidFill>
              <a:latin typeface="Calibri"/>
              <a:ea typeface="Calibri"/>
              <a:cs typeface="Calibri"/>
              <a:sym typeface="Calibri"/>
            </a:endParaRPr>
          </a:p>
        </p:txBody>
      </p:sp>
      <p:cxnSp>
        <p:nvCxnSpPr>
          <p:cNvPr id="87" name="Google Shape;87;p5"/>
          <p:cNvCxnSpPr>
            <a:stCxn id="79" idx="1"/>
          </p:cNvCxnSpPr>
          <p:nvPr/>
        </p:nvCxnSpPr>
        <p:spPr>
          <a:xfrm flipH="1" rot="10800000">
            <a:off x="5277832" y="2216360"/>
            <a:ext cx="21000" cy="2895600"/>
          </a:xfrm>
          <a:prstGeom prst="straightConnector1">
            <a:avLst/>
          </a:prstGeom>
          <a:noFill/>
          <a:ln cap="flat" cmpd="sng" w="19050">
            <a:solidFill>
              <a:srgbClr val="00B0F0"/>
            </a:solidFill>
            <a:prstDash val="solid"/>
            <a:miter lim="8000"/>
            <a:headEnd len="sm" w="sm" type="none"/>
            <a:tailEnd len="sm" w="sm" type="none"/>
          </a:ln>
        </p:spPr>
      </p:cxnSp>
      <p:sp>
        <p:nvSpPr>
          <p:cNvPr id="88" name="Google Shape;88;p5"/>
          <p:cNvSpPr/>
          <p:nvPr/>
        </p:nvSpPr>
        <p:spPr>
          <a:xfrm>
            <a:off x="531876" y="5731693"/>
            <a:ext cx="11374374" cy="725408"/>
          </a:xfrm>
          <a:prstGeom prst="roundRect">
            <a:avLst>
              <a:gd fmla="val 7843" name="adj"/>
            </a:avLst>
          </a:prstGeom>
          <a:solidFill>
            <a:srgbClr val="101E42"/>
          </a:solidFill>
          <a:ln cap="flat" cmpd="sng" w="9525">
            <a:solidFill>
              <a:schemeClr val="lt1"/>
            </a:solidFill>
            <a:prstDash val="solid"/>
            <a:round/>
            <a:headEnd len="sm" w="sm" type="none"/>
            <a:tailEnd len="sm" w="sm" type="none"/>
          </a:ln>
          <a:effectLst>
            <a:outerShdw blurRad="50800" rotWithShape="0" algn="t" dir="54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400">
              <a:solidFill>
                <a:schemeClr val="dk1"/>
              </a:solidFill>
              <a:latin typeface="Calibri"/>
              <a:ea typeface="Calibri"/>
              <a:cs typeface="Calibri"/>
              <a:sym typeface="Calibri"/>
            </a:endParaRPr>
          </a:p>
        </p:txBody>
      </p:sp>
      <p:sp>
        <p:nvSpPr>
          <p:cNvPr id="89" name="Google Shape;89;p5"/>
          <p:cNvSpPr/>
          <p:nvPr/>
        </p:nvSpPr>
        <p:spPr>
          <a:xfrm>
            <a:off x="3177540" y="5819364"/>
            <a:ext cx="5394960" cy="256032"/>
          </a:xfrm>
          <a:prstGeom prst="rect">
            <a:avLst/>
          </a:prstGeom>
          <a:solidFill>
            <a:srgbClr val="101E42"/>
          </a:solidFill>
          <a:ln>
            <a:noFill/>
          </a:ln>
        </p:spPr>
        <p:txBody>
          <a:bodyPr anchorCtr="0" anchor="ctr" bIns="0" lIns="0" spcFirstLastPara="1" rIns="0" wrap="square" tIns="0">
            <a:noAutofit/>
          </a:bodyPr>
          <a:lstStyle/>
          <a:p>
            <a:pPr indent="0" lvl="0" marL="0" marR="0" rtl="0" algn="ctr">
              <a:spcBef>
                <a:spcPts val="0"/>
              </a:spcBef>
              <a:spcAft>
                <a:spcPts val="0"/>
              </a:spcAft>
              <a:buClr>
                <a:srgbClr val="00B0F0"/>
              </a:buClr>
              <a:buSzPts val="1800"/>
              <a:buFont typeface="Arial"/>
              <a:buNone/>
            </a:pPr>
            <a:r>
              <a:rPr lang="en-US" sz="1800">
                <a:solidFill>
                  <a:srgbClr val="00B0F0"/>
                </a:solidFill>
                <a:latin typeface="Arial"/>
                <a:ea typeface="Arial"/>
                <a:cs typeface="Arial"/>
                <a:sym typeface="Arial"/>
              </a:rPr>
              <a:t>The question is no longer whether to participate.</a:t>
            </a:r>
            <a:endParaRPr sz="1800">
              <a:solidFill>
                <a:srgbClr val="00B0F0"/>
              </a:solidFill>
              <a:latin typeface="Calibri"/>
              <a:ea typeface="Calibri"/>
              <a:cs typeface="Calibri"/>
              <a:sym typeface="Calibri"/>
            </a:endParaRPr>
          </a:p>
        </p:txBody>
      </p:sp>
      <p:sp>
        <p:nvSpPr>
          <p:cNvPr id="90" name="Google Shape;90;p5"/>
          <p:cNvSpPr/>
          <p:nvPr/>
        </p:nvSpPr>
        <p:spPr>
          <a:xfrm>
            <a:off x="1273940" y="6146776"/>
            <a:ext cx="10022709" cy="161395"/>
          </a:xfrm>
          <a:prstGeom prst="rect">
            <a:avLst/>
          </a:prstGeom>
          <a:solidFill>
            <a:srgbClr val="101E42"/>
          </a:solidFill>
          <a:ln>
            <a:noFill/>
          </a:ln>
        </p:spPr>
        <p:txBody>
          <a:bodyPr anchorCtr="0" anchor="t" bIns="0" lIns="0" spcFirstLastPara="1" rIns="0" wrap="square" tIns="0">
            <a:noAutofit/>
          </a:bodyPr>
          <a:lstStyle/>
          <a:p>
            <a:pPr indent="0" lvl="0" marL="0" marR="0" rtl="0" algn="ctr">
              <a:lnSpc>
                <a:spcPct val="110000"/>
              </a:lnSpc>
              <a:spcBef>
                <a:spcPts val="0"/>
              </a:spcBef>
              <a:spcAft>
                <a:spcPts val="0"/>
              </a:spcAft>
              <a:buClr>
                <a:schemeClr val="lt1"/>
              </a:buClr>
              <a:buSzPts val="1100"/>
              <a:buFont typeface="Arial"/>
              <a:buNone/>
            </a:pPr>
            <a:r>
              <a:rPr lang="en-US" sz="1100">
                <a:solidFill>
                  <a:schemeClr val="lt1"/>
                </a:solidFill>
                <a:latin typeface="Arial"/>
                <a:ea typeface="Arial"/>
                <a:cs typeface="Arial"/>
                <a:sym typeface="Arial"/>
              </a:rPr>
              <a:t>Phase 1 settled the mission. What remains is to put a specific  technically credible contribution on the table while the build phase can still accommodate it.</a:t>
            </a:r>
            <a:endParaRPr sz="1100">
              <a:solidFill>
                <a:schemeClr val="lt1"/>
              </a:solidFill>
              <a:latin typeface="Calibri"/>
              <a:ea typeface="Calibri"/>
              <a:cs typeface="Calibri"/>
              <a:sym typeface="Calibri"/>
            </a:endParaRPr>
          </a:p>
        </p:txBody>
      </p:sp>
      <p:sp>
        <p:nvSpPr>
          <p:cNvPr id="91" name="Google Shape;91;p5"/>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96" name="Shape 96"/>
        <p:cNvGrpSpPr/>
        <p:nvPr/>
      </p:nvGrpSpPr>
      <p:grpSpPr>
        <a:xfrm>
          <a:off x="0" y="0"/>
          <a:ext cx="0" cy="0"/>
          <a:chOff x="0" y="0"/>
          <a:chExt cx="0" cy="0"/>
        </a:xfrm>
      </p:grpSpPr>
      <p:pic>
        <p:nvPicPr>
          <p:cNvPr descr="/home/claude/work/a2/light_wash.jpg" id="97" name="Google Shape;97;p6"/>
          <p:cNvPicPr preferRelativeResize="0"/>
          <p:nvPr/>
        </p:nvPicPr>
        <p:blipFill rotWithShape="1">
          <a:blip r:embed="rId3">
            <a:alphaModFix/>
          </a:blip>
          <a:srcRect b="0" l="0" r="0" t="0"/>
          <a:stretch/>
        </p:blipFill>
        <p:spPr>
          <a:xfrm>
            <a:off x="0" y="-219456"/>
            <a:ext cx="12191695" cy="6858000"/>
          </a:xfrm>
          <a:prstGeom prst="rect">
            <a:avLst/>
          </a:prstGeom>
          <a:noFill/>
          <a:ln>
            <a:noFill/>
          </a:ln>
        </p:spPr>
      </p:pic>
      <p:sp>
        <p:nvSpPr>
          <p:cNvPr id="98" name="Google Shape;98;p6"/>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RAMSES Mission Overview</a:t>
            </a:r>
            <a:endParaRPr sz="3000">
              <a:solidFill>
                <a:schemeClr val="dk1"/>
              </a:solidFill>
              <a:latin typeface="Calibri"/>
              <a:ea typeface="Calibri"/>
              <a:cs typeface="Calibri"/>
              <a:sym typeface="Calibri"/>
            </a:endParaRPr>
          </a:p>
        </p:txBody>
      </p:sp>
      <p:sp>
        <p:nvSpPr>
          <p:cNvPr id="99" name="Google Shape;99;p6"/>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Rapid Apophis Mission for Space Safety , joint ESA–JAXA planetary defence mission.</a:t>
            </a:r>
            <a:endParaRPr sz="1400">
              <a:solidFill>
                <a:schemeClr val="dk1"/>
              </a:solidFill>
              <a:latin typeface="Arial"/>
              <a:ea typeface="Arial"/>
              <a:cs typeface="Arial"/>
              <a:sym typeface="Arial"/>
            </a:endParaRPr>
          </a:p>
        </p:txBody>
      </p:sp>
      <p:sp>
        <p:nvSpPr>
          <p:cNvPr id="100" name="Google Shape;100;p6"/>
          <p:cNvSpPr/>
          <p:nvPr/>
        </p:nvSpPr>
        <p:spPr>
          <a:xfrm>
            <a:off x="658368" y="1664208"/>
            <a:ext cx="461772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900"/>
              <a:buFont typeface="Arial"/>
              <a:buNone/>
            </a:pPr>
            <a:r>
              <a:rPr b="1" lang="en-US" sz="900">
                <a:solidFill>
                  <a:srgbClr val="00B0F0"/>
                </a:solidFill>
                <a:latin typeface="Arial"/>
                <a:ea typeface="Arial"/>
                <a:cs typeface="Arial"/>
                <a:sym typeface="Arial"/>
              </a:rPr>
              <a:t>TARGET &amp; TIMELINE</a:t>
            </a:r>
            <a:endParaRPr sz="900">
              <a:solidFill>
                <a:srgbClr val="00B0F0"/>
              </a:solidFill>
              <a:latin typeface="Calibri"/>
              <a:ea typeface="Calibri"/>
              <a:cs typeface="Calibri"/>
              <a:sym typeface="Calibri"/>
            </a:endParaRPr>
          </a:p>
        </p:txBody>
      </p:sp>
      <p:sp>
        <p:nvSpPr>
          <p:cNvPr id="101" name="Google Shape;101;p6"/>
          <p:cNvSpPr/>
          <p:nvPr/>
        </p:nvSpPr>
        <p:spPr>
          <a:xfrm>
            <a:off x="658368" y="1975104"/>
            <a:ext cx="4617720" cy="2395728"/>
          </a:xfrm>
          <a:prstGeom prst="roundRect">
            <a:avLst>
              <a:gd fmla="val 343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2" name="Google Shape;102;p6"/>
          <p:cNvSpPr/>
          <p:nvPr/>
        </p:nvSpPr>
        <p:spPr>
          <a:xfrm>
            <a:off x="950976" y="2157984"/>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Designation</a:t>
            </a:r>
            <a:endParaRPr sz="1000">
              <a:solidFill>
                <a:schemeClr val="dk1"/>
              </a:solidFill>
              <a:latin typeface="Calibri"/>
              <a:ea typeface="Calibri"/>
              <a:cs typeface="Calibri"/>
              <a:sym typeface="Calibri"/>
            </a:endParaRPr>
          </a:p>
        </p:txBody>
      </p:sp>
      <p:sp>
        <p:nvSpPr>
          <p:cNvPr id="103" name="Google Shape;103;p6"/>
          <p:cNvSpPr/>
          <p:nvPr/>
        </p:nvSpPr>
        <p:spPr>
          <a:xfrm>
            <a:off x="2231136" y="2157984"/>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B29"/>
              </a:buClr>
              <a:buSzPts val="1050"/>
              <a:buFont typeface="Arial"/>
              <a:buNone/>
            </a:pPr>
            <a:r>
              <a:rPr b="1" lang="en-US" sz="1050">
                <a:solidFill>
                  <a:srgbClr val="151B29"/>
                </a:solidFill>
                <a:latin typeface="Arial"/>
                <a:ea typeface="Arial"/>
                <a:cs typeface="Arial"/>
                <a:sym typeface="Arial"/>
              </a:rPr>
              <a:t>Asteroid (99942) Apophis</a:t>
            </a:r>
            <a:endParaRPr sz="1050">
              <a:solidFill>
                <a:schemeClr val="dk1"/>
              </a:solidFill>
              <a:latin typeface="Calibri"/>
              <a:ea typeface="Calibri"/>
              <a:cs typeface="Calibri"/>
              <a:sym typeface="Calibri"/>
            </a:endParaRPr>
          </a:p>
        </p:txBody>
      </p:sp>
      <p:sp>
        <p:nvSpPr>
          <p:cNvPr id="104" name="Google Shape;104;p6"/>
          <p:cNvSpPr/>
          <p:nvPr/>
        </p:nvSpPr>
        <p:spPr>
          <a:xfrm>
            <a:off x="950976" y="2459736"/>
            <a:ext cx="4032504" cy="9144"/>
          </a:xfrm>
          <a:prstGeom prst="rect">
            <a:avLst/>
          </a:prstGeom>
          <a:solidFill>
            <a:srgbClr val="D3DBE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5" name="Google Shape;105;p6"/>
          <p:cNvSpPr/>
          <p:nvPr/>
        </p:nvSpPr>
        <p:spPr>
          <a:xfrm>
            <a:off x="950976" y="2519172"/>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Size</a:t>
            </a:r>
            <a:endParaRPr sz="1000">
              <a:solidFill>
                <a:schemeClr val="dk1"/>
              </a:solidFill>
              <a:latin typeface="Calibri"/>
              <a:ea typeface="Calibri"/>
              <a:cs typeface="Calibri"/>
              <a:sym typeface="Calibri"/>
            </a:endParaRPr>
          </a:p>
        </p:txBody>
      </p:sp>
      <p:sp>
        <p:nvSpPr>
          <p:cNvPr id="106" name="Google Shape;106;p6"/>
          <p:cNvSpPr/>
          <p:nvPr/>
        </p:nvSpPr>
        <p:spPr>
          <a:xfrm>
            <a:off x="2231136" y="2519172"/>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B29"/>
              </a:buClr>
              <a:buSzPts val="1050"/>
              <a:buFont typeface="Arial"/>
              <a:buNone/>
            </a:pPr>
            <a:r>
              <a:rPr b="1" lang="en-US" sz="1050">
                <a:solidFill>
                  <a:srgbClr val="151B29"/>
                </a:solidFill>
                <a:latin typeface="Arial"/>
                <a:ea typeface="Arial"/>
                <a:cs typeface="Arial"/>
                <a:sym typeface="Arial"/>
              </a:rPr>
              <a:t>~375 m across</a:t>
            </a:r>
            <a:endParaRPr sz="1050">
              <a:solidFill>
                <a:schemeClr val="dk1"/>
              </a:solidFill>
              <a:latin typeface="Calibri"/>
              <a:ea typeface="Calibri"/>
              <a:cs typeface="Calibri"/>
              <a:sym typeface="Calibri"/>
            </a:endParaRPr>
          </a:p>
        </p:txBody>
      </p:sp>
      <p:sp>
        <p:nvSpPr>
          <p:cNvPr id="107" name="Google Shape;107;p6"/>
          <p:cNvSpPr/>
          <p:nvPr/>
        </p:nvSpPr>
        <p:spPr>
          <a:xfrm>
            <a:off x="950976" y="2820924"/>
            <a:ext cx="4032504" cy="9144"/>
          </a:xfrm>
          <a:prstGeom prst="rect">
            <a:avLst/>
          </a:prstGeom>
          <a:solidFill>
            <a:srgbClr val="D3DBE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8" name="Google Shape;108;p6"/>
          <p:cNvSpPr/>
          <p:nvPr/>
        </p:nvSpPr>
        <p:spPr>
          <a:xfrm>
            <a:off x="950976" y="2880360"/>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Taxonomy</a:t>
            </a:r>
            <a:endParaRPr sz="1000">
              <a:solidFill>
                <a:schemeClr val="dk1"/>
              </a:solidFill>
              <a:latin typeface="Calibri"/>
              <a:ea typeface="Calibri"/>
              <a:cs typeface="Calibri"/>
              <a:sym typeface="Calibri"/>
            </a:endParaRPr>
          </a:p>
        </p:txBody>
      </p:sp>
      <p:sp>
        <p:nvSpPr>
          <p:cNvPr id="109" name="Google Shape;109;p6"/>
          <p:cNvSpPr/>
          <p:nvPr/>
        </p:nvSpPr>
        <p:spPr>
          <a:xfrm>
            <a:off x="2231136" y="2880360"/>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B29"/>
              </a:buClr>
              <a:buSzPts val="1050"/>
              <a:buFont typeface="Arial"/>
              <a:buNone/>
            </a:pPr>
            <a:r>
              <a:rPr b="1" lang="en-US" sz="1050">
                <a:solidFill>
                  <a:srgbClr val="151B29"/>
                </a:solidFill>
                <a:latin typeface="Arial"/>
                <a:ea typeface="Arial"/>
                <a:cs typeface="Arial"/>
                <a:sym typeface="Arial"/>
              </a:rPr>
              <a:t>Sq type, LL chondrite analogue</a:t>
            </a:r>
            <a:endParaRPr sz="1050">
              <a:solidFill>
                <a:schemeClr val="dk1"/>
              </a:solidFill>
              <a:latin typeface="Calibri"/>
              <a:ea typeface="Calibri"/>
              <a:cs typeface="Calibri"/>
              <a:sym typeface="Calibri"/>
            </a:endParaRPr>
          </a:p>
        </p:txBody>
      </p:sp>
      <p:sp>
        <p:nvSpPr>
          <p:cNvPr id="110" name="Google Shape;110;p6"/>
          <p:cNvSpPr/>
          <p:nvPr/>
        </p:nvSpPr>
        <p:spPr>
          <a:xfrm>
            <a:off x="950976" y="3182112"/>
            <a:ext cx="4032504" cy="9144"/>
          </a:xfrm>
          <a:prstGeom prst="rect">
            <a:avLst/>
          </a:prstGeom>
          <a:solidFill>
            <a:srgbClr val="D3DBE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1" name="Google Shape;111;p6"/>
          <p:cNvSpPr/>
          <p:nvPr/>
        </p:nvSpPr>
        <p:spPr>
          <a:xfrm>
            <a:off x="950976" y="3241548"/>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Launch</a:t>
            </a:r>
            <a:endParaRPr sz="1000">
              <a:solidFill>
                <a:schemeClr val="dk1"/>
              </a:solidFill>
              <a:latin typeface="Calibri"/>
              <a:ea typeface="Calibri"/>
              <a:cs typeface="Calibri"/>
              <a:sym typeface="Calibri"/>
            </a:endParaRPr>
          </a:p>
        </p:txBody>
      </p:sp>
      <p:sp>
        <p:nvSpPr>
          <p:cNvPr id="112" name="Google Shape;112;p6"/>
          <p:cNvSpPr/>
          <p:nvPr/>
        </p:nvSpPr>
        <p:spPr>
          <a:xfrm>
            <a:off x="2231136" y="3241548"/>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b="1" lang="en-US" sz="1050">
                <a:solidFill>
                  <a:srgbClr val="151B29"/>
                </a:solidFill>
                <a:latin typeface="Arial"/>
                <a:ea typeface="Arial"/>
                <a:cs typeface="Arial"/>
                <a:sym typeface="Arial"/>
              </a:rPr>
              <a:t>Spring 2028, H3 Rocket, Tanegashima</a:t>
            </a:r>
            <a:endParaRPr sz="1050">
              <a:solidFill>
                <a:schemeClr val="dk1"/>
              </a:solidFill>
              <a:latin typeface="Calibri"/>
              <a:ea typeface="Calibri"/>
              <a:cs typeface="Calibri"/>
              <a:sym typeface="Calibri"/>
            </a:endParaRPr>
          </a:p>
        </p:txBody>
      </p:sp>
      <p:sp>
        <p:nvSpPr>
          <p:cNvPr id="113" name="Google Shape;113;p6"/>
          <p:cNvSpPr/>
          <p:nvPr/>
        </p:nvSpPr>
        <p:spPr>
          <a:xfrm>
            <a:off x="950976" y="3543300"/>
            <a:ext cx="4032504" cy="9144"/>
          </a:xfrm>
          <a:prstGeom prst="rect">
            <a:avLst/>
          </a:prstGeom>
          <a:solidFill>
            <a:srgbClr val="D3DBE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4" name="Google Shape;114;p6"/>
          <p:cNvSpPr/>
          <p:nvPr/>
        </p:nvSpPr>
        <p:spPr>
          <a:xfrm>
            <a:off x="950976" y="3602736"/>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Arrival</a:t>
            </a:r>
            <a:endParaRPr sz="1000">
              <a:solidFill>
                <a:schemeClr val="dk1"/>
              </a:solidFill>
              <a:latin typeface="Calibri"/>
              <a:ea typeface="Calibri"/>
              <a:cs typeface="Calibri"/>
              <a:sym typeface="Calibri"/>
            </a:endParaRPr>
          </a:p>
        </p:txBody>
      </p:sp>
      <p:sp>
        <p:nvSpPr>
          <p:cNvPr id="115" name="Google Shape;115;p6"/>
          <p:cNvSpPr/>
          <p:nvPr/>
        </p:nvSpPr>
        <p:spPr>
          <a:xfrm>
            <a:off x="2231136" y="3602736"/>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B29"/>
              </a:buClr>
              <a:buSzPts val="1050"/>
              <a:buFont typeface="Arial"/>
              <a:buNone/>
            </a:pPr>
            <a:r>
              <a:rPr b="1" lang="en-US" sz="1050">
                <a:solidFill>
                  <a:srgbClr val="151B29"/>
                </a:solidFill>
                <a:latin typeface="Arial"/>
                <a:ea typeface="Arial"/>
                <a:cs typeface="Arial"/>
                <a:sym typeface="Arial"/>
              </a:rPr>
              <a:t>February 2029</a:t>
            </a:r>
            <a:endParaRPr sz="1050">
              <a:solidFill>
                <a:schemeClr val="dk1"/>
              </a:solidFill>
              <a:latin typeface="Calibri"/>
              <a:ea typeface="Calibri"/>
              <a:cs typeface="Calibri"/>
              <a:sym typeface="Calibri"/>
            </a:endParaRPr>
          </a:p>
        </p:txBody>
      </p:sp>
      <p:sp>
        <p:nvSpPr>
          <p:cNvPr id="116" name="Google Shape;116;p6"/>
          <p:cNvSpPr/>
          <p:nvPr/>
        </p:nvSpPr>
        <p:spPr>
          <a:xfrm>
            <a:off x="950976" y="3904488"/>
            <a:ext cx="4032504" cy="9144"/>
          </a:xfrm>
          <a:prstGeom prst="rect">
            <a:avLst/>
          </a:prstGeom>
          <a:solidFill>
            <a:srgbClr val="D3DBE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7" name="Google Shape;117;p6"/>
          <p:cNvSpPr/>
          <p:nvPr/>
        </p:nvSpPr>
        <p:spPr>
          <a:xfrm>
            <a:off x="950976" y="3963924"/>
            <a:ext cx="1234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Close flyby</a:t>
            </a:r>
            <a:endParaRPr sz="1000">
              <a:solidFill>
                <a:schemeClr val="dk1"/>
              </a:solidFill>
              <a:latin typeface="Calibri"/>
              <a:ea typeface="Calibri"/>
              <a:cs typeface="Calibri"/>
              <a:sym typeface="Calibri"/>
            </a:endParaRPr>
          </a:p>
        </p:txBody>
      </p:sp>
      <p:sp>
        <p:nvSpPr>
          <p:cNvPr id="118" name="Google Shape;118;p6"/>
          <p:cNvSpPr/>
          <p:nvPr/>
        </p:nvSpPr>
        <p:spPr>
          <a:xfrm>
            <a:off x="2231136" y="3963924"/>
            <a:ext cx="2743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51B29"/>
              </a:buClr>
              <a:buSzPts val="1050"/>
              <a:buFont typeface="Arial"/>
              <a:buNone/>
            </a:pPr>
            <a:r>
              <a:rPr b="1" lang="en-US" sz="1050">
                <a:solidFill>
                  <a:srgbClr val="151B29"/>
                </a:solidFill>
                <a:latin typeface="Arial"/>
                <a:ea typeface="Arial"/>
                <a:cs typeface="Arial"/>
                <a:sym typeface="Arial"/>
              </a:rPr>
              <a:t>13 April 2029, ~32,000 km</a:t>
            </a:r>
            <a:endParaRPr sz="1050">
              <a:solidFill>
                <a:schemeClr val="dk1"/>
              </a:solidFill>
              <a:latin typeface="Calibri"/>
              <a:ea typeface="Calibri"/>
              <a:cs typeface="Calibri"/>
              <a:sym typeface="Calibri"/>
            </a:endParaRPr>
          </a:p>
        </p:txBody>
      </p:sp>
      <p:sp>
        <p:nvSpPr>
          <p:cNvPr id="119" name="Google Shape;119;p6"/>
          <p:cNvSpPr/>
          <p:nvPr/>
        </p:nvSpPr>
        <p:spPr>
          <a:xfrm>
            <a:off x="5715000" y="1664208"/>
            <a:ext cx="58064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dk1"/>
              </a:buClr>
              <a:buSzPts val="900"/>
              <a:buFont typeface="Calibri"/>
              <a:buNone/>
            </a:pPr>
            <a:r>
              <a:t/>
            </a:r>
            <a:endParaRPr sz="900">
              <a:solidFill>
                <a:srgbClr val="00B0F0"/>
              </a:solidFill>
              <a:latin typeface="Calibri"/>
              <a:ea typeface="Calibri"/>
              <a:cs typeface="Calibri"/>
              <a:sym typeface="Calibri"/>
            </a:endParaRPr>
          </a:p>
        </p:txBody>
      </p:sp>
      <p:sp>
        <p:nvSpPr>
          <p:cNvPr id="120" name="Google Shape;120;p6"/>
          <p:cNvSpPr/>
          <p:nvPr/>
        </p:nvSpPr>
        <p:spPr>
          <a:xfrm>
            <a:off x="5715000" y="1975104"/>
            <a:ext cx="5806440" cy="2395728"/>
          </a:xfrm>
          <a:prstGeom prst="roundRect">
            <a:avLst>
              <a:gd fmla="val 343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1" name="Google Shape;121;p6"/>
          <p:cNvSpPr/>
          <p:nvPr/>
        </p:nvSpPr>
        <p:spPr>
          <a:xfrm>
            <a:off x="5989320" y="2194560"/>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urier New"/>
              <a:ea typeface="Courier New"/>
              <a:cs typeface="Courier New"/>
              <a:sym typeface="Courier New"/>
            </a:endParaRPr>
          </a:p>
        </p:txBody>
      </p:sp>
      <p:sp>
        <p:nvSpPr>
          <p:cNvPr id="122" name="Google Shape;122;p6"/>
          <p:cNvSpPr/>
          <p:nvPr/>
        </p:nvSpPr>
        <p:spPr>
          <a:xfrm>
            <a:off x="5989320" y="2194560"/>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ourier New"/>
              <a:buNone/>
            </a:pPr>
            <a:r>
              <a:rPr b="1" lang="en-US" sz="1000">
                <a:solidFill>
                  <a:srgbClr val="FFFFFF"/>
                </a:solidFill>
                <a:latin typeface="Courier New"/>
                <a:ea typeface="Courier New"/>
                <a:cs typeface="Courier New"/>
                <a:sym typeface="Courier New"/>
              </a:rPr>
              <a:t>O1</a:t>
            </a:r>
            <a:endParaRPr sz="1000">
              <a:solidFill>
                <a:schemeClr val="dk1"/>
              </a:solidFill>
              <a:latin typeface="Courier New"/>
              <a:ea typeface="Courier New"/>
              <a:cs typeface="Courier New"/>
              <a:sym typeface="Courier New"/>
            </a:endParaRPr>
          </a:p>
        </p:txBody>
      </p:sp>
      <p:sp>
        <p:nvSpPr>
          <p:cNvPr id="123" name="Google Shape;123;p6"/>
          <p:cNvSpPr/>
          <p:nvPr/>
        </p:nvSpPr>
        <p:spPr>
          <a:xfrm>
            <a:off x="6409944" y="2157984"/>
            <a:ext cx="4800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50"/>
              <a:buFont typeface="Arial"/>
              <a:buNone/>
            </a:pPr>
            <a:r>
              <a:rPr b="1" lang="en-US" sz="1250">
                <a:solidFill>
                  <a:srgbClr val="13234C"/>
                </a:solidFill>
                <a:latin typeface="Arial"/>
                <a:ea typeface="Arial"/>
                <a:cs typeface="Arial"/>
                <a:sym typeface="Arial"/>
              </a:rPr>
              <a:t>Shape, orbit and rotation</a:t>
            </a:r>
            <a:endParaRPr sz="1250">
              <a:solidFill>
                <a:schemeClr val="dk1"/>
              </a:solidFill>
              <a:latin typeface="Calibri"/>
              <a:ea typeface="Calibri"/>
              <a:cs typeface="Calibri"/>
              <a:sym typeface="Calibri"/>
            </a:endParaRPr>
          </a:p>
        </p:txBody>
      </p:sp>
      <p:sp>
        <p:nvSpPr>
          <p:cNvPr id="124" name="Google Shape;124;p6"/>
          <p:cNvSpPr/>
          <p:nvPr/>
        </p:nvSpPr>
        <p:spPr>
          <a:xfrm>
            <a:off x="6409944" y="2386584"/>
            <a:ext cx="4800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Before-and-after survey of shape, surface, orbit, rotation and orientation.</a:t>
            </a:r>
            <a:endParaRPr sz="950">
              <a:solidFill>
                <a:schemeClr val="dk1"/>
              </a:solidFill>
              <a:latin typeface="Calibri"/>
              <a:ea typeface="Calibri"/>
              <a:cs typeface="Calibri"/>
              <a:sym typeface="Calibri"/>
            </a:endParaRPr>
          </a:p>
        </p:txBody>
      </p:sp>
      <p:sp>
        <p:nvSpPr>
          <p:cNvPr id="125" name="Google Shape;125;p6"/>
          <p:cNvSpPr/>
          <p:nvPr/>
        </p:nvSpPr>
        <p:spPr>
          <a:xfrm>
            <a:off x="5989320" y="2743200"/>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urier New"/>
              <a:ea typeface="Courier New"/>
              <a:cs typeface="Courier New"/>
              <a:sym typeface="Courier New"/>
            </a:endParaRPr>
          </a:p>
        </p:txBody>
      </p:sp>
      <p:sp>
        <p:nvSpPr>
          <p:cNvPr id="126" name="Google Shape;126;p6"/>
          <p:cNvSpPr/>
          <p:nvPr/>
        </p:nvSpPr>
        <p:spPr>
          <a:xfrm>
            <a:off x="5989320" y="2743200"/>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ourier New"/>
              <a:buNone/>
            </a:pPr>
            <a:r>
              <a:rPr b="1" lang="en-US" sz="1000">
                <a:solidFill>
                  <a:srgbClr val="FFFFFF"/>
                </a:solidFill>
                <a:latin typeface="Courier New"/>
                <a:ea typeface="Courier New"/>
                <a:cs typeface="Courier New"/>
                <a:sym typeface="Courier New"/>
              </a:rPr>
              <a:t>O2</a:t>
            </a:r>
            <a:endParaRPr sz="1000">
              <a:solidFill>
                <a:schemeClr val="dk1"/>
              </a:solidFill>
              <a:latin typeface="Courier New"/>
              <a:ea typeface="Courier New"/>
              <a:cs typeface="Courier New"/>
              <a:sym typeface="Courier New"/>
            </a:endParaRPr>
          </a:p>
        </p:txBody>
      </p:sp>
      <p:sp>
        <p:nvSpPr>
          <p:cNvPr id="127" name="Google Shape;127;p6"/>
          <p:cNvSpPr/>
          <p:nvPr/>
        </p:nvSpPr>
        <p:spPr>
          <a:xfrm>
            <a:off x="6409944" y="2706624"/>
            <a:ext cx="4800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50"/>
              <a:buFont typeface="Arial"/>
              <a:buNone/>
            </a:pPr>
            <a:r>
              <a:rPr b="1" lang="en-US" sz="1250">
                <a:solidFill>
                  <a:srgbClr val="13234C"/>
                </a:solidFill>
                <a:latin typeface="Arial"/>
                <a:ea typeface="Arial"/>
                <a:cs typeface="Arial"/>
                <a:sym typeface="Arial"/>
              </a:rPr>
              <a:t>Composition and interior</a:t>
            </a:r>
            <a:endParaRPr sz="1250">
              <a:solidFill>
                <a:schemeClr val="dk1"/>
              </a:solidFill>
              <a:latin typeface="Calibri"/>
              <a:ea typeface="Calibri"/>
              <a:cs typeface="Calibri"/>
              <a:sym typeface="Calibri"/>
            </a:endParaRPr>
          </a:p>
        </p:txBody>
      </p:sp>
      <p:sp>
        <p:nvSpPr>
          <p:cNvPr id="128" name="Google Shape;128;p6"/>
          <p:cNvSpPr/>
          <p:nvPr/>
        </p:nvSpPr>
        <p:spPr>
          <a:xfrm>
            <a:off x="6409944" y="2935224"/>
            <a:ext cx="4800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Composition, interior structure, cohesion, mass, density and porosity.</a:t>
            </a:r>
            <a:endParaRPr sz="950">
              <a:solidFill>
                <a:schemeClr val="dk1"/>
              </a:solidFill>
              <a:latin typeface="Calibri"/>
              <a:ea typeface="Calibri"/>
              <a:cs typeface="Calibri"/>
              <a:sym typeface="Calibri"/>
            </a:endParaRPr>
          </a:p>
        </p:txBody>
      </p:sp>
      <p:sp>
        <p:nvSpPr>
          <p:cNvPr id="129" name="Google Shape;129;p6"/>
          <p:cNvSpPr/>
          <p:nvPr/>
        </p:nvSpPr>
        <p:spPr>
          <a:xfrm>
            <a:off x="5989320" y="3291840"/>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urier New"/>
              <a:ea typeface="Courier New"/>
              <a:cs typeface="Courier New"/>
              <a:sym typeface="Courier New"/>
            </a:endParaRPr>
          </a:p>
        </p:txBody>
      </p:sp>
      <p:sp>
        <p:nvSpPr>
          <p:cNvPr id="130" name="Google Shape;130;p6"/>
          <p:cNvSpPr/>
          <p:nvPr/>
        </p:nvSpPr>
        <p:spPr>
          <a:xfrm>
            <a:off x="5989320" y="3291840"/>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ourier New"/>
              <a:buNone/>
            </a:pPr>
            <a:r>
              <a:rPr b="1" lang="en-US" sz="1000">
                <a:solidFill>
                  <a:srgbClr val="FFFFFF"/>
                </a:solidFill>
                <a:latin typeface="Courier New"/>
                <a:ea typeface="Courier New"/>
                <a:cs typeface="Courier New"/>
                <a:sym typeface="Courier New"/>
              </a:rPr>
              <a:t>O3</a:t>
            </a:r>
            <a:endParaRPr sz="1000">
              <a:solidFill>
                <a:schemeClr val="dk1"/>
              </a:solidFill>
              <a:latin typeface="Courier New"/>
              <a:ea typeface="Courier New"/>
              <a:cs typeface="Courier New"/>
              <a:sym typeface="Courier New"/>
            </a:endParaRPr>
          </a:p>
        </p:txBody>
      </p:sp>
      <p:sp>
        <p:nvSpPr>
          <p:cNvPr id="131" name="Google Shape;131;p6"/>
          <p:cNvSpPr/>
          <p:nvPr/>
        </p:nvSpPr>
        <p:spPr>
          <a:xfrm>
            <a:off x="6409944" y="3255264"/>
            <a:ext cx="4800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50"/>
              <a:buFont typeface="Arial"/>
              <a:buNone/>
            </a:pPr>
            <a:r>
              <a:rPr b="1" lang="en-US" sz="1250">
                <a:solidFill>
                  <a:srgbClr val="13234C"/>
                </a:solidFill>
                <a:latin typeface="Arial"/>
                <a:ea typeface="Arial"/>
                <a:cs typeface="Arial"/>
                <a:sym typeface="Arial"/>
              </a:rPr>
              <a:t>Tidal response</a:t>
            </a:r>
            <a:endParaRPr sz="1250">
              <a:solidFill>
                <a:schemeClr val="dk1"/>
              </a:solidFill>
              <a:latin typeface="Calibri"/>
              <a:ea typeface="Calibri"/>
              <a:cs typeface="Calibri"/>
              <a:sym typeface="Calibri"/>
            </a:endParaRPr>
          </a:p>
        </p:txBody>
      </p:sp>
      <p:sp>
        <p:nvSpPr>
          <p:cNvPr id="132" name="Google Shape;132;p6"/>
          <p:cNvSpPr/>
          <p:nvPr/>
        </p:nvSpPr>
        <p:spPr>
          <a:xfrm>
            <a:off x="6409944" y="3483864"/>
            <a:ext cx="4800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How the asteroid responds to Earth's tidal forces.</a:t>
            </a:r>
            <a:endParaRPr sz="950">
              <a:solidFill>
                <a:schemeClr val="dk1"/>
              </a:solidFill>
              <a:latin typeface="Calibri"/>
              <a:ea typeface="Calibri"/>
              <a:cs typeface="Calibri"/>
              <a:sym typeface="Calibri"/>
            </a:endParaRPr>
          </a:p>
        </p:txBody>
      </p:sp>
      <p:sp>
        <p:nvSpPr>
          <p:cNvPr id="133" name="Google Shape;133;p6"/>
          <p:cNvSpPr/>
          <p:nvPr/>
        </p:nvSpPr>
        <p:spPr>
          <a:xfrm>
            <a:off x="5989320" y="3840480"/>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ourier New"/>
              <a:ea typeface="Courier New"/>
              <a:cs typeface="Courier New"/>
              <a:sym typeface="Courier New"/>
            </a:endParaRPr>
          </a:p>
        </p:txBody>
      </p:sp>
      <p:sp>
        <p:nvSpPr>
          <p:cNvPr id="134" name="Google Shape;134;p6"/>
          <p:cNvSpPr/>
          <p:nvPr/>
        </p:nvSpPr>
        <p:spPr>
          <a:xfrm>
            <a:off x="5989320" y="3840480"/>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ourier New"/>
              <a:buNone/>
            </a:pPr>
            <a:r>
              <a:rPr b="1" lang="en-US" sz="1000">
                <a:solidFill>
                  <a:srgbClr val="FFFFFF"/>
                </a:solidFill>
                <a:latin typeface="Courier New"/>
                <a:ea typeface="Courier New"/>
                <a:cs typeface="Courier New"/>
                <a:sym typeface="Courier New"/>
              </a:rPr>
              <a:t>O4</a:t>
            </a:r>
            <a:endParaRPr sz="1000">
              <a:solidFill>
                <a:schemeClr val="dk1"/>
              </a:solidFill>
              <a:latin typeface="Courier New"/>
              <a:ea typeface="Courier New"/>
              <a:cs typeface="Courier New"/>
              <a:sym typeface="Courier New"/>
            </a:endParaRPr>
          </a:p>
        </p:txBody>
      </p:sp>
      <p:sp>
        <p:nvSpPr>
          <p:cNvPr id="135" name="Google Shape;135;p6"/>
          <p:cNvSpPr/>
          <p:nvPr/>
        </p:nvSpPr>
        <p:spPr>
          <a:xfrm>
            <a:off x="6409944" y="3803904"/>
            <a:ext cx="4800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50"/>
              <a:buFont typeface="Arial"/>
              <a:buNone/>
            </a:pPr>
            <a:r>
              <a:rPr b="1" lang="en-US" sz="1250">
                <a:solidFill>
                  <a:srgbClr val="13234C"/>
                </a:solidFill>
                <a:latin typeface="Arial"/>
                <a:ea typeface="Arial"/>
                <a:cs typeface="Arial"/>
                <a:sym typeface="Arial"/>
              </a:rPr>
              <a:t>Solar System science</a:t>
            </a:r>
            <a:endParaRPr sz="1250">
              <a:solidFill>
                <a:schemeClr val="dk1"/>
              </a:solidFill>
              <a:latin typeface="Calibri"/>
              <a:ea typeface="Calibri"/>
              <a:cs typeface="Calibri"/>
              <a:sym typeface="Calibri"/>
            </a:endParaRPr>
          </a:p>
        </p:txBody>
      </p:sp>
      <p:sp>
        <p:nvSpPr>
          <p:cNvPr id="136" name="Google Shape;136;p6"/>
          <p:cNvSpPr/>
          <p:nvPr/>
        </p:nvSpPr>
        <p:spPr>
          <a:xfrm>
            <a:off x="6409944" y="4032504"/>
            <a:ext cx="48006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Insight into the formation and evolution of the Solar System.</a:t>
            </a:r>
            <a:endParaRPr sz="950">
              <a:solidFill>
                <a:schemeClr val="dk1"/>
              </a:solidFill>
              <a:latin typeface="Calibri"/>
              <a:ea typeface="Calibri"/>
              <a:cs typeface="Calibri"/>
              <a:sym typeface="Calibri"/>
            </a:endParaRPr>
          </a:p>
        </p:txBody>
      </p:sp>
      <p:sp>
        <p:nvSpPr>
          <p:cNvPr id="137" name="Google Shape;137;p6"/>
          <p:cNvSpPr/>
          <p:nvPr/>
        </p:nvSpPr>
        <p:spPr>
          <a:xfrm>
            <a:off x="658368" y="4553712"/>
            <a:ext cx="8229600" cy="2560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3234C"/>
              </a:buClr>
              <a:buSzPts val="1350"/>
              <a:buFont typeface="Arial"/>
              <a:buNone/>
            </a:pPr>
            <a:r>
              <a:rPr b="1" lang="en-US" sz="1350">
                <a:solidFill>
                  <a:srgbClr val="13234C"/>
                </a:solidFill>
                <a:latin typeface="Arial"/>
                <a:ea typeface="Arial"/>
                <a:cs typeface="Arial"/>
                <a:sym typeface="Arial"/>
              </a:rPr>
              <a:t>Payload architecture: three platforms, twelve confirmed instruments</a:t>
            </a:r>
            <a:endParaRPr sz="1350">
              <a:solidFill>
                <a:schemeClr val="dk1"/>
              </a:solidFill>
              <a:latin typeface="Calibri"/>
              <a:ea typeface="Calibri"/>
              <a:cs typeface="Calibri"/>
              <a:sym typeface="Calibri"/>
            </a:endParaRPr>
          </a:p>
        </p:txBody>
      </p:sp>
      <p:sp>
        <p:nvSpPr>
          <p:cNvPr id="138" name="Google Shape;138;p6"/>
          <p:cNvSpPr/>
          <p:nvPr/>
        </p:nvSpPr>
        <p:spPr>
          <a:xfrm>
            <a:off x="658368" y="4901184"/>
            <a:ext cx="3490874" cy="1280160"/>
          </a:xfrm>
          <a:prstGeom prst="roundRect">
            <a:avLst>
              <a:gd fmla="val 642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9" name="Google Shape;139;p6"/>
          <p:cNvSpPr/>
          <p:nvPr/>
        </p:nvSpPr>
        <p:spPr>
          <a:xfrm>
            <a:off x="914400" y="5047488"/>
            <a:ext cx="297881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Main Orbiter</a:t>
            </a:r>
            <a:endParaRPr sz="1400">
              <a:solidFill>
                <a:schemeClr val="dk1"/>
              </a:solidFill>
              <a:latin typeface="Calibri"/>
              <a:ea typeface="Calibri"/>
              <a:cs typeface="Calibri"/>
              <a:sym typeface="Calibri"/>
            </a:endParaRPr>
          </a:p>
        </p:txBody>
      </p:sp>
      <p:sp>
        <p:nvSpPr>
          <p:cNvPr id="140" name="Google Shape;140;p6"/>
          <p:cNvSpPr/>
          <p:nvPr/>
        </p:nvSpPr>
        <p:spPr>
          <a:xfrm>
            <a:off x="914400" y="5394960"/>
            <a:ext cx="1298448" cy="256032"/>
          </a:xfrm>
          <a:prstGeom prst="roundRect">
            <a:avLst>
              <a:gd fmla="val 17857" name="adj"/>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1" name="Google Shape;141;p6"/>
          <p:cNvSpPr/>
          <p:nvPr/>
        </p:nvSpPr>
        <p:spPr>
          <a:xfrm>
            <a:off x="914400" y="5394960"/>
            <a:ext cx="1298448"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6</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INSTRUMENTS</a:t>
            </a:r>
            <a:endParaRPr sz="800">
              <a:solidFill>
                <a:srgbClr val="002060"/>
              </a:solidFill>
              <a:latin typeface="Calibri"/>
              <a:ea typeface="Calibri"/>
              <a:cs typeface="Calibri"/>
              <a:sym typeface="Calibri"/>
            </a:endParaRPr>
          </a:p>
        </p:txBody>
      </p:sp>
      <p:sp>
        <p:nvSpPr>
          <p:cNvPr id="142" name="Google Shape;142;p6"/>
          <p:cNvSpPr/>
          <p:nvPr/>
        </p:nvSpPr>
        <p:spPr>
          <a:xfrm>
            <a:off x="914400" y="5724144"/>
            <a:ext cx="2978810" cy="38404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AFC (×2)  ·  CHANCES  ·  HAMLET  ·  TIRI  ·  RSE  ·  RPS</a:t>
            </a:r>
            <a:endParaRPr sz="900">
              <a:solidFill>
                <a:schemeClr val="dk1"/>
              </a:solidFill>
              <a:latin typeface="Calibri"/>
              <a:ea typeface="Calibri"/>
              <a:cs typeface="Calibri"/>
              <a:sym typeface="Calibri"/>
            </a:endParaRPr>
          </a:p>
        </p:txBody>
      </p:sp>
      <p:sp>
        <p:nvSpPr>
          <p:cNvPr id="143" name="Google Shape;143;p6"/>
          <p:cNvSpPr/>
          <p:nvPr/>
        </p:nvSpPr>
        <p:spPr>
          <a:xfrm>
            <a:off x="4350410" y="4901184"/>
            <a:ext cx="3490874" cy="1280160"/>
          </a:xfrm>
          <a:prstGeom prst="roundRect">
            <a:avLst>
              <a:gd fmla="val 642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4" name="Google Shape;144;p6"/>
          <p:cNvSpPr/>
          <p:nvPr/>
        </p:nvSpPr>
        <p:spPr>
          <a:xfrm>
            <a:off x="4606442" y="5047488"/>
            <a:ext cx="297881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Farinella: orbiter CubeSat</a:t>
            </a:r>
            <a:endParaRPr sz="1400">
              <a:solidFill>
                <a:schemeClr val="dk1"/>
              </a:solidFill>
              <a:latin typeface="Calibri"/>
              <a:ea typeface="Calibri"/>
              <a:cs typeface="Calibri"/>
              <a:sym typeface="Calibri"/>
            </a:endParaRPr>
          </a:p>
        </p:txBody>
      </p:sp>
      <p:sp>
        <p:nvSpPr>
          <p:cNvPr id="145" name="Google Shape;145;p6"/>
          <p:cNvSpPr/>
          <p:nvPr/>
        </p:nvSpPr>
        <p:spPr>
          <a:xfrm>
            <a:off x="4606442" y="5394960"/>
            <a:ext cx="1298448" cy="256032"/>
          </a:xfrm>
          <a:prstGeom prst="roundRect">
            <a:avLst>
              <a:gd fmla="val 17857" name="adj"/>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6" name="Google Shape;146;p6"/>
          <p:cNvSpPr/>
          <p:nvPr/>
        </p:nvSpPr>
        <p:spPr>
          <a:xfrm>
            <a:off x="4606442" y="5394960"/>
            <a:ext cx="1298448"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3</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INSTRUMENTS</a:t>
            </a:r>
            <a:endParaRPr sz="800">
              <a:solidFill>
                <a:srgbClr val="002060"/>
              </a:solidFill>
              <a:latin typeface="Calibri"/>
              <a:ea typeface="Calibri"/>
              <a:cs typeface="Calibri"/>
              <a:sym typeface="Calibri"/>
            </a:endParaRPr>
          </a:p>
        </p:txBody>
      </p:sp>
      <p:sp>
        <p:nvSpPr>
          <p:cNvPr id="147" name="Google Shape;147;p6"/>
          <p:cNvSpPr/>
          <p:nvPr/>
        </p:nvSpPr>
        <p:spPr>
          <a:xfrm>
            <a:off x="4606442" y="5724144"/>
            <a:ext cx="2978810" cy="38404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HORUS  ·  Low-frequency radar  ·  VISTA</a:t>
            </a:r>
            <a:endParaRPr sz="900">
              <a:solidFill>
                <a:schemeClr val="dk1"/>
              </a:solidFill>
              <a:latin typeface="Calibri"/>
              <a:ea typeface="Calibri"/>
              <a:cs typeface="Calibri"/>
              <a:sym typeface="Calibri"/>
            </a:endParaRPr>
          </a:p>
        </p:txBody>
      </p:sp>
      <p:sp>
        <p:nvSpPr>
          <p:cNvPr id="148" name="Google Shape;148;p6"/>
          <p:cNvSpPr/>
          <p:nvPr/>
        </p:nvSpPr>
        <p:spPr>
          <a:xfrm>
            <a:off x="8042453" y="4901184"/>
            <a:ext cx="3490874" cy="1280160"/>
          </a:xfrm>
          <a:prstGeom prst="roundRect">
            <a:avLst>
              <a:gd fmla="val 642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9" name="Google Shape;149;p6"/>
          <p:cNvSpPr/>
          <p:nvPr/>
        </p:nvSpPr>
        <p:spPr>
          <a:xfrm>
            <a:off x="8298485" y="5047488"/>
            <a:ext cx="2978810" cy="29260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Don Quijote: lander CubeSat</a:t>
            </a:r>
            <a:endParaRPr sz="1400">
              <a:solidFill>
                <a:schemeClr val="dk1"/>
              </a:solidFill>
              <a:latin typeface="Calibri"/>
              <a:ea typeface="Calibri"/>
              <a:cs typeface="Calibri"/>
              <a:sym typeface="Calibri"/>
            </a:endParaRPr>
          </a:p>
        </p:txBody>
      </p:sp>
      <p:sp>
        <p:nvSpPr>
          <p:cNvPr id="150" name="Google Shape;150;p6"/>
          <p:cNvSpPr/>
          <p:nvPr/>
        </p:nvSpPr>
        <p:spPr>
          <a:xfrm>
            <a:off x="8298485" y="5394960"/>
            <a:ext cx="1298448" cy="256032"/>
          </a:xfrm>
          <a:prstGeom prst="roundRect">
            <a:avLst>
              <a:gd fmla="val 17857" name="adj"/>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1" name="Google Shape;151;p6"/>
          <p:cNvSpPr/>
          <p:nvPr/>
        </p:nvSpPr>
        <p:spPr>
          <a:xfrm>
            <a:off x="8298485" y="5394960"/>
            <a:ext cx="1298448"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3</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INSTRUMENTS</a:t>
            </a:r>
            <a:endParaRPr sz="800">
              <a:solidFill>
                <a:srgbClr val="002060"/>
              </a:solidFill>
              <a:latin typeface="Calibri"/>
              <a:ea typeface="Calibri"/>
              <a:cs typeface="Calibri"/>
              <a:sym typeface="Calibri"/>
            </a:endParaRPr>
          </a:p>
        </p:txBody>
      </p:sp>
      <p:sp>
        <p:nvSpPr>
          <p:cNvPr id="152" name="Google Shape;152;p6"/>
          <p:cNvSpPr/>
          <p:nvPr/>
        </p:nvSpPr>
        <p:spPr>
          <a:xfrm>
            <a:off x="8298485" y="5724144"/>
            <a:ext cx="2978810" cy="384048"/>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SIA  ·  Gravimeter  ·  MARIE</a:t>
            </a:r>
            <a:endParaRPr sz="900">
              <a:solidFill>
                <a:schemeClr val="dk1"/>
              </a:solidFill>
              <a:latin typeface="Calibri"/>
              <a:ea typeface="Calibri"/>
              <a:cs typeface="Calibri"/>
              <a:sym typeface="Calibri"/>
            </a:endParaRPr>
          </a:p>
        </p:txBody>
      </p:sp>
      <p:sp>
        <p:nvSpPr>
          <p:cNvPr id="153" name="Google Shape;153;p6"/>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3</a:t>
            </a:r>
            <a:endParaRPr sz="1000">
              <a:solidFill>
                <a:schemeClr val="dk1"/>
              </a:solidFill>
              <a:latin typeface="Calibri"/>
              <a:ea typeface="Calibri"/>
              <a:cs typeface="Calibri"/>
              <a:sym typeface="Calibri"/>
            </a:endParaRPr>
          </a:p>
        </p:txBody>
      </p:sp>
      <p:pic>
        <p:nvPicPr>
          <p:cNvPr descr="/home/claude/work/a2/logo_dark.png" id="154" name="Google Shape;154;p6"/>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155" name="Google Shape;155;p6"/>
          <p:cNvSpPr txBox="1"/>
          <p:nvPr/>
        </p:nvSpPr>
        <p:spPr>
          <a:xfrm>
            <a:off x="5715000" y="1647144"/>
            <a:ext cx="6093822" cy="230832"/>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Clr>
                <a:srgbClr val="00B0F0"/>
              </a:buClr>
              <a:buSzPts val="900"/>
              <a:buFont typeface="Arial"/>
              <a:buNone/>
            </a:pPr>
            <a:r>
              <a:rPr b="1" lang="en-US" sz="900">
                <a:solidFill>
                  <a:srgbClr val="00B0F0"/>
                </a:solidFill>
                <a:latin typeface="Arial"/>
                <a:ea typeface="Arial"/>
                <a:cs typeface="Arial"/>
                <a:sym typeface="Arial"/>
              </a:rPr>
              <a:t>MISSION PUBLISHED OBJECTIVES</a:t>
            </a:r>
            <a:endParaRPr sz="900">
              <a:solidFill>
                <a:srgbClr val="00B0F0"/>
              </a:solidFill>
              <a:latin typeface="Calibri"/>
              <a:ea typeface="Calibri"/>
              <a:cs typeface="Calibri"/>
              <a:sym typeface="Calibri"/>
            </a:endParaRPr>
          </a:p>
        </p:txBody>
      </p:sp>
      <p:sp>
        <p:nvSpPr>
          <p:cNvPr id="156" name="Google Shape;156;p6"/>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161" name="Shape 161"/>
        <p:cNvGrpSpPr/>
        <p:nvPr/>
      </p:nvGrpSpPr>
      <p:grpSpPr>
        <a:xfrm>
          <a:off x="0" y="0"/>
          <a:ext cx="0" cy="0"/>
          <a:chOff x="0" y="0"/>
          <a:chExt cx="0" cy="0"/>
        </a:xfrm>
      </p:grpSpPr>
      <p:sp>
        <p:nvSpPr>
          <p:cNvPr id="162" name="Google Shape;162;p7"/>
          <p:cNvSpPr/>
          <p:nvPr/>
        </p:nvSpPr>
        <p:spPr>
          <a:xfrm>
            <a:off x="375264" y="3721265"/>
            <a:ext cx="11441472" cy="2413490"/>
          </a:xfrm>
          <a:prstGeom prst="roundRect">
            <a:avLst>
              <a:gd fmla="val 5056" name="adj"/>
            </a:avLst>
          </a:prstGeom>
          <a:solidFill>
            <a:srgbClr val="FFFFFF"/>
          </a:solidFill>
          <a:ln cap="flat" cmpd="sng" w="9525">
            <a:solidFill>
              <a:srgbClr val="FFC00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home/claude/work/a2/light_wash.jpg" id="163" name="Google Shape;163;p7"/>
          <p:cNvPicPr preferRelativeResize="0"/>
          <p:nvPr/>
        </p:nvPicPr>
        <p:blipFill rotWithShape="1">
          <a:blip r:embed="rId3">
            <a:alphaModFix/>
          </a:blip>
          <a:srcRect b="0" l="0" r="0" t="0"/>
          <a:stretch/>
        </p:blipFill>
        <p:spPr>
          <a:xfrm>
            <a:off x="9805530" y="1765134"/>
            <a:ext cx="1566964" cy="881439"/>
          </a:xfrm>
          <a:prstGeom prst="rect">
            <a:avLst/>
          </a:prstGeom>
          <a:noFill/>
          <a:ln>
            <a:noFill/>
          </a:ln>
        </p:spPr>
      </p:pic>
      <p:sp>
        <p:nvSpPr>
          <p:cNvPr id="164" name="Google Shape;164;p7"/>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Methodology</a:t>
            </a:r>
            <a:endParaRPr sz="3000">
              <a:solidFill>
                <a:schemeClr val="dk1"/>
              </a:solidFill>
              <a:latin typeface="Calibri"/>
              <a:ea typeface="Calibri"/>
              <a:cs typeface="Calibri"/>
              <a:sym typeface="Calibri"/>
            </a:endParaRPr>
          </a:p>
        </p:txBody>
      </p:sp>
      <p:sp>
        <p:nvSpPr>
          <p:cNvPr id="165" name="Google Shape;165;p7"/>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A structured analysis narrowed four knowledge gaps to one payload</a:t>
            </a:r>
            <a:endParaRPr sz="1400">
              <a:solidFill>
                <a:schemeClr val="dk1"/>
              </a:solidFill>
              <a:latin typeface="Arial"/>
              <a:ea typeface="Arial"/>
              <a:cs typeface="Arial"/>
              <a:sym typeface="Arial"/>
            </a:endParaRPr>
          </a:p>
        </p:txBody>
      </p:sp>
      <p:sp>
        <p:nvSpPr>
          <p:cNvPr id="166" name="Google Shape;166;p7"/>
          <p:cNvSpPr/>
          <p:nvPr/>
        </p:nvSpPr>
        <p:spPr>
          <a:xfrm>
            <a:off x="658368" y="1956816"/>
            <a:ext cx="1867753" cy="1627632"/>
          </a:xfrm>
          <a:prstGeom prst="roundRect">
            <a:avLst>
              <a:gd fmla="val 5056" name="adj"/>
            </a:avLst>
          </a:prstGeom>
          <a:solidFill>
            <a:srgbClr val="FFFFFF"/>
          </a:solidFill>
          <a:ln cap="flat" cmpd="sng" w="9525">
            <a:solidFill>
              <a:srgbClr val="FFC00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67" name="Google Shape;167;p7"/>
          <p:cNvSpPr/>
          <p:nvPr/>
        </p:nvSpPr>
        <p:spPr>
          <a:xfrm>
            <a:off x="841248" y="2176272"/>
            <a:ext cx="1501993" cy="548640"/>
          </a:xfrm>
          <a:prstGeom prst="rect">
            <a:avLst/>
          </a:prstGeom>
          <a:noFill/>
          <a:ln>
            <a:noFill/>
          </a:ln>
        </p:spPr>
        <p:txBody>
          <a:bodyPr anchorCtr="0" anchor="t" bIns="0" lIns="0" spcFirstLastPara="1" rIns="0" wrap="square" tIns="0">
            <a:noAutofit/>
          </a:bodyPr>
          <a:lstStyle/>
          <a:p>
            <a:pPr indent="0" lvl="0" marL="0" marR="0" rtl="0" algn="ctr">
              <a:lnSpc>
                <a:spcPct val="96000"/>
              </a:lnSpc>
              <a:spcBef>
                <a:spcPts val="0"/>
              </a:spcBef>
              <a:spcAft>
                <a:spcPts val="0"/>
              </a:spcAft>
              <a:buClr>
                <a:srgbClr val="13234C"/>
              </a:buClr>
              <a:buSzPts val="1350"/>
              <a:buFont typeface="Arial"/>
              <a:buNone/>
            </a:pPr>
            <a:r>
              <a:rPr b="1" lang="en-US" sz="1350">
                <a:solidFill>
                  <a:srgbClr val="13234C"/>
                </a:solidFill>
                <a:latin typeface="Arial"/>
                <a:ea typeface="Arial"/>
                <a:cs typeface="Arial"/>
                <a:sym typeface="Arial"/>
              </a:rPr>
              <a:t>RAMSES baseline</a:t>
            </a:r>
            <a:endParaRPr sz="1350">
              <a:solidFill>
                <a:schemeClr val="dk1"/>
              </a:solidFill>
              <a:latin typeface="Calibri"/>
              <a:ea typeface="Calibri"/>
              <a:cs typeface="Calibri"/>
              <a:sym typeface="Calibri"/>
            </a:endParaRPr>
          </a:p>
        </p:txBody>
      </p:sp>
      <p:sp>
        <p:nvSpPr>
          <p:cNvPr id="168" name="Google Shape;168;p7"/>
          <p:cNvSpPr/>
          <p:nvPr/>
        </p:nvSpPr>
        <p:spPr>
          <a:xfrm>
            <a:off x="841248" y="2575245"/>
            <a:ext cx="1501993" cy="749808"/>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Studied the mission </a:t>
            </a:r>
            <a:r>
              <a:rPr b="1" lang="en-US" sz="1200">
                <a:solidFill>
                  <a:srgbClr val="4C5468"/>
                </a:solidFill>
                <a:latin typeface="Arial"/>
                <a:ea typeface="Arial"/>
                <a:cs typeface="Arial"/>
                <a:sym typeface="Arial"/>
              </a:rPr>
              <a:t>objectives</a:t>
            </a:r>
            <a:r>
              <a:rPr lang="en-US" sz="1200">
                <a:solidFill>
                  <a:srgbClr val="4C5468"/>
                </a:solidFill>
                <a:latin typeface="Arial"/>
                <a:ea typeface="Arial"/>
                <a:cs typeface="Arial"/>
                <a:sym typeface="Arial"/>
              </a:rPr>
              <a:t>, </a:t>
            </a:r>
            <a:r>
              <a:rPr b="1" lang="en-US" sz="1200">
                <a:solidFill>
                  <a:srgbClr val="4C5468"/>
                </a:solidFill>
                <a:latin typeface="Arial"/>
                <a:ea typeface="Arial"/>
                <a:cs typeface="Arial"/>
                <a:sym typeface="Arial"/>
              </a:rPr>
              <a:t>platforms</a:t>
            </a:r>
            <a:r>
              <a:rPr lang="en-US" sz="1200">
                <a:solidFill>
                  <a:srgbClr val="4C5468"/>
                </a:solidFill>
                <a:latin typeface="Arial"/>
                <a:ea typeface="Arial"/>
                <a:cs typeface="Arial"/>
                <a:sym typeface="Arial"/>
              </a:rPr>
              <a:t> and </a:t>
            </a:r>
            <a:r>
              <a:rPr b="1" lang="en-US" sz="1200">
                <a:solidFill>
                  <a:srgbClr val="4C5468"/>
                </a:solidFill>
                <a:latin typeface="Arial"/>
                <a:ea typeface="Arial"/>
                <a:cs typeface="Arial"/>
                <a:sym typeface="Arial"/>
              </a:rPr>
              <a:t>payloads</a:t>
            </a:r>
            <a:endParaRPr b="1" sz="1200">
              <a:solidFill>
                <a:schemeClr val="dk1"/>
              </a:solidFill>
              <a:latin typeface="Arial"/>
              <a:ea typeface="Arial"/>
              <a:cs typeface="Arial"/>
              <a:sym typeface="Arial"/>
            </a:endParaRPr>
          </a:p>
        </p:txBody>
      </p:sp>
      <p:sp>
        <p:nvSpPr>
          <p:cNvPr id="169" name="Google Shape;169;p7"/>
          <p:cNvSpPr/>
          <p:nvPr/>
        </p:nvSpPr>
        <p:spPr>
          <a:xfrm>
            <a:off x="2590129" y="2670048"/>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800">
              <a:solidFill>
                <a:schemeClr val="dk1"/>
              </a:solidFill>
              <a:latin typeface="Arial"/>
              <a:ea typeface="Arial"/>
              <a:cs typeface="Arial"/>
              <a:sym typeface="Arial"/>
            </a:endParaRPr>
          </a:p>
        </p:txBody>
      </p:sp>
      <p:sp>
        <p:nvSpPr>
          <p:cNvPr id="170" name="Google Shape;170;p7"/>
          <p:cNvSpPr/>
          <p:nvPr/>
        </p:nvSpPr>
        <p:spPr>
          <a:xfrm>
            <a:off x="2910169" y="1956816"/>
            <a:ext cx="1867753" cy="1627632"/>
          </a:xfrm>
          <a:prstGeom prst="roundRect">
            <a:avLst>
              <a:gd fmla="val 5056" name="adj"/>
            </a:avLst>
          </a:prstGeom>
          <a:solidFill>
            <a:srgbClr val="FFFFFF"/>
          </a:solidFill>
          <a:ln cap="flat" cmpd="sng" w="9525">
            <a:solidFill>
              <a:srgbClr val="FFC00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1" name="Google Shape;171;p7"/>
          <p:cNvSpPr/>
          <p:nvPr/>
        </p:nvSpPr>
        <p:spPr>
          <a:xfrm>
            <a:off x="3093049" y="2176272"/>
            <a:ext cx="1501993" cy="548640"/>
          </a:xfrm>
          <a:prstGeom prst="rect">
            <a:avLst/>
          </a:prstGeom>
          <a:noFill/>
          <a:ln>
            <a:noFill/>
          </a:ln>
        </p:spPr>
        <p:txBody>
          <a:bodyPr anchorCtr="0" anchor="t" bIns="0" lIns="0" spcFirstLastPara="1" rIns="0" wrap="square" tIns="0">
            <a:noAutofit/>
          </a:bodyPr>
          <a:lstStyle/>
          <a:p>
            <a:pPr indent="0" lvl="0" marL="0" marR="0" rtl="0" algn="ctr">
              <a:lnSpc>
                <a:spcPct val="96000"/>
              </a:lnSpc>
              <a:spcBef>
                <a:spcPts val="0"/>
              </a:spcBef>
              <a:spcAft>
                <a:spcPts val="0"/>
              </a:spcAft>
              <a:buClr>
                <a:srgbClr val="13234C"/>
              </a:buClr>
              <a:buSzPts val="1350"/>
              <a:buFont typeface="Arial"/>
              <a:buNone/>
            </a:pPr>
            <a:r>
              <a:rPr b="1" lang="en-US" sz="1350">
                <a:solidFill>
                  <a:srgbClr val="13234C"/>
                </a:solidFill>
                <a:latin typeface="Arial"/>
                <a:ea typeface="Arial"/>
                <a:cs typeface="Arial"/>
                <a:sym typeface="Arial"/>
              </a:rPr>
              <a:t>Mission Measurements</a:t>
            </a:r>
            <a:endParaRPr sz="1350">
              <a:solidFill>
                <a:schemeClr val="dk1"/>
              </a:solidFill>
              <a:latin typeface="Calibri"/>
              <a:ea typeface="Calibri"/>
              <a:cs typeface="Calibri"/>
              <a:sym typeface="Calibri"/>
            </a:endParaRPr>
          </a:p>
        </p:txBody>
      </p:sp>
      <p:sp>
        <p:nvSpPr>
          <p:cNvPr id="172" name="Google Shape;172;p7"/>
          <p:cNvSpPr/>
          <p:nvPr/>
        </p:nvSpPr>
        <p:spPr>
          <a:xfrm>
            <a:off x="3065056" y="2444041"/>
            <a:ext cx="1588049" cy="749808"/>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Broke the </a:t>
            </a:r>
            <a:r>
              <a:rPr b="1" lang="en-US" sz="1200">
                <a:solidFill>
                  <a:srgbClr val="4C5468"/>
                </a:solidFill>
                <a:latin typeface="Arial"/>
                <a:ea typeface="Arial"/>
                <a:cs typeface="Arial"/>
                <a:sym typeface="Arial"/>
              </a:rPr>
              <a:t>4 mission objectives</a:t>
            </a:r>
            <a:r>
              <a:rPr lang="en-US" sz="1200">
                <a:solidFill>
                  <a:srgbClr val="4C5468"/>
                </a:solidFill>
                <a:latin typeface="Arial"/>
                <a:ea typeface="Arial"/>
                <a:cs typeface="Arial"/>
                <a:sym typeface="Arial"/>
              </a:rPr>
              <a:t> into </a:t>
            </a:r>
            <a:r>
              <a:rPr b="1" lang="en-US" sz="1200">
                <a:solidFill>
                  <a:srgbClr val="4C5468"/>
                </a:solidFill>
                <a:latin typeface="Arial"/>
                <a:ea typeface="Arial"/>
                <a:cs typeface="Arial"/>
                <a:sym typeface="Arial"/>
              </a:rPr>
              <a:t>19 scientific measurements</a:t>
            </a:r>
            <a:r>
              <a:rPr lang="en-US" sz="1200">
                <a:solidFill>
                  <a:srgbClr val="4C5468"/>
                </a:solidFill>
                <a:latin typeface="Arial"/>
                <a:ea typeface="Arial"/>
                <a:cs typeface="Arial"/>
                <a:sym typeface="Arial"/>
              </a:rPr>
              <a:t>, mapped the </a:t>
            </a:r>
            <a:r>
              <a:rPr b="1" lang="en-US" sz="1200">
                <a:solidFill>
                  <a:srgbClr val="4C5468"/>
                </a:solidFill>
                <a:latin typeface="Arial"/>
                <a:ea typeface="Arial"/>
                <a:cs typeface="Arial"/>
                <a:sym typeface="Arial"/>
              </a:rPr>
              <a:t>19 measurements </a:t>
            </a:r>
            <a:r>
              <a:rPr lang="en-US" sz="1200">
                <a:solidFill>
                  <a:srgbClr val="4C5468"/>
                </a:solidFill>
                <a:latin typeface="Arial"/>
                <a:ea typeface="Arial"/>
                <a:cs typeface="Arial"/>
                <a:sym typeface="Arial"/>
              </a:rPr>
              <a:t>into </a:t>
            </a:r>
            <a:r>
              <a:rPr b="1" lang="en-US" sz="1200">
                <a:solidFill>
                  <a:srgbClr val="4C5468"/>
                </a:solidFill>
                <a:latin typeface="Arial"/>
                <a:ea typeface="Arial"/>
                <a:cs typeface="Arial"/>
                <a:sym typeface="Arial"/>
              </a:rPr>
              <a:t>the 12 instruments</a:t>
            </a:r>
            <a:r>
              <a:rPr lang="en-US" sz="1200">
                <a:solidFill>
                  <a:srgbClr val="4C5468"/>
                </a:solidFill>
                <a:latin typeface="Arial"/>
                <a:ea typeface="Arial"/>
                <a:cs typeface="Arial"/>
                <a:sym typeface="Arial"/>
              </a:rPr>
              <a:t> of the mission</a:t>
            </a:r>
            <a:endParaRPr sz="1200">
              <a:solidFill>
                <a:schemeClr val="dk1"/>
              </a:solidFill>
              <a:latin typeface="Arial"/>
              <a:ea typeface="Arial"/>
              <a:cs typeface="Arial"/>
              <a:sym typeface="Arial"/>
            </a:endParaRPr>
          </a:p>
        </p:txBody>
      </p:sp>
      <p:sp>
        <p:nvSpPr>
          <p:cNvPr id="173" name="Google Shape;173;p7"/>
          <p:cNvSpPr/>
          <p:nvPr/>
        </p:nvSpPr>
        <p:spPr>
          <a:xfrm>
            <a:off x="4841931" y="2670048"/>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800">
              <a:solidFill>
                <a:schemeClr val="dk1"/>
              </a:solidFill>
              <a:latin typeface="Arial"/>
              <a:ea typeface="Arial"/>
              <a:cs typeface="Arial"/>
              <a:sym typeface="Arial"/>
            </a:endParaRPr>
          </a:p>
        </p:txBody>
      </p:sp>
      <p:sp>
        <p:nvSpPr>
          <p:cNvPr id="174" name="Google Shape;174;p7"/>
          <p:cNvSpPr/>
          <p:nvPr/>
        </p:nvSpPr>
        <p:spPr>
          <a:xfrm>
            <a:off x="5161971" y="1956816"/>
            <a:ext cx="1867753" cy="1627632"/>
          </a:xfrm>
          <a:prstGeom prst="roundRect">
            <a:avLst>
              <a:gd fmla="val 5056" name="adj"/>
            </a:avLst>
          </a:prstGeom>
          <a:solidFill>
            <a:srgbClr val="FFFFFF"/>
          </a:solidFill>
          <a:ln cap="flat" cmpd="sng" w="9525">
            <a:solidFill>
              <a:srgbClr val="FFC00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5" name="Google Shape;175;p7"/>
          <p:cNvSpPr/>
          <p:nvPr/>
        </p:nvSpPr>
        <p:spPr>
          <a:xfrm>
            <a:off x="5344851" y="2176272"/>
            <a:ext cx="1501993" cy="548640"/>
          </a:xfrm>
          <a:prstGeom prst="rect">
            <a:avLst/>
          </a:prstGeom>
          <a:noFill/>
          <a:ln>
            <a:noFill/>
          </a:ln>
        </p:spPr>
        <p:txBody>
          <a:bodyPr anchorCtr="0" anchor="t" bIns="0" lIns="0" spcFirstLastPara="1" rIns="0" wrap="square" tIns="0">
            <a:noAutofit/>
          </a:bodyPr>
          <a:lstStyle/>
          <a:p>
            <a:pPr indent="0" lvl="0" marL="0" marR="0" rtl="0" algn="ctr">
              <a:lnSpc>
                <a:spcPct val="96000"/>
              </a:lnSpc>
              <a:spcBef>
                <a:spcPts val="0"/>
              </a:spcBef>
              <a:spcAft>
                <a:spcPts val="0"/>
              </a:spcAft>
              <a:buClr>
                <a:srgbClr val="13234C"/>
              </a:buClr>
              <a:buSzPts val="1350"/>
              <a:buFont typeface="Arial"/>
              <a:buNone/>
            </a:pPr>
            <a:r>
              <a:rPr b="1" lang="en-US" sz="1350">
                <a:solidFill>
                  <a:srgbClr val="13234C"/>
                </a:solidFill>
                <a:latin typeface="Arial"/>
                <a:ea typeface="Arial"/>
                <a:cs typeface="Arial"/>
                <a:sym typeface="Arial"/>
              </a:rPr>
              <a:t>Knowledge gaps</a:t>
            </a:r>
            <a:endParaRPr sz="1350">
              <a:solidFill>
                <a:schemeClr val="dk1"/>
              </a:solidFill>
              <a:latin typeface="Calibri"/>
              <a:ea typeface="Calibri"/>
              <a:cs typeface="Calibri"/>
              <a:sym typeface="Calibri"/>
            </a:endParaRPr>
          </a:p>
        </p:txBody>
      </p:sp>
      <p:sp>
        <p:nvSpPr>
          <p:cNvPr id="176" name="Google Shape;176;p7"/>
          <p:cNvSpPr/>
          <p:nvPr/>
        </p:nvSpPr>
        <p:spPr>
          <a:xfrm>
            <a:off x="5311899" y="2547257"/>
            <a:ext cx="1588048" cy="749808"/>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Determined </a:t>
            </a:r>
            <a:r>
              <a:rPr b="1" lang="en-US" sz="1200">
                <a:solidFill>
                  <a:srgbClr val="4C5468"/>
                </a:solidFill>
                <a:latin typeface="Arial"/>
                <a:ea typeface="Arial"/>
                <a:cs typeface="Arial"/>
                <a:sym typeface="Arial"/>
              </a:rPr>
              <a:t>4 knowledge gaps</a:t>
            </a:r>
            <a:r>
              <a:rPr lang="en-US" sz="1200">
                <a:solidFill>
                  <a:srgbClr val="4C5468"/>
                </a:solidFill>
                <a:latin typeface="Arial"/>
                <a:ea typeface="Arial"/>
                <a:cs typeface="Arial"/>
                <a:sym typeface="Arial"/>
              </a:rPr>
              <a:t> by identifying the non measured measurements and </a:t>
            </a:r>
            <a:r>
              <a:rPr b="1" lang="en-US" sz="1200">
                <a:solidFill>
                  <a:srgbClr val="4C5468"/>
                </a:solidFill>
                <a:latin typeface="Arial"/>
                <a:ea typeface="Arial"/>
                <a:cs typeface="Arial"/>
                <a:sym typeface="Arial"/>
              </a:rPr>
              <a:t>prioritized 1 knowledge gap</a:t>
            </a:r>
            <a:endParaRPr b="1" sz="1200">
              <a:solidFill>
                <a:schemeClr val="dk1"/>
              </a:solidFill>
              <a:latin typeface="Arial"/>
              <a:ea typeface="Arial"/>
              <a:cs typeface="Arial"/>
              <a:sym typeface="Arial"/>
            </a:endParaRPr>
          </a:p>
        </p:txBody>
      </p:sp>
      <p:sp>
        <p:nvSpPr>
          <p:cNvPr id="177" name="Google Shape;177;p7"/>
          <p:cNvSpPr/>
          <p:nvPr/>
        </p:nvSpPr>
        <p:spPr>
          <a:xfrm>
            <a:off x="7093732" y="2670048"/>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800">
              <a:solidFill>
                <a:schemeClr val="dk1"/>
              </a:solidFill>
              <a:latin typeface="Arial"/>
              <a:ea typeface="Arial"/>
              <a:cs typeface="Arial"/>
              <a:sym typeface="Arial"/>
            </a:endParaRPr>
          </a:p>
        </p:txBody>
      </p:sp>
      <p:sp>
        <p:nvSpPr>
          <p:cNvPr id="178" name="Google Shape;178;p7"/>
          <p:cNvSpPr/>
          <p:nvPr/>
        </p:nvSpPr>
        <p:spPr>
          <a:xfrm>
            <a:off x="7413772" y="1956816"/>
            <a:ext cx="1867753" cy="1627632"/>
          </a:xfrm>
          <a:prstGeom prst="roundRect">
            <a:avLst>
              <a:gd fmla="val 5056" name="adj"/>
            </a:avLst>
          </a:prstGeom>
          <a:solidFill>
            <a:srgbClr val="FFFFFF"/>
          </a:solidFill>
          <a:ln cap="flat" cmpd="sng" w="9525">
            <a:solidFill>
              <a:srgbClr val="FFC00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79" name="Google Shape;179;p7"/>
          <p:cNvSpPr/>
          <p:nvPr/>
        </p:nvSpPr>
        <p:spPr>
          <a:xfrm>
            <a:off x="7596652" y="2176272"/>
            <a:ext cx="1501993" cy="548640"/>
          </a:xfrm>
          <a:prstGeom prst="rect">
            <a:avLst/>
          </a:prstGeom>
          <a:noFill/>
          <a:ln>
            <a:noFill/>
          </a:ln>
        </p:spPr>
        <p:txBody>
          <a:bodyPr anchorCtr="0" anchor="t" bIns="0" lIns="0" spcFirstLastPara="1" rIns="0" wrap="square" tIns="0">
            <a:noAutofit/>
          </a:bodyPr>
          <a:lstStyle/>
          <a:p>
            <a:pPr indent="0" lvl="0" marL="0" marR="0" rtl="0" algn="ctr">
              <a:lnSpc>
                <a:spcPct val="96000"/>
              </a:lnSpc>
              <a:spcBef>
                <a:spcPts val="0"/>
              </a:spcBef>
              <a:spcAft>
                <a:spcPts val="0"/>
              </a:spcAft>
              <a:buClr>
                <a:srgbClr val="13234C"/>
              </a:buClr>
              <a:buSzPts val="1350"/>
              <a:buFont typeface="Arial"/>
              <a:buNone/>
            </a:pPr>
            <a:r>
              <a:rPr b="1" lang="en-US" sz="1350">
                <a:solidFill>
                  <a:srgbClr val="13234C"/>
                </a:solidFill>
                <a:latin typeface="Arial"/>
                <a:ea typeface="Arial"/>
                <a:cs typeface="Arial"/>
                <a:sym typeface="Arial"/>
              </a:rPr>
              <a:t>Payload trade study</a:t>
            </a:r>
            <a:endParaRPr sz="1350">
              <a:solidFill>
                <a:schemeClr val="dk1"/>
              </a:solidFill>
              <a:latin typeface="Calibri"/>
              <a:ea typeface="Calibri"/>
              <a:cs typeface="Calibri"/>
              <a:sym typeface="Calibri"/>
            </a:endParaRPr>
          </a:p>
        </p:txBody>
      </p:sp>
      <p:sp>
        <p:nvSpPr>
          <p:cNvPr id="180" name="Google Shape;180;p7"/>
          <p:cNvSpPr/>
          <p:nvPr/>
        </p:nvSpPr>
        <p:spPr>
          <a:xfrm>
            <a:off x="7571938" y="2528595"/>
            <a:ext cx="1588049" cy="749808"/>
          </a:xfrm>
          <a:prstGeom prst="rect">
            <a:avLst/>
          </a:prstGeom>
          <a:noFill/>
          <a:ln>
            <a:noFill/>
          </a:ln>
        </p:spPr>
        <p:txBody>
          <a:bodyPr anchorCtr="0" anchor="t" bIns="0" lIns="0" spcFirstLastPara="1" rIns="0" wrap="square" tIns="0">
            <a:noAutofit/>
          </a:bodyPr>
          <a:lstStyle/>
          <a:p>
            <a:pPr indent="0" lvl="0" marL="0" marR="0" rtl="0" algn="ctr">
              <a:lnSpc>
                <a:spcPct val="112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Identified multiple </a:t>
            </a:r>
            <a:r>
              <a:rPr b="1" lang="en-US" sz="1200">
                <a:solidFill>
                  <a:srgbClr val="4C5468"/>
                </a:solidFill>
                <a:latin typeface="Arial"/>
                <a:ea typeface="Arial"/>
                <a:cs typeface="Arial"/>
                <a:sym typeface="Arial"/>
              </a:rPr>
              <a:t>instruments</a:t>
            </a:r>
            <a:r>
              <a:rPr lang="en-US" sz="1200">
                <a:solidFill>
                  <a:srgbClr val="4C5468"/>
                </a:solidFill>
                <a:latin typeface="Arial"/>
                <a:ea typeface="Arial"/>
                <a:cs typeface="Arial"/>
                <a:sym typeface="Arial"/>
              </a:rPr>
              <a:t> that can </a:t>
            </a:r>
            <a:r>
              <a:rPr b="1" lang="en-US" sz="1200">
                <a:solidFill>
                  <a:srgbClr val="4C5468"/>
                </a:solidFill>
                <a:latin typeface="Arial"/>
                <a:ea typeface="Arial"/>
                <a:cs typeface="Arial"/>
                <a:sym typeface="Arial"/>
              </a:rPr>
              <a:t>measure</a:t>
            </a:r>
            <a:r>
              <a:rPr lang="en-US" sz="1200">
                <a:solidFill>
                  <a:srgbClr val="4C5468"/>
                </a:solidFill>
                <a:latin typeface="Arial"/>
                <a:ea typeface="Arial"/>
                <a:cs typeface="Arial"/>
                <a:sym typeface="Arial"/>
              </a:rPr>
              <a:t> the </a:t>
            </a:r>
            <a:r>
              <a:rPr b="1" lang="en-US" sz="1200">
                <a:solidFill>
                  <a:srgbClr val="4C5468"/>
                </a:solidFill>
                <a:latin typeface="Arial"/>
                <a:ea typeface="Arial"/>
                <a:cs typeface="Arial"/>
                <a:sym typeface="Arial"/>
              </a:rPr>
              <a:t>knowledge gap</a:t>
            </a:r>
            <a:endParaRPr b="1" sz="1200">
              <a:solidFill>
                <a:schemeClr val="dk1"/>
              </a:solidFill>
              <a:latin typeface="Arial"/>
              <a:ea typeface="Arial"/>
              <a:cs typeface="Arial"/>
              <a:sym typeface="Arial"/>
            </a:endParaRPr>
          </a:p>
        </p:txBody>
      </p:sp>
      <p:sp>
        <p:nvSpPr>
          <p:cNvPr id="181" name="Google Shape;181;p7"/>
          <p:cNvSpPr/>
          <p:nvPr/>
        </p:nvSpPr>
        <p:spPr>
          <a:xfrm>
            <a:off x="9345534" y="2670048"/>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2800">
              <a:solidFill>
                <a:schemeClr val="dk1"/>
              </a:solidFill>
              <a:latin typeface="Arial"/>
              <a:ea typeface="Arial"/>
              <a:cs typeface="Arial"/>
              <a:sym typeface="Arial"/>
            </a:endParaRPr>
          </a:p>
        </p:txBody>
      </p:sp>
      <p:sp>
        <p:nvSpPr>
          <p:cNvPr id="182" name="Google Shape;182;p7"/>
          <p:cNvSpPr/>
          <p:nvPr/>
        </p:nvSpPr>
        <p:spPr>
          <a:xfrm>
            <a:off x="9665574" y="1956816"/>
            <a:ext cx="1867753" cy="1627632"/>
          </a:xfrm>
          <a:prstGeom prst="roundRect">
            <a:avLst>
              <a:gd fmla="val 5056" name="adj"/>
            </a:avLst>
          </a:prstGeom>
          <a:solidFill>
            <a:srgbClr val="13234C"/>
          </a:solidFill>
          <a:ln>
            <a:noFill/>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ctr">
              <a:spcBef>
                <a:spcPts val="0"/>
              </a:spcBef>
              <a:spcAft>
                <a:spcPts val="0"/>
              </a:spcAft>
              <a:buNone/>
            </a:pPr>
            <a:r>
              <a:t/>
            </a:r>
            <a:endParaRPr sz="1800">
              <a:solidFill>
                <a:schemeClr val="dk1"/>
              </a:solidFill>
              <a:latin typeface="Calibri"/>
              <a:ea typeface="Calibri"/>
              <a:cs typeface="Calibri"/>
              <a:sym typeface="Calibri"/>
            </a:endParaRPr>
          </a:p>
        </p:txBody>
      </p:sp>
      <p:sp>
        <p:nvSpPr>
          <p:cNvPr id="183" name="Google Shape;183;p7"/>
          <p:cNvSpPr/>
          <p:nvPr/>
        </p:nvSpPr>
        <p:spPr>
          <a:xfrm>
            <a:off x="9848454" y="2523744"/>
            <a:ext cx="1501993" cy="548640"/>
          </a:xfrm>
          <a:prstGeom prst="rect">
            <a:avLst/>
          </a:prstGeom>
          <a:noFill/>
          <a:ln>
            <a:noFill/>
          </a:ln>
        </p:spPr>
        <p:txBody>
          <a:bodyPr anchorCtr="0" anchor="t" bIns="0" lIns="0" spcFirstLastPara="1" rIns="0" wrap="square" tIns="0">
            <a:noAutofit/>
          </a:bodyPr>
          <a:lstStyle/>
          <a:p>
            <a:pPr indent="0" lvl="0" marL="0" marR="0" rtl="0" algn="ctr">
              <a:lnSpc>
                <a:spcPct val="96000"/>
              </a:lnSpc>
              <a:spcBef>
                <a:spcPts val="0"/>
              </a:spcBef>
              <a:spcAft>
                <a:spcPts val="0"/>
              </a:spcAft>
              <a:buClr>
                <a:srgbClr val="FFFFFF"/>
              </a:buClr>
              <a:buSzPts val="1400"/>
              <a:buFont typeface="Arial"/>
              <a:buNone/>
            </a:pPr>
            <a:r>
              <a:rPr b="1" lang="en-US" sz="1400">
                <a:solidFill>
                  <a:srgbClr val="FFFFFF"/>
                </a:solidFill>
                <a:latin typeface="Arial"/>
                <a:ea typeface="Arial"/>
                <a:cs typeface="Arial"/>
                <a:sym typeface="Arial"/>
              </a:rPr>
              <a:t>One recommended payload</a:t>
            </a:r>
            <a:endParaRPr sz="1400">
              <a:solidFill>
                <a:schemeClr val="dk1"/>
              </a:solidFill>
              <a:latin typeface="Calibri"/>
              <a:ea typeface="Calibri"/>
              <a:cs typeface="Calibri"/>
              <a:sym typeface="Calibri"/>
            </a:endParaRPr>
          </a:p>
        </p:txBody>
      </p:sp>
      <p:sp>
        <p:nvSpPr>
          <p:cNvPr id="184" name="Google Shape;184;p7"/>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4</a:t>
            </a:r>
            <a:endParaRPr sz="1000">
              <a:solidFill>
                <a:schemeClr val="dk1"/>
              </a:solidFill>
              <a:latin typeface="Calibri"/>
              <a:ea typeface="Calibri"/>
              <a:cs typeface="Calibri"/>
              <a:sym typeface="Calibri"/>
            </a:endParaRPr>
          </a:p>
        </p:txBody>
      </p:sp>
      <p:pic>
        <p:nvPicPr>
          <p:cNvPr descr="/home/claude/work/a2/logo_dark.png" id="185" name="Google Shape;185;p7"/>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pic>
        <p:nvPicPr>
          <p:cNvPr descr="Image.png" id="186" name="Google Shape;186;p7"/>
          <p:cNvPicPr preferRelativeResize="0"/>
          <p:nvPr/>
        </p:nvPicPr>
        <p:blipFill rotWithShape="1">
          <a:blip r:embed="rId5">
            <a:alphaModFix/>
          </a:blip>
          <a:srcRect b="0" l="1620" r="1494" t="0"/>
          <a:stretch/>
        </p:blipFill>
        <p:spPr>
          <a:xfrm>
            <a:off x="9768651" y="3909152"/>
            <a:ext cx="1640721" cy="1888179"/>
          </a:xfrm>
          <a:prstGeom prst="rect">
            <a:avLst/>
          </a:prstGeom>
          <a:noFill/>
          <a:ln>
            <a:noFill/>
          </a:ln>
          <a:effectLst>
            <a:outerShdw blurRad="292100" rotWithShape="0" algn="tl" dir="2700000" dist="139700">
              <a:srgbClr val="333333">
                <a:alpha val="65098"/>
              </a:srgbClr>
            </a:outerShdw>
          </a:effectLst>
        </p:spPr>
      </p:pic>
      <p:pic>
        <p:nvPicPr>
          <p:cNvPr descr="Image.png" id="187" name="Google Shape;187;p7"/>
          <p:cNvPicPr preferRelativeResize="0"/>
          <p:nvPr/>
        </p:nvPicPr>
        <p:blipFill rotWithShape="1">
          <a:blip r:embed="rId6">
            <a:alphaModFix/>
          </a:blip>
          <a:srcRect b="0" l="1809" r="1300" t="3286"/>
          <a:stretch/>
        </p:blipFill>
        <p:spPr>
          <a:xfrm>
            <a:off x="9914938" y="4577553"/>
            <a:ext cx="1706019" cy="1388490"/>
          </a:xfrm>
          <a:prstGeom prst="rect">
            <a:avLst/>
          </a:prstGeom>
          <a:noFill/>
          <a:ln>
            <a:noFill/>
          </a:ln>
          <a:effectLst>
            <a:outerShdw blurRad="292100" rotWithShape="0" algn="tl" dir="2700000" dist="139700">
              <a:srgbClr val="333333">
                <a:alpha val="65098"/>
              </a:srgbClr>
            </a:outerShdw>
          </a:effectLst>
        </p:spPr>
      </p:pic>
      <p:pic>
        <p:nvPicPr>
          <p:cNvPr id="188" name="Google Shape;188;p7"/>
          <p:cNvPicPr preferRelativeResize="0"/>
          <p:nvPr/>
        </p:nvPicPr>
        <p:blipFill rotWithShape="1">
          <a:blip r:embed="rId7">
            <a:alphaModFix/>
          </a:blip>
          <a:srcRect b="0" l="5940" r="3509" t="0"/>
          <a:stretch/>
        </p:blipFill>
        <p:spPr>
          <a:xfrm>
            <a:off x="3202193" y="4026289"/>
            <a:ext cx="1557913" cy="1789200"/>
          </a:xfrm>
          <a:prstGeom prst="rect">
            <a:avLst/>
          </a:prstGeom>
          <a:noFill/>
          <a:ln>
            <a:noFill/>
          </a:ln>
          <a:effectLst>
            <a:outerShdw blurRad="292100" rotWithShape="0" algn="tl" dir="2700000" dist="139700">
              <a:srgbClr val="333333">
                <a:alpha val="65098"/>
              </a:srgbClr>
            </a:outerShdw>
          </a:effectLst>
        </p:spPr>
      </p:pic>
      <p:pic>
        <p:nvPicPr>
          <p:cNvPr id="189" name="Google Shape;189;p7"/>
          <p:cNvPicPr preferRelativeResize="0"/>
          <p:nvPr/>
        </p:nvPicPr>
        <p:blipFill rotWithShape="1">
          <a:blip r:embed="rId8">
            <a:alphaModFix/>
          </a:blip>
          <a:srcRect b="0" l="0" r="0" t="0"/>
          <a:stretch/>
        </p:blipFill>
        <p:spPr>
          <a:xfrm>
            <a:off x="545167" y="3901439"/>
            <a:ext cx="1561921" cy="1630494"/>
          </a:xfrm>
          <a:prstGeom prst="rect">
            <a:avLst/>
          </a:prstGeom>
          <a:noFill/>
          <a:ln>
            <a:noFill/>
          </a:ln>
          <a:effectLst>
            <a:outerShdw blurRad="292100" rotWithShape="0" algn="tl" dir="2700000" dist="139700">
              <a:srgbClr val="333333">
                <a:alpha val="65098"/>
              </a:srgbClr>
            </a:outerShdw>
          </a:effectLst>
        </p:spPr>
      </p:pic>
      <p:pic>
        <p:nvPicPr>
          <p:cNvPr id="190" name="Google Shape;190;p7"/>
          <p:cNvPicPr preferRelativeResize="0"/>
          <p:nvPr/>
        </p:nvPicPr>
        <p:blipFill rotWithShape="1">
          <a:blip r:embed="rId9">
            <a:alphaModFix/>
          </a:blip>
          <a:srcRect b="0" l="2885" r="3167" t="0"/>
          <a:stretch/>
        </p:blipFill>
        <p:spPr>
          <a:xfrm>
            <a:off x="3107112" y="4360887"/>
            <a:ext cx="1512841" cy="1651507"/>
          </a:xfrm>
          <a:prstGeom prst="rect">
            <a:avLst/>
          </a:prstGeom>
          <a:noFill/>
          <a:ln>
            <a:noFill/>
          </a:ln>
          <a:effectLst>
            <a:outerShdw blurRad="292100" rotWithShape="0" algn="tl" dir="2700000" dist="139700">
              <a:srgbClr val="333333">
                <a:alpha val="65098"/>
              </a:srgbClr>
            </a:outerShdw>
          </a:effectLst>
        </p:spPr>
      </p:pic>
      <p:sp>
        <p:nvSpPr>
          <p:cNvPr id="191" name="Google Shape;191;p7"/>
          <p:cNvSpPr/>
          <p:nvPr/>
        </p:nvSpPr>
        <p:spPr>
          <a:xfrm>
            <a:off x="2595048" y="4978325"/>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2" name="Google Shape;192;p7"/>
          <p:cNvSpPr/>
          <p:nvPr/>
        </p:nvSpPr>
        <p:spPr>
          <a:xfrm>
            <a:off x="4917059" y="4950891"/>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193" name="Google Shape;193;p7"/>
          <p:cNvPicPr preferRelativeResize="0"/>
          <p:nvPr/>
        </p:nvPicPr>
        <p:blipFill rotWithShape="1">
          <a:blip r:embed="rId10">
            <a:alphaModFix/>
          </a:blip>
          <a:srcRect b="0" l="0" r="0" t="0"/>
          <a:stretch/>
        </p:blipFill>
        <p:spPr>
          <a:xfrm>
            <a:off x="894054" y="4074364"/>
            <a:ext cx="1552352" cy="1807922"/>
          </a:xfrm>
          <a:prstGeom prst="rect">
            <a:avLst/>
          </a:prstGeom>
          <a:noFill/>
          <a:ln>
            <a:noFill/>
          </a:ln>
          <a:effectLst>
            <a:outerShdw blurRad="292100" rotWithShape="0" algn="tl" dir="2700000" dist="139700">
              <a:srgbClr val="333333">
                <a:alpha val="65098"/>
              </a:srgbClr>
            </a:outerShdw>
          </a:effectLst>
        </p:spPr>
      </p:pic>
      <p:pic>
        <p:nvPicPr>
          <p:cNvPr id="194" name="Google Shape;194;p7"/>
          <p:cNvPicPr preferRelativeResize="0"/>
          <p:nvPr/>
        </p:nvPicPr>
        <p:blipFill rotWithShape="1">
          <a:blip r:embed="rId11">
            <a:alphaModFix/>
          </a:blip>
          <a:srcRect b="0" l="0" r="0" t="0"/>
          <a:stretch/>
        </p:blipFill>
        <p:spPr>
          <a:xfrm>
            <a:off x="532240" y="4455820"/>
            <a:ext cx="1350560" cy="1499616"/>
          </a:xfrm>
          <a:prstGeom prst="rect">
            <a:avLst/>
          </a:prstGeom>
          <a:noFill/>
          <a:ln>
            <a:noFill/>
          </a:ln>
          <a:effectLst>
            <a:outerShdw blurRad="292100" rotWithShape="0" algn="tl" dir="2700000" dist="139700">
              <a:srgbClr val="333333">
                <a:alpha val="65098"/>
              </a:srgbClr>
            </a:outerShdw>
          </a:effectLst>
        </p:spPr>
      </p:pic>
      <p:sp>
        <p:nvSpPr>
          <p:cNvPr id="195" name="Google Shape;195;p7"/>
          <p:cNvSpPr/>
          <p:nvPr/>
        </p:nvSpPr>
        <p:spPr>
          <a:xfrm>
            <a:off x="7105436" y="4950891"/>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6" name="Google Shape;196;p7"/>
          <p:cNvSpPr/>
          <p:nvPr/>
        </p:nvSpPr>
        <p:spPr>
          <a:xfrm>
            <a:off x="9438683" y="4978325"/>
            <a:ext cx="256032" cy="201168"/>
          </a:xfrm>
          <a:prstGeom prst="rightArrow">
            <a:avLst>
              <a:gd fmla="val 50000" name="adj1"/>
              <a:gd fmla="val 50000" name="adj2"/>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id="197" name="Google Shape;197;p7"/>
          <p:cNvPicPr preferRelativeResize="0"/>
          <p:nvPr/>
        </p:nvPicPr>
        <p:blipFill rotWithShape="1">
          <a:blip r:embed="rId12">
            <a:alphaModFix/>
          </a:blip>
          <a:srcRect b="0" l="0" r="0" t="0"/>
          <a:stretch/>
        </p:blipFill>
        <p:spPr>
          <a:xfrm>
            <a:off x="5270866" y="3956096"/>
            <a:ext cx="1446747" cy="1794289"/>
          </a:xfrm>
          <a:prstGeom prst="rect">
            <a:avLst/>
          </a:prstGeom>
          <a:noFill/>
          <a:ln>
            <a:noFill/>
          </a:ln>
          <a:effectLst>
            <a:outerShdw blurRad="292100" rotWithShape="0" algn="tl" dir="2700000" dist="139700">
              <a:srgbClr val="333333">
                <a:alpha val="65098"/>
              </a:srgbClr>
            </a:outerShdw>
          </a:effectLst>
        </p:spPr>
      </p:pic>
      <p:pic>
        <p:nvPicPr>
          <p:cNvPr id="198" name="Google Shape;198;p7"/>
          <p:cNvPicPr preferRelativeResize="0"/>
          <p:nvPr/>
        </p:nvPicPr>
        <p:blipFill rotWithShape="1">
          <a:blip r:embed="rId13">
            <a:alphaModFix/>
          </a:blip>
          <a:srcRect b="0" l="2307" r="3800" t="1793"/>
          <a:stretch/>
        </p:blipFill>
        <p:spPr>
          <a:xfrm>
            <a:off x="5610184" y="4286945"/>
            <a:ext cx="1387094" cy="1626878"/>
          </a:xfrm>
          <a:prstGeom prst="rect">
            <a:avLst/>
          </a:prstGeom>
          <a:noFill/>
          <a:ln>
            <a:noFill/>
          </a:ln>
          <a:effectLst>
            <a:outerShdw blurRad="292100" rotWithShape="0" algn="tl" dir="2700000" dist="139700">
              <a:srgbClr val="333333">
                <a:alpha val="65098"/>
              </a:srgbClr>
            </a:outerShdw>
          </a:effectLst>
        </p:spPr>
      </p:pic>
      <p:pic>
        <p:nvPicPr>
          <p:cNvPr id="199" name="Google Shape;199;p7"/>
          <p:cNvPicPr preferRelativeResize="0"/>
          <p:nvPr/>
        </p:nvPicPr>
        <p:blipFill rotWithShape="1">
          <a:blip r:embed="rId14">
            <a:alphaModFix/>
          </a:blip>
          <a:srcRect b="0" l="3171" r="2666" t="2419"/>
          <a:stretch/>
        </p:blipFill>
        <p:spPr>
          <a:xfrm>
            <a:off x="7506317" y="4039240"/>
            <a:ext cx="1759517" cy="1147401"/>
          </a:xfrm>
          <a:prstGeom prst="rect">
            <a:avLst/>
          </a:prstGeom>
          <a:noFill/>
          <a:ln>
            <a:noFill/>
          </a:ln>
          <a:effectLst>
            <a:outerShdw blurRad="292100" rotWithShape="0" algn="tl" dir="2700000" dist="139700">
              <a:srgbClr val="333333">
                <a:alpha val="65098"/>
              </a:srgbClr>
            </a:outerShdw>
          </a:effectLst>
        </p:spPr>
      </p:pic>
      <p:pic>
        <p:nvPicPr>
          <p:cNvPr id="200" name="Google Shape;200;p7"/>
          <p:cNvPicPr preferRelativeResize="0"/>
          <p:nvPr/>
        </p:nvPicPr>
        <p:blipFill rotWithShape="1">
          <a:blip r:embed="rId15">
            <a:alphaModFix/>
          </a:blip>
          <a:srcRect b="0" l="3373" r="4049" t="0"/>
          <a:stretch/>
        </p:blipFill>
        <p:spPr>
          <a:xfrm>
            <a:off x="7621214" y="4545999"/>
            <a:ext cx="1686807" cy="1108770"/>
          </a:xfrm>
          <a:prstGeom prst="rect">
            <a:avLst/>
          </a:prstGeom>
          <a:noFill/>
          <a:ln>
            <a:noFill/>
          </a:ln>
          <a:effectLst>
            <a:outerShdw blurRad="292100" rotWithShape="0" algn="tl" dir="2700000" dist="139700">
              <a:srgbClr val="333333">
                <a:alpha val="65098"/>
              </a:srgbClr>
            </a:outerShdw>
          </a:effectLst>
        </p:spPr>
      </p:pic>
      <p:sp>
        <p:nvSpPr>
          <p:cNvPr id="201" name="Google Shape;201;p7"/>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206" name="Shape 206"/>
        <p:cNvGrpSpPr/>
        <p:nvPr/>
      </p:nvGrpSpPr>
      <p:grpSpPr>
        <a:xfrm>
          <a:off x="0" y="0"/>
          <a:ext cx="0" cy="0"/>
          <a:chOff x="0" y="0"/>
          <a:chExt cx="0" cy="0"/>
        </a:xfrm>
      </p:grpSpPr>
      <p:pic>
        <p:nvPicPr>
          <p:cNvPr descr="ESA - First CubeSat joins ESA's Ramses mission to asteroid Apophis" id="207" name="Google Shape;207;p8"/>
          <p:cNvPicPr preferRelativeResize="0"/>
          <p:nvPr/>
        </p:nvPicPr>
        <p:blipFill rotWithShape="1">
          <a:blip r:embed="rId3">
            <a:alphaModFix amt="68000"/>
          </a:blip>
          <a:srcRect b="0" l="0" r="0" t="0"/>
          <a:stretch/>
        </p:blipFill>
        <p:spPr>
          <a:xfrm>
            <a:off x="1" y="10160"/>
            <a:ext cx="12191999" cy="6858000"/>
          </a:xfrm>
          <a:prstGeom prst="rect">
            <a:avLst/>
          </a:prstGeom>
          <a:noFill/>
          <a:ln>
            <a:noFill/>
          </a:ln>
        </p:spPr>
      </p:pic>
      <p:pic>
        <p:nvPicPr>
          <p:cNvPr descr="/home/claude/work/a2/glow_blue.jpg" id="208" name="Google Shape;208;p8"/>
          <p:cNvPicPr preferRelativeResize="0"/>
          <p:nvPr/>
        </p:nvPicPr>
        <p:blipFill rotWithShape="1">
          <a:blip r:embed="rId4">
            <a:alphaModFix amt="61000"/>
          </a:blip>
          <a:srcRect b="0" l="0" r="0" t="0"/>
          <a:stretch/>
        </p:blipFill>
        <p:spPr>
          <a:xfrm>
            <a:off x="-1" y="5186"/>
            <a:ext cx="12191695" cy="6858000"/>
          </a:xfrm>
          <a:prstGeom prst="rect">
            <a:avLst/>
          </a:prstGeom>
          <a:noFill/>
          <a:ln>
            <a:noFill/>
          </a:ln>
        </p:spPr>
      </p:pic>
      <p:pic>
        <p:nvPicPr>
          <p:cNvPr descr="/home/claude/work/a2/asteroid_left.png" id="209" name="Google Shape;209;p8"/>
          <p:cNvPicPr preferRelativeResize="0"/>
          <p:nvPr/>
        </p:nvPicPr>
        <p:blipFill rotWithShape="1">
          <a:blip r:embed="rId5">
            <a:alphaModFix amt="62000"/>
          </a:blip>
          <a:srcRect b="0" l="0" r="0" t="20589"/>
          <a:stretch/>
        </p:blipFill>
        <p:spPr>
          <a:xfrm>
            <a:off x="8229600" y="4670435"/>
            <a:ext cx="3962095" cy="3033064"/>
          </a:xfrm>
          <a:prstGeom prst="rect">
            <a:avLst/>
          </a:prstGeom>
          <a:noFill/>
          <a:ln>
            <a:noFill/>
          </a:ln>
        </p:spPr>
      </p:pic>
      <p:sp>
        <p:nvSpPr>
          <p:cNvPr id="210" name="Google Shape;210;p8"/>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3000"/>
              <a:buFont typeface="Arial"/>
              <a:buNone/>
            </a:pPr>
            <a:r>
              <a:rPr b="1" lang="en-US" sz="3000">
                <a:solidFill>
                  <a:srgbClr val="FFFFFF"/>
                </a:solidFill>
                <a:latin typeface="Arial"/>
                <a:ea typeface="Arial"/>
                <a:cs typeface="Arial"/>
                <a:sym typeface="Arial"/>
              </a:rPr>
              <a:t>What RAMSES Already Measures</a:t>
            </a:r>
            <a:endParaRPr sz="3000">
              <a:solidFill>
                <a:schemeClr val="dk1"/>
              </a:solidFill>
              <a:latin typeface="Calibri"/>
              <a:ea typeface="Calibri"/>
              <a:cs typeface="Calibri"/>
              <a:sym typeface="Calibri"/>
            </a:endParaRPr>
          </a:p>
        </p:txBody>
      </p:sp>
      <p:sp>
        <p:nvSpPr>
          <p:cNvPr id="211" name="Google Shape;211;p8"/>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Confirmed payload by platform</a:t>
            </a:r>
            <a:endParaRPr sz="1400">
              <a:solidFill>
                <a:schemeClr val="dk1"/>
              </a:solidFill>
              <a:latin typeface="Arial"/>
              <a:ea typeface="Arial"/>
              <a:cs typeface="Arial"/>
              <a:sym typeface="Arial"/>
            </a:endParaRPr>
          </a:p>
        </p:txBody>
      </p:sp>
      <p:sp>
        <p:nvSpPr>
          <p:cNvPr id="212" name="Google Shape;212;p8"/>
          <p:cNvSpPr/>
          <p:nvPr/>
        </p:nvSpPr>
        <p:spPr>
          <a:xfrm>
            <a:off x="658368" y="2103120"/>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400"/>
              <a:buFont typeface="Courier New"/>
              <a:buNone/>
            </a:pPr>
            <a:r>
              <a:rPr b="1" lang="en-US" sz="1400">
                <a:solidFill>
                  <a:srgbClr val="00B0F0"/>
                </a:solidFill>
                <a:latin typeface="Courier New"/>
                <a:ea typeface="Courier New"/>
                <a:cs typeface="Courier New"/>
                <a:sym typeface="Courier New"/>
              </a:rPr>
              <a:t>Main Orbiter</a:t>
            </a:r>
            <a:endParaRPr sz="1400">
              <a:solidFill>
                <a:srgbClr val="00B0F0"/>
              </a:solidFill>
              <a:latin typeface="Courier New"/>
              <a:ea typeface="Courier New"/>
              <a:cs typeface="Courier New"/>
              <a:sym typeface="Courier New"/>
            </a:endParaRPr>
          </a:p>
        </p:txBody>
      </p:sp>
      <p:sp>
        <p:nvSpPr>
          <p:cNvPr id="213" name="Google Shape;213;p8"/>
          <p:cNvSpPr/>
          <p:nvPr/>
        </p:nvSpPr>
        <p:spPr>
          <a:xfrm>
            <a:off x="658368" y="2450592"/>
            <a:ext cx="3466490" cy="9144"/>
          </a:xfrm>
          <a:prstGeom prst="rect">
            <a:avLst/>
          </a:prstGeom>
          <a:solidFill>
            <a:srgbClr val="2C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8"/>
          <p:cNvSpPr/>
          <p:nvPr/>
        </p:nvSpPr>
        <p:spPr>
          <a:xfrm>
            <a:off x="658368" y="2651760"/>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AFC (×2)</a:t>
            </a:r>
            <a:endParaRPr sz="1200">
              <a:solidFill>
                <a:schemeClr val="dk1"/>
              </a:solidFill>
              <a:latin typeface="Arial"/>
              <a:ea typeface="Arial"/>
              <a:cs typeface="Arial"/>
              <a:sym typeface="Arial"/>
            </a:endParaRPr>
          </a:p>
        </p:txBody>
      </p:sp>
      <p:sp>
        <p:nvSpPr>
          <p:cNvPr id="215" name="Google Shape;215;p8"/>
          <p:cNvSpPr/>
          <p:nvPr/>
        </p:nvSpPr>
        <p:spPr>
          <a:xfrm>
            <a:off x="658368" y="2852928"/>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Wide-field navigation imaging and shape mapping</a:t>
            </a:r>
            <a:endParaRPr sz="800">
              <a:solidFill>
                <a:srgbClr val="8D99B4"/>
              </a:solidFill>
              <a:latin typeface="Arial"/>
              <a:ea typeface="Arial"/>
              <a:cs typeface="Arial"/>
              <a:sym typeface="Arial"/>
            </a:endParaRPr>
          </a:p>
        </p:txBody>
      </p:sp>
      <p:sp>
        <p:nvSpPr>
          <p:cNvPr id="216" name="Google Shape;216;p8"/>
          <p:cNvSpPr/>
          <p:nvPr/>
        </p:nvSpPr>
        <p:spPr>
          <a:xfrm>
            <a:off x="658368" y="3218688"/>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CHANCES</a:t>
            </a:r>
            <a:endParaRPr sz="1200">
              <a:solidFill>
                <a:schemeClr val="dk1"/>
              </a:solidFill>
              <a:latin typeface="Calibri"/>
              <a:ea typeface="Calibri"/>
              <a:cs typeface="Calibri"/>
              <a:sym typeface="Calibri"/>
            </a:endParaRPr>
          </a:p>
        </p:txBody>
      </p:sp>
      <p:sp>
        <p:nvSpPr>
          <p:cNvPr id="217" name="Google Shape;217;p8"/>
          <p:cNvSpPr/>
          <p:nvPr/>
        </p:nvSpPr>
        <p:spPr>
          <a:xfrm>
            <a:off x="658368" y="3488939"/>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High-resolution color imaging of surface change</a:t>
            </a:r>
            <a:br>
              <a:rPr lang="en-US" sz="1400">
                <a:solidFill>
                  <a:srgbClr val="8D99B4"/>
                </a:solidFill>
                <a:latin typeface="Arial"/>
                <a:ea typeface="Arial"/>
                <a:cs typeface="Arial"/>
                <a:sym typeface="Arial"/>
              </a:rPr>
            </a:br>
            <a:endParaRPr sz="1400">
              <a:solidFill>
                <a:srgbClr val="8D99B4"/>
              </a:solidFill>
              <a:latin typeface="Arial"/>
              <a:ea typeface="Arial"/>
              <a:cs typeface="Arial"/>
              <a:sym typeface="Arial"/>
            </a:endParaRPr>
          </a:p>
        </p:txBody>
      </p:sp>
      <p:sp>
        <p:nvSpPr>
          <p:cNvPr id="218" name="Google Shape;218;p8"/>
          <p:cNvSpPr/>
          <p:nvPr/>
        </p:nvSpPr>
        <p:spPr>
          <a:xfrm>
            <a:off x="658368" y="3785616"/>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HAMLET</a:t>
            </a:r>
            <a:endParaRPr sz="1200">
              <a:solidFill>
                <a:schemeClr val="dk1"/>
              </a:solidFill>
              <a:latin typeface="Calibri"/>
              <a:ea typeface="Calibri"/>
              <a:cs typeface="Calibri"/>
              <a:sym typeface="Calibri"/>
            </a:endParaRPr>
          </a:p>
        </p:txBody>
      </p:sp>
      <p:sp>
        <p:nvSpPr>
          <p:cNvPr id="219" name="Google Shape;219;p8"/>
          <p:cNvSpPr/>
          <p:nvPr/>
        </p:nvSpPr>
        <p:spPr>
          <a:xfrm>
            <a:off x="658368" y="4062148"/>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Composition and space weathering, 650–1500 nm</a:t>
            </a:r>
            <a:br>
              <a:rPr lang="en-US" sz="1400">
                <a:solidFill>
                  <a:srgbClr val="8D99B4"/>
                </a:solidFill>
                <a:latin typeface="Arial"/>
                <a:ea typeface="Arial"/>
                <a:cs typeface="Arial"/>
                <a:sym typeface="Arial"/>
              </a:rPr>
            </a:br>
            <a:endParaRPr sz="1400">
              <a:solidFill>
                <a:srgbClr val="8D99B4"/>
              </a:solidFill>
              <a:latin typeface="Arial"/>
              <a:ea typeface="Arial"/>
              <a:cs typeface="Arial"/>
              <a:sym typeface="Arial"/>
            </a:endParaRPr>
          </a:p>
        </p:txBody>
      </p:sp>
      <p:sp>
        <p:nvSpPr>
          <p:cNvPr id="220" name="Google Shape;220;p8"/>
          <p:cNvSpPr/>
          <p:nvPr/>
        </p:nvSpPr>
        <p:spPr>
          <a:xfrm>
            <a:off x="658368" y="4352544"/>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TIRI</a:t>
            </a:r>
            <a:endParaRPr sz="1150">
              <a:solidFill>
                <a:schemeClr val="dk1"/>
              </a:solidFill>
              <a:latin typeface="Calibri"/>
              <a:ea typeface="Calibri"/>
              <a:cs typeface="Calibri"/>
              <a:sym typeface="Calibri"/>
            </a:endParaRPr>
          </a:p>
        </p:txBody>
      </p:sp>
      <p:sp>
        <p:nvSpPr>
          <p:cNvPr id="221" name="Google Shape;221;p8"/>
          <p:cNvSpPr/>
          <p:nvPr/>
        </p:nvSpPr>
        <p:spPr>
          <a:xfrm>
            <a:off x="658368" y="4612747"/>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Surface temperature, thermal inertia, grain size</a:t>
            </a:r>
            <a:br>
              <a:rPr lang="en-US" sz="1400">
                <a:solidFill>
                  <a:srgbClr val="8D99B4"/>
                </a:solidFill>
                <a:latin typeface="Arial"/>
                <a:ea typeface="Arial"/>
                <a:cs typeface="Arial"/>
                <a:sym typeface="Arial"/>
              </a:rPr>
            </a:br>
            <a:endParaRPr sz="1400">
              <a:solidFill>
                <a:srgbClr val="8D99B4"/>
              </a:solidFill>
              <a:latin typeface="Arial"/>
              <a:ea typeface="Arial"/>
              <a:cs typeface="Arial"/>
              <a:sym typeface="Arial"/>
            </a:endParaRPr>
          </a:p>
        </p:txBody>
      </p:sp>
      <p:sp>
        <p:nvSpPr>
          <p:cNvPr id="222" name="Google Shape;222;p8"/>
          <p:cNvSpPr/>
          <p:nvPr/>
        </p:nvSpPr>
        <p:spPr>
          <a:xfrm>
            <a:off x="658368" y="4919472"/>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RSE</a:t>
            </a:r>
            <a:endParaRPr sz="1200">
              <a:solidFill>
                <a:schemeClr val="dk1"/>
              </a:solidFill>
              <a:latin typeface="Calibri"/>
              <a:ea typeface="Calibri"/>
              <a:cs typeface="Calibri"/>
              <a:sym typeface="Calibri"/>
            </a:endParaRPr>
          </a:p>
        </p:txBody>
      </p:sp>
      <p:sp>
        <p:nvSpPr>
          <p:cNvPr id="223" name="Google Shape;223;p8"/>
          <p:cNvSpPr/>
          <p:nvPr/>
        </p:nvSpPr>
        <p:spPr>
          <a:xfrm>
            <a:off x="658368" y="5179675"/>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Radio tracking; gravity, spin state and tidal response</a:t>
            </a:r>
            <a:br>
              <a:rPr lang="en-US" sz="1400">
                <a:solidFill>
                  <a:srgbClr val="8D99B4"/>
                </a:solidFill>
                <a:latin typeface="Arial"/>
                <a:ea typeface="Arial"/>
                <a:cs typeface="Arial"/>
                <a:sym typeface="Arial"/>
              </a:rPr>
            </a:br>
            <a:endParaRPr sz="1400">
              <a:solidFill>
                <a:srgbClr val="8D99B4"/>
              </a:solidFill>
              <a:latin typeface="Arial"/>
              <a:ea typeface="Arial"/>
              <a:cs typeface="Arial"/>
              <a:sym typeface="Arial"/>
            </a:endParaRPr>
          </a:p>
        </p:txBody>
      </p:sp>
      <p:sp>
        <p:nvSpPr>
          <p:cNvPr id="224" name="Google Shape;224;p8"/>
          <p:cNvSpPr/>
          <p:nvPr/>
        </p:nvSpPr>
        <p:spPr>
          <a:xfrm>
            <a:off x="658368" y="5486400"/>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RPS</a:t>
            </a:r>
            <a:endParaRPr sz="1200">
              <a:solidFill>
                <a:schemeClr val="dk1"/>
              </a:solidFill>
              <a:latin typeface="Calibri"/>
              <a:ea typeface="Calibri"/>
              <a:cs typeface="Calibri"/>
              <a:sym typeface="Calibri"/>
            </a:endParaRPr>
          </a:p>
        </p:txBody>
      </p:sp>
      <p:sp>
        <p:nvSpPr>
          <p:cNvPr id="225" name="Google Shape;225;p8"/>
          <p:cNvSpPr/>
          <p:nvPr/>
        </p:nvSpPr>
        <p:spPr>
          <a:xfrm>
            <a:off x="658368" y="5730274"/>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Ion and electron energy near the spacecraft</a:t>
            </a:r>
            <a:br>
              <a:rPr lang="en-US" sz="1400">
                <a:solidFill>
                  <a:srgbClr val="8D99B4"/>
                </a:solidFill>
                <a:latin typeface="Arial"/>
                <a:ea typeface="Arial"/>
                <a:cs typeface="Arial"/>
                <a:sym typeface="Arial"/>
              </a:rPr>
            </a:br>
            <a:endParaRPr sz="1400">
              <a:solidFill>
                <a:srgbClr val="8D99B4"/>
              </a:solidFill>
              <a:latin typeface="Arial"/>
              <a:ea typeface="Arial"/>
              <a:cs typeface="Arial"/>
              <a:sym typeface="Arial"/>
            </a:endParaRPr>
          </a:p>
        </p:txBody>
      </p:sp>
      <p:sp>
        <p:nvSpPr>
          <p:cNvPr id="226" name="Google Shape;226;p8"/>
          <p:cNvSpPr/>
          <p:nvPr/>
        </p:nvSpPr>
        <p:spPr>
          <a:xfrm>
            <a:off x="4362602" y="2103120"/>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400"/>
              <a:buFont typeface="Courier New"/>
              <a:buNone/>
            </a:pPr>
            <a:r>
              <a:rPr b="1" lang="en-US" sz="1400">
                <a:solidFill>
                  <a:srgbClr val="00B0F0"/>
                </a:solidFill>
                <a:latin typeface="Courier New"/>
                <a:ea typeface="Courier New"/>
                <a:cs typeface="Courier New"/>
                <a:sym typeface="Courier New"/>
              </a:rPr>
              <a:t>Farinella · Orbiter CubeSat</a:t>
            </a:r>
            <a:endParaRPr sz="1400">
              <a:solidFill>
                <a:srgbClr val="00B0F0"/>
              </a:solidFill>
              <a:latin typeface="Courier New"/>
              <a:ea typeface="Courier New"/>
              <a:cs typeface="Courier New"/>
              <a:sym typeface="Courier New"/>
            </a:endParaRPr>
          </a:p>
        </p:txBody>
      </p:sp>
      <p:sp>
        <p:nvSpPr>
          <p:cNvPr id="227" name="Google Shape;227;p8"/>
          <p:cNvSpPr/>
          <p:nvPr/>
        </p:nvSpPr>
        <p:spPr>
          <a:xfrm>
            <a:off x="4362602" y="2450592"/>
            <a:ext cx="3466490" cy="9144"/>
          </a:xfrm>
          <a:prstGeom prst="rect">
            <a:avLst/>
          </a:prstGeom>
          <a:solidFill>
            <a:srgbClr val="2C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8"/>
          <p:cNvSpPr/>
          <p:nvPr/>
        </p:nvSpPr>
        <p:spPr>
          <a:xfrm>
            <a:off x="4362602" y="2651760"/>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HORUS</a:t>
            </a:r>
            <a:endParaRPr sz="1200">
              <a:solidFill>
                <a:schemeClr val="dk1"/>
              </a:solidFill>
              <a:latin typeface="Calibri"/>
              <a:ea typeface="Calibri"/>
              <a:cs typeface="Calibri"/>
              <a:sym typeface="Calibri"/>
            </a:endParaRPr>
          </a:p>
        </p:txBody>
      </p:sp>
      <p:sp>
        <p:nvSpPr>
          <p:cNvPr id="229" name="Google Shape;229;p8"/>
          <p:cNvSpPr/>
          <p:nvPr/>
        </p:nvSpPr>
        <p:spPr>
          <a:xfrm>
            <a:off x="4362602" y="2932983"/>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Close-range imaging beyond orbiter resolution</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30" name="Google Shape;230;p8"/>
          <p:cNvSpPr/>
          <p:nvPr/>
        </p:nvSpPr>
        <p:spPr>
          <a:xfrm>
            <a:off x="4362602" y="3218688"/>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Radar</a:t>
            </a:r>
            <a:endParaRPr sz="1200">
              <a:solidFill>
                <a:schemeClr val="dk1"/>
              </a:solidFill>
              <a:latin typeface="Calibri"/>
              <a:ea typeface="Calibri"/>
              <a:cs typeface="Calibri"/>
              <a:sym typeface="Calibri"/>
            </a:endParaRPr>
          </a:p>
        </p:txBody>
      </p:sp>
      <p:sp>
        <p:nvSpPr>
          <p:cNvPr id="231" name="Google Shape;231;p8"/>
          <p:cNvSpPr/>
          <p:nvPr/>
        </p:nvSpPr>
        <p:spPr>
          <a:xfrm>
            <a:off x="4362602" y="3478891"/>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Interior structure via dielectric sounding</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32" name="Google Shape;232;p8"/>
          <p:cNvSpPr/>
          <p:nvPr/>
        </p:nvSpPr>
        <p:spPr>
          <a:xfrm>
            <a:off x="4362602" y="3785616"/>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VISTA</a:t>
            </a:r>
            <a:endParaRPr sz="1200">
              <a:solidFill>
                <a:schemeClr val="dk1"/>
              </a:solidFill>
              <a:latin typeface="Calibri"/>
              <a:ea typeface="Calibri"/>
              <a:cs typeface="Calibri"/>
              <a:sym typeface="Calibri"/>
            </a:endParaRPr>
          </a:p>
        </p:txBody>
      </p:sp>
      <p:sp>
        <p:nvSpPr>
          <p:cNvPr id="233" name="Google Shape;233;p8"/>
          <p:cNvSpPr/>
          <p:nvPr/>
        </p:nvSpPr>
        <p:spPr>
          <a:xfrm>
            <a:off x="4362602" y="4066839"/>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Volatile and organic content of captured dust</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34" name="Google Shape;234;p8"/>
          <p:cNvSpPr/>
          <p:nvPr/>
        </p:nvSpPr>
        <p:spPr>
          <a:xfrm>
            <a:off x="8066837" y="2103120"/>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400"/>
              <a:buFont typeface="Courier New"/>
              <a:buNone/>
            </a:pPr>
            <a:r>
              <a:rPr b="1" lang="en-US" sz="1400">
                <a:solidFill>
                  <a:srgbClr val="00B0F0"/>
                </a:solidFill>
                <a:latin typeface="Courier New"/>
                <a:ea typeface="Courier New"/>
                <a:cs typeface="Courier New"/>
                <a:sym typeface="Courier New"/>
              </a:rPr>
              <a:t>Don Quijote · Lander CubeSat</a:t>
            </a:r>
            <a:endParaRPr sz="1400">
              <a:solidFill>
                <a:srgbClr val="00B0F0"/>
              </a:solidFill>
              <a:latin typeface="Courier New"/>
              <a:ea typeface="Courier New"/>
              <a:cs typeface="Courier New"/>
              <a:sym typeface="Courier New"/>
            </a:endParaRPr>
          </a:p>
        </p:txBody>
      </p:sp>
      <p:sp>
        <p:nvSpPr>
          <p:cNvPr id="235" name="Google Shape;235;p8"/>
          <p:cNvSpPr/>
          <p:nvPr/>
        </p:nvSpPr>
        <p:spPr>
          <a:xfrm>
            <a:off x="8066837" y="2450592"/>
            <a:ext cx="3466490" cy="9144"/>
          </a:xfrm>
          <a:prstGeom prst="rect">
            <a:avLst/>
          </a:prstGeom>
          <a:solidFill>
            <a:srgbClr val="2C3A5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p8"/>
          <p:cNvSpPr/>
          <p:nvPr/>
        </p:nvSpPr>
        <p:spPr>
          <a:xfrm>
            <a:off x="8066837" y="2651760"/>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SIA</a:t>
            </a:r>
            <a:endParaRPr sz="1200">
              <a:solidFill>
                <a:schemeClr val="dk1"/>
              </a:solidFill>
              <a:latin typeface="Calibri"/>
              <a:ea typeface="Calibri"/>
              <a:cs typeface="Calibri"/>
              <a:sym typeface="Calibri"/>
            </a:endParaRPr>
          </a:p>
        </p:txBody>
      </p:sp>
      <p:sp>
        <p:nvSpPr>
          <p:cNvPr id="237" name="Google Shape;237;p8"/>
          <p:cNvSpPr/>
          <p:nvPr/>
        </p:nvSpPr>
        <p:spPr>
          <a:xfrm>
            <a:off x="8066837" y="2922935"/>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Seismic response to tidal stress and cracking</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38" name="Google Shape;238;p8"/>
          <p:cNvSpPr/>
          <p:nvPr/>
        </p:nvSpPr>
        <p:spPr>
          <a:xfrm>
            <a:off x="8066837" y="3218688"/>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Gravimeter</a:t>
            </a:r>
            <a:endParaRPr sz="1200">
              <a:solidFill>
                <a:schemeClr val="dk1"/>
              </a:solidFill>
              <a:latin typeface="Calibri"/>
              <a:ea typeface="Calibri"/>
              <a:cs typeface="Calibri"/>
              <a:sym typeface="Calibri"/>
            </a:endParaRPr>
          </a:p>
        </p:txBody>
      </p:sp>
      <p:sp>
        <p:nvSpPr>
          <p:cNvPr id="239" name="Google Shape;239;p8"/>
          <p:cNvSpPr/>
          <p:nvPr/>
        </p:nvSpPr>
        <p:spPr>
          <a:xfrm>
            <a:off x="8066837" y="3499911"/>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Local density from gravitational acceleration</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40" name="Google Shape;240;p8"/>
          <p:cNvSpPr/>
          <p:nvPr/>
        </p:nvSpPr>
        <p:spPr>
          <a:xfrm>
            <a:off x="8066837" y="3785616"/>
            <a:ext cx="346649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MARIE</a:t>
            </a:r>
            <a:endParaRPr sz="1200">
              <a:solidFill>
                <a:schemeClr val="dk1"/>
              </a:solidFill>
              <a:latin typeface="Calibri"/>
              <a:ea typeface="Calibri"/>
              <a:cs typeface="Calibri"/>
              <a:sym typeface="Calibri"/>
            </a:endParaRPr>
          </a:p>
        </p:txBody>
      </p:sp>
      <p:sp>
        <p:nvSpPr>
          <p:cNvPr id="241" name="Google Shape;241;p8"/>
          <p:cNvSpPr/>
          <p:nvPr/>
        </p:nvSpPr>
        <p:spPr>
          <a:xfrm>
            <a:off x="8066837" y="4066839"/>
            <a:ext cx="346649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None/>
            </a:pPr>
            <a:r>
              <a:rPr lang="en-US" sz="1400">
                <a:solidFill>
                  <a:srgbClr val="8D99B4"/>
                </a:solidFill>
                <a:latin typeface="Arial"/>
                <a:ea typeface="Arial"/>
                <a:cs typeface="Arial"/>
                <a:sym typeface="Arial"/>
              </a:rPr>
              <a:t>Magnetic response during the Earth flyby</a:t>
            </a:r>
            <a:endParaRPr sz="800">
              <a:solidFill>
                <a:srgbClr val="8D99B4"/>
              </a:solidFill>
              <a:latin typeface="Arial"/>
              <a:ea typeface="Arial"/>
              <a:cs typeface="Arial"/>
              <a:sym typeface="Arial"/>
            </a:endParaRPr>
          </a:p>
          <a:p>
            <a:pPr indent="0" lvl="0" marL="0" marR="0" rtl="0" algn="l">
              <a:spcBef>
                <a:spcPts val="0"/>
              </a:spcBef>
              <a:spcAft>
                <a:spcPts val="0"/>
              </a:spcAft>
              <a:buNone/>
            </a:pPr>
            <a:br>
              <a:rPr lang="en-US" sz="800">
                <a:solidFill>
                  <a:srgbClr val="8D99B4"/>
                </a:solidFill>
                <a:latin typeface="Arial"/>
                <a:ea typeface="Arial"/>
                <a:cs typeface="Arial"/>
                <a:sym typeface="Arial"/>
              </a:rPr>
            </a:br>
            <a:endParaRPr sz="800">
              <a:solidFill>
                <a:srgbClr val="8D99B4"/>
              </a:solidFill>
              <a:latin typeface="Arial"/>
              <a:ea typeface="Arial"/>
              <a:cs typeface="Arial"/>
              <a:sym typeface="Arial"/>
            </a:endParaRPr>
          </a:p>
        </p:txBody>
      </p:sp>
      <p:sp>
        <p:nvSpPr>
          <p:cNvPr id="242" name="Google Shape;242;p8"/>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5</a:t>
            </a:r>
            <a:endParaRPr sz="1000">
              <a:solidFill>
                <a:schemeClr val="dk1"/>
              </a:solidFill>
              <a:latin typeface="Calibri"/>
              <a:ea typeface="Calibri"/>
              <a:cs typeface="Calibri"/>
              <a:sym typeface="Calibri"/>
            </a:endParaRPr>
          </a:p>
        </p:txBody>
      </p:sp>
      <p:pic>
        <p:nvPicPr>
          <p:cNvPr descr="/home/claude/work/a2/logo_white.png" id="243" name="Google Shape;243;p8"/>
          <p:cNvPicPr preferRelativeResize="0"/>
          <p:nvPr/>
        </p:nvPicPr>
        <p:blipFill rotWithShape="1">
          <a:blip r:embed="rId6">
            <a:alphaModFix/>
          </a:blip>
          <a:srcRect b="0" l="0" r="0" t="0"/>
          <a:stretch/>
        </p:blipFill>
        <p:spPr>
          <a:xfrm>
            <a:off x="10797385" y="310896"/>
            <a:ext cx="1133856" cy="478231"/>
          </a:xfrm>
          <a:prstGeom prst="rect">
            <a:avLst/>
          </a:prstGeom>
          <a:noFill/>
          <a:ln>
            <a:noFill/>
          </a:ln>
        </p:spPr>
      </p:pic>
      <p:sp>
        <p:nvSpPr>
          <p:cNvPr id="244" name="Google Shape;244;p8"/>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800"/>
              <a:buFont typeface="Courier New"/>
              <a:buNone/>
            </a:pPr>
            <a:r>
              <a:rPr b="1" lang="en-US" sz="800">
                <a:solidFill>
                  <a:srgbClr val="E8A33D"/>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245" name="Google Shape;245;p8"/>
          <p:cNvSpPr/>
          <p:nvPr/>
        </p:nvSpPr>
        <p:spPr>
          <a:xfrm>
            <a:off x="505206" y="2727198"/>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46" name="Google Shape;246;p8"/>
          <p:cNvSpPr/>
          <p:nvPr/>
        </p:nvSpPr>
        <p:spPr>
          <a:xfrm>
            <a:off x="507911" y="3299879"/>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47" name="Google Shape;247;p8"/>
          <p:cNvSpPr/>
          <p:nvPr/>
        </p:nvSpPr>
        <p:spPr>
          <a:xfrm>
            <a:off x="510616" y="3852464"/>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48" name="Google Shape;248;p8"/>
          <p:cNvSpPr/>
          <p:nvPr/>
        </p:nvSpPr>
        <p:spPr>
          <a:xfrm>
            <a:off x="513321" y="4425145"/>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49" name="Google Shape;249;p8"/>
          <p:cNvSpPr/>
          <p:nvPr/>
        </p:nvSpPr>
        <p:spPr>
          <a:xfrm>
            <a:off x="516026" y="5017922"/>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0" name="Google Shape;250;p8"/>
          <p:cNvSpPr/>
          <p:nvPr/>
        </p:nvSpPr>
        <p:spPr>
          <a:xfrm>
            <a:off x="518731" y="5550411"/>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1" name="Google Shape;251;p8"/>
          <p:cNvSpPr/>
          <p:nvPr/>
        </p:nvSpPr>
        <p:spPr>
          <a:xfrm>
            <a:off x="4225670" y="2744958"/>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2" name="Google Shape;252;p8"/>
          <p:cNvSpPr/>
          <p:nvPr/>
        </p:nvSpPr>
        <p:spPr>
          <a:xfrm>
            <a:off x="4214178" y="3301376"/>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3" name="Google Shape;253;p8"/>
          <p:cNvSpPr/>
          <p:nvPr/>
        </p:nvSpPr>
        <p:spPr>
          <a:xfrm>
            <a:off x="4202686" y="3857794"/>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4" name="Google Shape;254;p8"/>
          <p:cNvSpPr/>
          <p:nvPr/>
        </p:nvSpPr>
        <p:spPr>
          <a:xfrm>
            <a:off x="7916149" y="2727198"/>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5" name="Google Shape;255;p8"/>
          <p:cNvSpPr/>
          <p:nvPr/>
        </p:nvSpPr>
        <p:spPr>
          <a:xfrm>
            <a:off x="7908936" y="3315438"/>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6" name="Google Shape;256;p8"/>
          <p:cNvSpPr/>
          <p:nvPr/>
        </p:nvSpPr>
        <p:spPr>
          <a:xfrm>
            <a:off x="7901723" y="3873534"/>
            <a:ext cx="68580" cy="68580"/>
          </a:xfrm>
          <a:prstGeom prst="ellipse">
            <a:avLst/>
          </a:prstGeom>
          <a:solidFill>
            <a:srgbClr val="6DD9F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100">
              <a:solidFill>
                <a:schemeClr val="dk1"/>
              </a:solidFill>
              <a:latin typeface="Calibri"/>
              <a:ea typeface="Calibri"/>
              <a:cs typeface="Calibri"/>
              <a:sym typeface="Calibri"/>
            </a:endParaRPr>
          </a:p>
        </p:txBody>
      </p:sp>
      <p:sp>
        <p:nvSpPr>
          <p:cNvPr id="257" name="Google Shape;257;p8"/>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261" name="Shape 261"/>
        <p:cNvGrpSpPr/>
        <p:nvPr/>
      </p:nvGrpSpPr>
      <p:grpSpPr>
        <a:xfrm>
          <a:off x="0" y="0"/>
          <a:ext cx="0" cy="0"/>
          <a:chOff x="0" y="0"/>
          <a:chExt cx="0" cy="0"/>
        </a:xfrm>
      </p:grpSpPr>
      <p:sp>
        <p:nvSpPr>
          <p:cNvPr id="262" name="Google Shape;262;p9"/>
          <p:cNvSpPr/>
          <p:nvPr/>
        </p:nvSpPr>
        <p:spPr>
          <a:xfrm>
            <a:off x="658368" y="530352"/>
            <a:ext cx="9052560" cy="475488"/>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What the Mission Must Measure</a:t>
            </a:r>
            <a:endParaRPr sz="1800">
              <a:solidFill>
                <a:schemeClr val="dk1"/>
              </a:solidFill>
              <a:latin typeface="Calibri"/>
              <a:ea typeface="Calibri"/>
              <a:cs typeface="Calibri"/>
              <a:sym typeface="Calibri"/>
            </a:endParaRPr>
          </a:p>
        </p:txBody>
      </p:sp>
      <p:sp>
        <p:nvSpPr>
          <p:cNvPr id="263" name="Google Shape;263;p9"/>
          <p:cNvSpPr/>
          <p:nvPr/>
        </p:nvSpPr>
        <p:spPr>
          <a:xfrm>
            <a:off x="658368" y="1057961"/>
            <a:ext cx="969264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The four objectives were decomposed into nineteen measurements. These fifteen are the ones the confirmed payload meets.</a:t>
            </a:r>
            <a:endParaRPr sz="1800">
              <a:solidFill>
                <a:schemeClr val="dk1"/>
              </a:solidFill>
              <a:latin typeface="Calibri"/>
              <a:ea typeface="Calibri"/>
              <a:cs typeface="Calibri"/>
              <a:sym typeface="Calibri"/>
            </a:endParaRPr>
          </a:p>
        </p:txBody>
      </p:sp>
      <p:sp>
        <p:nvSpPr>
          <p:cNvPr id="264" name="Google Shape;264;p9"/>
          <p:cNvSpPr/>
          <p:nvPr/>
        </p:nvSpPr>
        <p:spPr>
          <a:xfrm>
            <a:off x="658368" y="1554480"/>
            <a:ext cx="10872216" cy="786384"/>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5" name="Google Shape;265;p9"/>
          <p:cNvSpPr/>
          <p:nvPr/>
        </p:nvSpPr>
        <p:spPr>
          <a:xfrm>
            <a:off x="896112" y="1828800"/>
            <a:ext cx="237744" cy="23774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6" name="Google Shape;266;p9"/>
          <p:cNvSpPr/>
          <p:nvPr/>
        </p:nvSpPr>
        <p:spPr>
          <a:xfrm>
            <a:off x="896112" y="182880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Arial"/>
              <a:buNone/>
            </a:pPr>
            <a:r>
              <a:rPr b="1" lang="en-US" sz="800">
                <a:solidFill>
                  <a:srgbClr val="FFFFFF"/>
                </a:solidFill>
                <a:latin typeface="Arial"/>
                <a:ea typeface="Arial"/>
                <a:cs typeface="Arial"/>
                <a:sym typeface="Arial"/>
              </a:rPr>
              <a:t>1</a:t>
            </a:r>
            <a:endParaRPr sz="1800">
              <a:solidFill>
                <a:schemeClr val="dk1"/>
              </a:solidFill>
              <a:latin typeface="Calibri"/>
              <a:ea typeface="Calibri"/>
              <a:cs typeface="Calibri"/>
              <a:sym typeface="Calibri"/>
            </a:endParaRPr>
          </a:p>
        </p:txBody>
      </p:sp>
      <p:sp>
        <p:nvSpPr>
          <p:cNvPr id="267" name="Google Shape;267;p9"/>
          <p:cNvSpPr/>
          <p:nvPr/>
        </p:nvSpPr>
        <p:spPr>
          <a:xfrm>
            <a:off x="1225296" y="1682496"/>
            <a:ext cx="1986534" cy="256032"/>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Read the objectives</a:t>
            </a:r>
            <a:endParaRPr sz="1800">
              <a:solidFill>
                <a:schemeClr val="dk1"/>
              </a:solidFill>
              <a:latin typeface="Calibri"/>
              <a:ea typeface="Calibri"/>
              <a:cs typeface="Calibri"/>
              <a:sym typeface="Calibri"/>
            </a:endParaRPr>
          </a:p>
        </p:txBody>
      </p:sp>
      <p:sp>
        <p:nvSpPr>
          <p:cNvPr id="268" name="Google Shape;268;p9"/>
          <p:cNvSpPr/>
          <p:nvPr/>
        </p:nvSpPr>
        <p:spPr>
          <a:xfrm>
            <a:off x="1225296" y="1965960"/>
            <a:ext cx="1986534"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9839A"/>
              </a:buClr>
              <a:buSzPts val="850"/>
              <a:buFont typeface="Arial"/>
              <a:buNone/>
            </a:pPr>
            <a:r>
              <a:rPr lang="en-US" sz="850">
                <a:solidFill>
                  <a:srgbClr val="79839A"/>
                </a:solidFill>
                <a:latin typeface="Arial"/>
                <a:ea typeface="Arial"/>
                <a:cs typeface="Arial"/>
                <a:sym typeface="Arial"/>
              </a:rPr>
              <a:t>ESA's four published aims, verbatim</a:t>
            </a:r>
            <a:endParaRPr sz="1800">
              <a:solidFill>
                <a:schemeClr val="dk1"/>
              </a:solidFill>
              <a:latin typeface="Calibri"/>
              <a:ea typeface="Calibri"/>
              <a:cs typeface="Calibri"/>
              <a:sym typeface="Calibri"/>
            </a:endParaRPr>
          </a:p>
        </p:txBody>
      </p:sp>
      <p:sp>
        <p:nvSpPr>
          <p:cNvPr id="269" name="Google Shape;269;p9"/>
          <p:cNvSpPr/>
          <p:nvPr/>
        </p:nvSpPr>
        <p:spPr>
          <a:xfrm>
            <a:off x="3614166" y="1828800"/>
            <a:ext cx="237744" cy="23774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0" name="Google Shape;270;p9"/>
          <p:cNvSpPr/>
          <p:nvPr/>
        </p:nvSpPr>
        <p:spPr>
          <a:xfrm>
            <a:off x="3614166" y="182880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Arial"/>
              <a:buNone/>
            </a:pPr>
            <a:r>
              <a:rPr b="1" lang="en-US" sz="800">
                <a:solidFill>
                  <a:srgbClr val="FFFFFF"/>
                </a:solidFill>
                <a:latin typeface="Arial"/>
                <a:ea typeface="Arial"/>
                <a:cs typeface="Arial"/>
                <a:sym typeface="Arial"/>
              </a:rPr>
              <a:t>2</a:t>
            </a:r>
            <a:endParaRPr sz="1800">
              <a:solidFill>
                <a:schemeClr val="dk1"/>
              </a:solidFill>
              <a:latin typeface="Calibri"/>
              <a:ea typeface="Calibri"/>
              <a:cs typeface="Calibri"/>
              <a:sym typeface="Calibri"/>
            </a:endParaRPr>
          </a:p>
        </p:txBody>
      </p:sp>
      <p:sp>
        <p:nvSpPr>
          <p:cNvPr id="271" name="Google Shape;271;p9"/>
          <p:cNvSpPr/>
          <p:nvPr/>
        </p:nvSpPr>
        <p:spPr>
          <a:xfrm>
            <a:off x="3943350" y="1682496"/>
            <a:ext cx="1986534" cy="256032"/>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Split into raw demands</a:t>
            </a:r>
            <a:endParaRPr sz="1800">
              <a:solidFill>
                <a:schemeClr val="dk1"/>
              </a:solidFill>
              <a:latin typeface="Calibri"/>
              <a:ea typeface="Calibri"/>
              <a:cs typeface="Calibri"/>
              <a:sym typeface="Calibri"/>
            </a:endParaRPr>
          </a:p>
        </p:txBody>
      </p:sp>
      <p:sp>
        <p:nvSpPr>
          <p:cNvPr id="272" name="Google Shape;272;p9"/>
          <p:cNvSpPr/>
          <p:nvPr/>
        </p:nvSpPr>
        <p:spPr>
          <a:xfrm>
            <a:off x="3943350" y="1965960"/>
            <a:ext cx="1986534"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9839A"/>
              </a:buClr>
              <a:buSzPts val="850"/>
              <a:buFont typeface="Arial"/>
              <a:buNone/>
            </a:pPr>
            <a:r>
              <a:rPr lang="en-US" sz="850">
                <a:solidFill>
                  <a:srgbClr val="79839A"/>
                </a:solidFill>
                <a:latin typeface="Arial"/>
                <a:ea typeface="Arial"/>
                <a:cs typeface="Arial"/>
                <a:sym typeface="Arial"/>
              </a:rPr>
              <a:t>one question per demand, no instrument named</a:t>
            </a:r>
            <a:endParaRPr sz="1800">
              <a:solidFill>
                <a:schemeClr val="dk1"/>
              </a:solidFill>
              <a:latin typeface="Calibri"/>
              <a:ea typeface="Calibri"/>
              <a:cs typeface="Calibri"/>
              <a:sym typeface="Calibri"/>
            </a:endParaRPr>
          </a:p>
        </p:txBody>
      </p:sp>
      <p:sp>
        <p:nvSpPr>
          <p:cNvPr id="273" name="Google Shape;273;p9"/>
          <p:cNvSpPr/>
          <p:nvPr/>
        </p:nvSpPr>
        <p:spPr>
          <a:xfrm>
            <a:off x="6332220" y="1828800"/>
            <a:ext cx="237744" cy="23774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4" name="Google Shape;274;p9"/>
          <p:cNvSpPr/>
          <p:nvPr/>
        </p:nvSpPr>
        <p:spPr>
          <a:xfrm>
            <a:off x="6332220" y="182880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Arial"/>
              <a:buNone/>
            </a:pPr>
            <a:r>
              <a:rPr b="1" lang="en-US" sz="800">
                <a:solidFill>
                  <a:srgbClr val="FFFFFF"/>
                </a:solidFill>
                <a:latin typeface="Arial"/>
                <a:ea typeface="Arial"/>
                <a:cs typeface="Arial"/>
                <a:sym typeface="Arial"/>
              </a:rPr>
              <a:t>3</a:t>
            </a:r>
            <a:endParaRPr sz="1800">
              <a:solidFill>
                <a:schemeClr val="dk1"/>
              </a:solidFill>
              <a:latin typeface="Calibri"/>
              <a:ea typeface="Calibri"/>
              <a:cs typeface="Calibri"/>
              <a:sym typeface="Calibri"/>
            </a:endParaRPr>
          </a:p>
        </p:txBody>
      </p:sp>
      <p:sp>
        <p:nvSpPr>
          <p:cNvPr id="275" name="Google Shape;275;p9"/>
          <p:cNvSpPr/>
          <p:nvPr/>
        </p:nvSpPr>
        <p:spPr>
          <a:xfrm>
            <a:off x="6661404" y="1682496"/>
            <a:ext cx="1986534" cy="256032"/>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Write the requirement</a:t>
            </a:r>
            <a:endParaRPr sz="1800">
              <a:solidFill>
                <a:schemeClr val="dk1"/>
              </a:solidFill>
              <a:latin typeface="Calibri"/>
              <a:ea typeface="Calibri"/>
              <a:cs typeface="Calibri"/>
              <a:sym typeface="Calibri"/>
            </a:endParaRPr>
          </a:p>
        </p:txBody>
      </p:sp>
      <p:sp>
        <p:nvSpPr>
          <p:cNvPr id="276" name="Google Shape;276;p9"/>
          <p:cNvSpPr/>
          <p:nvPr/>
        </p:nvSpPr>
        <p:spPr>
          <a:xfrm>
            <a:off x="6661404" y="1965960"/>
            <a:ext cx="1986534"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9839A"/>
              </a:buClr>
              <a:buSzPts val="850"/>
              <a:buFont typeface="Arial"/>
              <a:buNone/>
            </a:pPr>
            <a:r>
              <a:rPr lang="en-US" sz="850">
                <a:solidFill>
                  <a:srgbClr val="79839A"/>
                </a:solidFill>
                <a:latin typeface="Arial"/>
                <a:ea typeface="Arial"/>
                <a:cs typeface="Arial"/>
                <a:sym typeface="Arial"/>
              </a:rPr>
              <a:t>purpose, observable, threshold, boundary</a:t>
            </a:r>
            <a:endParaRPr sz="1800">
              <a:solidFill>
                <a:schemeClr val="dk1"/>
              </a:solidFill>
              <a:latin typeface="Calibri"/>
              <a:ea typeface="Calibri"/>
              <a:cs typeface="Calibri"/>
              <a:sym typeface="Calibri"/>
            </a:endParaRPr>
          </a:p>
        </p:txBody>
      </p:sp>
      <p:sp>
        <p:nvSpPr>
          <p:cNvPr id="277" name="Google Shape;277;p9"/>
          <p:cNvSpPr/>
          <p:nvPr/>
        </p:nvSpPr>
        <p:spPr>
          <a:xfrm>
            <a:off x="9050274" y="1828800"/>
            <a:ext cx="237744" cy="23774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8" name="Google Shape;278;p9"/>
          <p:cNvSpPr/>
          <p:nvPr/>
        </p:nvSpPr>
        <p:spPr>
          <a:xfrm>
            <a:off x="9050274" y="1828800"/>
            <a:ext cx="237744"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800"/>
              <a:buFont typeface="Arial"/>
              <a:buNone/>
            </a:pPr>
            <a:r>
              <a:rPr b="1" lang="en-US" sz="800">
                <a:solidFill>
                  <a:srgbClr val="FFFFFF"/>
                </a:solidFill>
                <a:latin typeface="Arial"/>
                <a:ea typeface="Arial"/>
                <a:cs typeface="Arial"/>
                <a:sym typeface="Arial"/>
              </a:rPr>
              <a:t>4</a:t>
            </a:r>
            <a:endParaRPr sz="1800">
              <a:solidFill>
                <a:schemeClr val="dk1"/>
              </a:solidFill>
              <a:latin typeface="Calibri"/>
              <a:ea typeface="Calibri"/>
              <a:cs typeface="Calibri"/>
              <a:sym typeface="Calibri"/>
            </a:endParaRPr>
          </a:p>
        </p:txBody>
      </p:sp>
      <p:sp>
        <p:nvSpPr>
          <p:cNvPr id="279" name="Google Shape;279;p9"/>
          <p:cNvSpPr/>
          <p:nvPr/>
        </p:nvSpPr>
        <p:spPr>
          <a:xfrm>
            <a:off x="9379458" y="1682496"/>
            <a:ext cx="1986534" cy="256032"/>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Classify the type</a:t>
            </a:r>
            <a:endParaRPr sz="1800">
              <a:solidFill>
                <a:schemeClr val="dk1"/>
              </a:solidFill>
              <a:latin typeface="Calibri"/>
              <a:ea typeface="Calibri"/>
              <a:cs typeface="Calibri"/>
              <a:sym typeface="Calibri"/>
            </a:endParaRPr>
          </a:p>
        </p:txBody>
      </p:sp>
      <p:sp>
        <p:nvSpPr>
          <p:cNvPr id="280" name="Google Shape;280;p9"/>
          <p:cNvSpPr/>
          <p:nvPr/>
        </p:nvSpPr>
        <p:spPr>
          <a:xfrm>
            <a:off x="9379458" y="1965960"/>
            <a:ext cx="1986534"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79839A"/>
              </a:buClr>
              <a:buSzPts val="850"/>
              <a:buFont typeface="Arial"/>
              <a:buNone/>
            </a:pPr>
            <a:r>
              <a:rPr lang="en-US" sz="850">
                <a:solidFill>
                  <a:srgbClr val="79839A"/>
                </a:solidFill>
                <a:latin typeface="Arial"/>
                <a:ea typeface="Arial"/>
                <a:cs typeface="Arial"/>
                <a:sym typeface="Arial"/>
              </a:rPr>
              <a:t>direct, differential, or derived</a:t>
            </a:r>
            <a:endParaRPr sz="1800">
              <a:solidFill>
                <a:schemeClr val="dk1"/>
              </a:solidFill>
              <a:latin typeface="Calibri"/>
              <a:ea typeface="Calibri"/>
              <a:cs typeface="Calibri"/>
              <a:sym typeface="Calibri"/>
            </a:endParaRPr>
          </a:p>
        </p:txBody>
      </p:sp>
      <p:sp>
        <p:nvSpPr>
          <p:cNvPr id="281" name="Google Shape;281;p9"/>
          <p:cNvSpPr/>
          <p:nvPr/>
        </p:nvSpPr>
        <p:spPr>
          <a:xfrm>
            <a:off x="658368" y="2542032"/>
            <a:ext cx="3465576" cy="2743200"/>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2" name="Google Shape;282;p9"/>
          <p:cNvSpPr/>
          <p:nvPr/>
        </p:nvSpPr>
        <p:spPr>
          <a:xfrm>
            <a:off x="914400" y="2779776"/>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3" name="Google Shape;283;p9"/>
          <p:cNvSpPr/>
          <p:nvPr/>
        </p:nvSpPr>
        <p:spPr>
          <a:xfrm>
            <a:off x="914400" y="2779776"/>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Arial"/>
              <a:buNone/>
            </a:pPr>
            <a:r>
              <a:rPr b="1" lang="en-US" sz="900">
                <a:solidFill>
                  <a:srgbClr val="FFFFFF"/>
                </a:solidFill>
                <a:latin typeface="Arial"/>
                <a:ea typeface="Arial"/>
                <a:cs typeface="Arial"/>
                <a:sym typeface="Arial"/>
              </a:rPr>
              <a:t>O1</a:t>
            </a:r>
            <a:endParaRPr sz="1800">
              <a:solidFill>
                <a:schemeClr val="dk1"/>
              </a:solidFill>
              <a:latin typeface="Calibri"/>
              <a:ea typeface="Calibri"/>
              <a:cs typeface="Calibri"/>
              <a:sym typeface="Calibri"/>
            </a:endParaRPr>
          </a:p>
        </p:txBody>
      </p:sp>
      <p:sp>
        <p:nvSpPr>
          <p:cNvPr id="284" name="Google Shape;284;p9"/>
          <p:cNvSpPr/>
          <p:nvPr/>
        </p:nvSpPr>
        <p:spPr>
          <a:xfrm>
            <a:off x="1316736" y="2761488"/>
            <a:ext cx="2551176"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Shape, orbit and rotation</a:t>
            </a:r>
            <a:endParaRPr sz="1800">
              <a:solidFill>
                <a:schemeClr val="dk1"/>
              </a:solidFill>
              <a:latin typeface="Calibri"/>
              <a:ea typeface="Calibri"/>
              <a:cs typeface="Calibri"/>
              <a:sym typeface="Calibri"/>
            </a:endParaRPr>
          </a:p>
        </p:txBody>
      </p:sp>
      <p:sp>
        <p:nvSpPr>
          <p:cNvPr id="285" name="Google Shape;285;p9"/>
          <p:cNvSpPr/>
          <p:nvPr/>
        </p:nvSpPr>
        <p:spPr>
          <a:xfrm>
            <a:off x="914400" y="3200400"/>
            <a:ext cx="1481328" cy="237744"/>
          </a:xfrm>
          <a:prstGeom prst="roundRect">
            <a:avLst>
              <a:gd fmla="val 20000" name="adj"/>
            </a:avLst>
          </a:prstGeom>
          <a:solidFill>
            <a:srgbClr val="6DD9FF"/>
          </a:solidFill>
          <a:ln cap="flat" cmpd="sng" w="9525">
            <a:solidFill>
              <a:srgbClr val="6DD9F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6" name="Google Shape;286;p9"/>
          <p:cNvSpPr/>
          <p:nvPr/>
        </p:nvSpPr>
        <p:spPr>
          <a:xfrm>
            <a:off x="914400" y="3200400"/>
            <a:ext cx="1481328"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5</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MEASUREMENTS</a:t>
            </a:r>
            <a:endParaRPr sz="1800">
              <a:solidFill>
                <a:schemeClr val="dk1"/>
              </a:solidFill>
              <a:latin typeface="Calibri"/>
              <a:ea typeface="Calibri"/>
              <a:cs typeface="Calibri"/>
              <a:sym typeface="Calibri"/>
            </a:endParaRPr>
          </a:p>
        </p:txBody>
      </p:sp>
      <p:sp>
        <p:nvSpPr>
          <p:cNvPr id="287" name="Google Shape;287;p9"/>
          <p:cNvSpPr/>
          <p:nvPr/>
        </p:nvSpPr>
        <p:spPr>
          <a:xfrm>
            <a:off x="914400" y="354787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R1.1</a:t>
            </a:r>
            <a:endParaRPr sz="1800">
              <a:solidFill>
                <a:schemeClr val="dk1"/>
              </a:solidFill>
              <a:latin typeface="Calibri"/>
              <a:ea typeface="Calibri"/>
              <a:cs typeface="Calibri"/>
              <a:sym typeface="Calibri"/>
            </a:endParaRPr>
          </a:p>
        </p:txBody>
      </p:sp>
      <p:sp>
        <p:nvSpPr>
          <p:cNvPr id="288" name="Google Shape;288;p9"/>
          <p:cNvSpPr/>
          <p:nvPr/>
        </p:nvSpPr>
        <p:spPr>
          <a:xfrm>
            <a:off x="1499616" y="354787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Shape</a:t>
            </a:r>
            <a:endParaRPr sz="1800">
              <a:solidFill>
                <a:schemeClr val="dk1"/>
              </a:solidFill>
              <a:latin typeface="Calibri"/>
              <a:ea typeface="Calibri"/>
              <a:cs typeface="Calibri"/>
              <a:sym typeface="Calibri"/>
            </a:endParaRPr>
          </a:p>
        </p:txBody>
      </p:sp>
      <p:sp>
        <p:nvSpPr>
          <p:cNvPr id="289" name="Google Shape;289;p9"/>
          <p:cNvSpPr/>
          <p:nvPr/>
        </p:nvSpPr>
        <p:spPr>
          <a:xfrm>
            <a:off x="914400" y="382219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R1.2</a:t>
            </a:r>
            <a:endParaRPr sz="1800">
              <a:solidFill>
                <a:schemeClr val="dk1"/>
              </a:solidFill>
              <a:latin typeface="Calibri"/>
              <a:ea typeface="Calibri"/>
              <a:cs typeface="Calibri"/>
              <a:sym typeface="Calibri"/>
            </a:endParaRPr>
          </a:p>
        </p:txBody>
      </p:sp>
      <p:sp>
        <p:nvSpPr>
          <p:cNvPr id="290" name="Google Shape;290;p9"/>
          <p:cNvSpPr/>
          <p:nvPr/>
        </p:nvSpPr>
        <p:spPr>
          <a:xfrm>
            <a:off x="1499616" y="382219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Surface</a:t>
            </a:r>
            <a:endParaRPr sz="1800">
              <a:solidFill>
                <a:schemeClr val="dk1"/>
              </a:solidFill>
              <a:latin typeface="Calibri"/>
              <a:ea typeface="Calibri"/>
              <a:cs typeface="Calibri"/>
              <a:sym typeface="Calibri"/>
            </a:endParaRPr>
          </a:p>
        </p:txBody>
      </p:sp>
      <p:sp>
        <p:nvSpPr>
          <p:cNvPr id="291" name="Google Shape;291;p9"/>
          <p:cNvSpPr/>
          <p:nvPr/>
        </p:nvSpPr>
        <p:spPr>
          <a:xfrm>
            <a:off x="914400" y="409651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R1.3</a:t>
            </a:r>
            <a:endParaRPr sz="1800">
              <a:solidFill>
                <a:schemeClr val="dk1"/>
              </a:solidFill>
              <a:latin typeface="Calibri"/>
              <a:ea typeface="Calibri"/>
              <a:cs typeface="Calibri"/>
              <a:sym typeface="Calibri"/>
            </a:endParaRPr>
          </a:p>
        </p:txBody>
      </p:sp>
      <p:sp>
        <p:nvSpPr>
          <p:cNvPr id="292" name="Google Shape;292;p9"/>
          <p:cNvSpPr/>
          <p:nvPr/>
        </p:nvSpPr>
        <p:spPr>
          <a:xfrm>
            <a:off x="1499616" y="409651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Orbit</a:t>
            </a:r>
            <a:endParaRPr sz="1800">
              <a:solidFill>
                <a:schemeClr val="dk1"/>
              </a:solidFill>
              <a:latin typeface="Calibri"/>
              <a:ea typeface="Calibri"/>
              <a:cs typeface="Calibri"/>
              <a:sym typeface="Calibri"/>
            </a:endParaRPr>
          </a:p>
        </p:txBody>
      </p:sp>
      <p:sp>
        <p:nvSpPr>
          <p:cNvPr id="293" name="Google Shape;293;p9"/>
          <p:cNvSpPr/>
          <p:nvPr/>
        </p:nvSpPr>
        <p:spPr>
          <a:xfrm>
            <a:off x="914400" y="437083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R1.4</a:t>
            </a:r>
            <a:endParaRPr sz="1800">
              <a:solidFill>
                <a:schemeClr val="dk1"/>
              </a:solidFill>
              <a:latin typeface="Calibri"/>
              <a:ea typeface="Calibri"/>
              <a:cs typeface="Calibri"/>
              <a:sym typeface="Calibri"/>
            </a:endParaRPr>
          </a:p>
        </p:txBody>
      </p:sp>
      <p:sp>
        <p:nvSpPr>
          <p:cNvPr id="294" name="Google Shape;294;p9"/>
          <p:cNvSpPr/>
          <p:nvPr/>
        </p:nvSpPr>
        <p:spPr>
          <a:xfrm>
            <a:off x="1499616" y="437083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Rotation</a:t>
            </a:r>
            <a:endParaRPr sz="1800">
              <a:solidFill>
                <a:schemeClr val="dk1"/>
              </a:solidFill>
              <a:latin typeface="Calibri"/>
              <a:ea typeface="Calibri"/>
              <a:cs typeface="Calibri"/>
              <a:sym typeface="Calibri"/>
            </a:endParaRPr>
          </a:p>
        </p:txBody>
      </p:sp>
      <p:sp>
        <p:nvSpPr>
          <p:cNvPr id="295" name="Google Shape;295;p9"/>
          <p:cNvSpPr/>
          <p:nvPr/>
        </p:nvSpPr>
        <p:spPr>
          <a:xfrm>
            <a:off x="914400" y="464515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R1.5</a:t>
            </a:r>
            <a:endParaRPr sz="1800">
              <a:solidFill>
                <a:schemeClr val="dk1"/>
              </a:solidFill>
              <a:latin typeface="Calibri"/>
              <a:ea typeface="Calibri"/>
              <a:cs typeface="Calibri"/>
              <a:sym typeface="Calibri"/>
            </a:endParaRPr>
          </a:p>
        </p:txBody>
      </p:sp>
      <p:sp>
        <p:nvSpPr>
          <p:cNvPr id="296" name="Google Shape;296;p9"/>
          <p:cNvSpPr/>
          <p:nvPr/>
        </p:nvSpPr>
        <p:spPr>
          <a:xfrm>
            <a:off x="1499616" y="464515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Orientation</a:t>
            </a:r>
            <a:endParaRPr sz="1800">
              <a:solidFill>
                <a:schemeClr val="dk1"/>
              </a:solidFill>
              <a:latin typeface="Calibri"/>
              <a:ea typeface="Calibri"/>
              <a:cs typeface="Calibri"/>
              <a:sym typeface="Calibri"/>
            </a:endParaRPr>
          </a:p>
        </p:txBody>
      </p:sp>
      <p:sp>
        <p:nvSpPr>
          <p:cNvPr id="297" name="Google Shape;297;p9"/>
          <p:cNvSpPr/>
          <p:nvPr/>
        </p:nvSpPr>
        <p:spPr>
          <a:xfrm>
            <a:off x="4361688" y="2542032"/>
            <a:ext cx="3465576" cy="2743200"/>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8" name="Google Shape;298;p9"/>
          <p:cNvSpPr/>
          <p:nvPr/>
        </p:nvSpPr>
        <p:spPr>
          <a:xfrm>
            <a:off x="4617720" y="2779776"/>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9" name="Google Shape;299;p9"/>
          <p:cNvSpPr/>
          <p:nvPr/>
        </p:nvSpPr>
        <p:spPr>
          <a:xfrm>
            <a:off x="4617720" y="2779776"/>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Arial"/>
              <a:buNone/>
            </a:pPr>
            <a:r>
              <a:rPr b="1" lang="en-US" sz="900">
                <a:solidFill>
                  <a:srgbClr val="FFFFFF"/>
                </a:solidFill>
                <a:latin typeface="Arial"/>
                <a:ea typeface="Arial"/>
                <a:cs typeface="Arial"/>
                <a:sym typeface="Arial"/>
              </a:rPr>
              <a:t>O2</a:t>
            </a:r>
            <a:endParaRPr sz="1800">
              <a:solidFill>
                <a:schemeClr val="dk1"/>
              </a:solidFill>
              <a:latin typeface="Calibri"/>
              <a:ea typeface="Calibri"/>
              <a:cs typeface="Calibri"/>
              <a:sym typeface="Calibri"/>
            </a:endParaRPr>
          </a:p>
        </p:txBody>
      </p:sp>
      <p:sp>
        <p:nvSpPr>
          <p:cNvPr id="300" name="Google Shape;300;p9"/>
          <p:cNvSpPr/>
          <p:nvPr/>
        </p:nvSpPr>
        <p:spPr>
          <a:xfrm>
            <a:off x="5020056" y="2761488"/>
            <a:ext cx="2551176"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Composition and interior</a:t>
            </a:r>
            <a:endParaRPr sz="1800">
              <a:solidFill>
                <a:schemeClr val="dk1"/>
              </a:solidFill>
              <a:latin typeface="Calibri"/>
              <a:ea typeface="Calibri"/>
              <a:cs typeface="Calibri"/>
              <a:sym typeface="Calibri"/>
            </a:endParaRPr>
          </a:p>
        </p:txBody>
      </p:sp>
      <p:sp>
        <p:nvSpPr>
          <p:cNvPr id="301" name="Google Shape;301;p9"/>
          <p:cNvSpPr/>
          <p:nvPr/>
        </p:nvSpPr>
        <p:spPr>
          <a:xfrm>
            <a:off x="4617720" y="3200400"/>
            <a:ext cx="1481328" cy="237744"/>
          </a:xfrm>
          <a:prstGeom prst="roundRect">
            <a:avLst>
              <a:gd fmla="val 20000" name="adj"/>
            </a:avLst>
          </a:prstGeom>
          <a:solidFill>
            <a:srgbClr val="6DD9FF"/>
          </a:solidFill>
          <a:ln cap="flat" cmpd="sng" w="9525">
            <a:solidFill>
              <a:srgbClr val="6DD9F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2" name="Google Shape;302;p9"/>
          <p:cNvSpPr/>
          <p:nvPr/>
        </p:nvSpPr>
        <p:spPr>
          <a:xfrm>
            <a:off x="4617720" y="3200400"/>
            <a:ext cx="1481328"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6</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MEASUREMENTS</a:t>
            </a:r>
            <a:endParaRPr sz="1800">
              <a:solidFill>
                <a:schemeClr val="dk1"/>
              </a:solidFill>
              <a:latin typeface="Calibri"/>
              <a:ea typeface="Calibri"/>
              <a:cs typeface="Calibri"/>
              <a:sym typeface="Calibri"/>
            </a:endParaRPr>
          </a:p>
        </p:txBody>
      </p:sp>
      <p:sp>
        <p:nvSpPr>
          <p:cNvPr id="303" name="Google Shape;303;p9"/>
          <p:cNvSpPr/>
          <p:nvPr/>
        </p:nvSpPr>
        <p:spPr>
          <a:xfrm>
            <a:off x="4617720" y="354787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R2.1</a:t>
            </a:r>
            <a:endParaRPr sz="1800">
              <a:solidFill>
                <a:schemeClr val="dk1"/>
              </a:solidFill>
              <a:latin typeface="Calibri"/>
              <a:ea typeface="Calibri"/>
              <a:cs typeface="Calibri"/>
              <a:sym typeface="Calibri"/>
            </a:endParaRPr>
          </a:p>
        </p:txBody>
      </p:sp>
      <p:sp>
        <p:nvSpPr>
          <p:cNvPr id="304" name="Google Shape;304;p9"/>
          <p:cNvSpPr/>
          <p:nvPr/>
        </p:nvSpPr>
        <p:spPr>
          <a:xfrm>
            <a:off x="5202936" y="354787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Elemental composition</a:t>
            </a:r>
            <a:endParaRPr sz="1800">
              <a:solidFill>
                <a:schemeClr val="dk1"/>
              </a:solidFill>
              <a:latin typeface="Calibri"/>
              <a:ea typeface="Calibri"/>
              <a:cs typeface="Calibri"/>
              <a:sym typeface="Calibri"/>
            </a:endParaRPr>
          </a:p>
        </p:txBody>
      </p:sp>
      <p:sp>
        <p:nvSpPr>
          <p:cNvPr id="305" name="Google Shape;305;p9"/>
          <p:cNvSpPr/>
          <p:nvPr/>
        </p:nvSpPr>
        <p:spPr>
          <a:xfrm>
            <a:off x="4617720" y="382219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R2.2</a:t>
            </a:r>
            <a:endParaRPr sz="1800">
              <a:solidFill>
                <a:schemeClr val="dk1"/>
              </a:solidFill>
              <a:latin typeface="Calibri"/>
              <a:ea typeface="Calibri"/>
              <a:cs typeface="Calibri"/>
              <a:sym typeface="Calibri"/>
            </a:endParaRPr>
          </a:p>
        </p:txBody>
      </p:sp>
      <p:sp>
        <p:nvSpPr>
          <p:cNvPr id="306" name="Google Shape;306;p9"/>
          <p:cNvSpPr/>
          <p:nvPr/>
        </p:nvSpPr>
        <p:spPr>
          <a:xfrm>
            <a:off x="5202936" y="382219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Mineral composition</a:t>
            </a:r>
            <a:endParaRPr sz="1800">
              <a:solidFill>
                <a:schemeClr val="dk1"/>
              </a:solidFill>
              <a:latin typeface="Calibri"/>
              <a:ea typeface="Calibri"/>
              <a:cs typeface="Calibri"/>
              <a:sym typeface="Calibri"/>
            </a:endParaRPr>
          </a:p>
        </p:txBody>
      </p:sp>
      <p:sp>
        <p:nvSpPr>
          <p:cNvPr id="307" name="Google Shape;307;p9"/>
          <p:cNvSpPr/>
          <p:nvPr/>
        </p:nvSpPr>
        <p:spPr>
          <a:xfrm>
            <a:off x="4617720" y="409651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R2.3</a:t>
            </a:r>
            <a:endParaRPr sz="1800">
              <a:solidFill>
                <a:schemeClr val="dk1"/>
              </a:solidFill>
              <a:latin typeface="Calibri"/>
              <a:ea typeface="Calibri"/>
              <a:cs typeface="Calibri"/>
              <a:sym typeface="Calibri"/>
            </a:endParaRPr>
          </a:p>
        </p:txBody>
      </p:sp>
      <p:sp>
        <p:nvSpPr>
          <p:cNvPr id="308" name="Google Shape;308;p9"/>
          <p:cNvSpPr/>
          <p:nvPr/>
        </p:nvSpPr>
        <p:spPr>
          <a:xfrm>
            <a:off x="5202936" y="409651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Interior structure</a:t>
            </a:r>
            <a:endParaRPr sz="1800">
              <a:solidFill>
                <a:schemeClr val="dk1"/>
              </a:solidFill>
              <a:latin typeface="Calibri"/>
              <a:ea typeface="Calibri"/>
              <a:cs typeface="Calibri"/>
              <a:sym typeface="Calibri"/>
            </a:endParaRPr>
          </a:p>
        </p:txBody>
      </p:sp>
      <p:sp>
        <p:nvSpPr>
          <p:cNvPr id="309" name="Google Shape;309;p9"/>
          <p:cNvSpPr/>
          <p:nvPr/>
        </p:nvSpPr>
        <p:spPr>
          <a:xfrm>
            <a:off x="4617720" y="437083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R2.4</a:t>
            </a:r>
            <a:endParaRPr sz="1800">
              <a:solidFill>
                <a:schemeClr val="dk1"/>
              </a:solidFill>
              <a:latin typeface="Calibri"/>
              <a:ea typeface="Calibri"/>
              <a:cs typeface="Calibri"/>
              <a:sym typeface="Calibri"/>
            </a:endParaRPr>
          </a:p>
        </p:txBody>
      </p:sp>
      <p:sp>
        <p:nvSpPr>
          <p:cNvPr id="310" name="Google Shape;310;p9"/>
          <p:cNvSpPr/>
          <p:nvPr/>
        </p:nvSpPr>
        <p:spPr>
          <a:xfrm>
            <a:off x="5202936" y="437083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Cohesion</a:t>
            </a:r>
            <a:endParaRPr sz="1800">
              <a:solidFill>
                <a:schemeClr val="dk1"/>
              </a:solidFill>
              <a:latin typeface="Calibri"/>
              <a:ea typeface="Calibri"/>
              <a:cs typeface="Calibri"/>
              <a:sym typeface="Calibri"/>
            </a:endParaRPr>
          </a:p>
        </p:txBody>
      </p:sp>
      <p:sp>
        <p:nvSpPr>
          <p:cNvPr id="311" name="Google Shape;311;p9"/>
          <p:cNvSpPr/>
          <p:nvPr/>
        </p:nvSpPr>
        <p:spPr>
          <a:xfrm>
            <a:off x="4617720" y="464515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R2.5</a:t>
            </a:r>
            <a:endParaRPr sz="1800">
              <a:solidFill>
                <a:schemeClr val="dk1"/>
              </a:solidFill>
              <a:latin typeface="Calibri"/>
              <a:ea typeface="Calibri"/>
              <a:cs typeface="Calibri"/>
              <a:sym typeface="Calibri"/>
            </a:endParaRPr>
          </a:p>
        </p:txBody>
      </p:sp>
      <p:sp>
        <p:nvSpPr>
          <p:cNvPr id="312" name="Google Shape;312;p9"/>
          <p:cNvSpPr/>
          <p:nvPr/>
        </p:nvSpPr>
        <p:spPr>
          <a:xfrm>
            <a:off x="5202936" y="464515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Mass</a:t>
            </a:r>
            <a:endParaRPr sz="1800">
              <a:solidFill>
                <a:schemeClr val="dk1"/>
              </a:solidFill>
              <a:latin typeface="Calibri"/>
              <a:ea typeface="Calibri"/>
              <a:cs typeface="Calibri"/>
              <a:sym typeface="Calibri"/>
            </a:endParaRPr>
          </a:p>
        </p:txBody>
      </p:sp>
      <p:sp>
        <p:nvSpPr>
          <p:cNvPr id="313" name="Google Shape;313;p9"/>
          <p:cNvSpPr/>
          <p:nvPr/>
        </p:nvSpPr>
        <p:spPr>
          <a:xfrm>
            <a:off x="4617720" y="491947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R2.6</a:t>
            </a:r>
            <a:endParaRPr sz="1800">
              <a:solidFill>
                <a:schemeClr val="dk1"/>
              </a:solidFill>
              <a:latin typeface="Calibri"/>
              <a:ea typeface="Calibri"/>
              <a:cs typeface="Calibri"/>
              <a:sym typeface="Calibri"/>
            </a:endParaRPr>
          </a:p>
        </p:txBody>
      </p:sp>
      <p:sp>
        <p:nvSpPr>
          <p:cNvPr id="314" name="Google Shape;314;p9"/>
          <p:cNvSpPr/>
          <p:nvPr/>
        </p:nvSpPr>
        <p:spPr>
          <a:xfrm>
            <a:off x="5202936" y="491947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Density and porosity</a:t>
            </a:r>
            <a:endParaRPr sz="1800">
              <a:solidFill>
                <a:schemeClr val="dk1"/>
              </a:solidFill>
              <a:latin typeface="Calibri"/>
              <a:ea typeface="Calibri"/>
              <a:cs typeface="Calibri"/>
              <a:sym typeface="Calibri"/>
            </a:endParaRPr>
          </a:p>
        </p:txBody>
      </p:sp>
      <p:sp>
        <p:nvSpPr>
          <p:cNvPr id="315" name="Google Shape;315;p9"/>
          <p:cNvSpPr/>
          <p:nvPr/>
        </p:nvSpPr>
        <p:spPr>
          <a:xfrm>
            <a:off x="8065008" y="2542032"/>
            <a:ext cx="3465576" cy="2743200"/>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6" name="Google Shape;316;p9"/>
          <p:cNvSpPr/>
          <p:nvPr/>
        </p:nvSpPr>
        <p:spPr>
          <a:xfrm>
            <a:off x="8321040" y="2779776"/>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7" name="Google Shape;317;p9"/>
          <p:cNvSpPr/>
          <p:nvPr/>
        </p:nvSpPr>
        <p:spPr>
          <a:xfrm>
            <a:off x="8321040" y="2779776"/>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900"/>
              <a:buFont typeface="Arial"/>
              <a:buNone/>
            </a:pPr>
            <a:r>
              <a:rPr b="1" lang="en-US" sz="900">
                <a:solidFill>
                  <a:srgbClr val="FFFFFF"/>
                </a:solidFill>
                <a:latin typeface="Arial"/>
                <a:ea typeface="Arial"/>
                <a:cs typeface="Arial"/>
                <a:sym typeface="Arial"/>
              </a:rPr>
              <a:t>O3</a:t>
            </a:r>
            <a:endParaRPr sz="1800">
              <a:solidFill>
                <a:schemeClr val="dk1"/>
              </a:solidFill>
              <a:latin typeface="Calibri"/>
              <a:ea typeface="Calibri"/>
              <a:cs typeface="Calibri"/>
              <a:sym typeface="Calibri"/>
            </a:endParaRPr>
          </a:p>
        </p:txBody>
      </p:sp>
      <p:sp>
        <p:nvSpPr>
          <p:cNvPr id="318" name="Google Shape;318;p9"/>
          <p:cNvSpPr/>
          <p:nvPr/>
        </p:nvSpPr>
        <p:spPr>
          <a:xfrm>
            <a:off x="8723376" y="2761488"/>
            <a:ext cx="2551176" cy="3474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Tidal response</a:t>
            </a:r>
            <a:endParaRPr sz="1800">
              <a:solidFill>
                <a:schemeClr val="dk1"/>
              </a:solidFill>
              <a:latin typeface="Calibri"/>
              <a:ea typeface="Calibri"/>
              <a:cs typeface="Calibri"/>
              <a:sym typeface="Calibri"/>
            </a:endParaRPr>
          </a:p>
        </p:txBody>
      </p:sp>
      <p:sp>
        <p:nvSpPr>
          <p:cNvPr id="319" name="Google Shape;319;p9"/>
          <p:cNvSpPr/>
          <p:nvPr/>
        </p:nvSpPr>
        <p:spPr>
          <a:xfrm>
            <a:off x="8321040" y="3200400"/>
            <a:ext cx="1481328" cy="237744"/>
          </a:xfrm>
          <a:prstGeom prst="roundRect">
            <a:avLst>
              <a:gd fmla="val 20000" name="adj"/>
            </a:avLst>
          </a:prstGeom>
          <a:solidFill>
            <a:srgbClr val="6DD9FF"/>
          </a:solidFill>
          <a:ln cap="flat" cmpd="sng" w="9525">
            <a:solidFill>
              <a:srgbClr val="6DD9F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9"/>
          <p:cNvSpPr/>
          <p:nvPr/>
        </p:nvSpPr>
        <p:spPr>
          <a:xfrm>
            <a:off x="8321040" y="3200400"/>
            <a:ext cx="1481328"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3234C"/>
              </a:buClr>
              <a:buSzPts val="800"/>
              <a:buFont typeface="Arial"/>
              <a:buNone/>
            </a:pPr>
            <a:r>
              <a:rPr b="1" lang="en-US" sz="800">
                <a:solidFill>
                  <a:srgbClr val="13234C"/>
                </a:solidFill>
                <a:latin typeface="Arial"/>
                <a:ea typeface="Arial"/>
                <a:cs typeface="Arial"/>
                <a:sym typeface="Arial"/>
              </a:rPr>
              <a:t>4</a:t>
            </a:r>
            <a:r>
              <a:rPr lang="en-US" sz="800">
                <a:solidFill>
                  <a:srgbClr val="000000"/>
                </a:solidFill>
                <a:latin typeface="Arial"/>
                <a:ea typeface="Arial"/>
                <a:cs typeface="Arial"/>
                <a:sym typeface="Arial"/>
              </a:rPr>
              <a:t>   </a:t>
            </a:r>
            <a:r>
              <a:rPr lang="en-US" sz="800">
                <a:solidFill>
                  <a:srgbClr val="002060"/>
                </a:solidFill>
                <a:latin typeface="Arial"/>
                <a:ea typeface="Arial"/>
                <a:cs typeface="Arial"/>
                <a:sym typeface="Arial"/>
              </a:rPr>
              <a:t>MEASUREMENTS</a:t>
            </a:r>
            <a:endParaRPr sz="1800">
              <a:solidFill>
                <a:schemeClr val="dk1"/>
              </a:solidFill>
              <a:latin typeface="Calibri"/>
              <a:ea typeface="Calibri"/>
              <a:cs typeface="Calibri"/>
              <a:sym typeface="Calibri"/>
            </a:endParaRPr>
          </a:p>
        </p:txBody>
      </p:sp>
      <p:sp>
        <p:nvSpPr>
          <p:cNvPr id="321" name="Google Shape;321;p9"/>
          <p:cNvSpPr/>
          <p:nvPr/>
        </p:nvSpPr>
        <p:spPr>
          <a:xfrm>
            <a:off x="8321040" y="354787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R3.1</a:t>
            </a:r>
            <a:endParaRPr sz="1800">
              <a:solidFill>
                <a:schemeClr val="dk1"/>
              </a:solidFill>
              <a:latin typeface="Calibri"/>
              <a:ea typeface="Calibri"/>
              <a:cs typeface="Calibri"/>
              <a:sym typeface="Calibri"/>
            </a:endParaRPr>
          </a:p>
        </p:txBody>
      </p:sp>
      <p:sp>
        <p:nvSpPr>
          <p:cNvPr id="322" name="Google Shape;322;p9"/>
          <p:cNvSpPr/>
          <p:nvPr/>
        </p:nvSpPr>
        <p:spPr>
          <a:xfrm>
            <a:off x="8906256" y="354787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Deformation</a:t>
            </a:r>
            <a:endParaRPr sz="1800">
              <a:solidFill>
                <a:schemeClr val="dk1"/>
              </a:solidFill>
              <a:latin typeface="Calibri"/>
              <a:ea typeface="Calibri"/>
              <a:cs typeface="Calibri"/>
              <a:sym typeface="Calibri"/>
            </a:endParaRPr>
          </a:p>
        </p:txBody>
      </p:sp>
      <p:sp>
        <p:nvSpPr>
          <p:cNvPr id="323" name="Google Shape;323;p9"/>
          <p:cNvSpPr/>
          <p:nvPr/>
        </p:nvSpPr>
        <p:spPr>
          <a:xfrm>
            <a:off x="8321040" y="382219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R3.2</a:t>
            </a:r>
            <a:endParaRPr sz="1800">
              <a:solidFill>
                <a:schemeClr val="dk1"/>
              </a:solidFill>
              <a:latin typeface="Calibri"/>
              <a:ea typeface="Calibri"/>
              <a:cs typeface="Calibri"/>
              <a:sym typeface="Calibri"/>
            </a:endParaRPr>
          </a:p>
        </p:txBody>
      </p:sp>
      <p:sp>
        <p:nvSpPr>
          <p:cNvPr id="324" name="Google Shape;324;p9"/>
          <p:cNvSpPr/>
          <p:nvPr/>
        </p:nvSpPr>
        <p:spPr>
          <a:xfrm>
            <a:off x="8906256" y="382219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Surface activity</a:t>
            </a:r>
            <a:endParaRPr sz="1800">
              <a:solidFill>
                <a:schemeClr val="dk1"/>
              </a:solidFill>
              <a:latin typeface="Calibri"/>
              <a:ea typeface="Calibri"/>
              <a:cs typeface="Calibri"/>
              <a:sym typeface="Calibri"/>
            </a:endParaRPr>
          </a:p>
        </p:txBody>
      </p:sp>
      <p:sp>
        <p:nvSpPr>
          <p:cNvPr id="325" name="Google Shape;325;p9"/>
          <p:cNvSpPr/>
          <p:nvPr/>
        </p:nvSpPr>
        <p:spPr>
          <a:xfrm>
            <a:off x="8321040" y="409651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R3.3</a:t>
            </a:r>
            <a:endParaRPr sz="1800">
              <a:solidFill>
                <a:schemeClr val="dk1"/>
              </a:solidFill>
              <a:latin typeface="Calibri"/>
              <a:ea typeface="Calibri"/>
              <a:cs typeface="Calibri"/>
              <a:sym typeface="Calibri"/>
            </a:endParaRPr>
          </a:p>
        </p:txBody>
      </p:sp>
      <p:sp>
        <p:nvSpPr>
          <p:cNvPr id="326" name="Google Shape;326;p9"/>
          <p:cNvSpPr/>
          <p:nvPr/>
        </p:nvSpPr>
        <p:spPr>
          <a:xfrm>
            <a:off x="8906256" y="409651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Spin-state change</a:t>
            </a:r>
            <a:endParaRPr sz="1800">
              <a:solidFill>
                <a:schemeClr val="dk1"/>
              </a:solidFill>
              <a:latin typeface="Calibri"/>
              <a:ea typeface="Calibri"/>
              <a:cs typeface="Calibri"/>
              <a:sym typeface="Calibri"/>
            </a:endParaRPr>
          </a:p>
        </p:txBody>
      </p:sp>
      <p:sp>
        <p:nvSpPr>
          <p:cNvPr id="327" name="Google Shape;327;p9"/>
          <p:cNvSpPr/>
          <p:nvPr/>
        </p:nvSpPr>
        <p:spPr>
          <a:xfrm>
            <a:off x="8321040" y="4370832"/>
            <a:ext cx="5486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R3.4</a:t>
            </a:r>
            <a:endParaRPr sz="1800">
              <a:solidFill>
                <a:schemeClr val="dk1"/>
              </a:solidFill>
              <a:latin typeface="Calibri"/>
              <a:ea typeface="Calibri"/>
              <a:cs typeface="Calibri"/>
              <a:sym typeface="Calibri"/>
            </a:endParaRPr>
          </a:p>
        </p:txBody>
      </p:sp>
      <p:sp>
        <p:nvSpPr>
          <p:cNvPr id="328" name="Google Shape;328;p9"/>
          <p:cNvSpPr/>
          <p:nvPr/>
        </p:nvSpPr>
        <p:spPr>
          <a:xfrm>
            <a:off x="8906256" y="4370832"/>
            <a:ext cx="236829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050"/>
              <a:buFont typeface="Arial"/>
              <a:buNone/>
            </a:pPr>
            <a:r>
              <a:rPr b="1" lang="en-US" sz="1050">
                <a:solidFill>
                  <a:srgbClr val="13234C"/>
                </a:solidFill>
                <a:latin typeface="Arial"/>
                <a:ea typeface="Arial"/>
                <a:cs typeface="Arial"/>
                <a:sym typeface="Arial"/>
              </a:rPr>
              <a:t>Deflection relevance</a:t>
            </a:r>
            <a:endParaRPr sz="1800">
              <a:solidFill>
                <a:schemeClr val="dk1"/>
              </a:solidFill>
              <a:latin typeface="Calibri"/>
              <a:ea typeface="Calibri"/>
              <a:cs typeface="Calibri"/>
              <a:sym typeface="Calibri"/>
            </a:endParaRPr>
          </a:p>
        </p:txBody>
      </p:sp>
      <p:sp>
        <p:nvSpPr>
          <p:cNvPr id="329" name="Google Shape;329;p9"/>
          <p:cNvSpPr/>
          <p:nvPr/>
        </p:nvSpPr>
        <p:spPr>
          <a:xfrm>
            <a:off x="658368" y="5486400"/>
            <a:ext cx="10872216" cy="548640"/>
          </a:xfrm>
          <a:prstGeom prst="roundRect">
            <a:avLst>
              <a:gd fmla="val 6000" name="adj"/>
            </a:avLst>
          </a:prstGeom>
          <a:solidFill>
            <a:srgbClr val="13234C"/>
          </a:solidFill>
          <a:ln cap="flat" cmpd="sng" w="9525">
            <a:solidFill>
              <a:srgbClr val="13234C"/>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0" name="Google Shape;330;p9"/>
          <p:cNvSpPr/>
          <p:nvPr/>
        </p:nvSpPr>
        <p:spPr>
          <a:xfrm>
            <a:off x="1005840" y="5486400"/>
            <a:ext cx="722376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250"/>
              <a:buFont typeface="Arial"/>
              <a:buNone/>
            </a:pPr>
            <a:r>
              <a:rPr b="1" lang="en-US" sz="1250">
                <a:solidFill>
                  <a:srgbClr val="FFFFFF"/>
                </a:solidFill>
                <a:latin typeface="Arial"/>
                <a:ea typeface="Arial"/>
                <a:cs typeface="Arial"/>
                <a:sym typeface="Arial"/>
              </a:rPr>
              <a:t>Fifteen of nineteen are met. The four that are not are the knowledge gaps.</a:t>
            </a:r>
            <a:endParaRPr sz="1800">
              <a:solidFill>
                <a:schemeClr val="dk1"/>
              </a:solidFill>
              <a:latin typeface="Calibri"/>
              <a:ea typeface="Calibri"/>
              <a:cs typeface="Calibri"/>
              <a:sym typeface="Calibri"/>
            </a:endParaRPr>
          </a:p>
        </p:txBody>
      </p:sp>
      <p:sp>
        <p:nvSpPr>
          <p:cNvPr id="331" name="Google Shape;331;p9"/>
          <p:cNvSpPr/>
          <p:nvPr/>
        </p:nvSpPr>
        <p:spPr>
          <a:xfrm>
            <a:off x="8366760" y="5486400"/>
            <a:ext cx="2834640" cy="548640"/>
          </a:xfrm>
          <a:prstGeom prst="rect">
            <a:avLst/>
          </a:prstGeom>
          <a:noFill/>
          <a:ln>
            <a:noFill/>
          </a:ln>
        </p:spPr>
        <p:txBody>
          <a:bodyPr anchorCtr="0" anchor="ctr" bIns="0" lIns="0" spcFirstLastPara="1" rIns="0" wrap="square" tIns="0">
            <a:noAutofit/>
          </a:bodyPr>
          <a:lstStyle/>
          <a:p>
            <a:pPr indent="0" lvl="0" marL="0" marR="0" rtl="0" algn="r">
              <a:lnSpc>
                <a:spcPct val="105000"/>
              </a:lnSpc>
              <a:spcBef>
                <a:spcPts val="0"/>
              </a:spcBef>
              <a:spcAft>
                <a:spcPts val="0"/>
              </a:spcAft>
              <a:buClr>
                <a:srgbClr val="9CBBE6"/>
              </a:buClr>
              <a:buSzPts val="850"/>
              <a:buFont typeface="Arial"/>
              <a:buNone/>
            </a:pPr>
            <a:r>
              <a:rPr i="1" lang="en-US" sz="850">
                <a:solidFill>
                  <a:srgbClr val="9CBBE6"/>
                </a:solidFill>
                <a:latin typeface="Arial"/>
                <a:ea typeface="Arial"/>
                <a:cs typeface="Arial"/>
                <a:sym typeface="Arial"/>
              </a:rPr>
              <a:t>O4 carries no measurement of its own: it inherits from O1 and O2.</a:t>
            </a:r>
            <a:endParaRPr sz="1800">
              <a:solidFill>
                <a:schemeClr val="dk1"/>
              </a:solidFill>
              <a:latin typeface="Calibri"/>
              <a:ea typeface="Calibri"/>
              <a:cs typeface="Calibri"/>
              <a:sym typeface="Calibri"/>
            </a:endParaRPr>
          </a:p>
        </p:txBody>
      </p:sp>
      <p:sp>
        <p:nvSpPr>
          <p:cNvPr id="332" name="Google Shape;332;p9"/>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b="1"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b="1"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333" name="Google Shape;333;p9"/>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6</a:t>
            </a:r>
            <a:endParaRPr sz="1000">
              <a:solidFill>
                <a:schemeClr val="dk1"/>
              </a:solidFill>
              <a:latin typeface="Calibri"/>
              <a:ea typeface="Calibri"/>
              <a:cs typeface="Calibri"/>
              <a:sym typeface="Calibri"/>
            </a:endParaRPr>
          </a:p>
        </p:txBody>
      </p:sp>
      <p:sp>
        <p:nvSpPr>
          <p:cNvPr id="334" name="Google Shape;334;p9"/>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pic>
        <p:nvPicPr>
          <p:cNvPr descr="/home/claude/work/a2/logo_dark.png" id="335" name="Google Shape;335;p9"/>
          <p:cNvPicPr preferRelativeResize="0"/>
          <p:nvPr/>
        </p:nvPicPr>
        <p:blipFill rotWithShape="1">
          <a:blip r:embed="rId3">
            <a:alphaModFix/>
          </a:blip>
          <a:srcRect b="0" l="0" r="0" t="0"/>
          <a:stretch/>
        </p:blipFill>
        <p:spPr>
          <a:xfrm>
            <a:off x="10616340" y="122984"/>
            <a:ext cx="1450538" cy="814736"/>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340" name="Shape 340"/>
        <p:cNvGrpSpPr/>
        <p:nvPr/>
      </p:nvGrpSpPr>
      <p:grpSpPr>
        <a:xfrm>
          <a:off x="0" y="0"/>
          <a:ext cx="0" cy="0"/>
          <a:chOff x="0" y="0"/>
          <a:chExt cx="0" cy="0"/>
        </a:xfrm>
      </p:grpSpPr>
      <p:sp>
        <p:nvSpPr>
          <p:cNvPr id="341" name="Google Shape;341;p10"/>
          <p:cNvSpPr/>
          <p:nvPr/>
        </p:nvSpPr>
        <p:spPr>
          <a:xfrm>
            <a:off x="3463976" y="2121408"/>
            <a:ext cx="2567864" cy="310781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2" name="Google Shape;342;p10"/>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b="1" lang="en-US" sz="800">
                <a:solidFill>
                  <a:srgbClr val="13234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343" name="Google Shape;343;p10"/>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Four Knowledge Gaps</a:t>
            </a:r>
            <a:endParaRPr sz="3000">
              <a:solidFill>
                <a:schemeClr val="dk1"/>
              </a:solidFill>
              <a:latin typeface="Calibri"/>
              <a:ea typeface="Calibri"/>
              <a:cs typeface="Calibri"/>
              <a:sym typeface="Calibri"/>
            </a:endParaRPr>
          </a:p>
        </p:txBody>
      </p:sp>
      <p:sp>
        <p:nvSpPr>
          <p:cNvPr id="344" name="Google Shape;344;p10"/>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Measurement openings the mission never set out to address, registered only where no confirmed instrument meets them.</a:t>
            </a:r>
            <a:endParaRPr sz="1400">
              <a:solidFill>
                <a:schemeClr val="dk1"/>
              </a:solidFill>
              <a:latin typeface="Arial"/>
              <a:ea typeface="Arial"/>
              <a:cs typeface="Arial"/>
              <a:sym typeface="Arial"/>
            </a:endParaRPr>
          </a:p>
        </p:txBody>
      </p:sp>
      <p:sp>
        <p:nvSpPr>
          <p:cNvPr id="345" name="Google Shape;345;p10"/>
          <p:cNvSpPr/>
          <p:nvPr/>
        </p:nvSpPr>
        <p:spPr>
          <a:xfrm>
            <a:off x="658368" y="2121407"/>
            <a:ext cx="2567864" cy="3107817"/>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6" name="Google Shape;346;p10"/>
          <p:cNvSpPr/>
          <p:nvPr/>
        </p:nvSpPr>
        <p:spPr>
          <a:xfrm>
            <a:off x="896112" y="2359152"/>
            <a:ext cx="2092376"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200"/>
              <a:buFont typeface="Courier New"/>
              <a:buNone/>
            </a:pPr>
            <a:r>
              <a:rPr b="1" lang="en-US" sz="1200">
                <a:solidFill>
                  <a:srgbClr val="4C5468"/>
                </a:solidFill>
                <a:latin typeface="Courier New"/>
                <a:ea typeface="Courier New"/>
                <a:cs typeface="Courier New"/>
                <a:sym typeface="Courier New"/>
              </a:rPr>
              <a:t>GAP-1</a:t>
            </a:r>
            <a:endParaRPr sz="1200">
              <a:solidFill>
                <a:schemeClr val="dk1"/>
              </a:solidFill>
              <a:latin typeface="Courier New"/>
              <a:ea typeface="Courier New"/>
              <a:cs typeface="Courier New"/>
              <a:sym typeface="Courier New"/>
            </a:endParaRPr>
          </a:p>
        </p:txBody>
      </p:sp>
      <p:sp>
        <p:nvSpPr>
          <p:cNvPr id="347" name="Google Shape;347;p10"/>
          <p:cNvSpPr/>
          <p:nvPr/>
        </p:nvSpPr>
        <p:spPr>
          <a:xfrm>
            <a:off x="896112" y="2743200"/>
            <a:ext cx="2092376" cy="1042416"/>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13234C"/>
              </a:buClr>
              <a:buSzPts val="1700"/>
              <a:buFont typeface="Arial"/>
              <a:buNone/>
            </a:pPr>
            <a:r>
              <a:rPr b="1" lang="en-US" sz="1700">
                <a:solidFill>
                  <a:srgbClr val="13234C"/>
                </a:solidFill>
                <a:latin typeface="Arial"/>
                <a:ea typeface="Arial"/>
                <a:cs typeface="Arial"/>
                <a:sym typeface="Arial"/>
              </a:rPr>
              <a:t>Hydration state</a:t>
            </a:r>
            <a:endParaRPr sz="1700">
              <a:solidFill>
                <a:schemeClr val="dk1"/>
              </a:solidFill>
              <a:latin typeface="Calibri"/>
              <a:ea typeface="Calibri"/>
              <a:cs typeface="Calibri"/>
              <a:sym typeface="Calibri"/>
            </a:endParaRPr>
          </a:p>
        </p:txBody>
      </p:sp>
      <p:sp>
        <p:nvSpPr>
          <p:cNvPr id="348" name="Google Shape;348;p10"/>
          <p:cNvSpPr/>
          <p:nvPr/>
        </p:nvSpPr>
        <p:spPr>
          <a:xfrm>
            <a:off x="3665144" y="2359152"/>
            <a:ext cx="2092376"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46F8C"/>
              </a:buClr>
              <a:buSzPts val="1200"/>
              <a:buFont typeface="Courier New"/>
              <a:buNone/>
            </a:pPr>
            <a:r>
              <a:rPr b="1" lang="en-US" sz="1200">
                <a:solidFill>
                  <a:srgbClr val="646F8C"/>
                </a:solidFill>
                <a:latin typeface="Courier New"/>
                <a:ea typeface="Courier New"/>
                <a:cs typeface="Courier New"/>
                <a:sym typeface="Courier New"/>
              </a:rPr>
              <a:t>GAP-2</a:t>
            </a:r>
            <a:endParaRPr sz="1200">
              <a:solidFill>
                <a:srgbClr val="646F8C"/>
              </a:solidFill>
              <a:latin typeface="Courier New"/>
              <a:ea typeface="Courier New"/>
              <a:cs typeface="Courier New"/>
              <a:sym typeface="Courier New"/>
            </a:endParaRPr>
          </a:p>
        </p:txBody>
      </p:sp>
      <p:sp>
        <p:nvSpPr>
          <p:cNvPr id="349" name="Google Shape;349;p10"/>
          <p:cNvSpPr/>
          <p:nvPr/>
        </p:nvSpPr>
        <p:spPr>
          <a:xfrm>
            <a:off x="6196432" y="2121408"/>
            <a:ext cx="2567864" cy="310781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0" name="Google Shape;350;p10"/>
          <p:cNvSpPr/>
          <p:nvPr/>
        </p:nvSpPr>
        <p:spPr>
          <a:xfrm>
            <a:off x="6434176" y="2359152"/>
            <a:ext cx="2092376"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200"/>
              <a:buFont typeface="Courier New"/>
              <a:buNone/>
            </a:pPr>
            <a:r>
              <a:rPr b="1" lang="en-US" sz="1200">
                <a:solidFill>
                  <a:srgbClr val="4C5468"/>
                </a:solidFill>
                <a:latin typeface="Courier New"/>
                <a:ea typeface="Courier New"/>
                <a:cs typeface="Courier New"/>
                <a:sym typeface="Courier New"/>
              </a:rPr>
              <a:t>GAP-3</a:t>
            </a:r>
            <a:endParaRPr sz="1200">
              <a:solidFill>
                <a:schemeClr val="dk1"/>
              </a:solidFill>
              <a:latin typeface="Courier New"/>
              <a:ea typeface="Courier New"/>
              <a:cs typeface="Courier New"/>
              <a:sym typeface="Courier New"/>
            </a:endParaRPr>
          </a:p>
        </p:txBody>
      </p:sp>
      <p:sp>
        <p:nvSpPr>
          <p:cNvPr id="351" name="Google Shape;351;p10"/>
          <p:cNvSpPr/>
          <p:nvPr/>
        </p:nvSpPr>
        <p:spPr>
          <a:xfrm>
            <a:off x="6434176" y="2743200"/>
            <a:ext cx="2092376" cy="1042416"/>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13234C"/>
              </a:buClr>
              <a:buSzPts val="1700"/>
              <a:buFont typeface="Arial"/>
              <a:buNone/>
            </a:pPr>
            <a:r>
              <a:rPr b="1" lang="en-US" sz="1700">
                <a:solidFill>
                  <a:srgbClr val="13234C"/>
                </a:solidFill>
                <a:latin typeface="Arial"/>
                <a:ea typeface="Arial"/>
                <a:cs typeface="Arial"/>
                <a:sym typeface="Arial"/>
              </a:rPr>
              <a:t>Regolith grain-size distribution</a:t>
            </a:r>
            <a:endParaRPr sz="1700">
              <a:solidFill>
                <a:schemeClr val="dk1"/>
              </a:solidFill>
              <a:latin typeface="Calibri"/>
              <a:ea typeface="Calibri"/>
              <a:cs typeface="Calibri"/>
              <a:sym typeface="Calibri"/>
            </a:endParaRPr>
          </a:p>
        </p:txBody>
      </p:sp>
      <p:sp>
        <p:nvSpPr>
          <p:cNvPr id="352" name="Google Shape;352;p10"/>
          <p:cNvSpPr/>
          <p:nvPr/>
        </p:nvSpPr>
        <p:spPr>
          <a:xfrm>
            <a:off x="8965463" y="2121408"/>
            <a:ext cx="2567864" cy="310781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3" name="Google Shape;353;p10"/>
          <p:cNvSpPr/>
          <p:nvPr/>
        </p:nvSpPr>
        <p:spPr>
          <a:xfrm>
            <a:off x="9203207" y="2359152"/>
            <a:ext cx="2092376"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200"/>
              <a:buFont typeface="Courier New"/>
              <a:buNone/>
            </a:pPr>
            <a:r>
              <a:rPr b="1" lang="en-US" sz="1200">
                <a:solidFill>
                  <a:srgbClr val="4C5468"/>
                </a:solidFill>
                <a:latin typeface="Courier New"/>
                <a:ea typeface="Courier New"/>
                <a:cs typeface="Courier New"/>
                <a:sym typeface="Courier New"/>
              </a:rPr>
              <a:t>GAP-4</a:t>
            </a:r>
            <a:endParaRPr sz="1200">
              <a:solidFill>
                <a:schemeClr val="dk1"/>
              </a:solidFill>
              <a:latin typeface="Courier New"/>
              <a:ea typeface="Courier New"/>
              <a:cs typeface="Courier New"/>
              <a:sym typeface="Courier New"/>
            </a:endParaRPr>
          </a:p>
        </p:txBody>
      </p:sp>
      <p:sp>
        <p:nvSpPr>
          <p:cNvPr id="354" name="Google Shape;354;p10"/>
          <p:cNvSpPr/>
          <p:nvPr/>
        </p:nvSpPr>
        <p:spPr>
          <a:xfrm>
            <a:off x="9203207" y="2743200"/>
            <a:ext cx="2092376" cy="1042416"/>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Clr>
                <a:srgbClr val="13234C"/>
              </a:buClr>
              <a:buSzPts val="1700"/>
              <a:buFont typeface="Arial"/>
              <a:buNone/>
            </a:pPr>
            <a:r>
              <a:rPr b="1" lang="en-US" sz="1700">
                <a:solidFill>
                  <a:srgbClr val="13234C"/>
                </a:solidFill>
                <a:latin typeface="Arial"/>
                <a:ea typeface="Arial"/>
                <a:cs typeface="Arial"/>
                <a:sym typeface="Arial"/>
              </a:rPr>
              <a:t>Free Fe–Ni metallic phase fraction</a:t>
            </a:r>
            <a:endParaRPr sz="1700">
              <a:solidFill>
                <a:schemeClr val="dk1"/>
              </a:solidFill>
              <a:latin typeface="Calibri"/>
              <a:ea typeface="Calibri"/>
              <a:cs typeface="Calibri"/>
              <a:sym typeface="Calibri"/>
            </a:endParaRPr>
          </a:p>
        </p:txBody>
      </p:sp>
      <p:sp>
        <p:nvSpPr>
          <p:cNvPr id="355" name="Google Shape;355;p10"/>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7</a:t>
            </a:r>
            <a:endParaRPr sz="1000">
              <a:solidFill>
                <a:schemeClr val="dk1"/>
              </a:solidFill>
              <a:latin typeface="Calibri"/>
              <a:ea typeface="Calibri"/>
              <a:cs typeface="Calibri"/>
              <a:sym typeface="Calibri"/>
            </a:endParaRPr>
          </a:p>
        </p:txBody>
      </p:sp>
      <p:pic>
        <p:nvPicPr>
          <p:cNvPr descr="/home/claude/work/a2/logo_dark.png" id="356" name="Google Shape;356;p10"/>
          <p:cNvPicPr preferRelativeResize="0"/>
          <p:nvPr/>
        </p:nvPicPr>
        <p:blipFill rotWithShape="1">
          <a:blip r:embed="rId3">
            <a:alphaModFix/>
          </a:blip>
          <a:srcRect b="0" l="0" r="0" t="0"/>
          <a:stretch/>
        </p:blipFill>
        <p:spPr>
          <a:xfrm>
            <a:off x="10616340" y="122984"/>
            <a:ext cx="1450538" cy="814736"/>
          </a:xfrm>
          <a:prstGeom prst="rect">
            <a:avLst/>
          </a:prstGeom>
          <a:noFill/>
          <a:ln>
            <a:noFill/>
          </a:ln>
        </p:spPr>
      </p:pic>
      <p:sp>
        <p:nvSpPr>
          <p:cNvPr id="357" name="Google Shape;357;p10"/>
          <p:cNvSpPr/>
          <p:nvPr/>
        </p:nvSpPr>
        <p:spPr>
          <a:xfrm>
            <a:off x="3683432" y="2651760"/>
            <a:ext cx="2092376" cy="1042416"/>
          </a:xfrm>
          <a:prstGeom prst="rect">
            <a:avLst/>
          </a:prstGeom>
          <a:noFill/>
          <a:ln>
            <a:noFill/>
          </a:ln>
        </p:spPr>
        <p:txBody>
          <a:bodyPr anchorCtr="0" anchor="t" bIns="0" lIns="0" spcFirstLastPara="1" rIns="0" wrap="square" tIns="0">
            <a:noAutofit/>
          </a:bodyPr>
          <a:lstStyle/>
          <a:p>
            <a:pPr indent="0" lvl="0" marL="0" marR="0" rtl="0" algn="l">
              <a:lnSpc>
                <a:spcPct val="98000"/>
              </a:lnSpc>
              <a:spcBef>
                <a:spcPts val="0"/>
              </a:spcBef>
              <a:spcAft>
                <a:spcPts val="0"/>
              </a:spcAft>
              <a:buNone/>
            </a:pPr>
            <a:r>
              <a:rPr b="1" lang="en-US" sz="1700">
                <a:solidFill>
                  <a:srgbClr val="13234C"/>
                </a:solidFill>
                <a:latin typeface="Arial"/>
                <a:ea typeface="Arial"/>
                <a:cs typeface="Arial"/>
                <a:sym typeface="Arial"/>
              </a:rPr>
              <a:t>Weathering-corrected composition</a:t>
            </a:r>
            <a:endParaRPr sz="1700">
              <a:solidFill>
                <a:schemeClr val="dk1"/>
              </a:solidFill>
              <a:latin typeface="Calibri"/>
              <a:ea typeface="Calibri"/>
              <a:cs typeface="Calibri"/>
              <a:sym typeface="Calibri"/>
            </a:endParaRPr>
          </a:p>
        </p:txBody>
      </p:sp>
      <p:sp>
        <p:nvSpPr>
          <p:cNvPr id="358" name="Google Shape;358;p10"/>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
        <p:nvSpPr>
          <p:cNvPr id="359" name="Google Shape;359;p10"/>
          <p:cNvSpPr/>
          <p:nvPr/>
        </p:nvSpPr>
        <p:spPr>
          <a:xfrm>
            <a:off x="896112" y="3703320"/>
            <a:ext cx="2093976" cy="12344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HAMLET stops at 1500 nm. The OH and water bands lie near 2.0 and 3.0 µm, so the payload cannot place even an upper limit on how wet the surface is.</a:t>
            </a:r>
            <a:endParaRPr sz="1800">
              <a:solidFill>
                <a:schemeClr val="dk1"/>
              </a:solidFill>
              <a:latin typeface="Calibri"/>
              <a:ea typeface="Calibri"/>
              <a:cs typeface="Calibri"/>
              <a:sym typeface="Calibri"/>
            </a:endParaRPr>
          </a:p>
        </p:txBody>
      </p:sp>
      <p:sp>
        <p:nvSpPr>
          <p:cNvPr id="360" name="Google Shape;360;p10"/>
          <p:cNvSpPr/>
          <p:nvPr/>
        </p:nvSpPr>
        <p:spPr>
          <a:xfrm>
            <a:off x="3685032" y="3703320"/>
            <a:ext cx="2093976" cy="12344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Every compositional instrument reads the weathered skin. With no sampler and no way to expose fresh material, the bias cannot be measured out.</a:t>
            </a:r>
            <a:endParaRPr sz="1800">
              <a:solidFill>
                <a:schemeClr val="dk1"/>
              </a:solidFill>
              <a:latin typeface="Calibri"/>
              <a:ea typeface="Calibri"/>
              <a:cs typeface="Calibri"/>
              <a:sym typeface="Calibri"/>
            </a:endParaRPr>
          </a:p>
        </p:txBody>
      </p:sp>
      <p:sp>
        <p:nvSpPr>
          <p:cNvPr id="361" name="Google Shape;361;p10"/>
          <p:cNvSpPr/>
          <p:nvPr/>
        </p:nvSpPr>
        <p:spPr>
          <a:xfrm>
            <a:off x="6437376" y="3703320"/>
            <a:ext cx="2093976" cy="12344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TIRI infers grain size from thermal inertia. That is a proxy, uncalibrated, and nothing on board measures the distribution itself.</a:t>
            </a:r>
            <a:endParaRPr sz="1800">
              <a:solidFill>
                <a:schemeClr val="dk1"/>
              </a:solidFill>
              <a:latin typeface="Calibri"/>
              <a:ea typeface="Calibri"/>
              <a:cs typeface="Calibri"/>
              <a:sym typeface="Calibri"/>
            </a:endParaRPr>
          </a:p>
        </p:txBody>
      </p:sp>
      <p:sp>
        <p:nvSpPr>
          <p:cNvPr id="362" name="Google Shape;362;p10"/>
          <p:cNvSpPr/>
          <p:nvPr/>
        </p:nvSpPr>
        <p:spPr>
          <a:xfrm>
            <a:off x="9198864" y="3703320"/>
            <a:ext cx="2093976" cy="1234440"/>
          </a:xfrm>
          <a:prstGeom prst="rect">
            <a:avLst/>
          </a:prstGeom>
          <a:noFill/>
          <a:ln>
            <a:noFill/>
          </a:ln>
        </p:spPr>
        <p:txBody>
          <a:bodyPr anchorCtr="0" anchor="t" bIns="0" lIns="0" spcFirstLastPara="1" rIns="0" wrap="square" tIns="0">
            <a:noAutofit/>
          </a:bodyPr>
          <a:lstStyle/>
          <a:p>
            <a:pPr indent="0" lvl="0" marL="0" marR="0" rtl="0" algn="l">
              <a:lnSpc>
                <a:spcPct val="108000"/>
              </a:lnSpc>
              <a:spcBef>
                <a:spcPts val="0"/>
              </a:spcBef>
              <a:spcAft>
                <a:spcPts val="0"/>
              </a:spcAft>
              <a:buClr>
                <a:srgbClr val="4C5468"/>
              </a:buClr>
              <a:buSzPts val="1000"/>
              <a:buFont typeface="Arial"/>
              <a:buNone/>
            </a:pPr>
            <a:r>
              <a:rPr lang="en-US" sz="1000">
                <a:solidFill>
                  <a:srgbClr val="4C5468"/>
                </a:solidFill>
                <a:latin typeface="Arial"/>
                <a:ea typeface="Arial"/>
                <a:cs typeface="Arial"/>
                <a:sym typeface="Arial"/>
              </a:rPr>
              <a:t>MARIE returns a bulk magnetic response and HAMLET an ambiguous slope. Neither separates free metal from iron locked inside silicates.</a:t>
            </a:r>
            <a:endParaRPr sz="18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367" name="Shape 367"/>
        <p:cNvGrpSpPr/>
        <p:nvPr/>
      </p:nvGrpSpPr>
      <p:grpSpPr>
        <a:xfrm>
          <a:off x="0" y="0"/>
          <a:ext cx="0" cy="0"/>
          <a:chOff x="0" y="0"/>
          <a:chExt cx="0" cy="0"/>
        </a:xfrm>
      </p:grpSpPr>
      <p:pic>
        <p:nvPicPr>
          <p:cNvPr descr="/home/claude/work/a2/light_wash.jpg" id="368" name="Google Shape;368;p11"/>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369" name="Google Shape;369;p11"/>
          <p:cNvSpPr/>
          <p:nvPr/>
        </p:nvSpPr>
        <p:spPr>
          <a:xfrm>
            <a:off x="704088" y="1417320"/>
            <a:ext cx="5317236" cy="1371600"/>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0" name="Google Shape;370;p11"/>
          <p:cNvSpPr/>
          <p:nvPr/>
        </p:nvSpPr>
        <p:spPr>
          <a:xfrm>
            <a:off x="960120" y="1655064"/>
            <a:ext cx="329184" cy="32918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1" name="Google Shape;371;p11"/>
          <p:cNvSpPr/>
          <p:nvPr/>
        </p:nvSpPr>
        <p:spPr>
          <a:xfrm>
            <a:off x="960120" y="1655064"/>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1</a:t>
            </a:r>
            <a:endParaRPr sz="1800">
              <a:solidFill>
                <a:schemeClr val="dk1"/>
              </a:solidFill>
              <a:latin typeface="Calibri"/>
              <a:ea typeface="Calibri"/>
              <a:cs typeface="Calibri"/>
              <a:sym typeface="Calibri"/>
            </a:endParaRPr>
          </a:p>
        </p:txBody>
      </p:sp>
      <p:sp>
        <p:nvSpPr>
          <p:cNvPr id="372" name="Google Shape;372;p11"/>
          <p:cNvSpPr/>
          <p:nvPr/>
        </p:nvSpPr>
        <p:spPr>
          <a:xfrm>
            <a:off x="1380744" y="1636776"/>
            <a:ext cx="43845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600"/>
              <a:buFont typeface="Arial"/>
              <a:buNone/>
            </a:pPr>
            <a:r>
              <a:rPr b="1" lang="en-US" sz="1600">
                <a:solidFill>
                  <a:srgbClr val="13234C"/>
                </a:solidFill>
                <a:latin typeface="Arial"/>
                <a:ea typeface="Arial"/>
                <a:cs typeface="Arial"/>
                <a:sym typeface="Arial"/>
              </a:rPr>
              <a:t>Scientific value</a:t>
            </a:r>
            <a:endParaRPr sz="1800">
              <a:solidFill>
                <a:schemeClr val="dk1"/>
              </a:solidFill>
              <a:latin typeface="Calibri"/>
              <a:ea typeface="Calibri"/>
              <a:cs typeface="Calibri"/>
              <a:sym typeface="Calibri"/>
            </a:endParaRPr>
          </a:p>
        </p:txBody>
      </p:sp>
      <p:sp>
        <p:nvSpPr>
          <p:cNvPr id="373" name="Google Shape;373;p11"/>
          <p:cNvSpPr/>
          <p:nvPr/>
        </p:nvSpPr>
        <p:spPr>
          <a:xfrm>
            <a:off x="960120" y="2075688"/>
            <a:ext cx="4805172"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Does the measurement return something the taxonomy does not already predict?</a:t>
            </a:r>
            <a:endParaRPr sz="1800">
              <a:solidFill>
                <a:schemeClr val="dk1"/>
              </a:solidFill>
              <a:latin typeface="Calibri"/>
              <a:ea typeface="Calibri"/>
              <a:cs typeface="Calibri"/>
              <a:sym typeface="Calibri"/>
            </a:endParaRPr>
          </a:p>
        </p:txBody>
      </p:sp>
      <p:sp>
        <p:nvSpPr>
          <p:cNvPr id="374" name="Google Shape;374;p11"/>
          <p:cNvSpPr/>
          <p:nvPr/>
        </p:nvSpPr>
        <p:spPr>
          <a:xfrm>
            <a:off x="960120" y="2441448"/>
            <a:ext cx="4805172" cy="274320"/>
          </a:xfrm>
          <a:prstGeom prst="roundRect">
            <a:avLst>
              <a:gd fmla="val 16667" name="adj"/>
            </a:avLst>
          </a:prstGeom>
          <a:solidFill>
            <a:srgbClr val="FBECE8"/>
          </a:solidFill>
          <a:ln cap="flat" cmpd="sng" w="9525">
            <a:solidFill>
              <a:srgbClr val="FBECE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5" name="Google Shape;375;p11"/>
          <p:cNvSpPr/>
          <p:nvPr/>
        </p:nvSpPr>
        <p:spPr>
          <a:xfrm>
            <a:off x="960120" y="2441448"/>
            <a:ext cx="4805172"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44A34"/>
              </a:buClr>
              <a:buSzPts val="1200"/>
              <a:buFont typeface="Courier New"/>
              <a:buNone/>
            </a:pPr>
            <a:r>
              <a:rPr b="1" lang="en-US" sz="1200">
                <a:solidFill>
                  <a:srgbClr val="A44A34"/>
                </a:solidFill>
                <a:latin typeface="Courier New"/>
                <a:ea typeface="Courier New"/>
                <a:cs typeface="Courier New"/>
                <a:sym typeface="Courier New"/>
              </a:rPr>
              <a:t>GAP-1 &amp; GAP-4 out</a:t>
            </a:r>
            <a:endParaRPr sz="1800">
              <a:solidFill>
                <a:schemeClr val="dk1"/>
              </a:solidFill>
              <a:latin typeface="Calibri"/>
              <a:ea typeface="Calibri"/>
              <a:cs typeface="Calibri"/>
              <a:sym typeface="Calibri"/>
            </a:endParaRPr>
          </a:p>
        </p:txBody>
      </p:sp>
      <p:sp>
        <p:nvSpPr>
          <p:cNvPr id="376" name="Google Shape;376;p11"/>
          <p:cNvSpPr/>
          <p:nvPr/>
        </p:nvSpPr>
        <p:spPr>
          <a:xfrm>
            <a:off x="6259068" y="1417320"/>
            <a:ext cx="5317236" cy="1371600"/>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7" name="Google Shape;377;p11"/>
          <p:cNvSpPr/>
          <p:nvPr/>
        </p:nvSpPr>
        <p:spPr>
          <a:xfrm>
            <a:off x="6515100" y="1655064"/>
            <a:ext cx="329184" cy="329184"/>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11"/>
          <p:cNvSpPr/>
          <p:nvPr/>
        </p:nvSpPr>
        <p:spPr>
          <a:xfrm>
            <a:off x="6515100" y="1655064"/>
            <a:ext cx="329184" cy="32918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Arial"/>
              <a:buNone/>
            </a:pPr>
            <a:r>
              <a:rPr b="1" lang="en-US" sz="1000">
                <a:solidFill>
                  <a:srgbClr val="FFFFFF"/>
                </a:solidFill>
                <a:latin typeface="Arial"/>
                <a:ea typeface="Arial"/>
                <a:cs typeface="Arial"/>
                <a:sym typeface="Arial"/>
              </a:rPr>
              <a:t>2</a:t>
            </a:r>
            <a:endParaRPr sz="1800">
              <a:solidFill>
                <a:schemeClr val="dk1"/>
              </a:solidFill>
              <a:latin typeface="Calibri"/>
              <a:ea typeface="Calibri"/>
              <a:cs typeface="Calibri"/>
              <a:sym typeface="Calibri"/>
            </a:endParaRPr>
          </a:p>
        </p:txBody>
      </p:sp>
      <p:sp>
        <p:nvSpPr>
          <p:cNvPr id="379" name="Google Shape;379;p11"/>
          <p:cNvSpPr/>
          <p:nvPr/>
        </p:nvSpPr>
        <p:spPr>
          <a:xfrm>
            <a:off x="6935724" y="1636776"/>
            <a:ext cx="4384548"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600"/>
              <a:buFont typeface="Arial"/>
              <a:buNone/>
            </a:pPr>
            <a:r>
              <a:rPr b="1" lang="en-US" sz="1600">
                <a:solidFill>
                  <a:srgbClr val="13234C"/>
                </a:solidFill>
                <a:latin typeface="Arial"/>
                <a:ea typeface="Arial"/>
                <a:cs typeface="Arial"/>
                <a:sym typeface="Arial"/>
              </a:rPr>
              <a:t>Mission compatibility</a:t>
            </a:r>
            <a:endParaRPr sz="1800">
              <a:solidFill>
                <a:schemeClr val="dk1"/>
              </a:solidFill>
              <a:latin typeface="Calibri"/>
              <a:ea typeface="Calibri"/>
              <a:cs typeface="Calibri"/>
              <a:sym typeface="Calibri"/>
            </a:endParaRPr>
          </a:p>
        </p:txBody>
      </p:sp>
      <p:sp>
        <p:nvSpPr>
          <p:cNvPr id="380" name="Google Shape;380;p11"/>
          <p:cNvSpPr/>
          <p:nvPr/>
        </p:nvSpPr>
        <p:spPr>
          <a:xfrm>
            <a:off x="6515100" y="2075688"/>
            <a:ext cx="4805172"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Can the orbiter already flying carry it, and does it add to the baseline rather than repeat it?</a:t>
            </a:r>
            <a:endParaRPr sz="1800">
              <a:solidFill>
                <a:schemeClr val="dk1"/>
              </a:solidFill>
              <a:latin typeface="Calibri"/>
              <a:ea typeface="Calibri"/>
              <a:cs typeface="Calibri"/>
              <a:sym typeface="Calibri"/>
            </a:endParaRPr>
          </a:p>
        </p:txBody>
      </p:sp>
      <p:sp>
        <p:nvSpPr>
          <p:cNvPr id="381" name="Google Shape;381;p11"/>
          <p:cNvSpPr/>
          <p:nvPr/>
        </p:nvSpPr>
        <p:spPr>
          <a:xfrm>
            <a:off x="6515100" y="2441448"/>
            <a:ext cx="4805172" cy="274320"/>
          </a:xfrm>
          <a:prstGeom prst="roundRect">
            <a:avLst>
              <a:gd fmla="val 16667" name="adj"/>
            </a:avLst>
          </a:prstGeom>
          <a:solidFill>
            <a:srgbClr val="FBECE8"/>
          </a:solidFill>
          <a:ln cap="flat" cmpd="sng" w="9525">
            <a:solidFill>
              <a:srgbClr val="FBECE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2" name="Google Shape;382;p11"/>
          <p:cNvSpPr/>
          <p:nvPr/>
        </p:nvSpPr>
        <p:spPr>
          <a:xfrm>
            <a:off x="6515100" y="2441448"/>
            <a:ext cx="4805172"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44A34"/>
              </a:buClr>
              <a:buSzPts val="1200"/>
              <a:buFont typeface="Courier New"/>
              <a:buNone/>
            </a:pPr>
            <a:r>
              <a:rPr b="1" lang="en-US" sz="1200">
                <a:solidFill>
                  <a:srgbClr val="A44A34"/>
                </a:solidFill>
                <a:latin typeface="Courier New"/>
                <a:ea typeface="Courier New"/>
                <a:cs typeface="Courier New"/>
                <a:sym typeface="Courier New"/>
              </a:rPr>
              <a:t>GAP-3 out</a:t>
            </a:r>
            <a:endParaRPr sz="1800">
              <a:solidFill>
                <a:schemeClr val="dk1"/>
              </a:solidFill>
              <a:latin typeface="Calibri"/>
              <a:ea typeface="Calibri"/>
              <a:cs typeface="Calibri"/>
              <a:sym typeface="Calibri"/>
            </a:endParaRPr>
          </a:p>
        </p:txBody>
      </p:sp>
      <p:sp>
        <p:nvSpPr>
          <p:cNvPr id="383" name="Google Shape;383;p11"/>
          <p:cNvSpPr/>
          <p:nvPr/>
        </p:nvSpPr>
        <p:spPr>
          <a:xfrm>
            <a:off x="722376" y="2999232"/>
            <a:ext cx="2569464" cy="223113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11"/>
          <p:cNvSpPr/>
          <p:nvPr/>
        </p:nvSpPr>
        <p:spPr>
          <a:xfrm>
            <a:off x="960120" y="3127248"/>
            <a:ext cx="209397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1200"/>
              <a:buFont typeface="Courier New"/>
              <a:buNone/>
            </a:pPr>
            <a:r>
              <a:rPr b="1" lang="en-US" sz="1200">
                <a:solidFill>
                  <a:srgbClr val="79839A"/>
                </a:solidFill>
                <a:latin typeface="Courier New"/>
                <a:ea typeface="Courier New"/>
                <a:cs typeface="Courier New"/>
                <a:sym typeface="Courier New"/>
              </a:rPr>
              <a:t>GAP-1</a:t>
            </a:r>
            <a:endParaRPr sz="1800">
              <a:solidFill>
                <a:schemeClr val="dk1"/>
              </a:solidFill>
              <a:latin typeface="Calibri"/>
              <a:ea typeface="Calibri"/>
              <a:cs typeface="Calibri"/>
              <a:sym typeface="Calibri"/>
            </a:endParaRPr>
          </a:p>
        </p:txBody>
      </p:sp>
      <p:sp>
        <p:nvSpPr>
          <p:cNvPr id="385" name="Google Shape;385;p11"/>
          <p:cNvSpPr/>
          <p:nvPr/>
        </p:nvSpPr>
        <p:spPr>
          <a:xfrm>
            <a:off x="960120" y="3364992"/>
            <a:ext cx="2093976" cy="493776"/>
          </a:xfrm>
          <a:prstGeom prst="rect">
            <a:avLst/>
          </a:prstGeom>
          <a:noFill/>
          <a:ln>
            <a:noFill/>
          </a:ln>
        </p:spPr>
        <p:txBody>
          <a:bodyPr anchorCtr="0" anchor="ctr" bIns="0" lIns="0" spcFirstLastPara="1" rIns="0" wrap="square" tIns="0">
            <a:noAutofit/>
          </a:bodyPr>
          <a:lstStyle/>
          <a:p>
            <a:pPr indent="0" lvl="0" marL="0" marR="0" rtl="0" algn="l">
              <a:lnSpc>
                <a:spcPct val="98000"/>
              </a:lnSpc>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Hydration state</a:t>
            </a:r>
            <a:endParaRPr sz="1800">
              <a:solidFill>
                <a:schemeClr val="dk1"/>
              </a:solidFill>
              <a:latin typeface="Calibri"/>
              <a:ea typeface="Calibri"/>
              <a:cs typeface="Calibri"/>
              <a:sym typeface="Calibri"/>
            </a:endParaRPr>
          </a:p>
        </p:txBody>
      </p:sp>
      <p:sp>
        <p:nvSpPr>
          <p:cNvPr id="386" name="Google Shape;386;p11"/>
          <p:cNvSpPr/>
          <p:nvPr/>
        </p:nvSpPr>
        <p:spPr>
          <a:xfrm>
            <a:off x="960120" y="3913632"/>
            <a:ext cx="2093976" cy="237744"/>
          </a:xfrm>
          <a:prstGeom prst="roundRect">
            <a:avLst>
              <a:gd fmla="val 16667" name="adj"/>
            </a:avLst>
          </a:prstGeom>
          <a:solidFill>
            <a:srgbClr val="FBECE8"/>
          </a:solidFill>
          <a:ln cap="flat" cmpd="sng" w="9525">
            <a:solidFill>
              <a:srgbClr val="FBECE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1"/>
          <p:cNvSpPr/>
          <p:nvPr/>
        </p:nvSpPr>
        <p:spPr>
          <a:xfrm>
            <a:off x="960120" y="3913632"/>
            <a:ext cx="209397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44A34"/>
              </a:buClr>
              <a:buSzPts val="800"/>
              <a:buFont typeface="Courier New"/>
              <a:buNone/>
            </a:pPr>
            <a:r>
              <a:rPr b="1" lang="en-US" sz="800">
                <a:solidFill>
                  <a:srgbClr val="A44A34"/>
                </a:solidFill>
                <a:latin typeface="Courier New"/>
                <a:ea typeface="Courier New"/>
                <a:cs typeface="Courier New"/>
                <a:sym typeface="Courier New"/>
              </a:rPr>
              <a:t>OUT · SCIENTIFIC VALUE</a:t>
            </a:r>
            <a:endParaRPr sz="1800">
              <a:solidFill>
                <a:schemeClr val="dk1"/>
              </a:solidFill>
              <a:latin typeface="Calibri"/>
              <a:ea typeface="Calibri"/>
              <a:cs typeface="Calibri"/>
              <a:sym typeface="Calibri"/>
            </a:endParaRPr>
          </a:p>
        </p:txBody>
      </p:sp>
      <p:sp>
        <p:nvSpPr>
          <p:cNvPr id="388" name="Google Shape;388;p11"/>
          <p:cNvSpPr/>
          <p:nvPr/>
        </p:nvSpPr>
        <p:spPr>
          <a:xfrm>
            <a:off x="960120" y="4242816"/>
            <a:ext cx="2093976" cy="9144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Apophis is an LL analogue, and LL chondrites are dry. The likely result is an upper limit, which confirms the taxonomy instead of testing it.</a:t>
            </a:r>
            <a:endParaRPr sz="1800">
              <a:solidFill>
                <a:schemeClr val="dk1"/>
              </a:solidFill>
              <a:latin typeface="Calibri"/>
              <a:ea typeface="Calibri"/>
              <a:cs typeface="Calibri"/>
              <a:sym typeface="Calibri"/>
            </a:endParaRPr>
          </a:p>
        </p:txBody>
      </p:sp>
      <p:sp>
        <p:nvSpPr>
          <p:cNvPr id="389" name="Google Shape;389;p11"/>
          <p:cNvSpPr/>
          <p:nvPr/>
        </p:nvSpPr>
        <p:spPr>
          <a:xfrm>
            <a:off x="3529584" y="2999232"/>
            <a:ext cx="2569464" cy="2231136"/>
          </a:xfrm>
          <a:prstGeom prst="roundRect">
            <a:avLst>
              <a:gd fmla="val 4455" name="adj"/>
            </a:avLst>
          </a:prstGeom>
          <a:solidFill>
            <a:srgbClr val="FFFFFF"/>
          </a:solidFill>
          <a:ln cap="flat" cmpd="sng" w="25400">
            <a:solidFill>
              <a:srgbClr val="2E9E6B"/>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1"/>
          <p:cNvSpPr/>
          <p:nvPr/>
        </p:nvSpPr>
        <p:spPr>
          <a:xfrm>
            <a:off x="3767328" y="3127248"/>
            <a:ext cx="209397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1200"/>
              <a:buFont typeface="Courier New"/>
              <a:buNone/>
            </a:pPr>
            <a:r>
              <a:rPr b="1" lang="en-US" sz="1200">
                <a:solidFill>
                  <a:srgbClr val="79839A"/>
                </a:solidFill>
                <a:latin typeface="Courier New"/>
                <a:ea typeface="Courier New"/>
                <a:cs typeface="Courier New"/>
                <a:sym typeface="Courier New"/>
              </a:rPr>
              <a:t>GAP-2</a:t>
            </a:r>
            <a:endParaRPr sz="1800">
              <a:solidFill>
                <a:schemeClr val="dk1"/>
              </a:solidFill>
              <a:latin typeface="Calibri"/>
              <a:ea typeface="Calibri"/>
              <a:cs typeface="Calibri"/>
              <a:sym typeface="Calibri"/>
            </a:endParaRPr>
          </a:p>
        </p:txBody>
      </p:sp>
      <p:sp>
        <p:nvSpPr>
          <p:cNvPr id="391" name="Google Shape;391;p11"/>
          <p:cNvSpPr/>
          <p:nvPr/>
        </p:nvSpPr>
        <p:spPr>
          <a:xfrm>
            <a:off x="3767328" y="3364992"/>
            <a:ext cx="2093976" cy="493776"/>
          </a:xfrm>
          <a:prstGeom prst="rect">
            <a:avLst/>
          </a:prstGeom>
          <a:noFill/>
          <a:ln>
            <a:noFill/>
          </a:ln>
        </p:spPr>
        <p:txBody>
          <a:bodyPr anchorCtr="0" anchor="ctr" bIns="0" lIns="0" spcFirstLastPara="1" rIns="0" wrap="square" tIns="0">
            <a:noAutofit/>
          </a:bodyPr>
          <a:lstStyle/>
          <a:p>
            <a:pPr indent="0" lvl="0" marL="0" marR="0" rtl="0" algn="l">
              <a:lnSpc>
                <a:spcPct val="98000"/>
              </a:lnSpc>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Weathering-corrected composition</a:t>
            </a:r>
            <a:endParaRPr sz="1800">
              <a:solidFill>
                <a:schemeClr val="dk1"/>
              </a:solidFill>
              <a:latin typeface="Calibri"/>
              <a:ea typeface="Calibri"/>
              <a:cs typeface="Calibri"/>
              <a:sym typeface="Calibri"/>
            </a:endParaRPr>
          </a:p>
        </p:txBody>
      </p:sp>
      <p:sp>
        <p:nvSpPr>
          <p:cNvPr id="392" name="Google Shape;392;p11"/>
          <p:cNvSpPr/>
          <p:nvPr/>
        </p:nvSpPr>
        <p:spPr>
          <a:xfrm>
            <a:off x="3767328" y="3913632"/>
            <a:ext cx="2093976" cy="237744"/>
          </a:xfrm>
          <a:prstGeom prst="roundRect">
            <a:avLst>
              <a:gd fmla="val 16667" name="adj"/>
            </a:avLst>
          </a:prstGeom>
          <a:solidFill>
            <a:srgbClr val="EAF6EF"/>
          </a:solidFill>
          <a:ln cap="flat" cmpd="sng" w="9525">
            <a:solidFill>
              <a:srgbClr val="EAF6E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3" name="Google Shape;393;p11"/>
          <p:cNvSpPr/>
          <p:nvPr/>
        </p:nvSpPr>
        <p:spPr>
          <a:xfrm>
            <a:off x="3767328" y="3913632"/>
            <a:ext cx="209397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F6B4A"/>
              </a:buClr>
              <a:buSzPts val="800"/>
              <a:buFont typeface="Courier New"/>
              <a:buNone/>
            </a:pPr>
            <a:r>
              <a:rPr b="1" lang="en-US" sz="800">
                <a:solidFill>
                  <a:srgbClr val="1F6B4A"/>
                </a:solidFill>
                <a:latin typeface="Courier New"/>
                <a:ea typeface="Courier New"/>
                <a:cs typeface="Courier New"/>
                <a:sym typeface="Courier New"/>
              </a:rPr>
              <a:t>CARRIED FORWARD</a:t>
            </a:r>
            <a:endParaRPr sz="1800">
              <a:solidFill>
                <a:schemeClr val="dk1"/>
              </a:solidFill>
              <a:latin typeface="Calibri"/>
              <a:ea typeface="Calibri"/>
              <a:cs typeface="Calibri"/>
              <a:sym typeface="Calibri"/>
            </a:endParaRPr>
          </a:p>
        </p:txBody>
      </p:sp>
      <p:sp>
        <p:nvSpPr>
          <p:cNvPr id="394" name="Google Shape;394;p11"/>
          <p:cNvSpPr/>
          <p:nvPr/>
        </p:nvSpPr>
        <p:spPr>
          <a:xfrm>
            <a:off x="3767328" y="4242816"/>
            <a:ext cx="2093976" cy="9144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Nothing on board supplies an unweathered reference, the answer is not set by taxonomy, and the 2029 encounter may reset the maturity clock.</a:t>
            </a:r>
            <a:endParaRPr sz="1800">
              <a:solidFill>
                <a:schemeClr val="dk1"/>
              </a:solidFill>
              <a:latin typeface="Calibri"/>
              <a:ea typeface="Calibri"/>
              <a:cs typeface="Calibri"/>
              <a:sym typeface="Calibri"/>
            </a:endParaRPr>
          </a:p>
        </p:txBody>
      </p:sp>
      <p:sp>
        <p:nvSpPr>
          <p:cNvPr id="395" name="Google Shape;395;p11"/>
          <p:cNvSpPr/>
          <p:nvPr/>
        </p:nvSpPr>
        <p:spPr>
          <a:xfrm>
            <a:off x="6263640" y="2999232"/>
            <a:ext cx="2569464" cy="223113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6" name="Google Shape;396;p11"/>
          <p:cNvSpPr/>
          <p:nvPr/>
        </p:nvSpPr>
        <p:spPr>
          <a:xfrm>
            <a:off x="6501384" y="3127248"/>
            <a:ext cx="209397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1200"/>
              <a:buFont typeface="Courier New"/>
              <a:buNone/>
            </a:pPr>
            <a:r>
              <a:rPr b="1" lang="en-US" sz="1200">
                <a:solidFill>
                  <a:srgbClr val="79839A"/>
                </a:solidFill>
                <a:latin typeface="Courier New"/>
                <a:ea typeface="Courier New"/>
                <a:cs typeface="Courier New"/>
                <a:sym typeface="Courier New"/>
              </a:rPr>
              <a:t>GAP-3</a:t>
            </a:r>
            <a:endParaRPr sz="1800">
              <a:solidFill>
                <a:schemeClr val="dk1"/>
              </a:solidFill>
              <a:latin typeface="Calibri"/>
              <a:ea typeface="Calibri"/>
              <a:cs typeface="Calibri"/>
              <a:sym typeface="Calibri"/>
            </a:endParaRPr>
          </a:p>
        </p:txBody>
      </p:sp>
      <p:sp>
        <p:nvSpPr>
          <p:cNvPr id="397" name="Google Shape;397;p11"/>
          <p:cNvSpPr/>
          <p:nvPr/>
        </p:nvSpPr>
        <p:spPr>
          <a:xfrm>
            <a:off x="6501384" y="3364992"/>
            <a:ext cx="2093976" cy="493776"/>
          </a:xfrm>
          <a:prstGeom prst="rect">
            <a:avLst/>
          </a:prstGeom>
          <a:noFill/>
          <a:ln>
            <a:noFill/>
          </a:ln>
        </p:spPr>
        <p:txBody>
          <a:bodyPr anchorCtr="0" anchor="ctr" bIns="0" lIns="0" spcFirstLastPara="1" rIns="0" wrap="square" tIns="0">
            <a:noAutofit/>
          </a:bodyPr>
          <a:lstStyle/>
          <a:p>
            <a:pPr indent="0" lvl="0" marL="0" marR="0" rtl="0" algn="l">
              <a:lnSpc>
                <a:spcPct val="98000"/>
              </a:lnSpc>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Regolith grain-size distribution</a:t>
            </a:r>
            <a:endParaRPr sz="1800">
              <a:solidFill>
                <a:schemeClr val="dk1"/>
              </a:solidFill>
              <a:latin typeface="Calibri"/>
              <a:ea typeface="Calibri"/>
              <a:cs typeface="Calibri"/>
              <a:sym typeface="Calibri"/>
            </a:endParaRPr>
          </a:p>
        </p:txBody>
      </p:sp>
      <p:sp>
        <p:nvSpPr>
          <p:cNvPr id="398" name="Google Shape;398;p11"/>
          <p:cNvSpPr/>
          <p:nvPr/>
        </p:nvSpPr>
        <p:spPr>
          <a:xfrm>
            <a:off x="6501384" y="3913632"/>
            <a:ext cx="2093976" cy="237744"/>
          </a:xfrm>
          <a:prstGeom prst="roundRect">
            <a:avLst>
              <a:gd fmla="val 16667" name="adj"/>
            </a:avLst>
          </a:prstGeom>
          <a:solidFill>
            <a:srgbClr val="FBECE8"/>
          </a:solidFill>
          <a:ln cap="flat" cmpd="sng" w="9525">
            <a:solidFill>
              <a:srgbClr val="FBECE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9" name="Google Shape;399;p11"/>
          <p:cNvSpPr/>
          <p:nvPr/>
        </p:nvSpPr>
        <p:spPr>
          <a:xfrm>
            <a:off x="6501384" y="3913632"/>
            <a:ext cx="209397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44A34"/>
              </a:buClr>
              <a:buSzPts val="800"/>
              <a:buFont typeface="Courier New"/>
              <a:buNone/>
            </a:pPr>
            <a:r>
              <a:rPr b="1" lang="en-US" sz="800">
                <a:solidFill>
                  <a:srgbClr val="A44A34"/>
                </a:solidFill>
                <a:latin typeface="Courier New"/>
                <a:ea typeface="Courier New"/>
                <a:cs typeface="Courier New"/>
                <a:sym typeface="Courier New"/>
              </a:rPr>
              <a:t>OUT · MISSION COMPATIBILITY</a:t>
            </a:r>
            <a:endParaRPr sz="1800">
              <a:solidFill>
                <a:schemeClr val="dk1"/>
              </a:solidFill>
              <a:latin typeface="Calibri"/>
              <a:ea typeface="Calibri"/>
              <a:cs typeface="Calibri"/>
              <a:sym typeface="Calibri"/>
            </a:endParaRPr>
          </a:p>
        </p:txBody>
      </p:sp>
      <p:sp>
        <p:nvSpPr>
          <p:cNvPr id="400" name="Google Shape;400;p11"/>
          <p:cNvSpPr/>
          <p:nvPr/>
        </p:nvSpPr>
        <p:spPr>
          <a:xfrm>
            <a:off x="6501384" y="4242816"/>
            <a:ext cx="2093976" cy="9144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TIRI already maps grain size through thermal inertia. Measuring the distribution itself needs surface contact, which an orbiter payload cannot give.</a:t>
            </a:r>
            <a:endParaRPr sz="1800">
              <a:solidFill>
                <a:schemeClr val="dk1"/>
              </a:solidFill>
              <a:latin typeface="Calibri"/>
              <a:ea typeface="Calibri"/>
              <a:cs typeface="Calibri"/>
              <a:sym typeface="Calibri"/>
            </a:endParaRPr>
          </a:p>
        </p:txBody>
      </p:sp>
      <p:sp>
        <p:nvSpPr>
          <p:cNvPr id="401" name="Google Shape;401;p11"/>
          <p:cNvSpPr/>
          <p:nvPr/>
        </p:nvSpPr>
        <p:spPr>
          <a:xfrm>
            <a:off x="9025128" y="2999232"/>
            <a:ext cx="2569464" cy="2231136"/>
          </a:xfrm>
          <a:prstGeom prst="roundRect">
            <a:avLst>
              <a:gd fmla="val 4455"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2" name="Google Shape;402;p11"/>
          <p:cNvSpPr/>
          <p:nvPr/>
        </p:nvSpPr>
        <p:spPr>
          <a:xfrm>
            <a:off x="9262872" y="3127248"/>
            <a:ext cx="2093976" cy="2011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1200"/>
              <a:buFont typeface="Courier New"/>
              <a:buNone/>
            </a:pPr>
            <a:r>
              <a:rPr b="1" lang="en-US" sz="1200">
                <a:solidFill>
                  <a:srgbClr val="79839A"/>
                </a:solidFill>
                <a:latin typeface="Courier New"/>
                <a:ea typeface="Courier New"/>
                <a:cs typeface="Courier New"/>
                <a:sym typeface="Courier New"/>
              </a:rPr>
              <a:t>GAP-4</a:t>
            </a:r>
            <a:endParaRPr sz="1800">
              <a:solidFill>
                <a:schemeClr val="dk1"/>
              </a:solidFill>
              <a:latin typeface="Calibri"/>
              <a:ea typeface="Calibri"/>
              <a:cs typeface="Calibri"/>
              <a:sym typeface="Calibri"/>
            </a:endParaRPr>
          </a:p>
        </p:txBody>
      </p:sp>
      <p:sp>
        <p:nvSpPr>
          <p:cNvPr id="403" name="Google Shape;403;p11"/>
          <p:cNvSpPr/>
          <p:nvPr/>
        </p:nvSpPr>
        <p:spPr>
          <a:xfrm>
            <a:off x="9262872" y="3364992"/>
            <a:ext cx="2093976" cy="493776"/>
          </a:xfrm>
          <a:prstGeom prst="rect">
            <a:avLst/>
          </a:prstGeom>
          <a:noFill/>
          <a:ln>
            <a:noFill/>
          </a:ln>
        </p:spPr>
        <p:txBody>
          <a:bodyPr anchorCtr="0" anchor="ctr" bIns="0" lIns="0" spcFirstLastPara="1" rIns="0" wrap="square" tIns="0">
            <a:noAutofit/>
          </a:bodyPr>
          <a:lstStyle/>
          <a:p>
            <a:pPr indent="0" lvl="0" marL="0" marR="0" rtl="0" algn="l">
              <a:lnSpc>
                <a:spcPct val="98000"/>
              </a:lnSpc>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Free Fe–Ni metallic phase fraction</a:t>
            </a:r>
            <a:endParaRPr sz="1800">
              <a:solidFill>
                <a:schemeClr val="dk1"/>
              </a:solidFill>
              <a:latin typeface="Calibri"/>
              <a:ea typeface="Calibri"/>
              <a:cs typeface="Calibri"/>
              <a:sym typeface="Calibri"/>
            </a:endParaRPr>
          </a:p>
        </p:txBody>
      </p:sp>
      <p:sp>
        <p:nvSpPr>
          <p:cNvPr id="404" name="Google Shape;404;p11"/>
          <p:cNvSpPr/>
          <p:nvPr/>
        </p:nvSpPr>
        <p:spPr>
          <a:xfrm>
            <a:off x="9262872" y="3913632"/>
            <a:ext cx="2093976" cy="237744"/>
          </a:xfrm>
          <a:prstGeom prst="roundRect">
            <a:avLst>
              <a:gd fmla="val 16667" name="adj"/>
            </a:avLst>
          </a:prstGeom>
          <a:solidFill>
            <a:srgbClr val="FBECE8"/>
          </a:solidFill>
          <a:ln cap="flat" cmpd="sng" w="9525">
            <a:solidFill>
              <a:srgbClr val="FBECE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5" name="Google Shape;405;p11"/>
          <p:cNvSpPr/>
          <p:nvPr/>
        </p:nvSpPr>
        <p:spPr>
          <a:xfrm>
            <a:off x="9262872" y="3913632"/>
            <a:ext cx="209397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44A34"/>
              </a:buClr>
              <a:buSzPts val="800"/>
              <a:buFont typeface="Courier New"/>
              <a:buNone/>
            </a:pPr>
            <a:r>
              <a:rPr b="1" lang="en-US" sz="800">
                <a:solidFill>
                  <a:srgbClr val="A44A34"/>
                </a:solidFill>
                <a:latin typeface="Courier New"/>
                <a:ea typeface="Courier New"/>
                <a:cs typeface="Courier New"/>
                <a:sym typeface="Courier New"/>
              </a:rPr>
              <a:t>OUT · SCIENTIFIC VALUE</a:t>
            </a:r>
            <a:endParaRPr sz="1800">
              <a:solidFill>
                <a:schemeClr val="dk1"/>
              </a:solidFill>
              <a:latin typeface="Calibri"/>
              <a:ea typeface="Calibri"/>
              <a:cs typeface="Calibri"/>
              <a:sym typeface="Calibri"/>
            </a:endParaRPr>
          </a:p>
        </p:txBody>
      </p:sp>
      <p:sp>
        <p:nvSpPr>
          <p:cNvPr id="406" name="Google Shape;406;p11"/>
          <p:cNvSpPr/>
          <p:nvPr/>
        </p:nvSpPr>
        <p:spPr>
          <a:xfrm>
            <a:off x="9262872" y="4242816"/>
            <a:ext cx="2093976" cy="914400"/>
          </a:xfrm>
          <a:prstGeom prst="rect">
            <a:avLst/>
          </a:prstGeom>
          <a:noFill/>
          <a:ln>
            <a:noFill/>
          </a:ln>
        </p:spPr>
        <p:txBody>
          <a:bodyPr anchorCtr="0" anchor="t" bIns="0" lIns="0" spcFirstLastPara="1" rIns="0" wrap="square" tIns="0">
            <a:noAutofit/>
          </a:bodyPr>
          <a:lstStyle/>
          <a:p>
            <a:pPr indent="0" lvl="0" marL="0" marR="0" rtl="0" algn="l">
              <a:lnSpc>
                <a:spcPct val="106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LL is the lowest-metal ordinary chondrite class, so the answer is largely set in advance. The quantity is static too: any body, any year would serve.</a:t>
            </a:r>
            <a:endParaRPr sz="1800">
              <a:solidFill>
                <a:schemeClr val="dk1"/>
              </a:solidFill>
              <a:latin typeface="Calibri"/>
              <a:ea typeface="Calibri"/>
              <a:cs typeface="Calibri"/>
              <a:sym typeface="Calibri"/>
            </a:endParaRPr>
          </a:p>
        </p:txBody>
      </p:sp>
      <p:sp>
        <p:nvSpPr>
          <p:cNvPr id="407" name="Google Shape;407;p11"/>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b="1" lang="en-US" sz="800">
                <a:solidFill>
                  <a:srgbClr val="13234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408" name="Google Shape;408;p11"/>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Priority Selection</a:t>
            </a:r>
            <a:endParaRPr sz="3000">
              <a:solidFill>
                <a:schemeClr val="dk1"/>
              </a:solidFill>
              <a:latin typeface="Calibri"/>
              <a:ea typeface="Calibri"/>
              <a:cs typeface="Calibri"/>
              <a:sym typeface="Calibri"/>
            </a:endParaRPr>
          </a:p>
        </p:txBody>
      </p:sp>
      <p:sp>
        <p:nvSpPr>
          <p:cNvPr id="409" name="Google Shape;409;p11"/>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Two criteria, applied in order. A gap must clear both to be carried forward.</a:t>
            </a:r>
            <a:endParaRPr sz="1400">
              <a:solidFill>
                <a:schemeClr val="dk1"/>
              </a:solidFill>
              <a:latin typeface="Arial"/>
              <a:ea typeface="Arial"/>
              <a:cs typeface="Arial"/>
              <a:sym typeface="Arial"/>
            </a:endParaRPr>
          </a:p>
        </p:txBody>
      </p:sp>
      <p:sp>
        <p:nvSpPr>
          <p:cNvPr id="410" name="Google Shape;410;p11"/>
          <p:cNvSpPr/>
          <p:nvPr/>
        </p:nvSpPr>
        <p:spPr>
          <a:xfrm>
            <a:off x="658368" y="5340096"/>
            <a:ext cx="10874959" cy="768096"/>
          </a:xfrm>
          <a:prstGeom prst="roundRect">
            <a:avLst>
              <a:gd fmla="val 8182" name="adj"/>
            </a:avLst>
          </a:prstGeom>
          <a:solidFill>
            <a:srgbClr val="0E1A3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1" name="Google Shape;411;p11"/>
          <p:cNvSpPr/>
          <p:nvPr/>
        </p:nvSpPr>
        <p:spPr>
          <a:xfrm>
            <a:off x="1078992" y="5406783"/>
            <a:ext cx="29260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1000"/>
              <a:buFont typeface="Courier New"/>
              <a:buNone/>
            </a:pPr>
            <a:r>
              <a:rPr b="1" lang="en-US" sz="1000">
                <a:solidFill>
                  <a:srgbClr val="E8A33D"/>
                </a:solidFill>
                <a:latin typeface="Courier New"/>
                <a:ea typeface="Courier New"/>
                <a:cs typeface="Courier New"/>
                <a:sym typeface="Courier New"/>
              </a:rPr>
              <a:t>ONE PRIORITY</a:t>
            </a:r>
            <a:endParaRPr sz="1000">
              <a:solidFill>
                <a:schemeClr val="dk1"/>
              </a:solidFill>
              <a:latin typeface="Courier New"/>
              <a:ea typeface="Courier New"/>
              <a:cs typeface="Courier New"/>
              <a:sym typeface="Courier New"/>
            </a:endParaRPr>
          </a:p>
        </p:txBody>
      </p:sp>
      <p:sp>
        <p:nvSpPr>
          <p:cNvPr id="412" name="Google Shape;412;p11"/>
          <p:cNvSpPr/>
          <p:nvPr/>
        </p:nvSpPr>
        <p:spPr>
          <a:xfrm>
            <a:off x="1078992" y="5660136"/>
            <a:ext cx="67665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100"/>
              <a:buFont typeface="Arial"/>
              <a:buNone/>
            </a:pPr>
            <a:r>
              <a:rPr b="1" lang="en-US" sz="2100">
                <a:solidFill>
                  <a:srgbClr val="FFFFFF"/>
                </a:solidFill>
                <a:latin typeface="Arial"/>
                <a:ea typeface="Arial"/>
                <a:cs typeface="Arial"/>
                <a:sym typeface="Arial"/>
              </a:rPr>
              <a:t>Weathering-corrected composition</a:t>
            </a:r>
            <a:endParaRPr sz="2100">
              <a:solidFill>
                <a:schemeClr val="dk1"/>
              </a:solidFill>
              <a:latin typeface="Calibri"/>
              <a:ea typeface="Calibri"/>
              <a:cs typeface="Calibri"/>
              <a:sym typeface="Calibri"/>
            </a:endParaRPr>
          </a:p>
        </p:txBody>
      </p:sp>
      <p:sp>
        <p:nvSpPr>
          <p:cNvPr id="413" name="Google Shape;413;p11"/>
          <p:cNvSpPr/>
          <p:nvPr/>
        </p:nvSpPr>
        <p:spPr>
          <a:xfrm>
            <a:off x="7863840" y="5340096"/>
            <a:ext cx="3200400" cy="548640"/>
          </a:xfrm>
          <a:prstGeom prst="rect">
            <a:avLst/>
          </a:prstGeom>
          <a:noFill/>
          <a:ln>
            <a:noFill/>
          </a:ln>
        </p:spPr>
        <p:txBody>
          <a:bodyPr anchorCtr="0" anchor="ctr" bIns="0" lIns="0" spcFirstLastPara="1" rIns="0" wrap="square" tIns="0">
            <a:noAutofit/>
          </a:bodyPr>
          <a:lstStyle/>
          <a:p>
            <a:pPr indent="0" lvl="0" marL="0" marR="0" rtl="0" algn="r">
              <a:lnSpc>
                <a:spcPct val="116000"/>
              </a:lnSpc>
              <a:spcBef>
                <a:spcPts val="0"/>
              </a:spcBef>
              <a:spcAft>
                <a:spcPts val="0"/>
              </a:spcAft>
              <a:buClr>
                <a:srgbClr val="8FA0C0"/>
              </a:buClr>
              <a:buSzPts val="1000"/>
              <a:buFont typeface="Arial"/>
              <a:buNone/>
            </a:pPr>
            <a:r>
              <a:rPr lang="en-US" sz="1000">
                <a:solidFill>
                  <a:srgbClr val="8FA0C0"/>
                </a:solidFill>
                <a:latin typeface="Arial"/>
                <a:ea typeface="Arial"/>
                <a:cs typeface="Arial"/>
                <a:sym typeface="Arial"/>
              </a:rPr>
              <a:t>The only gap left standing</a:t>
            </a:r>
            <a:endParaRPr sz="1000">
              <a:solidFill>
                <a:schemeClr val="dk1"/>
              </a:solidFill>
              <a:latin typeface="Calibri"/>
              <a:ea typeface="Calibri"/>
              <a:cs typeface="Calibri"/>
              <a:sym typeface="Calibri"/>
            </a:endParaRPr>
          </a:p>
          <a:p>
            <a:pPr indent="0" lvl="0" marL="0" marR="0" rtl="0" algn="r">
              <a:lnSpc>
                <a:spcPct val="116000"/>
              </a:lnSpc>
              <a:spcBef>
                <a:spcPts val="0"/>
              </a:spcBef>
              <a:spcAft>
                <a:spcPts val="0"/>
              </a:spcAft>
              <a:buClr>
                <a:srgbClr val="8FA0C0"/>
              </a:buClr>
              <a:buSzPts val="1000"/>
              <a:buFont typeface="Arial"/>
              <a:buNone/>
            </a:pPr>
            <a:r>
              <a:rPr lang="en-US" sz="1000">
                <a:solidFill>
                  <a:srgbClr val="8FA0C0"/>
                </a:solidFill>
                <a:latin typeface="Arial"/>
                <a:ea typeface="Arial"/>
                <a:cs typeface="Arial"/>
                <a:sym typeface="Arial"/>
              </a:rPr>
              <a:t>after both criteria.</a:t>
            </a:r>
            <a:endParaRPr sz="1000">
              <a:solidFill>
                <a:schemeClr val="dk1"/>
              </a:solidFill>
              <a:latin typeface="Calibri"/>
              <a:ea typeface="Calibri"/>
              <a:cs typeface="Calibri"/>
              <a:sym typeface="Calibri"/>
            </a:endParaRPr>
          </a:p>
        </p:txBody>
      </p:sp>
      <p:sp>
        <p:nvSpPr>
          <p:cNvPr id="414" name="Google Shape;414;p11"/>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8</a:t>
            </a:r>
            <a:endParaRPr sz="1000">
              <a:solidFill>
                <a:schemeClr val="dk1"/>
              </a:solidFill>
              <a:latin typeface="Calibri"/>
              <a:ea typeface="Calibri"/>
              <a:cs typeface="Calibri"/>
              <a:sym typeface="Calibri"/>
            </a:endParaRPr>
          </a:p>
        </p:txBody>
      </p:sp>
      <p:sp>
        <p:nvSpPr>
          <p:cNvPr id="415" name="Google Shape;415;p11"/>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pic>
        <p:nvPicPr>
          <p:cNvPr descr="/home/claude/work/a2/logo_dark.png" id="416" name="Google Shape;416;p11"/>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421" name="Shape 421"/>
        <p:cNvGrpSpPr/>
        <p:nvPr/>
      </p:nvGrpSpPr>
      <p:grpSpPr>
        <a:xfrm>
          <a:off x="0" y="0"/>
          <a:ext cx="0" cy="0"/>
          <a:chOff x="0" y="0"/>
          <a:chExt cx="0" cy="0"/>
        </a:xfrm>
      </p:grpSpPr>
      <p:pic>
        <p:nvPicPr>
          <p:cNvPr descr="/home/claude/work/a2/glow_amber.jpg" id="422" name="Google Shape;422;p12"/>
          <p:cNvPicPr preferRelativeResize="0"/>
          <p:nvPr/>
        </p:nvPicPr>
        <p:blipFill rotWithShape="1">
          <a:blip r:embed="rId3">
            <a:alphaModFix/>
          </a:blip>
          <a:srcRect b="0" l="0" r="0" t="0"/>
          <a:stretch/>
        </p:blipFill>
        <p:spPr>
          <a:xfrm>
            <a:off x="-1" y="0"/>
            <a:ext cx="12191695" cy="6858000"/>
          </a:xfrm>
          <a:prstGeom prst="rect">
            <a:avLst/>
          </a:prstGeom>
          <a:noFill/>
          <a:ln>
            <a:noFill/>
          </a:ln>
        </p:spPr>
      </p:pic>
      <p:pic>
        <p:nvPicPr>
          <p:cNvPr descr="/home/claude/work/a2/logo_white.png" id="423" name="Google Shape;423;p12"/>
          <p:cNvPicPr preferRelativeResize="0"/>
          <p:nvPr/>
        </p:nvPicPr>
        <p:blipFill rotWithShape="1">
          <a:blip r:embed="rId4">
            <a:alphaModFix/>
          </a:blip>
          <a:srcRect b="0" l="0" r="0" t="0"/>
          <a:stretch/>
        </p:blipFill>
        <p:spPr>
          <a:xfrm>
            <a:off x="10801600" y="329184"/>
            <a:ext cx="1133856" cy="478231"/>
          </a:xfrm>
          <a:prstGeom prst="rect">
            <a:avLst/>
          </a:prstGeom>
          <a:noFill/>
          <a:ln>
            <a:noFill/>
          </a:ln>
        </p:spPr>
      </p:pic>
      <p:sp>
        <p:nvSpPr>
          <p:cNvPr id="424" name="Google Shape;424;p12"/>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07C"/>
              </a:buClr>
              <a:buSzPts val="800"/>
              <a:buFont typeface="Courier New"/>
              <a:buNone/>
            </a:pPr>
            <a:r>
              <a:rPr lang="en-US" sz="800">
                <a:solidFill>
                  <a:srgbClr val="54607C"/>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b="1" lang="en-US" sz="800">
                <a:solidFill>
                  <a:srgbClr val="E8A33D"/>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425" name="Google Shape;425;p12"/>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FFFFFF"/>
              </a:buClr>
              <a:buSzPts val="3000"/>
              <a:buFont typeface="Arial"/>
              <a:buNone/>
            </a:pPr>
            <a:r>
              <a:rPr b="1" lang="en-US" sz="3000">
                <a:solidFill>
                  <a:srgbClr val="FFFFFF"/>
                </a:solidFill>
                <a:latin typeface="Arial"/>
                <a:ea typeface="Arial"/>
                <a:cs typeface="Arial"/>
                <a:sym typeface="Arial"/>
              </a:rPr>
              <a:t>The Scientific Problem</a:t>
            </a:r>
            <a:endParaRPr sz="3000">
              <a:solidFill>
                <a:schemeClr val="dk1"/>
              </a:solidFill>
              <a:latin typeface="Calibri"/>
              <a:ea typeface="Calibri"/>
              <a:cs typeface="Calibri"/>
              <a:sym typeface="Calibri"/>
            </a:endParaRPr>
          </a:p>
        </p:txBody>
      </p:sp>
      <p:sp>
        <p:nvSpPr>
          <p:cNvPr id="426" name="Google Shape;426;p12"/>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Space weathering changes what we see without changing the bulk composition.</a:t>
            </a:r>
            <a:endParaRPr sz="1400">
              <a:solidFill>
                <a:schemeClr val="dk1"/>
              </a:solidFill>
              <a:latin typeface="Arial"/>
              <a:ea typeface="Arial"/>
              <a:cs typeface="Arial"/>
              <a:sym typeface="Arial"/>
            </a:endParaRPr>
          </a:p>
        </p:txBody>
      </p:sp>
      <p:sp>
        <p:nvSpPr>
          <p:cNvPr id="427" name="Google Shape;427;p12"/>
          <p:cNvSpPr/>
          <p:nvPr/>
        </p:nvSpPr>
        <p:spPr>
          <a:xfrm>
            <a:off x="658368" y="2066544"/>
            <a:ext cx="2362124" cy="914400"/>
          </a:xfrm>
          <a:prstGeom prst="roundRect">
            <a:avLst>
              <a:gd fmla="val 8000"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28" name="Google Shape;428;p12"/>
          <p:cNvSpPr/>
          <p:nvPr/>
        </p:nvSpPr>
        <p:spPr>
          <a:xfrm>
            <a:off x="804672" y="2066544"/>
            <a:ext cx="2069516"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ourier New"/>
              <a:buNone/>
            </a:pPr>
            <a:r>
              <a:rPr lang="en-US" sz="1200">
                <a:solidFill>
                  <a:srgbClr val="FFFFFF"/>
                </a:solidFill>
                <a:latin typeface="Courier New"/>
                <a:ea typeface="Courier New"/>
                <a:cs typeface="Courier New"/>
                <a:sym typeface="Courier New"/>
              </a:rPr>
              <a:t>Fresh material</a:t>
            </a:r>
            <a:endParaRPr sz="1200">
              <a:solidFill>
                <a:schemeClr val="dk1"/>
              </a:solidFill>
              <a:latin typeface="Courier New"/>
              <a:ea typeface="Courier New"/>
              <a:cs typeface="Courier New"/>
              <a:sym typeface="Courier New"/>
            </a:endParaRPr>
          </a:p>
        </p:txBody>
      </p:sp>
      <p:sp>
        <p:nvSpPr>
          <p:cNvPr id="429" name="Google Shape;429;p12"/>
          <p:cNvSpPr/>
          <p:nvPr/>
        </p:nvSpPr>
        <p:spPr>
          <a:xfrm>
            <a:off x="3130220" y="2423160"/>
            <a:ext cx="256032" cy="201168"/>
          </a:xfrm>
          <a:prstGeom prst="rightArrow">
            <a:avLst>
              <a:gd fmla="val 50000" name="adj1"/>
              <a:gd fmla="val 50000" name="adj2"/>
            </a:avLst>
          </a:prstGeom>
          <a:solidFill>
            <a:srgbClr val="00B0F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0" name="Google Shape;430;p12"/>
          <p:cNvSpPr/>
          <p:nvPr/>
        </p:nvSpPr>
        <p:spPr>
          <a:xfrm>
            <a:off x="3495980" y="2066544"/>
            <a:ext cx="2362124" cy="914400"/>
          </a:xfrm>
          <a:prstGeom prst="roundRect">
            <a:avLst>
              <a:gd fmla="val 8000"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1" name="Google Shape;431;p12"/>
          <p:cNvSpPr/>
          <p:nvPr/>
        </p:nvSpPr>
        <p:spPr>
          <a:xfrm>
            <a:off x="3642284" y="2066544"/>
            <a:ext cx="2069516"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ourier New"/>
              <a:buNone/>
            </a:pPr>
            <a:r>
              <a:rPr lang="en-US" sz="1200">
                <a:solidFill>
                  <a:srgbClr val="FFFFFF"/>
                </a:solidFill>
                <a:latin typeface="Courier New"/>
                <a:ea typeface="Courier New"/>
                <a:cs typeface="Courier New"/>
                <a:sym typeface="Courier New"/>
              </a:rPr>
              <a:t>Space weathering</a:t>
            </a:r>
            <a:endParaRPr sz="1200">
              <a:solidFill>
                <a:schemeClr val="dk1"/>
              </a:solidFill>
              <a:latin typeface="Courier New"/>
              <a:ea typeface="Courier New"/>
              <a:cs typeface="Courier New"/>
              <a:sym typeface="Courier New"/>
            </a:endParaRPr>
          </a:p>
        </p:txBody>
      </p:sp>
      <p:sp>
        <p:nvSpPr>
          <p:cNvPr id="432" name="Google Shape;432;p12"/>
          <p:cNvSpPr/>
          <p:nvPr/>
        </p:nvSpPr>
        <p:spPr>
          <a:xfrm>
            <a:off x="5967832" y="2423160"/>
            <a:ext cx="256032" cy="201168"/>
          </a:xfrm>
          <a:prstGeom prst="rightArrow">
            <a:avLst>
              <a:gd fmla="val 50000" name="adj1"/>
              <a:gd fmla="val 50000" name="adj2"/>
            </a:avLst>
          </a:prstGeom>
          <a:solidFill>
            <a:srgbClr val="00B0F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3" name="Google Shape;433;p12"/>
          <p:cNvSpPr/>
          <p:nvPr/>
        </p:nvSpPr>
        <p:spPr>
          <a:xfrm>
            <a:off x="6333592" y="2066544"/>
            <a:ext cx="2362124" cy="914400"/>
          </a:xfrm>
          <a:prstGeom prst="roundRect">
            <a:avLst>
              <a:gd fmla="val 8000"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4" name="Google Shape;434;p12"/>
          <p:cNvSpPr/>
          <p:nvPr/>
        </p:nvSpPr>
        <p:spPr>
          <a:xfrm>
            <a:off x="6479896" y="2066544"/>
            <a:ext cx="2069516"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200"/>
              <a:buFont typeface="Courier New"/>
              <a:buNone/>
            </a:pPr>
            <a:r>
              <a:rPr lang="en-US" sz="1200">
                <a:solidFill>
                  <a:srgbClr val="FFFFFF"/>
                </a:solidFill>
                <a:latin typeface="Courier New"/>
                <a:ea typeface="Courier New"/>
                <a:cs typeface="Courier New"/>
                <a:sym typeface="Courier New"/>
              </a:rPr>
              <a:t>Altered optical spectrum</a:t>
            </a:r>
            <a:endParaRPr sz="1200">
              <a:solidFill>
                <a:schemeClr val="dk1"/>
              </a:solidFill>
              <a:latin typeface="Courier New"/>
              <a:ea typeface="Courier New"/>
              <a:cs typeface="Courier New"/>
              <a:sym typeface="Courier New"/>
            </a:endParaRPr>
          </a:p>
        </p:txBody>
      </p:sp>
      <p:sp>
        <p:nvSpPr>
          <p:cNvPr id="435" name="Google Shape;435;p12"/>
          <p:cNvSpPr/>
          <p:nvPr/>
        </p:nvSpPr>
        <p:spPr>
          <a:xfrm>
            <a:off x="8805443" y="2423160"/>
            <a:ext cx="256032" cy="201168"/>
          </a:xfrm>
          <a:prstGeom prst="rightArrow">
            <a:avLst>
              <a:gd fmla="val 50000" name="adj1"/>
              <a:gd fmla="val 50000" name="adj2"/>
            </a:avLst>
          </a:prstGeom>
          <a:solidFill>
            <a:srgbClr val="00B0F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6" name="Google Shape;436;p12"/>
          <p:cNvSpPr/>
          <p:nvPr/>
        </p:nvSpPr>
        <p:spPr>
          <a:xfrm>
            <a:off x="9171203" y="2066544"/>
            <a:ext cx="2362124" cy="914400"/>
          </a:xfrm>
          <a:prstGeom prst="roundRect">
            <a:avLst>
              <a:gd fmla="val 8000" name="adj"/>
            </a:avLst>
          </a:prstGeom>
          <a:solidFill>
            <a:srgbClr val="111A2E"/>
          </a:solidFill>
          <a:ln cap="flat" cmpd="sng" w="19050">
            <a:solidFill>
              <a:srgbClr val="F0F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200">
              <a:solidFill>
                <a:schemeClr val="dk1"/>
              </a:solidFill>
              <a:latin typeface="Courier New"/>
              <a:ea typeface="Courier New"/>
              <a:cs typeface="Courier New"/>
              <a:sym typeface="Courier New"/>
            </a:endParaRPr>
          </a:p>
        </p:txBody>
      </p:sp>
      <p:sp>
        <p:nvSpPr>
          <p:cNvPr id="437" name="Google Shape;437;p12"/>
          <p:cNvSpPr/>
          <p:nvPr/>
        </p:nvSpPr>
        <p:spPr>
          <a:xfrm>
            <a:off x="9317507" y="2066544"/>
            <a:ext cx="2069516" cy="9144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6DD9FF"/>
              </a:buClr>
              <a:buSzPts val="1400"/>
              <a:buFont typeface="Courier New"/>
              <a:buNone/>
            </a:pPr>
            <a:r>
              <a:rPr lang="en-US" sz="1400">
                <a:solidFill>
                  <a:srgbClr val="6DD9FF"/>
                </a:solidFill>
                <a:latin typeface="Courier New"/>
                <a:ea typeface="Courier New"/>
                <a:cs typeface="Courier New"/>
                <a:sym typeface="Courier New"/>
              </a:rPr>
              <a:t>Biased mineralogical interpretation</a:t>
            </a:r>
            <a:endParaRPr sz="1400">
              <a:solidFill>
                <a:srgbClr val="6DD9FF"/>
              </a:solidFill>
              <a:latin typeface="Courier New"/>
              <a:ea typeface="Courier New"/>
              <a:cs typeface="Courier New"/>
              <a:sym typeface="Courier New"/>
            </a:endParaRPr>
          </a:p>
        </p:txBody>
      </p:sp>
      <p:sp>
        <p:nvSpPr>
          <p:cNvPr id="438" name="Google Shape;438;p12"/>
          <p:cNvSpPr/>
          <p:nvPr/>
        </p:nvSpPr>
        <p:spPr>
          <a:xfrm>
            <a:off x="658368" y="3310128"/>
            <a:ext cx="10874959" cy="1225296"/>
          </a:xfrm>
          <a:prstGeom prst="roundRect">
            <a:avLst>
              <a:gd fmla="val 6716" name="adj"/>
            </a:avLst>
          </a:prstGeom>
          <a:solidFill>
            <a:srgbClr val="13233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2"/>
          <p:cNvSpPr/>
          <p:nvPr/>
        </p:nvSpPr>
        <p:spPr>
          <a:xfrm>
            <a:off x="1133856" y="3474720"/>
            <a:ext cx="8686800" cy="31089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CBBE6"/>
              </a:buClr>
              <a:buSzPts val="1600"/>
              <a:buFont typeface="Arial"/>
              <a:buNone/>
            </a:pPr>
            <a:r>
              <a:rPr lang="en-US" sz="1600">
                <a:solidFill>
                  <a:srgbClr val="9CBBE6"/>
                </a:solidFill>
                <a:latin typeface="Arial"/>
                <a:ea typeface="Arial"/>
                <a:cs typeface="Arial"/>
                <a:sym typeface="Arial"/>
              </a:rPr>
              <a:t>RAMSES can measure the spectrum,</a:t>
            </a:r>
            <a:endParaRPr sz="1600">
              <a:solidFill>
                <a:schemeClr val="dk1"/>
              </a:solidFill>
              <a:latin typeface="Arial"/>
              <a:ea typeface="Arial"/>
              <a:cs typeface="Arial"/>
              <a:sym typeface="Arial"/>
            </a:endParaRPr>
          </a:p>
        </p:txBody>
      </p:sp>
      <p:sp>
        <p:nvSpPr>
          <p:cNvPr id="440" name="Google Shape;440;p12"/>
          <p:cNvSpPr/>
          <p:nvPr/>
        </p:nvSpPr>
        <p:spPr>
          <a:xfrm>
            <a:off x="1133856" y="3791320"/>
            <a:ext cx="969264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1600"/>
              <a:buFont typeface="Arial"/>
              <a:buNone/>
            </a:pPr>
            <a:r>
              <a:rPr b="1" lang="en-US" sz="1600">
                <a:solidFill>
                  <a:srgbClr val="E8A33D"/>
                </a:solidFill>
                <a:latin typeface="Arial"/>
                <a:ea typeface="Arial"/>
                <a:cs typeface="Arial"/>
                <a:sym typeface="Arial"/>
              </a:rPr>
              <a:t>BUT </a:t>
            </a:r>
            <a:r>
              <a:rPr lang="en-US" sz="1600">
                <a:solidFill>
                  <a:srgbClr val="FFFFFF"/>
                </a:solidFill>
                <a:latin typeface="Arial"/>
                <a:ea typeface="Arial"/>
                <a:cs typeface="Arial"/>
                <a:sym typeface="Arial"/>
              </a:rPr>
              <a:t>it cannot independently measure the reference needed to correct it.</a:t>
            </a:r>
            <a:endParaRPr sz="1600">
              <a:solidFill>
                <a:schemeClr val="dk1"/>
              </a:solidFill>
              <a:latin typeface="Calibri"/>
              <a:ea typeface="Calibri"/>
              <a:cs typeface="Calibri"/>
              <a:sym typeface="Calibri"/>
            </a:endParaRPr>
          </a:p>
        </p:txBody>
      </p:sp>
      <p:sp>
        <p:nvSpPr>
          <p:cNvPr id="441" name="Google Shape;441;p12"/>
          <p:cNvSpPr/>
          <p:nvPr/>
        </p:nvSpPr>
        <p:spPr>
          <a:xfrm>
            <a:off x="658368" y="4773168"/>
            <a:ext cx="5245456" cy="1188720"/>
          </a:xfrm>
          <a:prstGeom prst="roundRect">
            <a:avLst>
              <a:gd fmla="val 6154" name="adj"/>
            </a:avLst>
          </a:prstGeom>
          <a:solidFill>
            <a:srgbClr val="111A2E"/>
          </a:solidFill>
          <a:ln cap="flat" cmpd="sng" w="9525">
            <a:solidFill>
              <a:srgbClr val="F0F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2" name="Google Shape;442;p12"/>
          <p:cNvSpPr/>
          <p:nvPr/>
        </p:nvSpPr>
        <p:spPr>
          <a:xfrm>
            <a:off x="932688" y="4937760"/>
            <a:ext cx="469681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D9FF"/>
              </a:buClr>
              <a:buSzPts val="1600"/>
              <a:buFont typeface="Arial"/>
              <a:buNone/>
            </a:pPr>
            <a:r>
              <a:rPr lang="en-US" sz="1600">
                <a:solidFill>
                  <a:srgbClr val="6DD9FF"/>
                </a:solidFill>
                <a:latin typeface="Arial"/>
                <a:ea typeface="Arial"/>
                <a:cs typeface="Arial"/>
                <a:sym typeface="Arial"/>
              </a:rPr>
              <a:t>The correction closes on itself</a:t>
            </a:r>
            <a:endParaRPr sz="1600">
              <a:solidFill>
                <a:srgbClr val="6DD9FF"/>
              </a:solidFill>
              <a:latin typeface="Arial"/>
              <a:ea typeface="Arial"/>
              <a:cs typeface="Arial"/>
              <a:sym typeface="Arial"/>
            </a:endParaRPr>
          </a:p>
        </p:txBody>
      </p:sp>
      <p:sp>
        <p:nvSpPr>
          <p:cNvPr id="443" name="Google Shape;443;p12"/>
          <p:cNvSpPr/>
          <p:nvPr/>
        </p:nvSpPr>
        <p:spPr>
          <a:xfrm>
            <a:off x="932688" y="5248656"/>
            <a:ext cx="4696816" cy="60350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9BA7C0"/>
              </a:buClr>
              <a:buSzPts val="1200"/>
              <a:buFont typeface="Arial"/>
              <a:buNone/>
            </a:pPr>
            <a:r>
              <a:rPr lang="en-US" sz="1200">
                <a:solidFill>
                  <a:srgbClr val="9BA7C0"/>
                </a:solidFill>
                <a:latin typeface="Arial"/>
                <a:ea typeface="Arial"/>
                <a:cs typeface="Arial"/>
                <a:sym typeface="Arial"/>
              </a:rPr>
              <a:t>HAMLET's maturity map is derived from the spectrum it would correct, which makes it verifiable only against its source</a:t>
            </a:r>
            <a:endParaRPr sz="1200">
              <a:solidFill>
                <a:schemeClr val="dk1"/>
              </a:solidFill>
              <a:latin typeface="Arial"/>
              <a:ea typeface="Arial"/>
              <a:cs typeface="Arial"/>
              <a:sym typeface="Arial"/>
            </a:endParaRPr>
          </a:p>
        </p:txBody>
      </p:sp>
      <p:sp>
        <p:nvSpPr>
          <p:cNvPr id="444" name="Google Shape;444;p12"/>
          <p:cNvSpPr/>
          <p:nvPr/>
        </p:nvSpPr>
        <p:spPr>
          <a:xfrm>
            <a:off x="6287872" y="4773168"/>
            <a:ext cx="5245456" cy="1188720"/>
          </a:xfrm>
          <a:prstGeom prst="roundRect">
            <a:avLst>
              <a:gd fmla="val 6154" name="adj"/>
            </a:avLst>
          </a:prstGeom>
          <a:solidFill>
            <a:srgbClr val="111A2E"/>
          </a:solidFill>
          <a:ln cap="flat" cmpd="sng" w="9525">
            <a:solidFill>
              <a:srgbClr val="F0F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5" name="Google Shape;445;p12"/>
          <p:cNvSpPr/>
          <p:nvPr/>
        </p:nvSpPr>
        <p:spPr>
          <a:xfrm>
            <a:off x="6562192" y="4937760"/>
            <a:ext cx="4696816"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DD9FF"/>
              </a:buClr>
              <a:buSzPts val="1600"/>
              <a:buFont typeface="Arial"/>
              <a:buNone/>
            </a:pPr>
            <a:r>
              <a:rPr lang="en-US" sz="1600">
                <a:solidFill>
                  <a:srgbClr val="6DD9FF"/>
                </a:solidFill>
                <a:latin typeface="Arial"/>
                <a:ea typeface="Arial"/>
                <a:cs typeface="Arial"/>
                <a:sym typeface="Arial"/>
              </a:rPr>
              <a:t>Why it matters at Apophis</a:t>
            </a:r>
            <a:endParaRPr sz="1600">
              <a:solidFill>
                <a:srgbClr val="6DD9FF"/>
              </a:solidFill>
              <a:latin typeface="Arial"/>
              <a:ea typeface="Arial"/>
              <a:cs typeface="Arial"/>
              <a:sym typeface="Arial"/>
            </a:endParaRPr>
          </a:p>
        </p:txBody>
      </p:sp>
      <p:sp>
        <p:nvSpPr>
          <p:cNvPr id="446" name="Google Shape;446;p12"/>
          <p:cNvSpPr/>
          <p:nvPr/>
        </p:nvSpPr>
        <p:spPr>
          <a:xfrm>
            <a:off x="6562192" y="5248656"/>
            <a:ext cx="4696816" cy="60350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9BA7C0"/>
              </a:buClr>
              <a:buSzPts val="1200"/>
              <a:buFont typeface="Arial"/>
              <a:buNone/>
            </a:pPr>
            <a:r>
              <a:rPr lang="en-US" sz="1200">
                <a:solidFill>
                  <a:srgbClr val="9BA7C0"/>
                </a:solidFill>
                <a:latin typeface="Arial"/>
                <a:ea typeface="Arial"/>
                <a:cs typeface="Arial"/>
                <a:sym typeface="Arial"/>
              </a:rPr>
              <a:t>Sq type: a surface partly but not wholly refreshed. The 2029 encounter may reset the maturity clock, a natural experiment that will not recur.</a:t>
            </a:r>
            <a:endParaRPr sz="1200">
              <a:solidFill>
                <a:schemeClr val="dk1"/>
              </a:solidFill>
              <a:latin typeface="Arial"/>
              <a:ea typeface="Arial"/>
              <a:cs typeface="Arial"/>
              <a:sym typeface="Arial"/>
            </a:endParaRPr>
          </a:p>
        </p:txBody>
      </p:sp>
      <p:sp>
        <p:nvSpPr>
          <p:cNvPr id="447" name="Google Shape;447;p12"/>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9</a:t>
            </a:r>
            <a:endParaRPr sz="1000">
              <a:solidFill>
                <a:schemeClr val="dk1"/>
              </a:solidFill>
              <a:latin typeface="Calibri"/>
              <a:ea typeface="Calibri"/>
              <a:cs typeface="Calibri"/>
              <a:sym typeface="Calibri"/>
            </a:endParaRPr>
          </a:p>
        </p:txBody>
      </p:sp>
      <p:sp>
        <p:nvSpPr>
          <p:cNvPr id="448" name="Google Shape;448;p12"/>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453" name="Shape 453"/>
        <p:cNvGrpSpPr/>
        <p:nvPr/>
      </p:nvGrpSpPr>
      <p:grpSpPr>
        <a:xfrm>
          <a:off x="0" y="0"/>
          <a:ext cx="0" cy="0"/>
          <a:chOff x="0" y="0"/>
          <a:chExt cx="0" cy="0"/>
        </a:xfrm>
      </p:grpSpPr>
      <p:pic>
        <p:nvPicPr>
          <p:cNvPr descr="/home/claude/work/a2/light_wash.jpg" id="454" name="Google Shape;454;p13"/>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455" name="Google Shape;455;p13"/>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b="1" lang="en-US" sz="800">
                <a:solidFill>
                  <a:srgbClr val="13234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456" name="Google Shape;456;p13"/>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The Required Observable</a:t>
            </a:r>
            <a:endParaRPr sz="3000">
              <a:solidFill>
                <a:schemeClr val="dk1"/>
              </a:solidFill>
              <a:latin typeface="Calibri"/>
              <a:ea typeface="Calibri"/>
              <a:cs typeface="Calibri"/>
              <a:sym typeface="Calibri"/>
            </a:endParaRPr>
          </a:p>
        </p:txBody>
      </p:sp>
      <p:sp>
        <p:nvSpPr>
          <p:cNvPr id="457" name="Google Shape;457;p13"/>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What measurement would close the gap?</a:t>
            </a:r>
            <a:endParaRPr sz="1400">
              <a:solidFill>
                <a:schemeClr val="dk1"/>
              </a:solidFill>
              <a:latin typeface="Arial"/>
              <a:ea typeface="Arial"/>
              <a:cs typeface="Arial"/>
              <a:sym typeface="Arial"/>
            </a:endParaRPr>
          </a:p>
        </p:txBody>
      </p:sp>
      <p:sp>
        <p:nvSpPr>
          <p:cNvPr id="458" name="Google Shape;458;p13"/>
          <p:cNvSpPr/>
          <p:nvPr/>
        </p:nvSpPr>
        <p:spPr>
          <a:xfrm>
            <a:off x="658368" y="1938528"/>
            <a:ext cx="10874959" cy="1078992"/>
          </a:xfrm>
          <a:prstGeom prst="roundRect">
            <a:avLst>
              <a:gd fmla="val 7627" name="adj"/>
            </a:avLst>
          </a:prstGeom>
          <a:solidFill>
            <a:srgbClr val="0E1A38"/>
          </a:solidFill>
          <a:ln>
            <a:noFill/>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9" name="Google Shape;459;p13"/>
          <p:cNvSpPr/>
          <p:nvPr/>
        </p:nvSpPr>
        <p:spPr>
          <a:xfrm>
            <a:off x="658368" y="2103120"/>
            <a:ext cx="10874959" cy="4572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600"/>
              <a:buFont typeface="Arial"/>
              <a:buNone/>
            </a:pPr>
            <a:r>
              <a:rPr lang="en-US" sz="2600">
                <a:solidFill>
                  <a:srgbClr val="FFFFFF"/>
                </a:solidFill>
                <a:latin typeface="Arial"/>
                <a:ea typeface="Arial"/>
                <a:cs typeface="Arial"/>
                <a:sym typeface="Arial"/>
              </a:rPr>
              <a:t>Independent elemental abundance</a:t>
            </a:r>
            <a:endParaRPr sz="2600">
              <a:solidFill>
                <a:schemeClr val="dk1"/>
              </a:solidFill>
              <a:latin typeface="Arial"/>
              <a:ea typeface="Arial"/>
              <a:cs typeface="Arial"/>
              <a:sym typeface="Arial"/>
            </a:endParaRPr>
          </a:p>
        </p:txBody>
      </p:sp>
      <p:sp>
        <p:nvSpPr>
          <p:cNvPr id="460" name="Google Shape;460;p13"/>
          <p:cNvSpPr/>
          <p:nvPr/>
        </p:nvSpPr>
        <p:spPr>
          <a:xfrm>
            <a:off x="658368" y="2596896"/>
            <a:ext cx="10874959"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2A3C4"/>
              </a:buClr>
              <a:buSzPts val="1200"/>
              <a:buFont typeface="Courier New"/>
              <a:buNone/>
            </a:pPr>
            <a:r>
              <a:rPr lang="en-US" sz="1200">
                <a:solidFill>
                  <a:srgbClr val="92A3C4"/>
                </a:solidFill>
                <a:latin typeface="Courier New"/>
                <a:ea typeface="Courier New"/>
                <a:cs typeface="Courier New"/>
                <a:sym typeface="Courier New"/>
              </a:rPr>
              <a:t>of the near-surface regolith</a:t>
            </a:r>
            <a:endParaRPr sz="1200">
              <a:solidFill>
                <a:schemeClr val="dk1"/>
              </a:solidFill>
              <a:latin typeface="Courier New"/>
              <a:ea typeface="Courier New"/>
              <a:cs typeface="Courier New"/>
              <a:sym typeface="Courier New"/>
            </a:endParaRPr>
          </a:p>
        </p:txBody>
      </p:sp>
      <p:sp>
        <p:nvSpPr>
          <p:cNvPr id="461" name="Google Shape;461;p13"/>
          <p:cNvSpPr/>
          <p:nvPr/>
        </p:nvSpPr>
        <p:spPr>
          <a:xfrm>
            <a:off x="658368" y="3346704"/>
            <a:ext cx="3466490" cy="1700784"/>
          </a:xfrm>
          <a:prstGeom prst="roundRect">
            <a:avLst>
              <a:gd fmla="val 4839"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2" name="Google Shape;462;p13"/>
          <p:cNvSpPr/>
          <p:nvPr/>
        </p:nvSpPr>
        <p:spPr>
          <a:xfrm>
            <a:off x="932688" y="3602736"/>
            <a:ext cx="347472" cy="347472"/>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3" name="Google Shape;463;p13"/>
          <p:cNvSpPr/>
          <p:nvPr/>
        </p:nvSpPr>
        <p:spPr>
          <a:xfrm>
            <a:off x="932688" y="360273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ourier New"/>
              <a:buNone/>
            </a:pPr>
            <a:r>
              <a:rPr b="1" lang="en-US" sz="1200">
                <a:solidFill>
                  <a:srgbClr val="FFFFFF"/>
                </a:solidFill>
                <a:latin typeface="Courier New"/>
                <a:ea typeface="Courier New"/>
                <a:cs typeface="Courier New"/>
                <a:sym typeface="Courier New"/>
              </a:rPr>
              <a:t>1</a:t>
            </a:r>
            <a:endParaRPr sz="1200">
              <a:solidFill>
                <a:schemeClr val="dk1"/>
              </a:solidFill>
              <a:latin typeface="Courier New"/>
              <a:ea typeface="Courier New"/>
              <a:cs typeface="Courier New"/>
              <a:sym typeface="Courier New"/>
            </a:endParaRPr>
          </a:p>
        </p:txBody>
      </p:sp>
      <p:sp>
        <p:nvSpPr>
          <p:cNvPr id="464" name="Google Shape;464;p13"/>
          <p:cNvSpPr/>
          <p:nvPr/>
        </p:nvSpPr>
        <p:spPr>
          <a:xfrm>
            <a:off x="1371600" y="3584448"/>
            <a:ext cx="249722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600"/>
              <a:buFont typeface="Arial"/>
              <a:buNone/>
            </a:pPr>
            <a:r>
              <a:rPr b="1" lang="en-US" sz="1600">
                <a:solidFill>
                  <a:srgbClr val="13234C"/>
                </a:solidFill>
                <a:latin typeface="Arial"/>
                <a:ea typeface="Arial"/>
                <a:cs typeface="Arial"/>
                <a:sym typeface="Arial"/>
              </a:rPr>
              <a:t>From orbit</a:t>
            </a:r>
            <a:endParaRPr sz="1600">
              <a:solidFill>
                <a:schemeClr val="dk1"/>
              </a:solidFill>
              <a:latin typeface="Calibri"/>
              <a:ea typeface="Calibri"/>
              <a:cs typeface="Calibri"/>
              <a:sym typeface="Calibri"/>
            </a:endParaRPr>
          </a:p>
        </p:txBody>
      </p:sp>
      <p:sp>
        <p:nvSpPr>
          <p:cNvPr id="465" name="Google Shape;465;p13"/>
          <p:cNvSpPr/>
          <p:nvPr/>
        </p:nvSpPr>
        <p:spPr>
          <a:xfrm>
            <a:off x="932688" y="4187952"/>
            <a:ext cx="2917850" cy="731520"/>
          </a:xfrm>
          <a:prstGeom prst="rect">
            <a:avLst/>
          </a:prstGeom>
          <a:noFill/>
          <a:ln>
            <a:noFill/>
          </a:ln>
        </p:spPr>
        <p:txBody>
          <a:bodyPr anchorCtr="0" anchor="t" bIns="0" lIns="0" spcFirstLastPara="1" rIns="0" wrap="square" tIns="0">
            <a:noAutofit/>
          </a:bodyPr>
          <a:lstStyle/>
          <a:p>
            <a:pPr indent="0" lvl="0" marL="0" marR="0" rtl="0" algn="l">
              <a:lnSpc>
                <a:spcPct val="116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The correction is applied to maps. A reference from a single landing site cannot travel across a body.</a:t>
            </a:r>
            <a:endParaRPr sz="1200">
              <a:solidFill>
                <a:schemeClr val="dk1"/>
              </a:solidFill>
              <a:latin typeface="Arial"/>
              <a:ea typeface="Arial"/>
              <a:cs typeface="Arial"/>
              <a:sym typeface="Arial"/>
            </a:endParaRPr>
          </a:p>
        </p:txBody>
      </p:sp>
      <p:sp>
        <p:nvSpPr>
          <p:cNvPr id="466" name="Google Shape;466;p13"/>
          <p:cNvSpPr/>
          <p:nvPr/>
        </p:nvSpPr>
        <p:spPr>
          <a:xfrm>
            <a:off x="4362602" y="3346704"/>
            <a:ext cx="3466490" cy="1700784"/>
          </a:xfrm>
          <a:prstGeom prst="roundRect">
            <a:avLst>
              <a:gd fmla="val 4839"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7" name="Google Shape;467;p13"/>
          <p:cNvSpPr/>
          <p:nvPr/>
        </p:nvSpPr>
        <p:spPr>
          <a:xfrm>
            <a:off x="4636922" y="3602736"/>
            <a:ext cx="347472" cy="347472"/>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3"/>
          <p:cNvSpPr/>
          <p:nvPr/>
        </p:nvSpPr>
        <p:spPr>
          <a:xfrm>
            <a:off x="4636922" y="360273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ourier New"/>
              <a:buNone/>
            </a:pPr>
            <a:r>
              <a:rPr b="1" lang="en-US" sz="1200">
                <a:solidFill>
                  <a:srgbClr val="FFFFFF"/>
                </a:solidFill>
                <a:latin typeface="Courier New"/>
                <a:ea typeface="Courier New"/>
                <a:cs typeface="Courier New"/>
                <a:sym typeface="Courier New"/>
              </a:rPr>
              <a:t>2</a:t>
            </a:r>
            <a:endParaRPr sz="1200">
              <a:solidFill>
                <a:schemeClr val="dk1"/>
              </a:solidFill>
              <a:latin typeface="Courier New"/>
              <a:ea typeface="Courier New"/>
              <a:cs typeface="Courier New"/>
              <a:sym typeface="Courier New"/>
            </a:endParaRPr>
          </a:p>
        </p:txBody>
      </p:sp>
      <p:sp>
        <p:nvSpPr>
          <p:cNvPr id="469" name="Google Shape;469;p13"/>
          <p:cNvSpPr/>
          <p:nvPr/>
        </p:nvSpPr>
        <p:spPr>
          <a:xfrm>
            <a:off x="5075834" y="3584448"/>
            <a:ext cx="249722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600"/>
              <a:buFont typeface="Arial"/>
              <a:buNone/>
            </a:pPr>
            <a:r>
              <a:rPr b="1" lang="en-US" sz="1600">
                <a:solidFill>
                  <a:srgbClr val="13234C"/>
                </a:solidFill>
                <a:latin typeface="Arial"/>
                <a:ea typeface="Arial"/>
                <a:cs typeface="Arial"/>
                <a:sym typeface="Arial"/>
              </a:rPr>
              <a:t>Below the weathered surface</a:t>
            </a:r>
            <a:endParaRPr sz="1600">
              <a:solidFill>
                <a:schemeClr val="dk1"/>
              </a:solidFill>
              <a:latin typeface="Calibri"/>
              <a:ea typeface="Calibri"/>
              <a:cs typeface="Calibri"/>
              <a:sym typeface="Calibri"/>
            </a:endParaRPr>
          </a:p>
        </p:txBody>
      </p:sp>
      <p:sp>
        <p:nvSpPr>
          <p:cNvPr id="470" name="Google Shape;470;p13"/>
          <p:cNvSpPr/>
          <p:nvPr/>
        </p:nvSpPr>
        <p:spPr>
          <a:xfrm>
            <a:off x="4636922" y="4187952"/>
            <a:ext cx="2917850" cy="731520"/>
          </a:xfrm>
          <a:prstGeom prst="rect">
            <a:avLst/>
          </a:prstGeom>
          <a:noFill/>
          <a:ln>
            <a:noFill/>
          </a:ln>
        </p:spPr>
        <p:txBody>
          <a:bodyPr anchorCtr="0" anchor="t" bIns="0" lIns="0" spcFirstLastPara="1" rIns="0" wrap="square" tIns="0">
            <a:noAutofit/>
          </a:bodyPr>
          <a:lstStyle/>
          <a:p>
            <a:pPr indent="0" lvl="0" marL="0" marR="0" rtl="0" algn="l">
              <a:lnSpc>
                <a:spcPct val="116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Sampling depth must exceed the altered layer, or the reference carries the bias it was meant to remove.</a:t>
            </a:r>
            <a:endParaRPr sz="1200">
              <a:solidFill>
                <a:schemeClr val="dk1"/>
              </a:solidFill>
              <a:latin typeface="Arial"/>
              <a:ea typeface="Arial"/>
              <a:cs typeface="Arial"/>
              <a:sym typeface="Arial"/>
            </a:endParaRPr>
          </a:p>
        </p:txBody>
      </p:sp>
      <p:sp>
        <p:nvSpPr>
          <p:cNvPr id="471" name="Google Shape;471;p13"/>
          <p:cNvSpPr/>
          <p:nvPr/>
        </p:nvSpPr>
        <p:spPr>
          <a:xfrm>
            <a:off x="8066837" y="3346704"/>
            <a:ext cx="3466490" cy="1700784"/>
          </a:xfrm>
          <a:prstGeom prst="roundRect">
            <a:avLst>
              <a:gd fmla="val 4839" name="adj"/>
            </a:avLst>
          </a:prstGeom>
          <a:solidFill>
            <a:srgbClr val="FFFFFF"/>
          </a:solidFill>
          <a:ln cap="flat" cmpd="sng" w="9525">
            <a:solidFill>
              <a:srgbClr val="C4CFE0"/>
            </a:solidFill>
            <a:prstDash val="solid"/>
            <a:round/>
            <a:headEnd len="sm" w="sm" type="none"/>
            <a:tailEnd len="sm" w="sm" type="none"/>
          </a:ln>
          <a:effectLst>
            <a:outerShdw blurRad="50800" rotWithShape="0" algn="tr" dir="81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3"/>
          <p:cNvSpPr/>
          <p:nvPr/>
        </p:nvSpPr>
        <p:spPr>
          <a:xfrm>
            <a:off x="8341157" y="3602736"/>
            <a:ext cx="347472" cy="347472"/>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3" name="Google Shape;473;p13"/>
          <p:cNvSpPr/>
          <p:nvPr/>
        </p:nvSpPr>
        <p:spPr>
          <a:xfrm>
            <a:off x="8341157" y="360273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Courier New"/>
              <a:buNone/>
            </a:pPr>
            <a:r>
              <a:rPr b="1" lang="en-US" sz="1200">
                <a:solidFill>
                  <a:srgbClr val="FFFFFF"/>
                </a:solidFill>
                <a:latin typeface="Courier New"/>
                <a:ea typeface="Courier New"/>
                <a:cs typeface="Courier New"/>
                <a:sym typeface="Courier New"/>
              </a:rPr>
              <a:t>3</a:t>
            </a:r>
            <a:endParaRPr sz="1200">
              <a:solidFill>
                <a:schemeClr val="dk1"/>
              </a:solidFill>
              <a:latin typeface="Courier New"/>
              <a:ea typeface="Courier New"/>
              <a:cs typeface="Courier New"/>
              <a:sym typeface="Courier New"/>
            </a:endParaRPr>
          </a:p>
        </p:txBody>
      </p:sp>
      <p:sp>
        <p:nvSpPr>
          <p:cNvPr id="474" name="Google Shape;474;p13"/>
          <p:cNvSpPr/>
          <p:nvPr/>
        </p:nvSpPr>
        <p:spPr>
          <a:xfrm>
            <a:off x="8780069" y="3584448"/>
            <a:ext cx="249722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600"/>
              <a:buFont typeface="Arial"/>
              <a:buNone/>
            </a:pPr>
            <a:r>
              <a:rPr b="1" lang="en-US" sz="1600">
                <a:solidFill>
                  <a:srgbClr val="13234C"/>
                </a:solidFill>
                <a:latin typeface="Arial"/>
                <a:ea typeface="Arial"/>
                <a:cs typeface="Arial"/>
                <a:sym typeface="Arial"/>
              </a:rPr>
              <a:t>Independent of reflected light</a:t>
            </a:r>
            <a:endParaRPr sz="1600">
              <a:solidFill>
                <a:schemeClr val="dk1"/>
              </a:solidFill>
              <a:latin typeface="Calibri"/>
              <a:ea typeface="Calibri"/>
              <a:cs typeface="Calibri"/>
              <a:sym typeface="Calibri"/>
            </a:endParaRPr>
          </a:p>
        </p:txBody>
      </p:sp>
      <p:sp>
        <p:nvSpPr>
          <p:cNvPr id="475" name="Google Shape;475;p13"/>
          <p:cNvSpPr/>
          <p:nvPr/>
        </p:nvSpPr>
        <p:spPr>
          <a:xfrm>
            <a:off x="8341157" y="4187952"/>
            <a:ext cx="2917850" cy="731520"/>
          </a:xfrm>
          <a:prstGeom prst="rect">
            <a:avLst/>
          </a:prstGeom>
          <a:noFill/>
          <a:ln>
            <a:noFill/>
          </a:ln>
        </p:spPr>
        <p:txBody>
          <a:bodyPr anchorCtr="0" anchor="t" bIns="0" lIns="0" spcFirstLastPara="1" rIns="0" wrap="square" tIns="0">
            <a:noAutofit/>
          </a:bodyPr>
          <a:lstStyle/>
          <a:p>
            <a:pPr indent="0" lvl="0" marL="0" marR="0" rtl="0" algn="l">
              <a:lnSpc>
                <a:spcPct val="116000"/>
              </a:lnSpc>
              <a:spcBef>
                <a:spcPts val="0"/>
              </a:spcBef>
              <a:spcAft>
                <a:spcPts val="0"/>
              </a:spcAft>
              <a:buClr>
                <a:srgbClr val="4C5468"/>
              </a:buClr>
              <a:buSzPts val="1100"/>
              <a:buFont typeface="Arial"/>
              <a:buNone/>
            </a:pPr>
            <a:r>
              <a:rPr lang="en-US" sz="1100">
                <a:solidFill>
                  <a:srgbClr val="4C5468"/>
                </a:solidFill>
                <a:latin typeface="Arial"/>
                <a:ea typeface="Arial"/>
                <a:cs typeface="Arial"/>
                <a:sym typeface="Arial"/>
              </a:rPr>
              <a:t>A route through the spectrum would inherit the bias it exists to correct.</a:t>
            </a:r>
            <a:endParaRPr sz="1100">
              <a:solidFill>
                <a:schemeClr val="dk1"/>
              </a:solidFill>
              <a:latin typeface="Arial"/>
              <a:ea typeface="Arial"/>
              <a:cs typeface="Arial"/>
              <a:sym typeface="Arial"/>
            </a:endParaRPr>
          </a:p>
        </p:txBody>
      </p:sp>
      <p:sp>
        <p:nvSpPr>
          <p:cNvPr id="476" name="Google Shape;476;p13"/>
          <p:cNvSpPr/>
          <p:nvPr/>
        </p:nvSpPr>
        <p:spPr>
          <a:xfrm>
            <a:off x="658368" y="5285232"/>
            <a:ext cx="10874959" cy="749808"/>
          </a:xfrm>
          <a:prstGeom prst="roundRect">
            <a:avLst>
              <a:gd fmla="val 9756" name="adj"/>
            </a:avLst>
          </a:prstGeom>
          <a:solidFill>
            <a:srgbClr val="FFF8EC"/>
          </a:solidFill>
          <a:ln cap="flat" cmpd="sng" w="15875">
            <a:solidFill>
              <a:srgbClr val="E8A33D"/>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13"/>
          <p:cNvSpPr/>
          <p:nvPr/>
        </p:nvSpPr>
        <p:spPr>
          <a:xfrm>
            <a:off x="658368" y="5285232"/>
            <a:ext cx="10874959" cy="7498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A5510"/>
              </a:buClr>
              <a:buSzPts val="1450"/>
              <a:buFont typeface="Arial"/>
              <a:buNone/>
            </a:pPr>
            <a:r>
              <a:rPr lang="en-US" sz="1450">
                <a:solidFill>
                  <a:srgbClr val="7A5510"/>
                </a:solidFill>
                <a:latin typeface="Arial"/>
                <a:ea typeface="Arial"/>
                <a:cs typeface="Arial"/>
                <a:sym typeface="Arial"/>
              </a:rPr>
              <a:t>This defines the instrument requirement before any instrument is selected.</a:t>
            </a:r>
            <a:endParaRPr sz="1450">
              <a:solidFill>
                <a:schemeClr val="dk1"/>
              </a:solidFill>
              <a:latin typeface="Calibri"/>
              <a:ea typeface="Calibri"/>
              <a:cs typeface="Calibri"/>
              <a:sym typeface="Calibri"/>
            </a:endParaRPr>
          </a:p>
        </p:txBody>
      </p:sp>
      <p:sp>
        <p:nvSpPr>
          <p:cNvPr id="478" name="Google Shape;478;p13"/>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10</a:t>
            </a:r>
            <a:endParaRPr sz="1000">
              <a:solidFill>
                <a:schemeClr val="dk1"/>
              </a:solidFill>
              <a:latin typeface="Calibri"/>
              <a:ea typeface="Calibri"/>
              <a:cs typeface="Calibri"/>
              <a:sym typeface="Calibri"/>
            </a:endParaRPr>
          </a:p>
        </p:txBody>
      </p:sp>
      <p:pic>
        <p:nvPicPr>
          <p:cNvPr descr="/home/claude/work/a2/logo_dark.png" id="479" name="Google Shape;479;p13"/>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480" name="Google Shape;480;p13"/>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485" name="Shape 485"/>
        <p:cNvGrpSpPr/>
        <p:nvPr/>
      </p:nvGrpSpPr>
      <p:grpSpPr>
        <a:xfrm>
          <a:off x="0" y="0"/>
          <a:ext cx="0" cy="0"/>
          <a:chOff x="0" y="0"/>
          <a:chExt cx="0" cy="0"/>
        </a:xfrm>
      </p:grpSpPr>
      <p:pic>
        <p:nvPicPr>
          <p:cNvPr descr="/home/claude/work/a2/light_wash.jpg" id="486" name="Google Shape;486;p14"/>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487" name="Google Shape;487;p14"/>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b="1" lang="en-US" sz="800">
                <a:solidFill>
                  <a:srgbClr val="13234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488" name="Google Shape;488;p14"/>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Candidate Payload Assessment</a:t>
            </a:r>
            <a:endParaRPr sz="3000">
              <a:solidFill>
                <a:schemeClr val="dk1"/>
              </a:solidFill>
              <a:latin typeface="Calibri"/>
              <a:ea typeface="Calibri"/>
              <a:cs typeface="Calibri"/>
              <a:sym typeface="Calibri"/>
            </a:endParaRPr>
          </a:p>
        </p:txBody>
      </p:sp>
      <p:sp>
        <p:nvSpPr>
          <p:cNvPr id="489" name="Google Shape;489;p14"/>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Five candidate payloads were assessed against the required observable and the orbiter, only architecture.</a:t>
            </a:r>
            <a:endParaRPr sz="1400">
              <a:solidFill>
                <a:schemeClr val="dk1"/>
              </a:solidFill>
              <a:latin typeface="Arial"/>
              <a:ea typeface="Arial"/>
              <a:cs typeface="Arial"/>
              <a:sym typeface="Arial"/>
            </a:endParaRPr>
          </a:p>
        </p:txBody>
      </p:sp>
      <p:sp>
        <p:nvSpPr>
          <p:cNvPr id="490" name="Google Shape;490;p14"/>
          <p:cNvSpPr/>
          <p:nvPr/>
        </p:nvSpPr>
        <p:spPr>
          <a:xfrm>
            <a:off x="658368" y="1920240"/>
            <a:ext cx="10874959" cy="566928"/>
          </a:xfrm>
          <a:prstGeom prst="roundRect">
            <a:avLst>
              <a:gd fmla="val 11290" name="adj"/>
            </a:avLst>
          </a:prstGeom>
          <a:solidFill>
            <a:srgbClr val="FFFFFF"/>
          </a:solidFill>
          <a:ln cap="flat" cmpd="sng" w="9525">
            <a:solidFill>
              <a:srgbClr val="C4CFE0"/>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1" name="Google Shape;491;p14"/>
          <p:cNvSpPr/>
          <p:nvPr/>
        </p:nvSpPr>
        <p:spPr>
          <a:xfrm>
            <a:off x="987552" y="1920240"/>
            <a:ext cx="47548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Mössbauer Spectrometer</a:t>
            </a:r>
            <a:endParaRPr sz="1400">
              <a:solidFill>
                <a:schemeClr val="dk1"/>
              </a:solidFill>
              <a:latin typeface="Calibri"/>
              <a:ea typeface="Calibri"/>
              <a:cs typeface="Calibri"/>
              <a:sym typeface="Calibri"/>
            </a:endParaRPr>
          </a:p>
        </p:txBody>
      </p:sp>
      <p:sp>
        <p:nvSpPr>
          <p:cNvPr id="492" name="Google Shape;492;p14"/>
          <p:cNvSpPr/>
          <p:nvPr/>
        </p:nvSpPr>
        <p:spPr>
          <a:xfrm>
            <a:off x="5760720" y="2061972"/>
            <a:ext cx="283464" cy="283464"/>
          </a:xfrm>
          <a:prstGeom prst="ellipse">
            <a:avLst/>
          </a:prstGeom>
          <a:solidFill>
            <a:srgbClr val="C0563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3" name="Google Shape;493;p14"/>
          <p:cNvSpPr/>
          <p:nvPr/>
        </p:nvSpPr>
        <p:spPr>
          <a:xfrm>
            <a:off x="5760720" y="2061972"/>
            <a:ext cx="283464" cy="2834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t>
            </a:r>
            <a:endParaRPr sz="1200">
              <a:solidFill>
                <a:schemeClr val="dk1"/>
              </a:solidFill>
              <a:latin typeface="Calibri"/>
              <a:ea typeface="Calibri"/>
              <a:cs typeface="Calibri"/>
              <a:sym typeface="Calibri"/>
            </a:endParaRPr>
          </a:p>
        </p:txBody>
      </p:sp>
      <p:sp>
        <p:nvSpPr>
          <p:cNvPr id="494" name="Google Shape;494;p14"/>
          <p:cNvSpPr/>
          <p:nvPr/>
        </p:nvSpPr>
        <p:spPr>
          <a:xfrm>
            <a:off x="6272784" y="1920240"/>
            <a:ext cx="4937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100"/>
              <a:buFont typeface="Courier New"/>
              <a:buNone/>
            </a:pPr>
            <a:r>
              <a:rPr lang="en-US" sz="1100">
                <a:solidFill>
                  <a:srgbClr val="4C5468"/>
                </a:solidFill>
                <a:latin typeface="Courier New"/>
                <a:ea typeface="Courier New"/>
                <a:cs typeface="Courier New"/>
                <a:sym typeface="Courier New"/>
              </a:rPr>
              <a:t>Landing required</a:t>
            </a:r>
            <a:endParaRPr sz="1100">
              <a:solidFill>
                <a:schemeClr val="dk1"/>
              </a:solidFill>
              <a:latin typeface="Courier New"/>
              <a:ea typeface="Courier New"/>
              <a:cs typeface="Courier New"/>
              <a:sym typeface="Courier New"/>
            </a:endParaRPr>
          </a:p>
        </p:txBody>
      </p:sp>
      <p:sp>
        <p:nvSpPr>
          <p:cNvPr id="495" name="Google Shape;495;p14"/>
          <p:cNvSpPr/>
          <p:nvPr/>
        </p:nvSpPr>
        <p:spPr>
          <a:xfrm>
            <a:off x="658368" y="2596896"/>
            <a:ext cx="10874959" cy="566928"/>
          </a:xfrm>
          <a:prstGeom prst="roundRect">
            <a:avLst>
              <a:gd fmla="val 11290" name="adj"/>
            </a:avLst>
          </a:prstGeom>
          <a:solidFill>
            <a:srgbClr val="FFFFFF"/>
          </a:solidFill>
          <a:ln cap="flat" cmpd="sng" w="9525">
            <a:solidFill>
              <a:srgbClr val="C4CFE0"/>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6" name="Google Shape;496;p14"/>
          <p:cNvSpPr/>
          <p:nvPr/>
        </p:nvSpPr>
        <p:spPr>
          <a:xfrm>
            <a:off x="987552" y="2596896"/>
            <a:ext cx="47548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MicrOmega Microscope</a:t>
            </a:r>
            <a:endParaRPr sz="1400">
              <a:solidFill>
                <a:schemeClr val="dk1"/>
              </a:solidFill>
              <a:latin typeface="Calibri"/>
              <a:ea typeface="Calibri"/>
              <a:cs typeface="Calibri"/>
              <a:sym typeface="Calibri"/>
            </a:endParaRPr>
          </a:p>
        </p:txBody>
      </p:sp>
      <p:sp>
        <p:nvSpPr>
          <p:cNvPr id="497" name="Google Shape;497;p14"/>
          <p:cNvSpPr/>
          <p:nvPr/>
        </p:nvSpPr>
        <p:spPr>
          <a:xfrm>
            <a:off x="5760720" y="2738628"/>
            <a:ext cx="283464" cy="283464"/>
          </a:xfrm>
          <a:prstGeom prst="ellipse">
            <a:avLst/>
          </a:prstGeom>
          <a:solidFill>
            <a:srgbClr val="C0563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98" name="Google Shape;498;p14"/>
          <p:cNvSpPr/>
          <p:nvPr/>
        </p:nvSpPr>
        <p:spPr>
          <a:xfrm>
            <a:off x="5760720" y="2738628"/>
            <a:ext cx="283464" cy="2834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t>
            </a:r>
            <a:endParaRPr sz="1200">
              <a:solidFill>
                <a:schemeClr val="dk1"/>
              </a:solidFill>
              <a:latin typeface="Calibri"/>
              <a:ea typeface="Calibri"/>
              <a:cs typeface="Calibri"/>
              <a:sym typeface="Calibri"/>
            </a:endParaRPr>
          </a:p>
        </p:txBody>
      </p:sp>
      <p:sp>
        <p:nvSpPr>
          <p:cNvPr id="499" name="Google Shape;499;p14"/>
          <p:cNvSpPr/>
          <p:nvPr/>
        </p:nvSpPr>
        <p:spPr>
          <a:xfrm>
            <a:off x="6272784" y="2596896"/>
            <a:ext cx="4937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100"/>
              <a:buFont typeface="Courier New"/>
              <a:buNone/>
            </a:pPr>
            <a:r>
              <a:rPr lang="en-US" sz="1100">
                <a:solidFill>
                  <a:srgbClr val="4C5468"/>
                </a:solidFill>
                <a:latin typeface="Courier New"/>
                <a:ea typeface="Courier New"/>
                <a:cs typeface="Courier New"/>
                <a:sym typeface="Courier New"/>
              </a:rPr>
              <a:t>Landing required</a:t>
            </a:r>
            <a:endParaRPr sz="1100">
              <a:solidFill>
                <a:schemeClr val="dk1"/>
              </a:solidFill>
              <a:latin typeface="Courier New"/>
              <a:ea typeface="Courier New"/>
              <a:cs typeface="Courier New"/>
              <a:sym typeface="Courier New"/>
            </a:endParaRPr>
          </a:p>
        </p:txBody>
      </p:sp>
      <p:sp>
        <p:nvSpPr>
          <p:cNvPr id="500" name="Google Shape;500;p14"/>
          <p:cNvSpPr/>
          <p:nvPr/>
        </p:nvSpPr>
        <p:spPr>
          <a:xfrm>
            <a:off x="658368" y="3273552"/>
            <a:ext cx="10874959" cy="566928"/>
          </a:xfrm>
          <a:prstGeom prst="roundRect">
            <a:avLst>
              <a:gd fmla="val 11290" name="adj"/>
            </a:avLst>
          </a:prstGeom>
          <a:solidFill>
            <a:srgbClr val="FFFFFF"/>
          </a:solidFill>
          <a:ln cap="flat" cmpd="sng" w="9525">
            <a:solidFill>
              <a:srgbClr val="C4CFE0"/>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1" name="Google Shape;501;p14"/>
          <p:cNvSpPr/>
          <p:nvPr/>
        </p:nvSpPr>
        <p:spPr>
          <a:xfrm>
            <a:off x="987552" y="3273552"/>
            <a:ext cx="47548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LIBS, ChemCam class</a:t>
            </a:r>
            <a:endParaRPr sz="1400">
              <a:solidFill>
                <a:schemeClr val="dk1"/>
              </a:solidFill>
              <a:latin typeface="Calibri"/>
              <a:ea typeface="Calibri"/>
              <a:cs typeface="Calibri"/>
              <a:sym typeface="Calibri"/>
            </a:endParaRPr>
          </a:p>
        </p:txBody>
      </p:sp>
      <p:sp>
        <p:nvSpPr>
          <p:cNvPr id="502" name="Google Shape;502;p14"/>
          <p:cNvSpPr/>
          <p:nvPr/>
        </p:nvSpPr>
        <p:spPr>
          <a:xfrm>
            <a:off x="5760720" y="3415284"/>
            <a:ext cx="283464" cy="283464"/>
          </a:xfrm>
          <a:prstGeom prst="ellipse">
            <a:avLst/>
          </a:prstGeom>
          <a:solidFill>
            <a:srgbClr val="C0563F"/>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3" name="Google Shape;503;p14"/>
          <p:cNvSpPr/>
          <p:nvPr/>
        </p:nvSpPr>
        <p:spPr>
          <a:xfrm>
            <a:off x="5760720" y="3415284"/>
            <a:ext cx="283464" cy="2834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t>
            </a:r>
            <a:endParaRPr sz="1200">
              <a:solidFill>
                <a:schemeClr val="dk1"/>
              </a:solidFill>
              <a:latin typeface="Calibri"/>
              <a:ea typeface="Calibri"/>
              <a:cs typeface="Calibri"/>
              <a:sym typeface="Calibri"/>
            </a:endParaRPr>
          </a:p>
        </p:txBody>
      </p:sp>
      <p:sp>
        <p:nvSpPr>
          <p:cNvPr id="504" name="Google Shape;504;p14"/>
          <p:cNvSpPr/>
          <p:nvPr/>
        </p:nvSpPr>
        <p:spPr>
          <a:xfrm>
            <a:off x="6272784" y="3273552"/>
            <a:ext cx="4937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100"/>
              <a:buFont typeface="Courier New"/>
              <a:buNone/>
            </a:pPr>
            <a:r>
              <a:rPr lang="en-US" sz="1100">
                <a:solidFill>
                  <a:srgbClr val="4C5468"/>
                </a:solidFill>
                <a:latin typeface="Courier New"/>
                <a:ea typeface="Courier New"/>
                <a:cs typeface="Courier New"/>
                <a:sym typeface="Courier New"/>
              </a:rPr>
              <a:t>Close-range operation required</a:t>
            </a:r>
            <a:endParaRPr sz="1100">
              <a:solidFill>
                <a:schemeClr val="dk1"/>
              </a:solidFill>
              <a:latin typeface="Courier New"/>
              <a:ea typeface="Courier New"/>
              <a:cs typeface="Courier New"/>
              <a:sym typeface="Courier New"/>
            </a:endParaRPr>
          </a:p>
        </p:txBody>
      </p:sp>
      <p:sp>
        <p:nvSpPr>
          <p:cNvPr id="505" name="Google Shape;505;p14"/>
          <p:cNvSpPr/>
          <p:nvPr/>
        </p:nvSpPr>
        <p:spPr>
          <a:xfrm>
            <a:off x="658368" y="3950208"/>
            <a:ext cx="10874959" cy="566928"/>
          </a:xfrm>
          <a:prstGeom prst="roundRect">
            <a:avLst>
              <a:gd fmla="val 11290" name="adj"/>
            </a:avLst>
          </a:prstGeom>
          <a:solidFill>
            <a:srgbClr val="FFFFFF"/>
          </a:solidFill>
          <a:ln cap="flat" cmpd="sng" w="9525">
            <a:solidFill>
              <a:srgbClr val="C4CFE0"/>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6" name="Google Shape;506;p14"/>
          <p:cNvSpPr/>
          <p:nvPr/>
        </p:nvSpPr>
        <p:spPr>
          <a:xfrm>
            <a:off x="987552" y="3950208"/>
            <a:ext cx="47548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400"/>
              <a:buFont typeface="Arial"/>
              <a:buNone/>
            </a:pPr>
            <a:r>
              <a:rPr lang="en-US" sz="1400">
                <a:solidFill>
                  <a:srgbClr val="13234C"/>
                </a:solidFill>
                <a:latin typeface="Arial"/>
                <a:ea typeface="Arial"/>
                <a:cs typeface="Arial"/>
                <a:sym typeface="Arial"/>
              </a:rPr>
              <a:t>Neutron Spectrometer</a:t>
            </a:r>
            <a:endParaRPr sz="1400">
              <a:solidFill>
                <a:schemeClr val="dk1"/>
              </a:solidFill>
              <a:latin typeface="Calibri"/>
              <a:ea typeface="Calibri"/>
              <a:cs typeface="Calibri"/>
              <a:sym typeface="Calibri"/>
            </a:endParaRPr>
          </a:p>
        </p:txBody>
      </p:sp>
      <p:sp>
        <p:nvSpPr>
          <p:cNvPr id="507" name="Google Shape;507;p14"/>
          <p:cNvSpPr/>
          <p:nvPr/>
        </p:nvSpPr>
        <p:spPr>
          <a:xfrm>
            <a:off x="5760720" y="4091940"/>
            <a:ext cx="283464" cy="283464"/>
          </a:xfrm>
          <a:prstGeom prst="ellipse">
            <a:avLst/>
          </a:prstGeom>
          <a:solidFill>
            <a:srgbClr val="E8A33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8" name="Google Shape;508;p14"/>
          <p:cNvSpPr/>
          <p:nvPr/>
        </p:nvSpPr>
        <p:spPr>
          <a:xfrm>
            <a:off x="5760720" y="4091940"/>
            <a:ext cx="283464" cy="2834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t>
            </a:r>
            <a:endParaRPr sz="1200">
              <a:solidFill>
                <a:schemeClr val="dk1"/>
              </a:solidFill>
              <a:latin typeface="Calibri"/>
              <a:ea typeface="Calibri"/>
              <a:cs typeface="Calibri"/>
              <a:sym typeface="Calibri"/>
            </a:endParaRPr>
          </a:p>
        </p:txBody>
      </p:sp>
      <p:sp>
        <p:nvSpPr>
          <p:cNvPr id="509" name="Google Shape;509;p14"/>
          <p:cNvSpPr/>
          <p:nvPr/>
        </p:nvSpPr>
        <p:spPr>
          <a:xfrm>
            <a:off x="6272784" y="3950208"/>
            <a:ext cx="4937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1100"/>
              <a:buFont typeface="Courier New"/>
              <a:buNone/>
            </a:pPr>
            <a:r>
              <a:rPr lang="en-US" sz="1100">
                <a:solidFill>
                  <a:srgbClr val="4C5468"/>
                </a:solidFill>
                <a:latin typeface="Courier New"/>
                <a:ea typeface="Courier New"/>
                <a:cs typeface="Courier New"/>
                <a:sym typeface="Courier New"/>
              </a:rPr>
              <a:t>Partial scientific match</a:t>
            </a:r>
            <a:endParaRPr sz="1100">
              <a:solidFill>
                <a:schemeClr val="dk1"/>
              </a:solidFill>
              <a:latin typeface="Courier New"/>
              <a:ea typeface="Courier New"/>
              <a:cs typeface="Courier New"/>
              <a:sym typeface="Courier New"/>
            </a:endParaRPr>
          </a:p>
        </p:txBody>
      </p:sp>
      <p:sp>
        <p:nvSpPr>
          <p:cNvPr id="510" name="Google Shape;510;p14"/>
          <p:cNvSpPr/>
          <p:nvPr/>
        </p:nvSpPr>
        <p:spPr>
          <a:xfrm>
            <a:off x="658368" y="4626864"/>
            <a:ext cx="10874959" cy="566928"/>
          </a:xfrm>
          <a:prstGeom prst="roundRect">
            <a:avLst>
              <a:gd fmla="val 11290" name="adj"/>
            </a:avLst>
          </a:prstGeom>
          <a:solidFill>
            <a:srgbClr val="F2F9F5"/>
          </a:solidFill>
          <a:ln cap="flat" cmpd="sng" w="19050">
            <a:solidFill>
              <a:srgbClr val="2E9E6B"/>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1" name="Google Shape;511;p14"/>
          <p:cNvSpPr/>
          <p:nvPr/>
        </p:nvSpPr>
        <p:spPr>
          <a:xfrm>
            <a:off x="987552" y="4626864"/>
            <a:ext cx="475488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500"/>
              <a:buFont typeface="Arial"/>
              <a:buNone/>
            </a:pPr>
            <a:r>
              <a:rPr lang="en-US" sz="1500">
                <a:solidFill>
                  <a:srgbClr val="13234C"/>
                </a:solidFill>
                <a:latin typeface="Arial"/>
                <a:ea typeface="Arial"/>
                <a:cs typeface="Arial"/>
                <a:sym typeface="Arial"/>
              </a:rPr>
              <a:t>Gamma-Ray Spectrometer</a:t>
            </a:r>
            <a:endParaRPr sz="1500">
              <a:solidFill>
                <a:schemeClr val="dk1"/>
              </a:solidFill>
              <a:latin typeface="Calibri"/>
              <a:ea typeface="Calibri"/>
              <a:cs typeface="Calibri"/>
              <a:sym typeface="Calibri"/>
            </a:endParaRPr>
          </a:p>
        </p:txBody>
      </p:sp>
      <p:sp>
        <p:nvSpPr>
          <p:cNvPr id="512" name="Google Shape;512;p14"/>
          <p:cNvSpPr/>
          <p:nvPr/>
        </p:nvSpPr>
        <p:spPr>
          <a:xfrm>
            <a:off x="5760720" y="4768596"/>
            <a:ext cx="283464" cy="283464"/>
          </a:xfrm>
          <a:prstGeom prst="ellipse">
            <a:avLst/>
          </a:prstGeom>
          <a:solidFill>
            <a:srgbClr val="2E9E6B"/>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3" name="Google Shape;513;p14"/>
          <p:cNvSpPr/>
          <p:nvPr/>
        </p:nvSpPr>
        <p:spPr>
          <a:xfrm>
            <a:off x="5760720" y="4768596"/>
            <a:ext cx="283464" cy="28346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200"/>
              <a:buFont typeface="Arial"/>
              <a:buNone/>
            </a:pPr>
            <a:r>
              <a:rPr b="1" lang="en-US" sz="1200">
                <a:solidFill>
                  <a:srgbClr val="FFFFFF"/>
                </a:solidFill>
                <a:latin typeface="Arial"/>
                <a:ea typeface="Arial"/>
                <a:cs typeface="Arial"/>
                <a:sym typeface="Arial"/>
              </a:rPr>
              <a:t>✓</a:t>
            </a:r>
            <a:endParaRPr sz="1200">
              <a:solidFill>
                <a:schemeClr val="dk1"/>
              </a:solidFill>
              <a:latin typeface="Calibri"/>
              <a:ea typeface="Calibri"/>
              <a:cs typeface="Calibri"/>
              <a:sym typeface="Calibri"/>
            </a:endParaRPr>
          </a:p>
        </p:txBody>
      </p:sp>
      <p:sp>
        <p:nvSpPr>
          <p:cNvPr id="514" name="Google Shape;514;p14"/>
          <p:cNvSpPr/>
          <p:nvPr/>
        </p:nvSpPr>
        <p:spPr>
          <a:xfrm>
            <a:off x="6272784" y="4626864"/>
            <a:ext cx="4937760" cy="56692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F6B4A"/>
              </a:buClr>
              <a:buSzPts val="1100"/>
              <a:buFont typeface="Courier New"/>
              <a:buNone/>
            </a:pPr>
            <a:r>
              <a:rPr b="1" lang="en-US" sz="1100">
                <a:solidFill>
                  <a:srgbClr val="1F6B4A"/>
                </a:solidFill>
                <a:latin typeface="Courier New"/>
                <a:ea typeface="Courier New"/>
                <a:cs typeface="Courier New"/>
                <a:sym typeface="Courier New"/>
              </a:rPr>
              <a:t>Direct match</a:t>
            </a:r>
            <a:endParaRPr sz="1100">
              <a:solidFill>
                <a:schemeClr val="dk1"/>
              </a:solidFill>
              <a:latin typeface="Courier New"/>
              <a:ea typeface="Courier New"/>
              <a:cs typeface="Courier New"/>
              <a:sym typeface="Courier New"/>
            </a:endParaRPr>
          </a:p>
        </p:txBody>
      </p:sp>
      <p:sp>
        <p:nvSpPr>
          <p:cNvPr id="515" name="Google Shape;515;p14"/>
          <p:cNvSpPr/>
          <p:nvPr/>
        </p:nvSpPr>
        <p:spPr>
          <a:xfrm>
            <a:off x="658368" y="5321808"/>
            <a:ext cx="10874959" cy="713232"/>
          </a:xfrm>
          <a:prstGeom prst="roundRect">
            <a:avLst>
              <a:gd fmla="val 10256" name="adj"/>
            </a:avLst>
          </a:prstGeom>
          <a:solidFill>
            <a:srgbClr val="0E1A38"/>
          </a:solidFill>
          <a:ln>
            <a:noFill/>
          </a:ln>
          <a:effectLst>
            <a:outerShdw blurRad="50800" rotWithShape="0" algn="t" dir="54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4"/>
          <p:cNvSpPr/>
          <p:nvPr/>
        </p:nvSpPr>
        <p:spPr>
          <a:xfrm>
            <a:off x="658368" y="5321808"/>
            <a:ext cx="10874959" cy="7132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FF3FA"/>
              </a:buClr>
              <a:buSzPts val="1400"/>
              <a:buFont typeface="Arial"/>
              <a:buNone/>
            </a:pPr>
            <a:r>
              <a:rPr lang="en-US" sz="1400">
                <a:solidFill>
                  <a:srgbClr val="EFF3FA"/>
                </a:solidFill>
                <a:latin typeface="Arial"/>
                <a:ea typeface="Arial"/>
                <a:cs typeface="Arial"/>
                <a:sym typeface="Arial"/>
              </a:rPr>
              <a:t>GRS is the only candidate that directly measures the required observable from the existing mission architecture.</a:t>
            </a:r>
            <a:endParaRPr sz="1400">
              <a:solidFill>
                <a:schemeClr val="dk1"/>
              </a:solidFill>
              <a:latin typeface="Calibri"/>
              <a:ea typeface="Calibri"/>
              <a:cs typeface="Calibri"/>
              <a:sym typeface="Calibri"/>
            </a:endParaRPr>
          </a:p>
        </p:txBody>
      </p:sp>
      <p:sp>
        <p:nvSpPr>
          <p:cNvPr id="517" name="Google Shape;517;p14"/>
          <p:cNvSpPr/>
          <p:nvPr/>
        </p:nvSpPr>
        <p:spPr>
          <a:xfrm>
            <a:off x="6035040" y="6272784"/>
            <a:ext cx="484632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900"/>
              <a:buFont typeface="Arial"/>
              <a:buNone/>
            </a:pPr>
            <a:r>
              <a:rPr i="1" lang="en-US" sz="900">
                <a:solidFill>
                  <a:srgbClr val="79839A"/>
                </a:solidFill>
                <a:latin typeface="Arial"/>
                <a:ea typeface="Arial"/>
                <a:cs typeface="Arial"/>
                <a:sym typeface="Arial"/>
              </a:rPr>
              <a:t>Full five-criteria assessment in appendix.</a:t>
            </a:r>
            <a:endParaRPr sz="900">
              <a:solidFill>
                <a:schemeClr val="dk1"/>
              </a:solidFill>
              <a:latin typeface="Calibri"/>
              <a:ea typeface="Calibri"/>
              <a:cs typeface="Calibri"/>
              <a:sym typeface="Calibri"/>
            </a:endParaRPr>
          </a:p>
        </p:txBody>
      </p:sp>
      <p:sp>
        <p:nvSpPr>
          <p:cNvPr id="518" name="Google Shape;518;p14"/>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11</a:t>
            </a:r>
            <a:endParaRPr sz="1000">
              <a:solidFill>
                <a:schemeClr val="dk1"/>
              </a:solidFill>
              <a:latin typeface="Calibri"/>
              <a:ea typeface="Calibri"/>
              <a:cs typeface="Calibri"/>
              <a:sym typeface="Calibri"/>
            </a:endParaRPr>
          </a:p>
        </p:txBody>
      </p:sp>
      <p:pic>
        <p:nvPicPr>
          <p:cNvPr descr="/home/claude/work/a2/logo_dark.png" id="519" name="Google Shape;519;p14"/>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520" name="Google Shape;520;p14"/>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525" name="Shape 525"/>
        <p:cNvGrpSpPr/>
        <p:nvPr/>
      </p:nvGrpSpPr>
      <p:grpSpPr>
        <a:xfrm>
          <a:off x="0" y="0"/>
          <a:ext cx="0" cy="0"/>
          <a:chOff x="0" y="0"/>
          <a:chExt cx="0" cy="0"/>
        </a:xfrm>
      </p:grpSpPr>
      <p:pic>
        <p:nvPicPr>
          <p:cNvPr descr="/home/claude/work/a2/glow_deep.jpg" id="526" name="Google Shape;526;p15"/>
          <p:cNvPicPr preferRelativeResize="0"/>
          <p:nvPr/>
        </p:nvPicPr>
        <p:blipFill rotWithShape="1">
          <a:blip r:embed="rId3">
            <a:alphaModFix/>
          </a:blip>
          <a:srcRect b="0" l="0" r="0" t="0"/>
          <a:stretch/>
        </p:blipFill>
        <p:spPr>
          <a:xfrm>
            <a:off x="0" y="0"/>
            <a:ext cx="12191695" cy="6858000"/>
          </a:xfrm>
          <a:prstGeom prst="rect">
            <a:avLst/>
          </a:prstGeom>
          <a:noFill/>
          <a:ln>
            <a:noFill/>
          </a:ln>
        </p:spPr>
      </p:pic>
      <p:pic>
        <p:nvPicPr>
          <p:cNvPr descr="/home/claude/work/a2/orbiter.png" id="527" name="Google Shape;527;p15"/>
          <p:cNvPicPr preferRelativeResize="0"/>
          <p:nvPr/>
        </p:nvPicPr>
        <p:blipFill rotWithShape="1">
          <a:blip r:embed="rId4">
            <a:alphaModFix amt="70000"/>
          </a:blip>
          <a:srcRect b="0" l="0" r="0" t="0"/>
          <a:stretch/>
        </p:blipFill>
        <p:spPr>
          <a:xfrm rot="504685">
            <a:off x="7652691" y="-70249"/>
            <a:ext cx="3965649" cy="5280988"/>
          </a:xfrm>
          <a:prstGeom prst="rect">
            <a:avLst/>
          </a:prstGeom>
          <a:noFill/>
          <a:ln>
            <a:noFill/>
          </a:ln>
        </p:spPr>
      </p:pic>
      <p:pic>
        <p:nvPicPr>
          <p:cNvPr descr="/home/claude/work/a2/logo_white.png" id="528" name="Google Shape;528;p15"/>
          <p:cNvPicPr preferRelativeResize="0"/>
          <p:nvPr/>
        </p:nvPicPr>
        <p:blipFill rotWithShape="1">
          <a:blip r:embed="rId5">
            <a:alphaModFix/>
          </a:blip>
          <a:srcRect b="0" l="0" r="0" t="0"/>
          <a:stretch/>
        </p:blipFill>
        <p:spPr>
          <a:xfrm>
            <a:off x="10806379" y="293641"/>
            <a:ext cx="1133856" cy="478231"/>
          </a:xfrm>
          <a:prstGeom prst="rect">
            <a:avLst/>
          </a:prstGeom>
          <a:noFill/>
          <a:ln>
            <a:noFill/>
          </a:ln>
        </p:spPr>
      </p:pic>
      <p:sp>
        <p:nvSpPr>
          <p:cNvPr id="529" name="Google Shape;529;p15"/>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07C"/>
              </a:buClr>
              <a:buSzPts val="800"/>
              <a:buFont typeface="Courier New"/>
              <a:buNone/>
            </a:pPr>
            <a:r>
              <a:rPr lang="en-US" sz="800">
                <a:solidFill>
                  <a:srgbClr val="54607C"/>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b="1" lang="en-US" sz="800">
                <a:solidFill>
                  <a:srgbClr val="E8A33D"/>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530" name="Google Shape;530;p15"/>
          <p:cNvSpPr/>
          <p:nvPr/>
        </p:nvSpPr>
        <p:spPr>
          <a:xfrm>
            <a:off x="658368" y="530352"/>
            <a:ext cx="9052560" cy="475488"/>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BA7C0"/>
              </a:buClr>
              <a:buSzPts val="2600"/>
              <a:buFont typeface="Arial"/>
              <a:buNone/>
            </a:pPr>
            <a:r>
              <a:rPr b="1" lang="en-US" sz="2600">
                <a:solidFill>
                  <a:srgbClr val="9BA7C0"/>
                </a:solidFill>
                <a:latin typeface="Arial"/>
                <a:ea typeface="Arial"/>
                <a:cs typeface="Arial"/>
                <a:sym typeface="Arial"/>
              </a:rPr>
              <a:t>Recommendation</a:t>
            </a:r>
            <a:endParaRPr sz="2600">
              <a:solidFill>
                <a:schemeClr val="dk1"/>
              </a:solidFill>
              <a:latin typeface="Calibri"/>
              <a:ea typeface="Calibri"/>
              <a:cs typeface="Calibri"/>
              <a:sym typeface="Calibri"/>
            </a:endParaRPr>
          </a:p>
        </p:txBody>
      </p:sp>
      <p:sp>
        <p:nvSpPr>
          <p:cNvPr id="531" name="Google Shape;531;p15"/>
          <p:cNvSpPr/>
          <p:nvPr/>
        </p:nvSpPr>
        <p:spPr>
          <a:xfrm>
            <a:off x="658368" y="1371600"/>
            <a:ext cx="73152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000"/>
              <a:buFont typeface="Courier New"/>
              <a:buNone/>
            </a:pPr>
            <a:r>
              <a:rPr b="1" lang="en-US" sz="1000">
                <a:solidFill>
                  <a:srgbClr val="00B0F0"/>
                </a:solidFill>
                <a:latin typeface="Courier New"/>
                <a:ea typeface="Courier New"/>
                <a:cs typeface="Courier New"/>
                <a:sym typeface="Courier New"/>
              </a:rPr>
              <a:t>RECOMMENDED PAYLOAD ENHANCEMENT</a:t>
            </a:r>
            <a:endParaRPr sz="1000">
              <a:solidFill>
                <a:srgbClr val="00B0F0"/>
              </a:solidFill>
              <a:latin typeface="Courier New"/>
              <a:ea typeface="Courier New"/>
              <a:cs typeface="Courier New"/>
              <a:sym typeface="Courier New"/>
            </a:endParaRPr>
          </a:p>
        </p:txBody>
      </p:sp>
      <p:sp>
        <p:nvSpPr>
          <p:cNvPr id="532" name="Google Shape;532;p15"/>
          <p:cNvSpPr/>
          <p:nvPr/>
        </p:nvSpPr>
        <p:spPr>
          <a:xfrm>
            <a:off x="658368" y="1645920"/>
            <a:ext cx="8778240" cy="713232"/>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3800"/>
              <a:buFont typeface="Arial"/>
              <a:buNone/>
            </a:pPr>
            <a:r>
              <a:rPr b="1" lang="en-US" sz="3800">
                <a:solidFill>
                  <a:srgbClr val="FFFFFF"/>
                </a:solidFill>
                <a:latin typeface="Arial"/>
                <a:ea typeface="Arial"/>
                <a:cs typeface="Arial"/>
                <a:sym typeface="Arial"/>
              </a:rPr>
              <a:t>Gamma-Ray Spectrometer</a:t>
            </a:r>
            <a:endParaRPr sz="3800">
              <a:solidFill>
                <a:schemeClr val="dk1"/>
              </a:solidFill>
              <a:latin typeface="Calibri"/>
              <a:ea typeface="Calibri"/>
              <a:cs typeface="Calibri"/>
              <a:sym typeface="Calibri"/>
            </a:endParaRPr>
          </a:p>
        </p:txBody>
      </p:sp>
      <p:sp>
        <p:nvSpPr>
          <p:cNvPr id="533" name="Google Shape;533;p15"/>
          <p:cNvSpPr/>
          <p:nvPr/>
        </p:nvSpPr>
        <p:spPr>
          <a:xfrm>
            <a:off x="658368" y="2468880"/>
            <a:ext cx="1737360" cy="9144"/>
          </a:xfrm>
          <a:prstGeom prst="rect">
            <a:avLst/>
          </a:prstGeom>
          <a:solidFill>
            <a:srgbClr val="4A587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15"/>
          <p:cNvSpPr/>
          <p:nvPr/>
        </p:nvSpPr>
        <p:spPr>
          <a:xfrm>
            <a:off x="658368" y="2560320"/>
            <a:ext cx="5486400" cy="2743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9CBBE6"/>
              </a:buClr>
              <a:buSzPts val="1200"/>
              <a:buFont typeface="Courier New"/>
              <a:buNone/>
            </a:pPr>
            <a:r>
              <a:rPr lang="en-US" sz="1200">
                <a:solidFill>
                  <a:srgbClr val="9CBBE6"/>
                </a:solidFill>
                <a:latin typeface="Courier New"/>
                <a:ea typeface="Courier New"/>
                <a:cs typeface="Courier New"/>
                <a:sym typeface="Courier New"/>
              </a:rPr>
              <a:t>RAMSES Main Orbiter</a:t>
            </a:r>
            <a:endParaRPr sz="1200">
              <a:solidFill>
                <a:schemeClr val="dk1"/>
              </a:solidFill>
              <a:latin typeface="Courier New"/>
              <a:ea typeface="Courier New"/>
              <a:cs typeface="Courier New"/>
              <a:sym typeface="Courier New"/>
            </a:endParaRPr>
          </a:p>
        </p:txBody>
      </p:sp>
      <p:sp>
        <p:nvSpPr>
          <p:cNvPr id="535" name="Google Shape;535;p15"/>
          <p:cNvSpPr/>
          <p:nvPr/>
        </p:nvSpPr>
        <p:spPr>
          <a:xfrm>
            <a:off x="658368" y="3035808"/>
            <a:ext cx="27432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A7C0"/>
              </a:buClr>
              <a:buSzPts val="1200"/>
              <a:buFont typeface="Courier New"/>
              <a:buNone/>
            </a:pPr>
            <a:r>
              <a:rPr b="1" lang="en-US" sz="1200">
                <a:solidFill>
                  <a:srgbClr val="9BA7C0"/>
                </a:solidFill>
                <a:latin typeface="Courier New"/>
                <a:ea typeface="Courier New"/>
                <a:cs typeface="Courier New"/>
                <a:sym typeface="Courier New"/>
              </a:rPr>
              <a:t>WHY</a:t>
            </a:r>
            <a:endParaRPr sz="1200">
              <a:solidFill>
                <a:schemeClr val="dk1"/>
              </a:solidFill>
              <a:latin typeface="Courier New"/>
              <a:ea typeface="Courier New"/>
              <a:cs typeface="Courier New"/>
              <a:sym typeface="Courier New"/>
            </a:endParaRPr>
          </a:p>
        </p:txBody>
      </p:sp>
      <p:sp>
        <p:nvSpPr>
          <p:cNvPr id="536" name="Google Shape;536;p15"/>
          <p:cNvSpPr/>
          <p:nvPr/>
        </p:nvSpPr>
        <p:spPr>
          <a:xfrm>
            <a:off x="658368" y="3328416"/>
            <a:ext cx="2014057" cy="1207008"/>
          </a:xfrm>
          <a:prstGeom prst="roundRect">
            <a:avLst>
              <a:gd fmla="val 6061"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5"/>
          <p:cNvSpPr/>
          <p:nvPr/>
        </p:nvSpPr>
        <p:spPr>
          <a:xfrm>
            <a:off x="859536" y="3493008"/>
            <a:ext cx="548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100"/>
              <a:buFont typeface="Courier New"/>
              <a:buNone/>
            </a:pPr>
            <a:r>
              <a:rPr b="1" lang="en-US" sz="1100">
                <a:solidFill>
                  <a:srgbClr val="00B0F0"/>
                </a:solidFill>
                <a:latin typeface="Courier New"/>
                <a:ea typeface="Courier New"/>
                <a:cs typeface="Courier New"/>
                <a:sym typeface="Courier New"/>
              </a:rPr>
              <a:t>01</a:t>
            </a:r>
            <a:endParaRPr sz="1100">
              <a:solidFill>
                <a:srgbClr val="00B0F0"/>
              </a:solidFill>
              <a:latin typeface="Courier New"/>
              <a:ea typeface="Courier New"/>
              <a:cs typeface="Courier New"/>
              <a:sym typeface="Courier New"/>
            </a:endParaRPr>
          </a:p>
        </p:txBody>
      </p:sp>
      <p:sp>
        <p:nvSpPr>
          <p:cNvPr id="538" name="Google Shape;538;p15"/>
          <p:cNvSpPr/>
          <p:nvPr/>
        </p:nvSpPr>
        <p:spPr>
          <a:xfrm>
            <a:off x="859536" y="3785616"/>
            <a:ext cx="1611721" cy="658368"/>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FFFFFF"/>
              </a:buClr>
              <a:buSzPts val="1400"/>
              <a:buFont typeface="Arial"/>
              <a:buNone/>
            </a:pPr>
            <a:r>
              <a:rPr lang="en-US" sz="1400">
                <a:solidFill>
                  <a:srgbClr val="FFFFFF"/>
                </a:solidFill>
                <a:latin typeface="Arial"/>
                <a:ea typeface="Arial"/>
                <a:cs typeface="Arial"/>
                <a:sym typeface="Arial"/>
              </a:rPr>
              <a:t>Independent of reflected light</a:t>
            </a:r>
            <a:endParaRPr sz="1400">
              <a:solidFill>
                <a:schemeClr val="dk1"/>
              </a:solidFill>
              <a:latin typeface="Arial"/>
              <a:ea typeface="Arial"/>
              <a:cs typeface="Arial"/>
              <a:sym typeface="Arial"/>
            </a:endParaRPr>
          </a:p>
        </p:txBody>
      </p:sp>
      <p:sp>
        <p:nvSpPr>
          <p:cNvPr id="539" name="Google Shape;539;p15"/>
          <p:cNvSpPr/>
          <p:nvPr/>
        </p:nvSpPr>
        <p:spPr>
          <a:xfrm>
            <a:off x="2873593" y="3328416"/>
            <a:ext cx="2014057" cy="1207008"/>
          </a:xfrm>
          <a:prstGeom prst="roundRect">
            <a:avLst>
              <a:gd fmla="val 6061"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15"/>
          <p:cNvSpPr/>
          <p:nvPr/>
        </p:nvSpPr>
        <p:spPr>
          <a:xfrm>
            <a:off x="3074761" y="3493008"/>
            <a:ext cx="548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100"/>
              <a:buFont typeface="Courier New"/>
              <a:buNone/>
            </a:pPr>
            <a:r>
              <a:rPr b="1" lang="en-US" sz="1100">
                <a:solidFill>
                  <a:srgbClr val="00B0F0"/>
                </a:solidFill>
                <a:latin typeface="Courier New"/>
                <a:ea typeface="Courier New"/>
                <a:cs typeface="Courier New"/>
                <a:sym typeface="Courier New"/>
              </a:rPr>
              <a:t>02</a:t>
            </a:r>
            <a:endParaRPr sz="1100">
              <a:solidFill>
                <a:srgbClr val="00B0F0"/>
              </a:solidFill>
              <a:latin typeface="Courier New"/>
              <a:ea typeface="Courier New"/>
              <a:cs typeface="Courier New"/>
              <a:sym typeface="Courier New"/>
            </a:endParaRPr>
          </a:p>
        </p:txBody>
      </p:sp>
      <p:sp>
        <p:nvSpPr>
          <p:cNvPr id="541" name="Google Shape;541;p15"/>
          <p:cNvSpPr/>
          <p:nvPr/>
        </p:nvSpPr>
        <p:spPr>
          <a:xfrm>
            <a:off x="3074761" y="3785616"/>
            <a:ext cx="1611721" cy="658368"/>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FFFFFF"/>
              </a:buClr>
              <a:buSzPts val="1400"/>
              <a:buFont typeface="Arial"/>
              <a:buNone/>
            </a:pPr>
            <a:r>
              <a:rPr lang="en-US" sz="1400">
                <a:solidFill>
                  <a:srgbClr val="FFFFFF"/>
                </a:solidFill>
                <a:latin typeface="Arial"/>
                <a:ea typeface="Arial"/>
                <a:cs typeface="Arial"/>
                <a:sym typeface="Arial"/>
              </a:rPr>
              <a:t>Measures elemental abundance</a:t>
            </a:r>
            <a:endParaRPr sz="1400">
              <a:solidFill>
                <a:schemeClr val="dk1"/>
              </a:solidFill>
              <a:latin typeface="Arial"/>
              <a:ea typeface="Arial"/>
              <a:cs typeface="Arial"/>
              <a:sym typeface="Arial"/>
            </a:endParaRPr>
          </a:p>
        </p:txBody>
      </p:sp>
      <p:sp>
        <p:nvSpPr>
          <p:cNvPr id="542" name="Google Shape;542;p15"/>
          <p:cNvSpPr/>
          <p:nvPr/>
        </p:nvSpPr>
        <p:spPr>
          <a:xfrm>
            <a:off x="5088819" y="3328416"/>
            <a:ext cx="2014057" cy="1207008"/>
          </a:xfrm>
          <a:prstGeom prst="roundRect">
            <a:avLst>
              <a:gd fmla="val 6061"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15"/>
          <p:cNvSpPr/>
          <p:nvPr/>
        </p:nvSpPr>
        <p:spPr>
          <a:xfrm>
            <a:off x="5289987" y="3493008"/>
            <a:ext cx="548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100"/>
              <a:buFont typeface="Courier New"/>
              <a:buNone/>
            </a:pPr>
            <a:r>
              <a:rPr b="1" lang="en-US" sz="1100">
                <a:solidFill>
                  <a:srgbClr val="00B0F0"/>
                </a:solidFill>
                <a:latin typeface="Courier New"/>
                <a:ea typeface="Courier New"/>
                <a:cs typeface="Courier New"/>
                <a:sym typeface="Courier New"/>
              </a:rPr>
              <a:t>03</a:t>
            </a:r>
            <a:endParaRPr sz="1100">
              <a:solidFill>
                <a:srgbClr val="00B0F0"/>
              </a:solidFill>
              <a:latin typeface="Courier New"/>
              <a:ea typeface="Courier New"/>
              <a:cs typeface="Courier New"/>
              <a:sym typeface="Courier New"/>
            </a:endParaRPr>
          </a:p>
        </p:txBody>
      </p:sp>
      <p:sp>
        <p:nvSpPr>
          <p:cNvPr id="544" name="Google Shape;544;p15"/>
          <p:cNvSpPr/>
          <p:nvPr/>
        </p:nvSpPr>
        <p:spPr>
          <a:xfrm>
            <a:off x="5289987" y="3785616"/>
            <a:ext cx="1611721" cy="658368"/>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FFFFFF"/>
              </a:buClr>
              <a:buSzPts val="1400"/>
              <a:buFont typeface="Arial"/>
              <a:buNone/>
            </a:pPr>
            <a:r>
              <a:rPr lang="en-US" sz="1400">
                <a:solidFill>
                  <a:srgbClr val="FFFFFF"/>
                </a:solidFill>
                <a:latin typeface="Arial"/>
                <a:ea typeface="Arial"/>
                <a:cs typeface="Arial"/>
                <a:sym typeface="Arial"/>
              </a:rPr>
              <a:t>Samples below the weathered layer</a:t>
            </a:r>
            <a:endParaRPr sz="1400">
              <a:solidFill>
                <a:schemeClr val="dk1"/>
              </a:solidFill>
              <a:latin typeface="Arial"/>
              <a:ea typeface="Arial"/>
              <a:cs typeface="Arial"/>
              <a:sym typeface="Arial"/>
            </a:endParaRPr>
          </a:p>
        </p:txBody>
      </p:sp>
      <p:sp>
        <p:nvSpPr>
          <p:cNvPr id="545" name="Google Shape;545;p15"/>
          <p:cNvSpPr/>
          <p:nvPr/>
        </p:nvSpPr>
        <p:spPr>
          <a:xfrm>
            <a:off x="7304044" y="3328416"/>
            <a:ext cx="2014057" cy="1207008"/>
          </a:xfrm>
          <a:prstGeom prst="roundRect">
            <a:avLst>
              <a:gd fmla="val 6061"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6" name="Google Shape;546;p15"/>
          <p:cNvSpPr/>
          <p:nvPr/>
        </p:nvSpPr>
        <p:spPr>
          <a:xfrm>
            <a:off x="7505212" y="3493008"/>
            <a:ext cx="548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100"/>
              <a:buFont typeface="Courier New"/>
              <a:buNone/>
            </a:pPr>
            <a:r>
              <a:rPr b="1" lang="en-US" sz="1100">
                <a:solidFill>
                  <a:srgbClr val="00B0F0"/>
                </a:solidFill>
                <a:latin typeface="Courier New"/>
                <a:ea typeface="Courier New"/>
                <a:cs typeface="Courier New"/>
                <a:sym typeface="Courier New"/>
              </a:rPr>
              <a:t>04</a:t>
            </a:r>
            <a:endParaRPr sz="1100">
              <a:solidFill>
                <a:srgbClr val="00B0F0"/>
              </a:solidFill>
              <a:latin typeface="Courier New"/>
              <a:ea typeface="Courier New"/>
              <a:cs typeface="Courier New"/>
              <a:sym typeface="Courier New"/>
            </a:endParaRPr>
          </a:p>
        </p:txBody>
      </p:sp>
      <p:sp>
        <p:nvSpPr>
          <p:cNvPr id="547" name="Google Shape;547;p15"/>
          <p:cNvSpPr/>
          <p:nvPr/>
        </p:nvSpPr>
        <p:spPr>
          <a:xfrm>
            <a:off x="7505212" y="3785616"/>
            <a:ext cx="1611721" cy="658368"/>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FFFFFF"/>
              </a:buClr>
              <a:buSzPts val="1400"/>
              <a:buFont typeface="Arial"/>
              <a:buNone/>
            </a:pPr>
            <a:r>
              <a:rPr lang="en-US" sz="1400">
                <a:solidFill>
                  <a:srgbClr val="FFFFFF"/>
                </a:solidFill>
                <a:latin typeface="Arial"/>
                <a:ea typeface="Arial"/>
                <a:cs typeface="Arial"/>
                <a:sym typeface="Arial"/>
              </a:rPr>
              <a:t>Strengthens HAMLET's interpretation</a:t>
            </a:r>
            <a:endParaRPr sz="1400">
              <a:solidFill>
                <a:schemeClr val="dk1"/>
              </a:solidFill>
              <a:latin typeface="Arial"/>
              <a:ea typeface="Arial"/>
              <a:cs typeface="Arial"/>
              <a:sym typeface="Arial"/>
            </a:endParaRPr>
          </a:p>
        </p:txBody>
      </p:sp>
      <p:sp>
        <p:nvSpPr>
          <p:cNvPr id="548" name="Google Shape;548;p15"/>
          <p:cNvSpPr/>
          <p:nvPr/>
        </p:nvSpPr>
        <p:spPr>
          <a:xfrm>
            <a:off x="9519270" y="3328416"/>
            <a:ext cx="2014057" cy="1207008"/>
          </a:xfrm>
          <a:prstGeom prst="roundRect">
            <a:avLst>
              <a:gd fmla="val 6061"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9" name="Google Shape;549;p15"/>
          <p:cNvSpPr/>
          <p:nvPr/>
        </p:nvSpPr>
        <p:spPr>
          <a:xfrm>
            <a:off x="9720438" y="3493008"/>
            <a:ext cx="54864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100"/>
              <a:buFont typeface="Courier New"/>
              <a:buNone/>
            </a:pPr>
            <a:r>
              <a:rPr b="1" lang="en-US" sz="1100">
                <a:solidFill>
                  <a:srgbClr val="00B0F0"/>
                </a:solidFill>
                <a:latin typeface="Courier New"/>
                <a:ea typeface="Courier New"/>
                <a:cs typeface="Courier New"/>
                <a:sym typeface="Courier New"/>
              </a:rPr>
              <a:t>05</a:t>
            </a:r>
            <a:endParaRPr sz="1100">
              <a:solidFill>
                <a:srgbClr val="00B0F0"/>
              </a:solidFill>
              <a:latin typeface="Courier New"/>
              <a:ea typeface="Courier New"/>
              <a:cs typeface="Courier New"/>
              <a:sym typeface="Courier New"/>
            </a:endParaRPr>
          </a:p>
        </p:txBody>
      </p:sp>
      <p:sp>
        <p:nvSpPr>
          <p:cNvPr id="550" name="Google Shape;550;p15"/>
          <p:cNvSpPr/>
          <p:nvPr/>
        </p:nvSpPr>
        <p:spPr>
          <a:xfrm>
            <a:off x="9720438" y="3785616"/>
            <a:ext cx="1611721" cy="658368"/>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FFFFFF"/>
              </a:buClr>
              <a:buSzPts val="1400"/>
              <a:buFont typeface="Arial"/>
              <a:buNone/>
            </a:pPr>
            <a:r>
              <a:rPr lang="en-US" sz="1400">
                <a:solidFill>
                  <a:srgbClr val="FFFFFF"/>
                </a:solidFill>
                <a:latin typeface="Arial"/>
                <a:ea typeface="Arial"/>
                <a:cs typeface="Arial"/>
                <a:sym typeface="Arial"/>
              </a:rPr>
              <a:t>Fits the existing mission architecture</a:t>
            </a:r>
            <a:endParaRPr sz="1400">
              <a:solidFill>
                <a:schemeClr val="dk1"/>
              </a:solidFill>
              <a:latin typeface="Arial"/>
              <a:ea typeface="Arial"/>
              <a:cs typeface="Arial"/>
              <a:sym typeface="Arial"/>
            </a:endParaRPr>
          </a:p>
        </p:txBody>
      </p:sp>
      <p:sp>
        <p:nvSpPr>
          <p:cNvPr id="551" name="Google Shape;551;p15"/>
          <p:cNvSpPr/>
          <p:nvPr/>
        </p:nvSpPr>
        <p:spPr>
          <a:xfrm>
            <a:off x="658368" y="4828032"/>
            <a:ext cx="2880360" cy="1060704"/>
          </a:xfrm>
          <a:prstGeom prst="roundRect">
            <a:avLst>
              <a:gd fmla="val 6897" name="adj"/>
            </a:avLst>
          </a:prstGeom>
          <a:solidFill>
            <a:srgbClr val="111A2E"/>
          </a:solidFill>
          <a:ln cap="flat" cmpd="sng" w="9525">
            <a:solidFill>
              <a:srgbClr val="2A3552"/>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5"/>
          <p:cNvSpPr/>
          <p:nvPr/>
        </p:nvSpPr>
        <p:spPr>
          <a:xfrm>
            <a:off x="658368" y="5047488"/>
            <a:ext cx="28803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700"/>
              <a:buFont typeface="Arial"/>
              <a:buNone/>
            </a:pPr>
            <a:r>
              <a:rPr lang="en-US" sz="1700">
                <a:solidFill>
                  <a:srgbClr val="FFFFFF"/>
                </a:solidFill>
                <a:latin typeface="Arial"/>
                <a:ea typeface="Arial"/>
                <a:cs typeface="Arial"/>
                <a:sym typeface="Arial"/>
              </a:rPr>
              <a:t>HAMLET</a:t>
            </a:r>
            <a:endParaRPr sz="1700">
              <a:solidFill>
                <a:schemeClr val="dk1"/>
              </a:solidFill>
              <a:latin typeface="Calibri"/>
              <a:ea typeface="Calibri"/>
              <a:cs typeface="Calibri"/>
              <a:sym typeface="Calibri"/>
            </a:endParaRPr>
          </a:p>
        </p:txBody>
      </p:sp>
      <p:sp>
        <p:nvSpPr>
          <p:cNvPr id="553" name="Google Shape;553;p15"/>
          <p:cNvSpPr/>
          <p:nvPr/>
        </p:nvSpPr>
        <p:spPr>
          <a:xfrm>
            <a:off x="658368" y="5394960"/>
            <a:ext cx="288036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9BA7C0"/>
              </a:buClr>
              <a:buSzPts val="1050"/>
              <a:buFont typeface="Arial"/>
              <a:buNone/>
            </a:pPr>
            <a:r>
              <a:rPr lang="en-US" sz="1050">
                <a:solidFill>
                  <a:srgbClr val="9BA7C0"/>
                </a:solidFill>
                <a:latin typeface="Arial"/>
                <a:ea typeface="Arial"/>
                <a:cs typeface="Arial"/>
                <a:sym typeface="Arial"/>
              </a:rPr>
              <a:t>Mineralogy</a:t>
            </a:r>
            <a:endParaRPr sz="1050">
              <a:solidFill>
                <a:schemeClr val="dk1"/>
              </a:solidFill>
              <a:latin typeface="Calibri"/>
              <a:ea typeface="Calibri"/>
              <a:cs typeface="Calibri"/>
              <a:sym typeface="Calibri"/>
            </a:endParaRPr>
          </a:p>
        </p:txBody>
      </p:sp>
      <p:sp>
        <p:nvSpPr>
          <p:cNvPr id="554" name="Google Shape;554;p15"/>
          <p:cNvSpPr/>
          <p:nvPr/>
        </p:nvSpPr>
        <p:spPr>
          <a:xfrm>
            <a:off x="3611880" y="4828032"/>
            <a:ext cx="548640" cy="106070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B0F0"/>
              </a:buClr>
              <a:buSzPts val="2400"/>
              <a:buFont typeface="Arial"/>
              <a:buNone/>
            </a:pPr>
            <a:r>
              <a:rPr b="1" lang="en-US" sz="2400">
                <a:solidFill>
                  <a:srgbClr val="00B0F0"/>
                </a:solidFill>
                <a:latin typeface="Arial"/>
                <a:ea typeface="Arial"/>
                <a:cs typeface="Arial"/>
                <a:sym typeface="Arial"/>
              </a:rPr>
              <a:t>+</a:t>
            </a:r>
            <a:endParaRPr sz="2400">
              <a:solidFill>
                <a:srgbClr val="00B0F0"/>
              </a:solidFill>
              <a:latin typeface="Calibri"/>
              <a:ea typeface="Calibri"/>
              <a:cs typeface="Calibri"/>
              <a:sym typeface="Calibri"/>
            </a:endParaRPr>
          </a:p>
        </p:txBody>
      </p:sp>
      <p:sp>
        <p:nvSpPr>
          <p:cNvPr id="555" name="Google Shape;555;p15"/>
          <p:cNvSpPr/>
          <p:nvPr/>
        </p:nvSpPr>
        <p:spPr>
          <a:xfrm>
            <a:off x="4206240" y="4828032"/>
            <a:ext cx="2880360" cy="1060704"/>
          </a:xfrm>
          <a:prstGeom prst="roundRect">
            <a:avLst>
              <a:gd fmla="val 6897" name="adj"/>
            </a:avLst>
          </a:prstGeom>
          <a:solidFill>
            <a:srgbClr val="2A2113"/>
          </a:solidFill>
          <a:ln cap="flat" cmpd="sng" w="19050">
            <a:solidFill>
              <a:srgbClr val="E6CB6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6" name="Google Shape;556;p15"/>
          <p:cNvSpPr/>
          <p:nvPr/>
        </p:nvSpPr>
        <p:spPr>
          <a:xfrm>
            <a:off x="4206240" y="5047488"/>
            <a:ext cx="2880360" cy="292608"/>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E8A33D"/>
              </a:buClr>
              <a:buSzPts val="1700"/>
              <a:buFont typeface="Arial"/>
              <a:buNone/>
            </a:pPr>
            <a:r>
              <a:rPr lang="en-US" sz="1700">
                <a:solidFill>
                  <a:srgbClr val="E8A33D"/>
                </a:solidFill>
                <a:latin typeface="Arial"/>
                <a:ea typeface="Arial"/>
                <a:cs typeface="Arial"/>
                <a:sym typeface="Arial"/>
              </a:rPr>
              <a:t>GRS</a:t>
            </a:r>
            <a:endParaRPr sz="1700">
              <a:solidFill>
                <a:schemeClr val="dk1"/>
              </a:solidFill>
              <a:latin typeface="Calibri"/>
              <a:ea typeface="Calibri"/>
              <a:cs typeface="Calibri"/>
              <a:sym typeface="Calibri"/>
            </a:endParaRPr>
          </a:p>
        </p:txBody>
      </p:sp>
      <p:sp>
        <p:nvSpPr>
          <p:cNvPr id="557" name="Google Shape;557;p15"/>
          <p:cNvSpPr/>
          <p:nvPr/>
        </p:nvSpPr>
        <p:spPr>
          <a:xfrm>
            <a:off x="4206240" y="5394960"/>
            <a:ext cx="288036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D8BE92"/>
              </a:buClr>
              <a:buSzPts val="1050"/>
              <a:buFont typeface="Arial"/>
              <a:buNone/>
            </a:pPr>
            <a:r>
              <a:rPr lang="en-US" sz="1050">
                <a:solidFill>
                  <a:srgbClr val="D8BE92"/>
                </a:solidFill>
                <a:latin typeface="Arial"/>
                <a:ea typeface="Arial"/>
                <a:cs typeface="Arial"/>
                <a:sym typeface="Arial"/>
              </a:rPr>
              <a:t>Elements</a:t>
            </a:r>
            <a:endParaRPr sz="1050">
              <a:solidFill>
                <a:schemeClr val="dk1"/>
              </a:solidFill>
              <a:latin typeface="Calibri"/>
              <a:ea typeface="Calibri"/>
              <a:cs typeface="Calibri"/>
              <a:sym typeface="Calibri"/>
            </a:endParaRPr>
          </a:p>
        </p:txBody>
      </p:sp>
      <p:sp>
        <p:nvSpPr>
          <p:cNvPr id="558" name="Google Shape;558;p15"/>
          <p:cNvSpPr/>
          <p:nvPr/>
        </p:nvSpPr>
        <p:spPr>
          <a:xfrm>
            <a:off x="7370064" y="5239512"/>
            <a:ext cx="384048" cy="237744"/>
          </a:xfrm>
          <a:prstGeom prst="rightArrow">
            <a:avLst>
              <a:gd fmla="val 50000" name="adj1"/>
              <a:gd fmla="val 50000" name="adj2"/>
            </a:avLst>
          </a:prstGeom>
          <a:solidFill>
            <a:srgbClr val="6DD9FF"/>
          </a:solidFill>
          <a:ln cap="flat" cmpd="sng" w="9525">
            <a:solidFill>
              <a:srgbClr val="00B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9" name="Google Shape;559;p15"/>
          <p:cNvSpPr/>
          <p:nvPr/>
        </p:nvSpPr>
        <p:spPr>
          <a:xfrm>
            <a:off x="8028432" y="4828032"/>
            <a:ext cx="3502152" cy="1060704"/>
          </a:xfrm>
          <a:prstGeom prst="roundRect">
            <a:avLst>
              <a:gd fmla="val 6897" name="adj"/>
            </a:avLst>
          </a:prstGeom>
          <a:solidFill>
            <a:srgbClr val="F0F0F0"/>
          </a:solidFill>
          <a:ln cap="flat" cmpd="sng" w="9525">
            <a:solidFill>
              <a:schemeClr val="lt1"/>
            </a:solidFill>
            <a:prstDash val="solid"/>
            <a:round/>
            <a:headEnd len="sm" w="sm" type="none"/>
            <a:tailEnd len="sm" w="sm" type="none"/>
          </a:ln>
          <a:effectLst>
            <a:outerShdw blurRad="50800" rotWithShape="0" algn="tl" dir="27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0" name="Google Shape;560;p15"/>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54607C"/>
              </a:buClr>
              <a:buSzPts val="1000"/>
              <a:buFont typeface="Arial"/>
              <a:buNone/>
            </a:pPr>
            <a:r>
              <a:rPr lang="en-US" sz="1000">
                <a:solidFill>
                  <a:srgbClr val="54607C"/>
                </a:solidFill>
                <a:latin typeface="Arial"/>
                <a:ea typeface="Arial"/>
                <a:cs typeface="Arial"/>
                <a:sym typeface="Arial"/>
              </a:rPr>
              <a:t>12</a:t>
            </a:r>
            <a:endParaRPr sz="1000">
              <a:solidFill>
                <a:schemeClr val="dk1"/>
              </a:solidFill>
              <a:latin typeface="Calibri"/>
              <a:ea typeface="Calibri"/>
              <a:cs typeface="Calibri"/>
              <a:sym typeface="Calibri"/>
            </a:endParaRPr>
          </a:p>
        </p:txBody>
      </p:sp>
      <p:sp>
        <p:nvSpPr>
          <p:cNvPr id="561" name="Google Shape;561;p15"/>
          <p:cNvSpPr/>
          <p:nvPr/>
        </p:nvSpPr>
        <p:spPr>
          <a:xfrm>
            <a:off x="8311072" y="5326080"/>
            <a:ext cx="2880360" cy="292608"/>
          </a:xfrm>
          <a:prstGeom prst="rect">
            <a:avLst/>
          </a:prstGeom>
          <a:noFill/>
          <a:ln>
            <a:noFill/>
          </a:ln>
        </p:spPr>
        <p:txBody>
          <a:bodyPr anchorCtr="0" anchor="ctr" bIns="0" lIns="0" spcFirstLastPara="1" rIns="0" wrap="square" tIns="0">
            <a:noAutofit/>
          </a:bodyPr>
          <a:lstStyle/>
          <a:p>
            <a:pPr indent="0" lvl="0" marL="0" marR="0" rtl="0" algn="ctr">
              <a:lnSpc>
                <a:spcPct val="105000"/>
              </a:lnSpc>
              <a:spcBef>
                <a:spcPts val="0"/>
              </a:spcBef>
              <a:spcAft>
                <a:spcPts val="0"/>
              </a:spcAft>
              <a:buNone/>
            </a:pPr>
            <a:r>
              <a:rPr lang="en-US" sz="1800">
                <a:solidFill>
                  <a:schemeClr val="dk1"/>
                </a:solidFill>
                <a:latin typeface="Arial"/>
                <a:ea typeface="Arial"/>
                <a:cs typeface="Arial"/>
                <a:sym typeface="Arial"/>
              </a:rPr>
              <a:t>More efficient</a:t>
            </a:r>
            <a:endParaRPr sz="1800">
              <a:solidFill>
                <a:schemeClr val="dk1"/>
              </a:solidFill>
              <a:latin typeface="Calibri"/>
              <a:ea typeface="Calibri"/>
              <a:cs typeface="Calibri"/>
              <a:sym typeface="Calibri"/>
            </a:endParaRPr>
          </a:p>
          <a:p>
            <a:pPr indent="0" lvl="0" marL="0" marR="0" rtl="0" algn="ctr">
              <a:lnSpc>
                <a:spcPct val="105000"/>
              </a:lnSpc>
              <a:spcBef>
                <a:spcPts val="0"/>
              </a:spcBef>
              <a:spcAft>
                <a:spcPts val="0"/>
              </a:spcAft>
              <a:buNone/>
            </a:pPr>
            <a:r>
              <a:rPr lang="en-US" sz="1800">
                <a:solidFill>
                  <a:schemeClr val="dk1"/>
                </a:solidFill>
                <a:latin typeface="Arial"/>
                <a:ea typeface="Arial"/>
                <a:cs typeface="Arial"/>
                <a:sym typeface="Arial"/>
              </a:rPr>
              <a:t>composition</a:t>
            </a:r>
            <a:endParaRPr sz="1800">
              <a:solidFill>
                <a:schemeClr val="dk1"/>
              </a:solidFill>
              <a:latin typeface="Calibri"/>
              <a:ea typeface="Calibri"/>
              <a:cs typeface="Calibri"/>
              <a:sym typeface="Calibri"/>
            </a:endParaRPr>
          </a:p>
          <a:p>
            <a:pPr indent="0" lvl="0" marL="0" marR="0" rtl="0" algn="ctr">
              <a:spcBef>
                <a:spcPts val="0"/>
              </a:spcBef>
              <a:spcAft>
                <a:spcPts val="0"/>
              </a:spcAft>
              <a:buClr>
                <a:schemeClr val="dk1"/>
              </a:buClr>
              <a:buSzPts val="1700"/>
              <a:buFont typeface="Calibri"/>
              <a:buNone/>
            </a:pPr>
            <a:r>
              <a:t/>
            </a:r>
            <a:endParaRPr sz="1700">
              <a:solidFill>
                <a:schemeClr val="dk1"/>
              </a:solidFill>
              <a:latin typeface="Calibri"/>
              <a:ea typeface="Calibri"/>
              <a:cs typeface="Calibri"/>
              <a:sym typeface="Calibri"/>
            </a:endParaRPr>
          </a:p>
        </p:txBody>
      </p:sp>
      <p:sp>
        <p:nvSpPr>
          <p:cNvPr id="562" name="Google Shape;562;p15"/>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D9E1EF"/>
        </a:solidFill>
      </p:bgPr>
    </p:bg>
    <p:spTree>
      <p:nvGrpSpPr>
        <p:cNvPr id="567" name="Shape 567"/>
        <p:cNvGrpSpPr/>
        <p:nvPr/>
      </p:nvGrpSpPr>
      <p:grpSpPr>
        <a:xfrm>
          <a:off x="0" y="0"/>
          <a:ext cx="0" cy="0"/>
          <a:chOff x="0" y="0"/>
          <a:chExt cx="0" cy="0"/>
        </a:xfrm>
      </p:grpSpPr>
      <p:pic>
        <p:nvPicPr>
          <p:cNvPr descr="/home/claude/work/a2/light_wash.jpg" id="568" name="Google Shape;568;p16"/>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569" name="Google Shape;569;p16"/>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9839A"/>
              </a:buClr>
              <a:buSzPts val="800"/>
              <a:buFont typeface="Courier New"/>
              <a:buNone/>
            </a:pPr>
            <a:r>
              <a:rPr lang="en-US" sz="800">
                <a:solidFill>
                  <a:srgbClr val="79839A"/>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b="1" lang="en-US" sz="800">
                <a:solidFill>
                  <a:srgbClr val="13234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lang="en-US" sz="800">
                <a:solidFill>
                  <a:srgbClr val="79839A"/>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570" name="Google Shape;570;p16"/>
          <p:cNvSpPr/>
          <p:nvPr/>
        </p:nvSpPr>
        <p:spPr>
          <a:xfrm>
            <a:off x="658368" y="530352"/>
            <a:ext cx="9052560" cy="472966"/>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3000"/>
              <a:buFont typeface="Arial"/>
              <a:buNone/>
            </a:pPr>
            <a:r>
              <a:rPr b="1" lang="en-US" sz="3000">
                <a:solidFill>
                  <a:srgbClr val="13234C"/>
                </a:solidFill>
                <a:latin typeface="Arial"/>
                <a:ea typeface="Arial"/>
                <a:cs typeface="Arial"/>
                <a:sym typeface="Arial"/>
              </a:rPr>
              <a:t>Implementation Route</a:t>
            </a:r>
            <a:endParaRPr sz="3000">
              <a:solidFill>
                <a:schemeClr val="dk1"/>
              </a:solidFill>
              <a:latin typeface="Calibri"/>
              <a:ea typeface="Calibri"/>
              <a:cs typeface="Calibri"/>
              <a:sym typeface="Calibri"/>
            </a:endParaRPr>
          </a:p>
        </p:txBody>
      </p:sp>
      <p:sp>
        <p:nvSpPr>
          <p:cNvPr id="571" name="Google Shape;571;p16"/>
          <p:cNvSpPr/>
          <p:nvPr/>
        </p:nvSpPr>
        <p:spPr>
          <a:xfrm>
            <a:off x="658368" y="1058182"/>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400"/>
              <a:buFont typeface="Arial"/>
              <a:buNone/>
            </a:pPr>
            <a:r>
              <a:rPr lang="en-US" sz="1400">
                <a:solidFill>
                  <a:srgbClr val="4C5468"/>
                </a:solidFill>
                <a:latin typeface="Arial"/>
                <a:ea typeface="Arial"/>
                <a:cs typeface="Arial"/>
                <a:sym typeface="Arial"/>
              </a:rPr>
              <a:t>A proven implementation route exists</a:t>
            </a:r>
            <a:endParaRPr sz="1400">
              <a:solidFill>
                <a:schemeClr val="dk1"/>
              </a:solidFill>
              <a:latin typeface="Arial"/>
              <a:ea typeface="Arial"/>
              <a:cs typeface="Arial"/>
              <a:sym typeface="Arial"/>
            </a:endParaRPr>
          </a:p>
        </p:txBody>
      </p:sp>
      <p:sp>
        <p:nvSpPr>
          <p:cNvPr id="572" name="Google Shape;572;p16"/>
          <p:cNvSpPr/>
          <p:nvPr/>
        </p:nvSpPr>
        <p:spPr>
          <a:xfrm>
            <a:off x="658368" y="1956816"/>
            <a:ext cx="3063240" cy="1627632"/>
          </a:xfrm>
          <a:prstGeom prst="roundRect">
            <a:avLst>
              <a:gd fmla="val 5056"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3" name="Google Shape;573;p16"/>
          <p:cNvSpPr/>
          <p:nvPr/>
        </p:nvSpPr>
        <p:spPr>
          <a:xfrm>
            <a:off x="932688" y="2176272"/>
            <a:ext cx="2514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2200"/>
              <a:buFont typeface="Arial"/>
              <a:buNone/>
            </a:pPr>
            <a:r>
              <a:rPr b="1" lang="en-US" sz="2200">
                <a:solidFill>
                  <a:srgbClr val="13234C"/>
                </a:solidFill>
                <a:latin typeface="Arial"/>
                <a:ea typeface="Arial"/>
                <a:cs typeface="Arial"/>
                <a:sym typeface="Arial"/>
              </a:rPr>
              <a:t>APL</a:t>
            </a:r>
            <a:endParaRPr sz="2200">
              <a:solidFill>
                <a:schemeClr val="dk1"/>
              </a:solidFill>
              <a:latin typeface="Calibri"/>
              <a:ea typeface="Calibri"/>
              <a:cs typeface="Calibri"/>
              <a:sym typeface="Calibri"/>
            </a:endParaRPr>
          </a:p>
        </p:txBody>
      </p:sp>
      <p:sp>
        <p:nvSpPr>
          <p:cNvPr id="574" name="Google Shape;574;p16"/>
          <p:cNvSpPr/>
          <p:nvPr/>
        </p:nvSpPr>
        <p:spPr>
          <a:xfrm>
            <a:off x="932688" y="2578608"/>
            <a:ext cx="2514600" cy="420624"/>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79839A"/>
              </a:buClr>
              <a:buSzPts val="1200"/>
              <a:buFont typeface="Arial"/>
              <a:buNone/>
            </a:pPr>
            <a:r>
              <a:rPr lang="en-US" sz="1200">
                <a:solidFill>
                  <a:srgbClr val="79839A"/>
                </a:solidFill>
                <a:latin typeface="Arial"/>
                <a:ea typeface="Arial"/>
                <a:cs typeface="Arial"/>
                <a:sym typeface="Arial"/>
              </a:rPr>
              <a:t>Johns Hopkins Applied Physics Laboratory</a:t>
            </a:r>
            <a:endParaRPr sz="1200">
              <a:solidFill>
                <a:schemeClr val="dk1"/>
              </a:solidFill>
              <a:latin typeface="Arial"/>
              <a:ea typeface="Arial"/>
              <a:cs typeface="Arial"/>
              <a:sym typeface="Arial"/>
            </a:endParaRPr>
          </a:p>
        </p:txBody>
      </p:sp>
      <p:sp>
        <p:nvSpPr>
          <p:cNvPr id="575" name="Google Shape;575;p16"/>
          <p:cNvSpPr/>
          <p:nvPr/>
        </p:nvSpPr>
        <p:spPr>
          <a:xfrm>
            <a:off x="932688" y="3054096"/>
            <a:ext cx="2514600" cy="384048"/>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51B29"/>
              </a:buClr>
              <a:buSzPts val="1200"/>
              <a:buFont typeface="Arial"/>
              <a:buNone/>
            </a:pPr>
            <a:r>
              <a:rPr lang="en-US" sz="1200">
                <a:solidFill>
                  <a:srgbClr val="151B29"/>
                </a:solidFill>
                <a:latin typeface="Arial"/>
                <a:ea typeface="Arial"/>
                <a:cs typeface="Arial"/>
                <a:sym typeface="Arial"/>
              </a:rPr>
              <a:t>Instrument build &amp; integration</a:t>
            </a:r>
            <a:endParaRPr sz="1200">
              <a:solidFill>
                <a:schemeClr val="dk1"/>
              </a:solidFill>
              <a:latin typeface="Arial"/>
              <a:ea typeface="Arial"/>
              <a:cs typeface="Arial"/>
              <a:sym typeface="Arial"/>
            </a:endParaRPr>
          </a:p>
        </p:txBody>
      </p:sp>
      <p:sp>
        <p:nvSpPr>
          <p:cNvPr id="576" name="Google Shape;576;p16"/>
          <p:cNvSpPr/>
          <p:nvPr/>
        </p:nvSpPr>
        <p:spPr>
          <a:xfrm>
            <a:off x="3950208" y="1956816"/>
            <a:ext cx="3063240" cy="1627632"/>
          </a:xfrm>
          <a:prstGeom prst="roundRect">
            <a:avLst>
              <a:gd fmla="val 5056"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7" name="Google Shape;577;p16"/>
          <p:cNvSpPr/>
          <p:nvPr/>
        </p:nvSpPr>
        <p:spPr>
          <a:xfrm>
            <a:off x="4224528" y="2176272"/>
            <a:ext cx="2514600" cy="38404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2200"/>
              <a:buFont typeface="Arial"/>
              <a:buNone/>
            </a:pPr>
            <a:r>
              <a:rPr b="1" lang="en-US" sz="2200">
                <a:solidFill>
                  <a:srgbClr val="13234C"/>
                </a:solidFill>
                <a:latin typeface="Arial"/>
                <a:ea typeface="Arial"/>
                <a:cs typeface="Arial"/>
                <a:sym typeface="Arial"/>
              </a:rPr>
              <a:t>LLNL</a:t>
            </a:r>
            <a:endParaRPr sz="2200">
              <a:solidFill>
                <a:schemeClr val="dk1"/>
              </a:solidFill>
              <a:latin typeface="Calibri"/>
              <a:ea typeface="Calibri"/>
              <a:cs typeface="Calibri"/>
              <a:sym typeface="Calibri"/>
            </a:endParaRPr>
          </a:p>
        </p:txBody>
      </p:sp>
      <p:sp>
        <p:nvSpPr>
          <p:cNvPr id="578" name="Google Shape;578;p16"/>
          <p:cNvSpPr/>
          <p:nvPr/>
        </p:nvSpPr>
        <p:spPr>
          <a:xfrm>
            <a:off x="4224528" y="2578608"/>
            <a:ext cx="2514600" cy="420624"/>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79839A"/>
              </a:buClr>
              <a:buSzPts val="1200"/>
              <a:buFont typeface="Arial"/>
              <a:buNone/>
            </a:pPr>
            <a:r>
              <a:rPr lang="en-US" sz="1200">
                <a:solidFill>
                  <a:srgbClr val="79839A"/>
                </a:solidFill>
                <a:latin typeface="Arial"/>
                <a:ea typeface="Arial"/>
                <a:cs typeface="Arial"/>
                <a:sym typeface="Arial"/>
              </a:rPr>
              <a:t>Lawrence Livermore National Laboratory</a:t>
            </a:r>
            <a:endParaRPr sz="1200">
              <a:solidFill>
                <a:schemeClr val="dk1"/>
              </a:solidFill>
              <a:latin typeface="Arial"/>
              <a:ea typeface="Arial"/>
              <a:cs typeface="Arial"/>
              <a:sym typeface="Arial"/>
            </a:endParaRPr>
          </a:p>
        </p:txBody>
      </p:sp>
      <p:sp>
        <p:nvSpPr>
          <p:cNvPr id="579" name="Google Shape;579;p16"/>
          <p:cNvSpPr/>
          <p:nvPr/>
        </p:nvSpPr>
        <p:spPr>
          <a:xfrm>
            <a:off x="4224528" y="3054096"/>
            <a:ext cx="2514600" cy="384048"/>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51B29"/>
              </a:buClr>
              <a:buSzPts val="1200"/>
              <a:buFont typeface="Arial"/>
              <a:buNone/>
            </a:pPr>
            <a:r>
              <a:rPr lang="en-US" sz="1200">
                <a:solidFill>
                  <a:srgbClr val="151B29"/>
                </a:solidFill>
                <a:latin typeface="Arial"/>
                <a:ea typeface="Arial"/>
                <a:cs typeface="Arial"/>
                <a:sym typeface="Arial"/>
              </a:rPr>
              <a:t>High-purity germanium detector</a:t>
            </a:r>
            <a:endParaRPr sz="1200">
              <a:solidFill>
                <a:schemeClr val="dk1"/>
              </a:solidFill>
              <a:latin typeface="Arial"/>
              <a:ea typeface="Arial"/>
              <a:cs typeface="Arial"/>
              <a:sym typeface="Arial"/>
            </a:endParaRPr>
          </a:p>
        </p:txBody>
      </p:sp>
      <p:sp>
        <p:nvSpPr>
          <p:cNvPr id="580" name="Google Shape;580;p16"/>
          <p:cNvSpPr/>
          <p:nvPr/>
        </p:nvSpPr>
        <p:spPr>
          <a:xfrm>
            <a:off x="7790688" y="1956816"/>
            <a:ext cx="3739896" cy="1627632"/>
          </a:xfrm>
          <a:prstGeom prst="roundRect">
            <a:avLst>
              <a:gd fmla="val 5056" name="adj"/>
            </a:avLst>
          </a:prstGeom>
          <a:solidFill>
            <a:srgbClr val="0E1A38"/>
          </a:solidFill>
          <a:ln>
            <a:noFill/>
          </a:ln>
          <a:effectLst>
            <a:outerShdw blurRad="50800" rotWithShape="0" algn="t" dir="5400000" dist="38100">
              <a:srgbClr val="000000">
                <a:alpha val="40000"/>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1" name="Google Shape;581;p16"/>
          <p:cNvSpPr/>
          <p:nvPr/>
        </p:nvSpPr>
        <p:spPr>
          <a:xfrm>
            <a:off x="7790688" y="2340864"/>
            <a:ext cx="3739896"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900"/>
              <a:buFont typeface="Arial"/>
              <a:buNone/>
            </a:pPr>
            <a:r>
              <a:rPr b="1" lang="en-US" sz="1900">
                <a:solidFill>
                  <a:srgbClr val="FFFFFF"/>
                </a:solidFill>
                <a:latin typeface="Arial"/>
                <a:ea typeface="Arial"/>
                <a:cs typeface="Arial"/>
                <a:sym typeface="Arial"/>
              </a:rPr>
              <a:t>Heritage-based GRS</a:t>
            </a:r>
            <a:endParaRPr sz="1900">
              <a:solidFill>
                <a:schemeClr val="dk1"/>
              </a:solidFill>
              <a:latin typeface="Calibri"/>
              <a:ea typeface="Calibri"/>
              <a:cs typeface="Calibri"/>
              <a:sym typeface="Calibri"/>
            </a:endParaRPr>
          </a:p>
        </p:txBody>
      </p:sp>
      <p:sp>
        <p:nvSpPr>
          <p:cNvPr id="582" name="Google Shape;582;p16"/>
          <p:cNvSpPr/>
          <p:nvPr/>
        </p:nvSpPr>
        <p:spPr>
          <a:xfrm>
            <a:off x="7790688" y="2761488"/>
            <a:ext cx="3739896" cy="548640"/>
          </a:xfrm>
          <a:prstGeom prst="rect">
            <a:avLst/>
          </a:prstGeom>
          <a:noFill/>
          <a:ln>
            <a:noFill/>
          </a:ln>
        </p:spPr>
        <p:txBody>
          <a:bodyPr anchorCtr="0" anchor="ctr" bIns="0" lIns="0" spcFirstLastPara="1" rIns="0" wrap="square" tIns="0">
            <a:noAutofit/>
          </a:bodyPr>
          <a:lstStyle/>
          <a:p>
            <a:pPr indent="0" lvl="0" marL="0" marR="0" rtl="0" algn="ctr">
              <a:lnSpc>
                <a:spcPct val="116000"/>
              </a:lnSpc>
              <a:spcBef>
                <a:spcPts val="0"/>
              </a:spcBef>
              <a:spcAft>
                <a:spcPts val="0"/>
              </a:spcAft>
              <a:buClr>
                <a:srgbClr val="9CBBE6"/>
              </a:buClr>
              <a:buSzPts val="1200"/>
              <a:buFont typeface="Arial"/>
              <a:buNone/>
            </a:pPr>
            <a:r>
              <a:rPr lang="en-US" sz="1200">
                <a:solidFill>
                  <a:srgbClr val="9CBBE6"/>
                </a:solidFill>
                <a:latin typeface="Arial"/>
                <a:ea typeface="Arial"/>
                <a:cs typeface="Arial"/>
                <a:sym typeface="Arial"/>
              </a:rPr>
              <a:t>A flight spare, engineering model,</a:t>
            </a:r>
            <a:endParaRPr sz="1200">
              <a:solidFill>
                <a:schemeClr val="dk1"/>
              </a:solidFill>
              <a:latin typeface="Arial"/>
              <a:ea typeface="Arial"/>
              <a:cs typeface="Arial"/>
              <a:sym typeface="Arial"/>
            </a:endParaRPr>
          </a:p>
          <a:p>
            <a:pPr indent="0" lvl="0" marL="0" marR="0" rtl="0" algn="ctr">
              <a:lnSpc>
                <a:spcPct val="116000"/>
              </a:lnSpc>
              <a:spcBef>
                <a:spcPts val="0"/>
              </a:spcBef>
              <a:spcAft>
                <a:spcPts val="0"/>
              </a:spcAft>
              <a:buClr>
                <a:srgbClr val="9CBBE6"/>
              </a:buClr>
              <a:buSzPts val="1200"/>
              <a:buFont typeface="Arial"/>
              <a:buNone/>
            </a:pPr>
            <a:r>
              <a:rPr lang="en-US" sz="1200">
                <a:solidFill>
                  <a:srgbClr val="9CBBE6"/>
                </a:solidFill>
                <a:latin typeface="Arial"/>
                <a:ea typeface="Arial"/>
                <a:cs typeface="Arial"/>
                <a:sym typeface="Arial"/>
              </a:rPr>
              <a:t>or repeat of the Psyche design</a:t>
            </a:r>
            <a:endParaRPr sz="1200">
              <a:solidFill>
                <a:schemeClr val="dk1"/>
              </a:solidFill>
              <a:latin typeface="Arial"/>
              <a:ea typeface="Arial"/>
              <a:cs typeface="Arial"/>
              <a:sym typeface="Arial"/>
            </a:endParaRPr>
          </a:p>
        </p:txBody>
      </p:sp>
      <p:sp>
        <p:nvSpPr>
          <p:cNvPr id="583" name="Google Shape;583;p16"/>
          <p:cNvSpPr/>
          <p:nvPr/>
        </p:nvSpPr>
        <p:spPr>
          <a:xfrm>
            <a:off x="658368" y="3803904"/>
            <a:ext cx="10874959" cy="658368"/>
          </a:xfrm>
          <a:prstGeom prst="roundRect">
            <a:avLst>
              <a:gd fmla="val 9722" name="adj"/>
            </a:avLst>
          </a:prstGeom>
          <a:solidFill>
            <a:srgbClr val="FFF8EC"/>
          </a:solidFill>
          <a:ln cap="flat" cmpd="sng" w="9525">
            <a:solidFill>
              <a:srgbClr val="F0DCB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84" name="Google Shape;584;p16"/>
          <p:cNvSpPr/>
          <p:nvPr/>
        </p:nvSpPr>
        <p:spPr>
          <a:xfrm>
            <a:off x="969264" y="3803904"/>
            <a:ext cx="10253167"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A6316"/>
              </a:buClr>
              <a:buSzPts val="1400"/>
              <a:buFont typeface="Courier New"/>
              <a:buNone/>
            </a:pPr>
            <a:r>
              <a:rPr lang="en-US" sz="1400">
                <a:solidFill>
                  <a:srgbClr val="8A6316"/>
                </a:solidFill>
                <a:latin typeface="Courier New"/>
                <a:ea typeface="Courier New"/>
                <a:cs typeface="Courier New"/>
                <a:sym typeface="Courier New"/>
              </a:rPr>
              <a:t>Precedent</a:t>
            </a:r>
            <a:r>
              <a:rPr b="1" lang="en-US" sz="1400">
                <a:solidFill>
                  <a:srgbClr val="8A6316"/>
                </a:solidFill>
                <a:latin typeface="Courier New"/>
                <a:ea typeface="Courier New"/>
                <a:cs typeface="Courier New"/>
                <a:sym typeface="Courier New"/>
              </a:rPr>
              <a:t>:  </a:t>
            </a:r>
            <a:r>
              <a:rPr lang="en-US" sz="1400">
                <a:solidFill>
                  <a:srgbClr val="13234C"/>
                </a:solidFill>
                <a:latin typeface="Courier New"/>
                <a:ea typeface="Courier New"/>
                <a:cs typeface="Courier New"/>
                <a:sym typeface="Courier New"/>
              </a:rPr>
              <a:t>MEGANE · MESSENGER · Psyche</a:t>
            </a:r>
            <a:r>
              <a:rPr lang="en-US" sz="1400">
                <a:solidFill>
                  <a:srgbClr val="151B29"/>
                </a:solidFill>
                <a:latin typeface="Courier New"/>
                <a:ea typeface="Courier New"/>
                <a:cs typeface="Courier New"/>
                <a:sym typeface="Courier New"/>
              </a:rPr>
              <a:t> </a:t>
            </a:r>
            <a:r>
              <a:rPr lang="en-US" sz="1400">
                <a:solidFill>
                  <a:srgbClr val="151B29"/>
                </a:solidFill>
                <a:latin typeface="Arial"/>
                <a:ea typeface="Arial"/>
                <a:cs typeface="Arial"/>
                <a:sym typeface="Arial"/>
              </a:rPr>
              <a:t>one agency contributing a gamma-ray spectrometer to another agency's small-body mission</a:t>
            </a:r>
            <a:r>
              <a:rPr lang="en-US" sz="1200">
                <a:solidFill>
                  <a:srgbClr val="151B29"/>
                </a:solidFill>
                <a:latin typeface="Arial"/>
                <a:ea typeface="Arial"/>
                <a:cs typeface="Arial"/>
                <a:sym typeface="Arial"/>
              </a:rPr>
              <a:t>.</a:t>
            </a:r>
            <a:endParaRPr sz="1100">
              <a:solidFill>
                <a:schemeClr val="dk1"/>
              </a:solidFill>
              <a:latin typeface="Arial"/>
              <a:ea typeface="Arial"/>
              <a:cs typeface="Arial"/>
              <a:sym typeface="Arial"/>
            </a:endParaRPr>
          </a:p>
        </p:txBody>
      </p:sp>
      <p:sp>
        <p:nvSpPr>
          <p:cNvPr id="585" name="Google Shape;585;p16"/>
          <p:cNvSpPr/>
          <p:nvPr/>
        </p:nvSpPr>
        <p:spPr>
          <a:xfrm>
            <a:off x="658368" y="4663440"/>
            <a:ext cx="365760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1100"/>
              <a:buFont typeface="Courier New"/>
              <a:buNone/>
            </a:pPr>
            <a:r>
              <a:rPr b="1" lang="en-US" sz="1100">
                <a:solidFill>
                  <a:srgbClr val="E8A33D"/>
                </a:solidFill>
                <a:latin typeface="Courier New"/>
                <a:ea typeface="Courier New"/>
                <a:cs typeface="Courier New"/>
                <a:sym typeface="Courier New"/>
              </a:rPr>
              <a:t>WHAT’S NEXT?</a:t>
            </a:r>
            <a:endParaRPr sz="1100">
              <a:solidFill>
                <a:schemeClr val="dk1"/>
              </a:solidFill>
              <a:latin typeface="Courier New"/>
              <a:ea typeface="Courier New"/>
              <a:cs typeface="Courier New"/>
              <a:sym typeface="Courier New"/>
            </a:endParaRPr>
          </a:p>
        </p:txBody>
      </p:sp>
      <p:sp>
        <p:nvSpPr>
          <p:cNvPr id="586" name="Google Shape;586;p16"/>
          <p:cNvSpPr/>
          <p:nvPr/>
        </p:nvSpPr>
        <p:spPr>
          <a:xfrm>
            <a:off x="658368" y="4974336"/>
            <a:ext cx="3466490" cy="1060704"/>
          </a:xfrm>
          <a:prstGeom prst="roundRect">
            <a:avLst>
              <a:gd fmla="val 775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87" name="Google Shape;587;p16"/>
          <p:cNvSpPr/>
          <p:nvPr/>
        </p:nvSpPr>
        <p:spPr>
          <a:xfrm>
            <a:off x="896112" y="5175504"/>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88" name="Google Shape;588;p16"/>
          <p:cNvSpPr/>
          <p:nvPr/>
        </p:nvSpPr>
        <p:spPr>
          <a:xfrm>
            <a:off x="896112" y="5175504"/>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ourier New"/>
              <a:buNone/>
            </a:pPr>
            <a:r>
              <a:rPr b="1" lang="en-US" sz="1050">
                <a:solidFill>
                  <a:srgbClr val="FFFFFF"/>
                </a:solidFill>
                <a:latin typeface="Courier New"/>
                <a:ea typeface="Courier New"/>
                <a:cs typeface="Courier New"/>
                <a:sym typeface="Courier New"/>
              </a:rPr>
              <a:t>01</a:t>
            </a:r>
            <a:endParaRPr sz="1050">
              <a:solidFill>
                <a:schemeClr val="dk1"/>
              </a:solidFill>
              <a:latin typeface="Courier New"/>
              <a:ea typeface="Courier New"/>
              <a:cs typeface="Courier New"/>
              <a:sym typeface="Courier New"/>
            </a:endParaRPr>
          </a:p>
        </p:txBody>
      </p:sp>
      <p:sp>
        <p:nvSpPr>
          <p:cNvPr id="589" name="Google Shape;589;p16"/>
          <p:cNvSpPr/>
          <p:nvPr/>
        </p:nvSpPr>
        <p:spPr>
          <a:xfrm>
            <a:off x="1298448" y="5138928"/>
            <a:ext cx="258866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400"/>
              <a:buFont typeface="Arial"/>
              <a:buNone/>
            </a:pPr>
            <a:r>
              <a:rPr b="1" lang="en-US" sz="1400">
                <a:solidFill>
                  <a:srgbClr val="13234C"/>
                </a:solidFill>
                <a:latin typeface="Arial"/>
                <a:ea typeface="Arial"/>
                <a:cs typeface="Arial"/>
                <a:sym typeface="Arial"/>
              </a:rPr>
              <a:t>Leadership approval</a:t>
            </a:r>
            <a:endParaRPr sz="1400">
              <a:solidFill>
                <a:schemeClr val="dk1"/>
              </a:solidFill>
              <a:latin typeface="Arial"/>
              <a:ea typeface="Arial"/>
              <a:cs typeface="Arial"/>
              <a:sym typeface="Arial"/>
            </a:endParaRPr>
          </a:p>
        </p:txBody>
      </p:sp>
      <p:sp>
        <p:nvSpPr>
          <p:cNvPr id="590" name="Google Shape;590;p16"/>
          <p:cNvSpPr/>
          <p:nvPr/>
        </p:nvSpPr>
        <p:spPr>
          <a:xfrm>
            <a:off x="896112" y="5554782"/>
            <a:ext cx="2991002" cy="3657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Authorise engagement on a payload contribution.</a:t>
            </a:r>
            <a:endParaRPr sz="1200">
              <a:solidFill>
                <a:schemeClr val="dk1"/>
              </a:solidFill>
              <a:latin typeface="Arial"/>
              <a:ea typeface="Arial"/>
              <a:cs typeface="Arial"/>
              <a:sym typeface="Arial"/>
            </a:endParaRPr>
          </a:p>
        </p:txBody>
      </p:sp>
      <p:sp>
        <p:nvSpPr>
          <p:cNvPr id="591" name="Google Shape;591;p16"/>
          <p:cNvSpPr/>
          <p:nvPr/>
        </p:nvSpPr>
        <p:spPr>
          <a:xfrm>
            <a:off x="4362602" y="4974336"/>
            <a:ext cx="3466490" cy="1060704"/>
          </a:xfrm>
          <a:prstGeom prst="roundRect">
            <a:avLst>
              <a:gd fmla="val 775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92" name="Google Shape;592;p16"/>
          <p:cNvSpPr/>
          <p:nvPr/>
        </p:nvSpPr>
        <p:spPr>
          <a:xfrm>
            <a:off x="4600346" y="5175504"/>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93" name="Google Shape;593;p16"/>
          <p:cNvSpPr/>
          <p:nvPr/>
        </p:nvSpPr>
        <p:spPr>
          <a:xfrm>
            <a:off x="4600346" y="5175504"/>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ourier New"/>
              <a:buNone/>
            </a:pPr>
            <a:r>
              <a:rPr b="1" lang="en-US" sz="1050">
                <a:solidFill>
                  <a:srgbClr val="FFFFFF"/>
                </a:solidFill>
                <a:latin typeface="Courier New"/>
                <a:ea typeface="Courier New"/>
                <a:cs typeface="Courier New"/>
                <a:sym typeface="Courier New"/>
              </a:rPr>
              <a:t>02</a:t>
            </a:r>
            <a:endParaRPr sz="1050">
              <a:solidFill>
                <a:schemeClr val="dk1"/>
              </a:solidFill>
              <a:latin typeface="Courier New"/>
              <a:ea typeface="Courier New"/>
              <a:cs typeface="Courier New"/>
              <a:sym typeface="Courier New"/>
            </a:endParaRPr>
          </a:p>
        </p:txBody>
      </p:sp>
      <p:sp>
        <p:nvSpPr>
          <p:cNvPr id="594" name="Google Shape;594;p16"/>
          <p:cNvSpPr/>
          <p:nvPr/>
        </p:nvSpPr>
        <p:spPr>
          <a:xfrm>
            <a:off x="5002682" y="5138928"/>
            <a:ext cx="258866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400"/>
              <a:buFont typeface="Arial"/>
              <a:buNone/>
            </a:pPr>
            <a:r>
              <a:rPr b="1" lang="en-US" sz="1400">
                <a:solidFill>
                  <a:srgbClr val="13234C"/>
                </a:solidFill>
                <a:latin typeface="Arial"/>
                <a:ea typeface="Arial"/>
                <a:cs typeface="Arial"/>
                <a:sym typeface="Arial"/>
              </a:rPr>
              <a:t>ESA / JAXA accommodation discussion</a:t>
            </a:r>
            <a:endParaRPr sz="1400">
              <a:solidFill>
                <a:schemeClr val="dk1"/>
              </a:solidFill>
              <a:latin typeface="Arial"/>
              <a:ea typeface="Arial"/>
              <a:cs typeface="Arial"/>
              <a:sym typeface="Arial"/>
            </a:endParaRPr>
          </a:p>
        </p:txBody>
      </p:sp>
      <p:sp>
        <p:nvSpPr>
          <p:cNvPr id="595" name="Google Shape;595;p16"/>
          <p:cNvSpPr/>
          <p:nvPr/>
        </p:nvSpPr>
        <p:spPr>
          <a:xfrm>
            <a:off x="4600346" y="5554782"/>
            <a:ext cx="2991002" cy="3657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Confirm the route and the mission-of-opportunity mechanism.</a:t>
            </a:r>
            <a:endParaRPr sz="1200">
              <a:solidFill>
                <a:schemeClr val="dk1"/>
              </a:solidFill>
              <a:latin typeface="Arial"/>
              <a:ea typeface="Arial"/>
              <a:cs typeface="Arial"/>
              <a:sym typeface="Arial"/>
            </a:endParaRPr>
          </a:p>
        </p:txBody>
      </p:sp>
      <p:sp>
        <p:nvSpPr>
          <p:cNvPr id="596" name="Google Shape;596;p16"/>
          <p:cNvSpPr/>
          <p:nvPr/>
        </p:nvSpPr>
        <p:spPr>
          <a:xfrm>
            <a:off x="8066837" y="4974336"/>
            <a:ext cx="3466490" cy="1060704"/>
          </a:xfrm>
          <a:prstGeom prst="roundRect">
            <a:avLst>
              <a:gd fmla="val 775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97" name="Google Shape;597;p16"/>
          <p:cNvSpPr/>
          <p:nvPr/>
        </p:nvSpPr>
        <p:spPr>
          <a:xfrm>
            <a:off x="8304581" y="5175504"/>
            <a:ext cx="310896" cy="310896"/>
          </a:xfrm>
          <a:prstGeom prst="ellipse">
            <a:avLst/>
          </a:prstGeom>
          <a:solidFill>
            <a:srgbClr val="13234C"/>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Arial"/>
              <a:ea typeface="Arial"/>
              <a:cs typeface="Arial"/>
              <a:sym typeface="Arial"/>
            </a:endParaRPr>
          </a:p>
        </p:txBody>
      </p:sp>
      <p:sp>
        <p:nvSpPr>
          <p:cNvPr id="598" name="Google Shape;598;p16"/>
          <p:cNvSpPr/>
          <p:nvPr/>
        </p:nvSpPr>
        <p:spPr>
          <a:xfrm>
            <a:off x="8304581" y="5175504"/>
            <a:ext cx="310896" cy="31089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50"/>
              <a:buFont typeface="Courier New"/>
              <a:buNone/>
            </a:pPr>
            <a:r>
              <a:rPr b="1" lang="en-US" sz="1050">
                <a:solidFill>
                  <a:srgbClr val="FFFFFF"/>
                </a:solidFill>
                <a:latin typeface="Courier New"/>
                <a:ea typeface="Courier New"/>
                <a:cs typeface="Courier New"/>
                <a:sym typeface="Courier New"/>
              </a:rPr>
              <a:t>03</a:t>
            </a:r>
            <a:endParaRPr sz="1050">
              <a:solidFill>
                <a:schemeClr val="dk1"/>
              </a:solidFill>
              <a:latin typeface="Courier New"/>
              <a:ea typeface="Courier New"/>
              <a:cs typeface="Courier New"/>
              <a:sym typeface="Courier New"/>
            </a:endParaRPr>
          </a:p>
        </p:txBody>
      </p:sp>
      <p:sp>
        <p:nvSpPr>
          <p:cNvPr id="599" name="Google Shape;599;p16"/>
          <p:cNvSpPr/>
          <p:nvPr/>
        </p:nvSpPr>
        <p:spPr>
          <a:xfrm>
            <a:off x="8706917" y="5138928"/>
            <a:ext cx="2588666" cy="402336"/>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13234C"/>
              </a:buClr>
              <a:buSzPts val="1400"/>
              <a:buFont typeface="Arial"/>
              <a:buNone/>
            </a:pPr>
            <a:r>
              <a:rPr b="1" lang="en-US" sz="1400">
                <a:solidFill>
                  <a:srgbClr val="13234C"/>
                </a:solidFill>
                <a:latin typeface="Arial"/>
                <a:ea typeface="Arial"/>
                <a:cs typeface="Arial"/>
                <a:sym typeface="Arial"/>
              </a:rPr>
              <a:t>APL / LLNL technical engagement</a:t>
            </a:r>
            <a:endParaRPr sz="1400">
              <a:solidFill>
                <a:schemeClr val="dk1"/>
              </a:solidFill>
              <a:latin typeface="Arial"/>
              <a:ea typeface="Arial"/>
              <a:cs typeface="Arial"/>
              <a:sym typeface="Arial"/>
            </a:endParaRPr>
          </a:p>
        </p:txBody>
      </p:sp>
      <p:sp>
        <p:nvSpPr>
          <p:cNvPr id="600" name="Google Shape;600;p16"/>
          <p:cNvSpPr/>
          <p:nvPr/>
        </p:nvSpPr>
        <p:spPr>
          <a:xfrm>
            <a:off x="8304581" y="5554782"/>
            <a:ext cx="2991002" cy="365760"/>
          </a:xfrm>
          <a:prstGeom prst="rect">
            <a:avLst/>
          </a:prstGeom>
          <a:noFill/>
          <a:ln>
            <a:noFill/>
          </a:ln>
        </p:spPr>
        <p:txBody>
          <a:bodyPr anchorCtr="0" anchor="t" bIns="0" lIns="0" spcFirstLastPara="1" rIns="0" wrap="square" tIns="0">
            <a:noAutofit/>
          </a:bodyPr>
          <a:lstStyle/>
          <a:p>
            <a:pPr indent="0" lvl="0" marL="0" marR="0" rtl="0" algn="l">
              <a:lnSpc>
                <a:spcPct val="110000"/>
              </a:lnSpc>
              <a:spcBef>
                <a:spcPts val="0"/>
              </a:spcBef>
              <a:spcAft>
                <a:spcPts val="0"/>
              </a:spcAft>
              <a:buClr>
                <a:srgbClr val="4C5468"/>
              </a:buClr>
              <a:buSzPts val="1200"/>
              <a:buFont typeface="Arial"/>
              <a:buNone/>
            </a:pPr>
            <a:r>
              <a:rPr lang="en-US" sz="1200">
                <a:solidFill>
                  <a:srgbClr val="4C5468"/>
                </a:solidFill>
                <a:latin typeface="Arial"/>
                <a:ea typeface="Arial"/>
                <a:cs typeface="Arial"/>
                <a:sym typeface="Arial"/>
              </a:rPr>
              <a:t>Open the first technical exchange.</a:t>
            </a:r>
            <a:endParaRPr sz="1200">
              <a:solidFill>
                <a:schemeClr val="dk1"/>
              </a:solidFill>
              <a:latin typeface="Arial"/>
              <a:ea typeface="Arial"/>
              <a:cs typeface="Arial"/>
              <a:sym typeface="Arial"/>
            </a:endParaRPr>
          </a:p>
        </p:txBody>
      </p:sp>
      <p:sp>
        <p:nvSpPr>
          <p:cNvPr id="601" name="Google Shape;601;p16"/>
          <p:cNvSpPr/>
          <p:nvPr/>
        </p:nvSpPr>
        <p:spPr>
          <a:xfrm>
            <a:off x="4846320" y="6272784"/>
            <a:ext cx="6035040" cy="256032"/>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900"/>
              <a:buFont typeface="Arial"/>
              <a:buNone/>
            </a:pPr>
            <a:r>
              <a:rPr i="1" lang="en-US" sz="900">
                <a:solidFill>
                  <a:srgbClr val="79839A"/>
                </a:solidFill>
                <a:latin typeface="Arial"/>
                <a:ea typeface="Arial"/>
                <a:cs typeface="Arial"/>
                <a:sym typeface="Arial"/>
              </a:rPr>
              <a:t>Accommodation detail, open technical items and export-control considerations in appendix.</a:t>
            </a:r>
            <a:endParaRPr sz="900">
              <a:solidFill>
                <a:schemeClr val="dk1"/>
              </a:solidFill>
              <a:latin typeface="Calibri"/>
              <a:ea typeface="Calibri"/>
              <a:cs typeface="Calibri"/>
              <a:sym typeface="Calibri"/>
            </a:endParaRPr>
          </a:p>
        </p:txBody>
      </p:sp>
      <p:sp>
        <p:nvSpPr>
          <p:cNvPr id="602" name="Google Shape;602;p16"/>
          <p:cNvSpPr/>
          <p:nvPr/>
        </p:nvSpPr>
        <p:spPr>
          <a:xfrm>
            <a:off x="10881360" y="6272784"/>
            <a:ext cx="694944"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9839A"/>
              </a:buClr>
              <a:buSzPts val="1000"/>
              <a:buFont typeface="Arial"/>
              <a:buNone/>
            </a:pPr>
            <a:r>
              <a:rPr lang="en-US" sz="1000">
                <a:solidFill>
                  <a:srgbClr val="79839A"/>
                </a:solidFill>
                <a:latin typeface="Arial"/>
                <a:ea typeface="Arial"/>
                <a:cs typeface="Arial"/>
                <a:sym typeface="Arial"/>
              </a:rPr>
              <a:t>13</a:t>
            </a:r>
            <a:endParaRPr sz="1000">
              <a:solidFill>
                <a:schemeClr val="dk1"/>
              </a:solidFill>
              <a:latin typeface="Calibri"/>
              <a:ea typeface="Calibri"/>
              <a:cs typeface="Calibri"/>
              <a:sym typeface="Calibri"/>
            </a:endParaRPr>
          </a:p>
        </p:txBody>
      </p:sp>
      <p:pic>
        <p:nvPicPr>
          <p:cNvPr descr="/home/claude/work/a2/logo_dark.png" id="603" name="Google Shape;603;p16"/>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604" name="Google Shape;604;p16"/>
          <p:cNvSpPr/>
          <p:nvPr/>
        </p:nvSpPr>
        <p:spPr>
          <a:xfrm>
            <a:off x="7254453" y="2643469"/>
            <a:ext cx="384048" cy="237744"/>
          </a:xfrm>
          <a:prstGeom prst="rightArrow">
            <a:avLst>
              <a:gd fmla="val 50000" name="adj1"/>
              <a:gd fmla="val 50000" name="adj2"/>
            </a:avLst>
          </a:prstGeom>
          <a:solidFill>
            <a:srgbClr val="6DD9FF"/>
          </a:solidFill>
          <a:ln cap="flat" cmpd="sng" w="9525">
            <a:solidFill>
              <a:srgbClr val="00B0F0"/>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05" name="Google Shape;605;p16"/>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610" name="Shape 610"/>
        <p:cNvGrpSpPr/>
        <p:nvPr/>
      </p:nvGrpSpPr>
      <p:grpSpPr>
        <a:xfrm>
          <a:off x="0" y="0"/>
          <a:ext cx="0" cy="0"/>
          <a:chOff x="0" y="0"/>
          <a:chExt cx="0" cy="0"/>
        </a:xfrm>
      </p:grpSpPr>
      <p:pic>
        <p:nvPicPr>
          <p:cNvPr descr="/home/claude/work/a2/glow_deep.jpg" id="611" name="Google Shape;611;p17"/>
          <p:cNvPicPr preferRelativeResize="0"/>
          <p:nvPr/>
        </p:nvPicPr>
        <p:blipFill rotWithShape="1">
          <a:blip r:embed="rId3">
            <a:alphaModFix/>
          </a:blip>
          <a:srcRect b="0" l="0" r="0" t="0"/>
          <a:stretch/>
        </p:blipFill>
        <p:spPr>
          <a:xfrm>
            <a:off x="0" y="0"/>
            <a:ext cx="12191695" cy="6858000"/>
          </a:xfrm>
          <a:prstGeom prst="rect">
            <a:avLst/>
          </a:prstGeom>
          <a:noFill/>
          <a:ln>
            <a:noFill/>
          </a:ln>
        </p:spPr>
      </p:pic>
      <p:pic>
        <p:nvPicPr>
          <p:cNvPr descr="/home/claude/work/a2/earth_left.png" id="612" name="Google Shape;612;p17"/>
          <p:cNvPicPr preferRelativeResize="0"/>
          <p:nvPr/>
        </p:nvPicPr>
        <p:blipFill rotWithShape="1">
          <a:blip r:embed="rId4">
            <a:alphaModFix/>
          </a:blip>
          <a:srcRect b="0" l="0" r="0" t="0"/>
          <a:stretch/>
        </p:blipFill>
        <p:spPr>
          <a:xfrm>
            <a:off x="7034479" y="68997"/>
            <a:ext cx="5120640" cy="4544568"/>
          </a:xfrm>
          <a:prstGeom prst="rect">
            <a:avLst/>
          </a:prstGeom>
          <a:noFill/>
          <a:ln>
            <a:noFill/>
          </a:ln>
        </p:spPr>
      </p:pic>
      <p:pic>
        <p:nvPicPr>
          <p:cNvPr descr="/home/claude/work/a2/logo_white.png" id="613" name="Google Shape;613;p17"/>
          <p:cNvPicPr preferRelativeResize="0"/>
          <p:nvPr/>
        </p:nvPicPr>
        <p:blipFill rotWithShape="1">
          <a:blip r:embed="rId5">
            <a:alphaModFix/>
          </a:blip>
          <a:srcRect b="0" l="0" r="0" t="0"/>
          <a:stretch/>
        </p:blipFill>
        <p:spPr>
          <a:xfrm>
            <a:off x="10788577" y="329184"/>
            <a:ext cx="1133856" cy="478231"/>
          </a:xfrm>
          <a:prstGeom prst="rect">
            <a:avLst/>
          </a:prstGeom>
          <a:noFill/>
          <a:ln>
            <a:noFill/>
          </a:ln>
        </p:spPr>
      </p:pic>
      <p:sp>
        <p:nvSpPr>
          <p:cNvPr id="614" name="Google Shape;614;p17"/>
          <p:cNvSpPr/>
          <p:nvPr/>
        </p:nvSpPr>
        <p:spPr>
          <a:xfrm>
            <a:off x="658368" y="6272784"/>
            <a:ext cx="859536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4607C"/>
              </a:buClr>
              <a:buSzPts val="800"/>
              <a:buFont typeface="Courier New"/>
              <a:buNone/>
            </a:pPr>
            <a:r>
              <a:rPr lang="en-US" sz="800">
                <a:solidFill>
                  <a:srgbClr val="54607C"/>
                </a:solidFill>
                <a:latin typeface="Courier New"/>
                <a:ea typeface="Courier New"/>
                <a:cs typeface="Courier New"/>
                <a:sym typeface="Courier New"/>
              </a:rPr>
              <a:t>BASELINE</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KNOWLEDGE GAPS</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SELECTION</a:t>
            </a:r>
            <a:r>
              <a:rPr lang="en-US" sz="800">
                <a:solidFill>
                  <a:srgbClr val="000000"/>
                </a:solidFill>
                <a:latin typeface="Courier New"/>
                <a:ea typeface="Courier New"/>
                <a:cs typeface="Courier New"/>
                <a:sym typeface="Courier New"/>
              </a:rPr>
              <a:t>     </a:t>
            </a:r>
            <a:r>
              <a:rPr lang="en-US" sz="800">
                <a:solidFill>
                  <a:srgbClr val="54607C"/>
                </a:solidFill>
                <a:latin typeface="Courier New"/>
                <a:ea typeface="Courier New"/>
                <a:cs typeface="Courier New"/>
                <a:sym typeface="Courier New"/>
              </a:rPr>
              <a:t>RECOMMENDATION</a:t>
            </a:r>
            <a:r>
              <a:rPr lang="en-US" sz="800">
                <a:solidFill>
                  <a:srgbClr val="000000"/>
                </a:solidFill>
                <a:latin typeface="Courier New"/>
                <a:ea typeface="Courier New"/>
                <a:cs typeface="Courier New"/>
                <a:sym typeface="Courier New"/>
              </a:rPr>
              <a:t>     </a:t>
            </a:r>
            <a:r>
              <a:rPr b="1" lang="en-US" sz="800">
                <a:solidFill>
                  <a:srgbClr val="E8A33D"/>
                </a:solidFill>
                <a:latin typeface="Courier New"/>
                <a:ea typeface="Courier New"/>
                <a:cs typeface="Courier New"/>
                <a:sym typeface="Courier New"/>
              </a:rPr>
              <a:t>VALUE</a:t>
            </a:r>
            <a:endParaRPr sz="800">
              <a:solidFill>
                <a:schemeClr val="dk1"/>
              </a:solidFill>
              <a:latin typeface="Courier New"/>
              <a:ea typeface="Courier New"/>
              <a:cs typeface="Courier New"/>
              <a:sym typeface="Courier New"/>
            </a:endParaRPr>
          </a:p>
        </p:txBody>
      </p:sp>
      <p:sp>
        <p:nvSpPr>
          <p:cNvPr id="615" name="Google Shape;615;p17"/>
          <p:cNvSpPr/>
          <p:nvPr/>
        </p:nvSpPr>
        <p:spPr>
          <a:xfrm>
            <a:off x="658368" y="1298448"/>
            <a:ext cx="6766560" cy="914400"/>
          </a:xfrm>
          <a:prstGeom prst="rect">
            <a:avLst/>
          </a:prstGeom>
          <a:noFill/>
          <a:ln>
            <a:noFill/>
          </a:ln>
        </p:spPr>
        <p:txBody>
          <a:bodyPr anchorCtr="0" anchor="ctr" bIns="0" lIns="0" spcFirstLastPara="1" rIns="0" wrap="square" tIns="0">
            <a:noAutofit/>
          </a:bodyPr>
          <a:lstStyle/>
          <a:p>
            <a:pPr indent="0" lvl="0" marL="0" marR="0" rtl="0" algn="l">
              <a:lnSpc>
                <a:spcPct val="95000"/>
              </a:lnSpc>
              <a:spcBef>
                <a:spcPts val="0"/>
              </a:spcBef>
              <a:spcAft>
                <a:spcPts val="0"/>
              </a:spcAft>
              <a:buClr>
                <a:srgbClr val="FFFFFF"/>
              </a:buClr>
              <a:buSzPts val="3600"/>
              <a:buFont typeface="Arial"/>
              <a:buNone/>
            </a:pPr>
            <a:r>
              <a:rPr b="1" lang="en-US" sz="3600">
                <a:solidFill>
                  <a:srgbClr val="FFFFFF"/>
                </a:solidFill>
                <a:latin typeface="Arial"/>
                <a:ea typeface="Arial"/>
                <a:cs typeface="Arial"/>
                <a:sym typeface="Arial"/>
              </a:rPr>
              <a:t>Why This Matters to SSA</a:t>
            </a:r>
            <a:endParaRPr sz="3600">
              <a:solidFill>
                <a:schemeClr val="dk1"/>
              </a:solidFill>
              <a:latin typeface="Calibri"/>
              <a:ea typeface="Calibri"/>
              <a:cs typeface="Calibri"/>
              <a:sym typeface="Calibri"/>
            </a:endParaRPr>
          </a:p>
        </p:txBody>
      </p:sp>
      <p:sp>
        <p:nvSpPr>
          <p:cNvPr id="616" name="Google Shape;616;p17"/>
          <p:cNvSpPr/>
          <p:nvPr/>
        </p:nvSpPr>
        <p:spPr>
          <a:xfrm>
            <a:off x="658368" y="2395728"/>
            <a:ext cx="1737360" cy="9144"/>
          </a:xfrm>
          <a:prstGeom prst="rect">
            <a:avLst/>
          </a:prstGeom>
          <a:solidFill>
            <a:srgbClr val="4A587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617" name="Google Shape;617;p17"/>
          <p:cNvSpPr/>
          <p:nvPr/>
        </p:nvSpPr>
        <p:spPr>
          <a:xfrm>
            <a:off x="658368" y="2688336"/>
            <a:ext cx="502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01</a:t>
            </a:r>
            <a:endParaRPr sz="1200">
              <a:solidFill>
                <a:srgbClr val="00B0F0"/>
              </a:solidFill>
              <a:latin typeface="Courier New"/>
              <a:ea typeface="Courier New"/>
              <a:cs typeface="Courier New"/>
              <a:sym typeface="Courier New"/>
            </a:endParaRPr>
          </a:p>
        </p:txBody>
      </p:sp>
      <p:sp>
        <p:nvSpPr>
          <p:cNvPr id="618" name="Google Shape;618;p17"/>
          <p:cNvSpPr/>
          <p:nvPr/>
        </p:nvSpPr>
        <p:spPr>
          <a:xfrm>
            <a:off x="1207008" y="2651760"/>
            <a:ext cx="5120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b="1" lang="en-US" sz="1800">
                <a:solidFill>
                  <a:srgbClr val="FFFFFF"/>
                </a:solidFill>
                <a:latin typeface="Courier New"/>
                <a:ea typeface="Courier New"/>
                <a:cs typeface="Courier New"/>
                <a:sym typeface="Courier New"/>
              </a:rPr>
              <a:t>Scientific</a:t>
            </a:r>
            <a:endParaRPr sz="1800">
              <a:solidFill>
                <a:schemeClr val="dk1"/>
              </a:solidFill>
              <a:latin typeface="Courier New"/>
              <a:ea typeface="Courier New"/>
              <a:cs typeface="Courier New"/>
              <a:sym typeface="Courier New"/>
            </a:endParaRPr>
          </a:p>
        </p:txBody>
      </p:sp>
      <p:sp>
        <p:nvSpPr>
          <p:cNvPr id="619" name="Google Shape;619;p17"/>
          <p:cNvSpPr/>
          <p:nvPr/>
        </p:nvSpPr>
        <p:spPr>
          <a:xfrm>
            <a:off x="1207008" y="2980944"/>
            <a:ext cx="53949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Adds a dataset RAMSES cannot generate independently.</a:t>
            </a:r>
            <a:endParaRPr sz="1400">
              <a:solidFill>
                <a:schemeClr val="dk1"/>
              </a:solidFill>
              <a:latin typeface="Arial"/>
              <a:ea typeface="Arial"/>
              <a:cs typeface="Arial"/>
              <a:sym typeface="Arial"/>
            </a:endParaRPr>
          </a:p>
        </p:txBody>
      </p:sp>
      <p:sp>
        <p:nvSpPr>
          <p:cNvPr id="620" name="Google Shape;620;p17"/>
          <p:cNvSpPr/>
          <p:nvPr/>
        </p:nvSpPr>
        <p:spPr>
          <a:xfrm>
            <a:off x="658368" y="3401568"/>
            <a:ext cx="5943600" cy="9144"/>
          </a:xfrm>
          <a:prstGeom prst="rect">
            <a:avLst/>
          </a:prstGeom>
          <a:solidFill>
            <a:srgbClr val="212C4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621" name="Google Shape;621;p17"/>
          <p:cNvSpPr/>
          <p:nvPr/>
        </p:nvSpPr>
        <p:spPr>
          <a:xfrm>
            <a:off x="658368" y="3547872"/>
            <a:ext cx="502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02</a:t>
            </a:r>
            <a:endParaRPr sz="1200">
              <a:solidFill>
                <a:srgbClr val="00B0F0"/>
              </a:solidFill>
              <a:latin typeface="Courier New"/>
              <a:ea typeface="Courier New"/>
              <a:cs typeface="Courier New"/>
              <a:sym typeface="Courier New"/>
            </a:endParaRPr>
          </a:p>
        </p:txBody>
      </p:sp>
      <p:sp>
        <p:nvSpPr>
          <p:cNvPr id="622" name="Google Shape;622;p17"/>
          <p:cNvSpPr/>
          <p:nvPr/>
        </p:nvSpPr>
        <p:spPr>
          <a:xfrm>
            <a:off x="1207008" y="3511296"/>
            <a:ext cx="5120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b="1" lang="en-US" sz="1800">
                <a:solidFill>
                  <a:srgbClr val="FFFFFF"/>
                </a:solidFill>
                <a:latin typeface="Courier New"/>
                <a:ea typeface="Courier New"/>
                <a:cs typeface="Courier New"/>
                <a:sym typeface="Courier New"/>
              </a:rPr>
              <a:t>Strategic</a:t>
            </a:r>
            <a:endParaRPr sz="1800">
              <a:solidFill>
                <a:schemeClr val="dk1"/>
              </a:solidFill>
              <a:latin typeface="Courier New"/>
              <a:ea typeface="Courier New"/>
              <a:cs typeface="Courier New"/>
              <a:sym typeface="Courier New"/>
            </a:endParaRPr>
          </a:p>
        </p:txBody>
      </p:sp>
      <p:sp>
        <p:nvSpPr>
          <p:cNvPr id="623" name="Google Shape;623;p17"/>
          <p:cNvSpPr/>
          <p:nvPr/>
        </p:nvSpPr>
        <p:spPr>
          <a:xfrm>
            <a:off x="1207008" y="3840480"/>
            <a:ext cx="53949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Moves SSA from observer to contributor on a flagship mission.</a:t>
            </a:r>
            <a:endParaRPr sz="1400">
              <a:solidFill>
                <a:schemeClr val="dk1"/>
              </a:solidFill>
              <a:latin typeface="Arial"/>
              <a:ea typeface="Arial"/>
              <a:cs typeface="Arial"/>
              <a:sym typeface="Arial"/>
            </a:endParaRPr>
          </a:p>
        </p:txBody>
      </p:sp>
      <p:sp>
        <p:nvSpPr>
          <p:cNvPr id="624" name="Google Shape;624;p17"/>
          <p:cNvSpPr/>
          <p:nvPr/>
        </p:nvSpPr>
        <p:spPr>
          <a:xfrm>
            <a:off x="658368" y="4261104"/>
            <a:ext cx="5943600" cy="9144"/>
          </a:xfrm>
          <a:prstGeom prst="rect">
            <a:avLst/>
          </a:prstGeom>
          <a:solidFill>
            <a:srgbClr val="212C4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625" name="Google Shape;625;p17"/>
          <p:cNvSpPr/>
          <p:nvPr/>
        </p:nvSpPr>
        <p:spPr>
          <a:xfrm>
            <a:off x="658368" y="4407408"/>
            <a:ext cx="502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03</a:t>
            </a:r>
            <a:endParaRPr sz="1200">
              <a:solidFill>
                <a:srgbClr val="00B0F0"/>
              </a:solidFill>
              <a:latin typeface="Courier New"/>
              <a:ea typeface="Courier New"/>
              <a:cs typeface="Courier New"/>
              <a:sym typeface="Courier New"/>
            </a:endParaRPr>
          </a:p>
        </p:txBody>
      </p:sp>
      <p:sp>
        <p:nvSpPr>
          <p:cNvPr id="626" name="Google Shape;626;p17"/>
          <p:cNvSpPr/>
          <p:nvPr/>
        </p:nvSpPr>
        <p:spPr>
          <a:xfrm>
            <a:off x="1207008" y="4370832"/>
            <a:ext cx="5120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b="1" lang="en-US" sz="1800">
                <a:solidFill>
                  <a:srgbClr val="FFFFFF"/>
                </a:solidFill>
                <a:latin typeface="Courier New"/>
                <a:ea typeface="Courier New"/>
                <a:cs typeface="Courier New"/>
                <a:sym typeface="Courier New"/>
              </a:rPr>
              <a:t>Programmatic</a:t>
            </a:r>
            <a:endParaRPr sz="1800">
              <a:solidFill>
                <a:schemeClr val="dk1"/>
              </a:solidFill>
              <a:latin typeface="Courier New"/>
              <a:ea typeface="Courier New"/>
              <a:cs typeface="Courier New"/>
              <a:sym typeface="Courier New"/>
            </a:endParaRPr>
          </a:p>
        </p:txBody>
      </p:sp>
      <p:sp>
        <p:nvSpPr>
          <p:cNvPr id="627" name="Google Shape;627;p17"/>
          <p:cNvSpPr/>
          <p:nvPr/>
        </p:nvSpPr>
        <p:spPr>
          <a:xfrm>
            <a:off x="1207008" y="4700016"/>
            <a:ext cx="53949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Uses a proven instrument and a proven partnership model.</a:t>
            </a:r>
            <a:endParaRPr sz="1400">
              <a:solidFill>
                <a:schemeClr val="dk1"/>
              </a:solidFill>
              <a:latin typeface="Arial"/>
              <a:ea typeface="Arial"/>
              <a:cs typeface="Arial"/>
              <a:sym typeface="Arial"/>
            </a:endParaRPr>
          </a:p>
        </p:txBody>
      </p:sp>
      <p:sp>
        <p:nvSpPr>
          <p:cNvPr id="628" name="Google Shape;628;p17"/>
          <p:cNvSpPr/>
          <p:nvPr/>
        </p:nvSpPr>
        <p:spPr>
          <a:xfrm>
            <a:off x="658368" y="5120640"/>
            <a:ext cx="5943600" cy="9144"/>
          </a:xfrm>
          <a:prstGeom prst="rect">
            <a:avLst/>
          </a:prstGeom>
          <a:solidFill>
            <a:srgbClr val="212C48"/>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2000">
              <a:solidFill>
                <a:schemeClr val="dk1"/>
              </a:solidFill>
              <a:latin typeface="Calibri"/>
              <a:ea typeface="Calibri"/>
              <a:cs typeface="Calibri"/>
              <a:sym typeface="Calibri"/>
            </a:endParaRPr>
          </a:p>
        </p:txBody>
      </p:sp>
      <p:sp>
        <p:nvSpPr>
          <p:cNvPr id="629" name="Google Shape;629;p17"/>
          <p:cNvSpPr/>
          <p:nvPr/>
        </p:nvSpPr>
        <p:spPr>
          <a:xfrm>
            <a:off x="658368" y="5266944"/>
            <a:ext cx="50292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B0F0"/>
              </a:buClr>
              <a:buSzPts val="1200"/>
              <a:buFont typeface="Courier New"/>
              <a:buNone/>
            </a:pPr>
            <a:r>
              <a:rPr b="1" lang="en-US" sz="1200">
                <a:solidFill>
                  <a:srgbClr val="00B0F0"/>
                </a:solidFill>
                <a:latin typeface="Courier New"/>
                <a:ea typeface="Courier New"/>
                <a:cs typeface="Courier New"/>
                <a:sym typeface="Courier New"/>
              </a:rPr>
              <a:t>04</a:t>
            </a:r>
            <a:endParaRPr sz="1200">
              <a:solidFill>
                <a:srgbClr val="00B0F0"/>
              </a:solidFill>
              <a:latin typeface="Courier New"/>
              <a:ea typeface="Courier New"/>
              <a:cs typeface="Courier New"/>
              <a:sym typeface="Courier New"/>
            </a:endParaRPr>
          </a:p>
        </p:txBody>
      </p:sp>
      <p:sp>
        <p:nvSpPr>
          <p:cNvPr id="630" name="Google Shape;630;p17"/>
          <p:cNvSpPr/>
          <p:nvPr/>
        </p:nvSpPr>
        <p:spPr>
          <a:xfrm>
            <a:off x="1207008" y="5230368"/>
            <a:ext cx="51206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ourier New"/>
              <a:buNone/>
            </a:pPr>
            <a:r>
              <a:rPr b="1" lang="en-US" sz="1800">
                <a:solidFill>
                  <a:srgbClr val="FFFFFF"/>
                </a:solidFill>
                <a:latin typeface="Courier New"/>
                <a:ea typeface="Courier New"/>
                <a:cs typeface="Courier New"/>
                <a:sym typeface="Courier New"/>
              </a:rPr>
              <a:t>Actionable</a:t>
            </a:r>
            <a:endParaRPr sz="1800">
              <a:solidFill>
                <a:schemeClr val="dk1"/>
              </a:solidFill>
              <a:latin typeface="Courier New"/>
              <a:ea typeface="Courier New"/>
              <a:cs typeface="Courier New"/>
              <a:sym typeface="Courier New"/>
            </a:endParaRPr>
          </a:p>
        </p:txBody>
      </p:sp>
      <p:sp>
        <p:nvSpPr>
          <p:cNvPr id="631" name="Google Shape;631;p17"/>
          <p:cNvSpPr/>
          <p:nvPr/>
        </p:nvSpPr>
        <p:spPr>
          <a:xfrm>
            <a:off x="1207008" y="5559552"/>
            <a:ext cx="53949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BA7C0"/>
              </a:buClr>
              <a:buSzPts val="1400"/>
              <a:buFont typeface="Arial"/>
              <a:buNone/>
            </a:pPr>
            <a:r>
              <a:rPr lang="en-US" sz="1400">
                <a:solidFill>
                  <a:srgbClr val="9BA7C0"/>
                </a:solidFill>
                <a:latin typeface="Arial"/>
                <a:ea typeface="Arial"/>
                <a:cs typeface="Arial"/>
                <a:sym typeface="Arial"/>
              </a:rPr>
              <a:t>A credible acquisition route exists now.</a:t>
            </a:r>
            <a:endParaRPr sz="1400">
              <a:solidFill>
                <a:schemeClr val="dk1"/>
              </a:solidFill>
              <a:latin typeface="Arial"/>
              <a:ea typeface="Arial"/>
              <a:cs typeface="Arial"/>
              <a:sym typeface="Arial"/>
            </a:endParaRPr>
          </a:p>
        </p:txBody>
      </p:sp>
      <p:sp>
        <p:nvSpPr>
          <p:cNvPr id="632" name="Google Shape;632;p17"/>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70B16"/>
        </a:solidFill>
      </p:bgPr>
    </p:bg>
    <p:spTree>
      <p:nvGrpSpPr>
        <p:cNvPr id="637" name="Shape 637"/>
        <p:cNvGrpSpPr/>
        <p:nvPr/>
      </p:nvGrpSpPr>
      <p:grpSpPr>
        <a:xfrm>
          <a:off x="0" y="0"/>
          <a:ext cx="0" cy="0"/>
          <a:chOff x="0" y="0"/>
          <a:chExt cx="0" cy="0"/>
        </a:xfrm>
      </p:grpSpPr>
      <p:pic>
        <p:nvPicPr>
          <p:cNvPr descr="ESA - ESA's Ramses mission to asteroid Apophis" id="638" name="Google Shape;638;p18"/>
          <p:cNvPicPr preferRelativeResize="0"/>
          <p:nvPr/>
        </p:nvPicPr>
        <p:blipFill rotWithShape="1">
          <a:blip r:embed="rId3">
            <a:alphaModFix amt="35000"/>
          </a:blip>
          <a:srcRect b="0" l="0" r="0" t="0"/>
          <a:stretch/>
        </p:blipFill>
        <p:spPr>
          <a:xfrm>
            <a:off x="23646" y="0"/>
            <a:ext cx="12144705" cy="6884605"/>
          </a:xfrm>
          <a:prstGeom prst="rect">
            <a:avLst/>
          </a:prstGeom>
          <a:noFill/>
          <a:ln>
            <a:noFill/>
          </a:ln>
        </p:spPr>
      </p:pic>
      <p:sp>
        <p:nvSpPr>
          <p:cNvPr id="639" name="Google Shape;639;p18"/>
          <p:cNvSpPr/>
          <p:nvPr/>
        </p:nvSpPr>
        <p:spPr>
          <a:xfrm>
            <a:off x="1005840" y="2834640"/>
            <a:ext cx="786384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5400"/>
              <a:buFont typeface="Arial"/>
              <a:buNone/>
            </a:pPr>
            <a:r>
              <a:rPr b="1" lang="en-US" sz="5400">
                <a:solidFill>
                  <a:srgbClr val="FFFFFF"/>
                </a:solidFill>
                <a:latin typeface="Arial"/>
                <a:ea typeface="Arial"/>
                <a:cs typeface="Arial"/>
                <a:sym typeface="Arial"/>
              </a:rPr>
              <a:t>Thank you!</a:t>
            </a:r>
            <a:endParaRPr sz="5400">
              <a:solidFill>
                <a:schemeClr val="dk1"/>
              </a:solidFill>
              <a:latin typeface="Calibri"/>
              <a:ea typeface="Calibri"/>
              <a:cs typeface="Calibri"/>
              <a:sym typeface="Calibri"/>
            </a:endParaRPr>
          </a:p>
        </p:txBody>
      </p:sp>
      <p:sp>
        <p:nvSpPr>
          <p:cNvPr id="640" name="Google Shape;640;p18"/>
          <p:cNvSpPr/>
          <p:nvPr/>
        </p:nvSpPr>
        <p:spPr>
          <a:xfrm>
            <a:off x="1051560" y="4041648"/>
            <a:ext cx="1920240" cy="9144"/>
          </a:xfrm>
          <a:prstGeom prst="rect">
            <a:avLst/>
          </a:prstGeom>
          <a:solidFill>
            <a:srgbClr val="18B5F0"/>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pic>
        <p:nvPicPr>
          <p:cNvPr descr="/home/claude/work/a2/logo_white.png" id="641" name="Google Shape;641;p18"/>
          <p:cNvPicPr preferRelativeResize="0"/>
          <p:nvPr/>
        </p:nvPicPr>
        <p:blipFill rotWithShape="1">
          <a:blip r:embed="rId4">
            <a:alphaModFix/>
          </a:blip>
          <a:srcRect b="0" l="0" r="0" t="0"/>
          <a:stretch/>
        </p:blipFill>
        <p:spPr>
          <a:xfrm>
            <a:off x="10285730" y="329184"/>
            <a:ext cx="1636703" cy="690319"/>
          </a:xfrm>
          <a:prstGeom prst="rect">
            <a:avLst/>
          </a:prstGeom>
          <a:noFill/>
          <a:ln>
            <a:noFill/>
          </a:ln>
        </p:spPr>
      </p:pic>
      <p:sp>
        <p:nvSpPr>
          <p:cNvPr id="642" name="Google Shape;642;p18"/>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D9E1EF"/>
        </a:solidFill>
      </p:bgPr>
    </p:bg>
    <p:spTree>
      <p:nvGrpSpPr>
        <p:cNvPr id="647" name="Shape 647"/>
        <p:cNvGrpSpPr/>
        <p:nvPr/>
      </p:nvGrpSpPr>
      <p:grpSpPr>
        <a:xfrm>
          <a:off x="0" y="0"/>
          <a:ext cx="0" cy="0"/>
          <a:chOff x="0" y="0"/>
          <a:chExt cx="0" cy="0"/>
        </a:xfrm>
      </p:grpSpPr>
      <p:pic>
        <p:nvPicPr>
          <p:cNvPr descr="/home/claude/work/a2/light_wash.jpg" id="648" name="Google Shape;648;p19"/>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649" name="Google Shape;649;p19"/>
          <p:cNvSpPr/>
          <p:nvPr/>
        </p:nvSpPr>
        <p:spPr>
          <a:xfrm>
            <a:off x="658368" y="530352"/>
            <a:ext cx="90525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950"/>
              <a:buFont typeface="Arial"/>
              <a:buNone/>
            </a:pPr>
            <a:r>
              <a:rPr b="1" lang="en-US" sz="950">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650" name="Google Shape;650;p19"/>
          <p:cNvSpPr/>
          <p:nvPr/>
        </p:nvSpPr>
        <p:spPr>
          <a:xfrm>
            <a:off x="658368" y="795528"/>
            <a:ext cx="9052560" cy="409903"/>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2600"/>
              <a:buFont typeface="Arial"/>
              <a:buNone/>
            </a:pPr>
            <a:r>
              <a:rPr b="1" lang="en-US" sz="2600">
                <a:solidFill>
                  <a:srgbClr val="13234C"/>
                </a:solidFill>
                <a:latin typeface="Arial"/>
                <a:ea typeface="Arial"/>
                <a:cs typeface="Arial"/>
                <a:sym typeface="Arial"/>
              </a:rPr>
              <a:t>Candidate Trade Study — Full Assessment</a:t>
            </a:r>
            <a:endParaRPr sz="2600">
              <a:solidFill>
                <a:schemeClr val="dk1"/>
              </a:solidFill>
              <a:latin typeface="Calibri"/>
              <a:ea typeface="Calibri"/>
              <a:cs typeface="Calibri"/>
              <a:sym typeface="Calibri"/>
            </a:endParaRPr>
          </a:p>
        </p:txBody>
      </p:sp>
      <p:sp>
        <p:nvSpPr>
          <p:cNvPr id="651" name="Google Shape;651;p19"/>
          <p:cNvSpPr/>
          <p:nvPr/>
        </p:nvSpPr>
        <p:spPr>
          <a:xfrm>
            <a:off x="658368" y="1260295"/>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Architecture is a screening criterion, not a differentiator. A candidate is scored only until the criterion that removes it.</a:t>
            </a:r>
            <a:endParaRPr sz="1250">
              <a:solidFill>
                <a:schemeClr val="dk1"/>
              </a:solidFill>
              <a:latin typeface="Calibri"/>
              <a:ea typeface="Calibri"/>
              <a:cs typeface="Calibri"/>
              <a:sym typeface="Calibri"/>
            </a:endParaRPr>
          </a:p>
        </p:txBody>
      </p:sp>
      <p:graphicFrame>
        <p:nvGraphicFramePr>
          <p:cNvPr id="652" name="Google Shape;652;p19"/>
          <p:cNvGraphicFramePr/>
          <p:nvPr/>
        </p:nvGraphicFramePr>
        <p:xfrm>
          <a:off x="658368" y="2139696"/>
          <a:ext cx="3000000" cy="3000000"/>
        </p:xfrm>
        <a:graphic>
          <a:graphicData uri="http://schemas.openxmlformats.org/drawingml/2006/table">
            <a:tbl>
              <a:tblPr>
                <a:noFill/>
                <a:tableStyleId>{3F18019F-0D7F-44A6-9491-1058076FFA4A}</a:tableStyleId>
              </a:tblPr>
              <a:tblGrid>
                <a:gridCol w="2423150"/>
                <a:gridCol w="1783075"/>
                <a:gridCol w="2423150"/>
                <a:gridCol w="777250"/>
                <a:gridCol w="1874525"/>
                <a:gridCol w="1548075"/>
              </a:tblGrid>
              <a:tr h="310900">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Candidate</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Architecture</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Scientific complementarity</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TRL</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Operational complexity</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Power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r>
              <a:tr h="310900">
                <a:tc>
                  <a:txBody>
                    <a:bodyPr/>
                    <a:lstStyle/>
                    <a:p>
                      <a:pPr indent="0" lvl="0" marL="0" marR="0" rtl="0" algn="l">
                        <a:spcBef>
                          <a:spcPts val="0"/>
                        </a:spcBef>
                        <a:spcAft>
                          <a:spcPts val="0"/>
                        </a:spcAft>
                        <a:buClr>
                          <a:srgbClr val="1F6B4A"/>
                        </a:buClr>
                        <a:buSzPts val="1000"/>
                        <a:buFont typeface="Arial"/>
                        <a:buNone/>
                      </a:pPr>
                      <a:r>
                        <a:rPr b="1" lang="en-US" sz="1000" u="none" cap="none" strike="noStrike">
                          <a:solidFill>
                            <a:srgbClr val="1F6B4A"/>
                          </a:solidFill>
                          <a:latin typeface="Arial"/>
                          <a:ea typeface="Arial"/>
                          <a:cs typeface="Arial"/>
                          <a:sym typeface="Arial"/>
                        </a:rPr>
                        <a:t>Gamma-Ray Spectrometer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c>
                  <a:txBody>
                    <a:bodyPr/>
                    <a:lstStyle/>
                    <a:p>
                      <a:pPr indent="0" lvl="0" marL="0" marR="0" rtl="0" algn="l">
                        <a:spcBef>
                          <a:spcPts val="0"/>
                        </a:spcBef>
                        <a:spcAft>
                          <a:spcPts val="0"/>
                        </a:spcAft>
                        <a:buClr>
                          <a:srgbClr val="1F6B4A"/>
                        </a:buClr>
                        <a:buSzPts val="1000"/>
                        <a:buFont typeface="Arial"/>
                        <a:buNone/>
                      </a:pPr>
                      <a:r>
                        <a:rPr lang="en-US" sz="1000" u="none" cap="none" strike="noStrike">
                          <a:solidFill>
                            <a:srgbClr val="1F6B4A"/>
                          </a:solidFill>
                          <a:latin typeface="Arial"/>
                          <a:ea typeface="Arial"/>
                          <a:cs typeface="Arial"/>
                          <a:sym typeface="Arial"/>
                        </a:rPr>
                        <a:t>Fits orbiter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c>
                  <a:txBody>
                    <a:bodyPr/>
                    <a:lstStyle/>
                    <a:p>
                      <a:pPr indent="0" lvl="0" marL="0" marR="0" rtl="0" algn="l">
                        <a:spcBef>
                          <a:spcPts val="0"/>
                        </a:spcBef>
                        <a:spcAft>
                          <a:spcPts val="0"/>
                        </a:spcAft>
                        <a:buClr>
                          <a:srgbClr val="1F6B4A"/>
                        </a:buClr>
                        <a:buSzPts val="1000"/>
                        <a:buFont typeface="Arial"/>
                        <a:buNone/>
                      </a:pPr>
                      <a:r>
                        <a:rPr lang="en-US" sz="1000" u="none" cap="none" strike="noStrike">
                          <a:solidFill>
                            <a:srgbClr val="1F6B4A"/>
                          </a:solidFill>
                          <a:latin typeface="Arial"/>
                          <a:ea typeface="Arial"/>
                          <a:cs typeface="Arial"/>
                          <a:sym typeface="Arial"/>
                        </a:rPr>
                        <a:t>Complements</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c>
                  <a:txBody>
                    <a:bodyPr/>
                    <a:lstStyle/>
                    <a:p>
                      <a:pPr indent="0" lvl="0" marL="0" marR="0" rtl="0" algn="l">
                        <a:spcBef>
                          <a:spcPts val="0"/>
                        </a:spcBef>
                        <a:spcAft>
                          <a:spcPts val="0"/>
                        </a:spcAft>
                        <a:buClr>
                          <a:srgbClr val="1F6B4A"/>
                        </a:buClr>
                        <a:buSzPts val="1000"/>
                        <a:buFont typeface="Arial"/>
                        <a:buNone/>
                      </a:pPr>
                      <a:r>
                        <a:rPr lang="en-US" sz="1000" u="none" cap="none" strike="noStrike">
                          <a:solidFill>
                            <a:srgbClr val="1F6B4A"/>
                          </a:solidFill>
                          <a:latin typeface="Arial"/>
                          <a:ea typeface="Arial"/>
                          <a:cs typeface="Arial"/>
                          <a:sym typeface="Arial"/>
                        </a:rPr>
                        <a:t>High</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c>
                  <a:txBody>
                    <a:bodyPr/>
                    <a:lstStyle/>
                    <a:p>
                      <a:pPr indent="0" lvl="0" marL="0" marR="0" rtl="0" algn="l">
                        <a:spcBef>
                          <a:spcPts val="0"/>
                        </a:spcBef>
                        <a:spcAft>
                          <a:spcPts val="0"/>
                        </a:spcAft>
                        <a:buClr>
                          <a:srgbClr val="1F6B4A"/>
                        </a:buClr>
                        <a:buSzPts val="1000"/>
                        <a:buFont typeface="Arial"/>
                        <a:buNone/>
                      </a:pPr>
                      <a:r>
                        <a:rPr lang="en-US" sz="1000" u="none" cap="none" strike="noStrike">
                          <a:solidFill>
                            <a:srgbClr val="1F6B4A"/>
                          </a:solidFill>
                          <a:latin typeface="Arial"/>
                          <a:ea typeface="Arial"/>
                          <a:cs typeface="Arial"/>
                          <a:sym typeface="Arial"/>
                        </a:rPr>
                        <a:t>Low</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c>
                  <a:txBody>
                    <a:bodyPr/>
                    <a:lstStyle/>
                    <a:p>
                      <a:pPr indent="0" lvl="0" marL="0" marR="0" rtl="0" algn="l">
                        <a:spcBef>
                          <a:spcPts val="0"/>
                        </a:spcBef>
                        <a:spcAft>
                          <a:spcPts val="0"/>
                        </a:spcAft>
                        <a:buClr>
                          <a:srgbClr val="1F6B4A"/>
                        </a:buClr>
                        <a:buSzPts val="1000"/>
                        <a:buFont typeface="Arial"/>
                        <a:buNone/>
                      </a:pPr>
                      <a:r>
                        <a:rPr lang="en-US" sz="1000" u="none" cap="none" strike="noStrike">
                          <a:solidFill>
                            <a:srgbClr val="1F6B4A"/>
                          </a:solidFill>
                          <a:latin typeface="Arial"/>
                          <a:ea typeface="Arial"/>
                          <a:cs typeface="Arial"/>
                          <a:sym typeface="Arial"/>
                        </a:rPr>
                        <a:t>Modest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2F9F5"/>
                    </a:solidFill>
                  </a:tcPr>
                </a:tc>
              </a:tr>
              <a:tr h="310900">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Neutron Spectrometer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Fits orbiter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Partial</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High</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Low</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Modest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r>
              <a:tr h="310900">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Mössbauer Spectrometer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Requires lander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High</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r>
              <a:tr h="310900">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MicrOmega Microscope</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Requires lander</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High</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r>
              <a:tr h="310900">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LIBS, ChemCam class</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Requires close range</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High</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1000"/>
                        <a:buFont typeface="Arial"/>
                        <a:buNone/>
                      </a:pPr>
                      <a:r>
                        <a:rPr lang="en-US" sz="1000" u="none" cap="none" strike="noStrike">
                          <a:solidFill>
                            <a:srgbClr val="151B29"/>
                          </a:solidFill>
                          <a:latin typeface="Arial"/>
                          <a:ea typeface="Arial"/>
                          <a:cs typeface="Arial"/>
                          <a:sym typeface="Arial"/>
                        </a:rPr>
                        <a: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r>
            </a:tbl>
          </a:graphicData>
        </a:graphic>
      </p:graphicFrame>
      <p:sp>
        <p:nvSpPr>
          <p:cNvPr id="653" name="Google Shape;653;p19"/>
          <p:cNvSpPr/>
          <p:nvPr/>
        </p:nvSpPr>
        <p:spPr>
          <a:xfrm>
            <a:off x="658368" y="4206240"/>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4" name="Google Shape;654;p19"/>
          <p:cNvSpPr/>
          <p:nvPr/>
        </p:nvSpPr>
        <p:spPr>
          <a:xfrm>
            <a:off x="914400" y="4425696"/>
            <a:ext cx="2954426" cy="457200"/>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Incompatible with an orbiter-only contribution</a:t>
            </a:r>
            <a:endParaRPr sz="1300">
              <a:solidFill>
                <a:schemeClr val="dk1"/>
              </a:solidFill>
              <a:latin typeface="Calibri"/>
              <a:ea typeface="Calibri"/>
              <a:cs typeface="Calibri"/>
              <a:sym typeface="Calibri"/>
            </a:endParaRPr>
          </a:p>
        </p:txBody>
      </p:sp>
      <p:sp>
        <p:nvSpPr>
          <p:cNvPr id="655" name="Google Shape;655;p19"/>
          <p:cNvSpPr/>
          <p:nvPr/>
        </p:nvSpPr>
        <p:spPr>
          <a:xfrm>
            <a:off x="914400" y="4956048"/>
            <a:ext cx="2954426" cy="9692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Mössbauer and MicrOmega are contact instruments requiring a landed platform; LIBS is close-range and requires high pointing precision. Establishing that sub-surface observation does not require a landing removed the premise beneath all three.</a:t>
            </a:r>
            <a:endParaRPr sz="950">
              <a:solidFill>
                <a:schemeClr val="dk1"/>
              </a:solidFill>
              <a:latin typeface="Calibri"/>
              <a:ea typeface="Calibri"/>
              <a:cs typeface="Calibri"/>
              <a:sym typeface="Calibri"/>
            </a:endParaRPr>
          </a:p>
        </p:txBody>
      </p:sp>
      <p:sp>
        <p:nvSpPr>
          <p:cNvPr id="656" name="Google Shape;656;p19"/>
          <p:cNvSpPr/>
          <p:nvPr/>
        </p:nvSpPr>
        <p:spPr>
          <a:xfrm>
            <a:off x="4362602" y="4206240"/>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57" name="Google Shape;657;p19"/>
          <p:cNvSpPr/>
          <p:nvPr/>
        </p:nvSpPr>
        <p:spPr>
          <a:xfrm>
            <a:off x="4618634" y="4425696"/>
            <a:ext cx="2954426" cy="457200"/>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Separated on scientific complementarity</a:t>
            </a:r>
            <a:endParaRPr sz="1300">
              <a:solidFill>
                <a:schemeClr val="dk1"/>
              </a:solidFill>
              <a:latin typeface="Calibri"/>
              <a:ea typeface="Calibri"/>
              <a:cs typeface="Calibri"/>
              <a:sym typeface="Calibri"/>
            </a:endParaRPr>
          </a:p>
        </p:txBody>
      </p:sp>
      <p:sp>
        <p:nvSpPr>
          <p:cNvPr id="658" name="Google Shape;658;p19"/>
          <p:cNvSpPr/>
          <p:nvPr/>
        </p:nvSpPr>
        <p:spPr>
          <a:xfrm>
            <a:off x="4618634" y="4956048"/>
            <a:ext cx="2954426" cy="9692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Neutron spectroscopy primarily constrains hydrogen and volatile abundance, which does not enter the mineralogical inversion. Resolving this gap requires multi-element ratios such as Mg/Si and Fe/Si.</a:t>
            </a:r>
            <a:endParaRPr sz="950">
              <a:solidFill>
                <a:schemeClr val="dk1"/>
              </a:solidFill>
              <a:latin typeface="Calibri"/>
              <a:ea typeface="Calibri"/>
              <a:cs typeface="Calibri"/>
              <a:sym typeface="Calibri"/>
            </a:endParaRPr>
          </a:p>
        </p:txBody>
      </p:sp>
      <p:sp>
        <p:nvSpPr>
          <p:cNvPr id="659" name="Google Shape;659;p19"/>
          <p:cNvSpPr/>
          <p:nvPr/>
        </p:nvSpPr>
        <p:spPr>
          <a:xfrm>
            <a:off x="8066837" y="4206240"/>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0" name="Google Shape;660;p19"/>
          <p:cNvSpPr/>
          <p:nvPr/>
        </p:nvSpPr>
        <p:spPr>
          <a:xfrm>
            <a:off x="8322869" y="4425696"/>
            <a:ext cx="2954426" cy="457200"/>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The wrong quantity, well accessed</a:t>
            </a:r>
            <a:endParaRPr sz="1300">
              <a:solidFill>
                <a:schemeClr val="dk1"/>
              </a:solidFill>
              <a:latin typeface="Calibri"/>
              <a:ea typeface="Calibri"/>
              <a:cs typeface="Calibri"/>
              <a:sym typeface="Calibri"/>
            </a:endParaRPr>
          </a:p>
        </p:txBody>
      </p:sp>
      <p:sp>
        <p:nvSpPr>
          <p:cNvPr id="661" name="Google Shape;661;p19"/>
          <p:cNvSpPr/>
          <p:nvPr/>
        </p:nvSpPr>
        <p:spPr>
          <a:xfrm>
            <a:off x="8322869" y="4956048"/>
            <a:ext cx="2954426" cy="9692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50"/>
              <a:buFont typeface="Arial"/>
              <a:buNone/>
            </a:pPr>
            <a:r>
              <a:rPr lang="en-US" sz="950">
                <a:solidFill>
                  <a:srgbClr val="4C5468"/>
                </a:solidFill>
                <a:latin typeface="Arial"/>
                <a:ea typeface="Arial"/>
                <a:cs typeface="Arial"/>
                <a:sym typeface="Arial"/>
              </a:rPr>
              <a:t>LIBS solves access better than any other candidate and still returns the wrong quantity. Bulk elemental abundance barely moves under weathering, so profiling elements through the rind would most likely return no difference.</a:t>
            </a:r>
            <a:endParaRPr sz="950">
              <a:solidFill>
                <a:schemeClr val="dk1"/>
              </a:solidFill>
              <a:latin typeface="Calibri"/>
              <a:ea typeface="Calibri"/>
              <a:cs typeface="Calibri"/>
              <a:sym typeface="Calibri"/>
            </a:endParaRPr>
          </a:p>
        </p:txBody>
      </p:sp>
      <p:pic>
        <p:nvPicPr>
          <p:cNvPr descr="/home/claude/work/a2/logo_dark.png" id="662" name="Google Shape;662;p19"/>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663" name="Google Shape;663;p19"/>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D9E1EF"/>
        </a:solidFill>
      </p:bgPr>
    </p:bg>
    <p:spTree>
      <p:nvGrpSpPr>
        <p:cNvPr id="668" name="Shape 668"/>
        <p:cNvGrpSpPr/>
        <p:nvPr/>
      </p:nvGrpSpPr>
      <p:grpSpPr>
        <a:xfrm>
          <a:off x="0" y="0"/>
          <a:ext cx="0" cy="0"/>
          <a:chOff x="0" y="0"/>
          <a:chExt cx="0" cy="0"/>
        </a:xfrm>
      </p:grpSpPr>
      <p:pic>
        <p:nvPicPr>
          <p:cNvPr descr="/home/claude/work/a2/light_wash.jpg" id="669" name="Google Shape;669;p20"/>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670" name="Google Shape;670;p20"/>
          <p:cNvSpPr/>
          <p:nvPr/>
        </p:nvSpPr>
        <p:spPr>
          <a:xfrm>
            <a:off x="658368" y="530352"/>
            <a:ext cx="90525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950"/>
              <a:buFont typeface="Arial"/>
              <a:buNone/>
            </a:pPr>
            <a:r>
              <a:rPr b="1" lang="en-US" sz="950">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671" name="Google Shape;671;p20"/>
          <p:cNvSpPr/>
          <p:nvPr/>
        </p:nvSpPr>
        <p:spPr>
          <a:xfrm>
            <a:off x="658368" y="795528"/>
            <a:ext cx="9052560" cy="409903"/>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2600"/>
              <a:buFont typeface="Arial"/>
              <a:buNone/>
            </a:pPr>
            <a:r>
              <a:rPr b="1" lang="en-US" sz="2600">
                <a:solidFill>
                  <a:srgbClr val="13234C"/>
                </a:solidFill>
                <a:latin typeface="Arial"/>
                <a:ea typeface="Arial"/>
                <a:cs typeface="Arial"/>
                <a:sym typeface="Arial"/>
              </a:rPr>
              <a:t>Accommodation &amp; Open Technical Items</a:t>
            </a:r>
            <a:endParaRPr sz="2600">
              <a:solidFill>
                <a:schemeClr val="dk1"/>
              </a:solidFill>
              <a:latin typeface="Calibri"/>
              <a:ea typeface="Calibri"/>
              <a:cs typeface="Calibri"/>
              <a:sym typeface="Calibri"/>
            </a:endParaRPr>
          </a:p>
        </p:txBody>
      </p:sp>
      <p:sp>
        <p:nvSpPr>
          <p:cNvPr id="672" name="Google Shape;672;p20"/>
          <p:cNvSpPr/>
          <p:nvPr/>
        </p:nvSpPr>
        <p:spPr>
          <a:xfrm>
            <a:off x="658368" y="1260295"/>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Detail supporting the recommendation and the first technical exchange.</a:t>
            </a:r>
            <a:endParaRPr sz="1250">
              <a:solidFill>
                <a:schemeClr val="dk1"/>
              </a:solidFill>
              <a:latin typeface="Calibri"/>
              <a:ea typeface="Calibri"/>
              <a:cs typeface="Calibri"/>
              <a:sym typeface="Calibri"/>
            </a:endParaRPr>
          </a:p>
        </p:txBody>
      </p:sp>
      <p:sp>
        <p:nvSpPr>
          <p:cNvPr id="673" name="Google Shape;673;p20"/>
          <p:cNvSpPr/>
          <p:nvPr/>
        </p:nvSpPr>
        <p:spPr>
          <a:xfrm>
            <a:off x="658368" y="2084832"/>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4" name="Google Shape;674;p20"/>
          <p:cNvSpPr/>
          <p:nvPr/>
        </p:nvSpPr>
        <p:spPr>
          <a:xfrm>
            <a:off x="914400" y="2286000"/>
            <a:ext cx="2954426" cy="420624"/>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Platform: main orbiter, not Farinella</a:t>
            </a:r>
            <a:endParaRPr sz="1300">
              <a:solidFill>
                <a:schemeClr val="dk1"/>
              </a:solidFill>
              <a:latin typeface="Calibri"/>
              <a:ea typeface="Calibri"/>
              <a:cs typeface="Calibri"/>
              <a:sym typeface="Calibri"/>
            </a:endParaRPr>
          </a:p>
        </p:txBody>
      </p:sp>
      <p:sp>
        <p:nvSpPr>
          <p:cNvPr id="675" name="Google Shape;675;p20"/>
          <p:cNvSpPr/>
          <p:nvPr/>
        </p:nvSpPr>
        <p:spPr>
          <a:xfrm>
            <a:off x="914400" y="2816352"/>
            <a:ext cx="2954426" cy="100584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The cooled germanium sensor exceeds what a 6U-XL CubeSat carries in mass and standing power, and the measurement needs an accumulation window of months. It also belongs beside HAMLET: a shared platform means shared observation geometry and coverage, which is what permits one map to be subtracted from the other.</a:t>
            </a:r>
            <a:endParaRPr sz="900">
              <a:solidFill>
                <a:schemeClr val="dk1"/>
              </a:solidFill>
              <a:latin typeface="Calibri"/>
              <a:ea typeface="Calibri"/>
              <a:cs typeface="Calibri"/>
              <a:sym typeface="Calibri"/>
            </a:endParaRPr>
          </a:p>
        </p:txBody>
      </p:sp>
      <p:sp>
        <p:nvSpPr>
          <p:cNvPr id="676" name="Google Shape;676;p20"/>
          <p:cNvSpPr/>
          <p:nvPr/>
        </p:nvSpPr>
        <p:spPr>
          <a:xfrm>
            <a:off x="4362602" y="2084832"/>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77" name="Google Shape;677;p20"/>
          <p:cNvSpPr/>
          <p:nvPr/>
        </p:nvSpPr>
        <p:spPr>
          <a:xfrm>
            <a:off x="4618634" y="2286000"/>
            <a:ext cx="2954426" cy="420624"/>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Spatial resolution</a:t>
            </a:r>
            <a:endParaRPr sz="1300">
              <a:solidFill>
                <a:schemeClr val="dk1"/>
              </a:solidFill>
              <a:latin typeface="Calibri"/>
              <a:ea typeface="Calibri"/>
              <a:cs typeface="Calibri"/>
              <a:sym typeface="Calibri"/>
            </a:endParaRPr>
          </a:p>
        </p:txBody>
      </p:sp>
      <p:sp>
        <p:nvSpPr>
          <p:cNvPr id="678" name="Google Shape;678;p20"/>
          <p:cNvSpPr/>
          <p:nvPr/>
        </p:nvSpPr>
        <p:spPr>
          <a:xfrm>
            <a:off x="4618634" y="2816352"/>
            <a:ext cx="2954426" cy="100584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Reads a broad patch, tens to hundreds of metres. The mission already maps in detail; this supplies the calibrated value that map is read against.</a:t>
            </a:r>
            <a:endParaRPr sz="900">
              <a:solidFill>
                <a:schemeClr val="dk1"/>
              </a:solidFill>
              <a:latin typeface="Calibri"/>
              <a:ea typeface="Calibri"/>
              <a:cs typeface="Calibri"/>
              <a:sym typeface="Calibri"/>
            </a:endParaRPr>
          </a:p>
        </p:txBody>
      </p:sp>
      <p:sp>
        <p:nvSpPr>
          <p:cNvPr id="679" name="Google Shape;679;p20"/>
          <p:cNvSpPr/>
          <p:nvPr/>
        </p:nvSpPr>
        <p:spPr>
          <a:xfrm>
            <a:off x="8066837" y="2084832"/>
            <a:ext cx="3466490" cy="1883664"/>
          </a:xfrm>
          <a:prstGeom prst="roundRect">
            <a:avLst>
              <a:gd fmla="val 4369"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0" name="Google Shape;680;p20"/>
          <p:cNvSpPr/>
          <p:nvPr/>
        </p:nvSpPr>
        <p:spPr>
          <a:xfrm>
            <a:off x="8322869" y="2286000"/>
            <a:ext cx="2954426" cy="420624"/>
          </a:xfrm>
          <a:prstGeom prst="rect">
            <a:avLst/>
          </a:prstGeom>
          <a:noFill/>
          <a:ln>
            <a:noFill/>
          </a:ln>
        </p:spPr>
        <p:txBody>
          <a:bodyPr anchorCtr="0" anchor="ctr" bIns="0" lIns="0" spcFirstLastPara="1" rIns="0" wrap="square" tIns="0">
            <a:noAutofit/>
          </a:bodyPr>
          <a:lstStyle/>
          <a:p>
            <a:pPr indent="0" lvl="0" marL="0" marR="0" rtl="0" algn="l">
              <a:lnSpc>
                <a:spcPct val="96000"/>
              </a:lnSpc>
              <a:spcBef>
                <a:spcPts val="0"/>
              </a:spcBef>
              <a:spcAft>
                <a:spcPts val="0"/>
              </a:spcAft>
              <a:buClr>
                <a:srgbClr val="13234C"/>
              </a:buClr>
              <a:buSzPts val="1300"/>
              <a:buFont typeface="Arial"/>
              <a:buNone/>
            </a:pPr>
            <a:r>
              <a:rPr b="1" lang="en-US" sz="1300">
                <a:solidFill>
                  <a:srgbClr val="13234C"/>
                </a:solidFill>
                <a:latin typeface="Arial"/>
                <a:ea typeface="Arial"/>
                <a:cs typeface="Arial"/>
                <a:sym typeface="Arial"/>
              </a:rPr>
              <a:t>Integration time</a:t>
            </a:r>
            <a:endParaRPr sz="1300">
              <a:solidFill>
                <a:schemeClr val="dk1"/>
              </a:solidFill>
              <a:latin typeface="Calibri"/>
              <a:ea typeface="Calibri"/>
              <a:cs typeface="Calibri"/>
              <a:sym typeface="Calibri"/>
            </a:endParaRPr>
          </a:p>
        </p:txBody>
      </p:sp>
      <p:sp>
        <p:nvSpPr>
          <p:cNvPr id="681" name="Google Shape;681;p20"/>
          <p:cNvSpPr/>
          <p:nvPr/>
        </p:nvSpPr>
        <p:spPr>
          <a:xfrm>
            <a:off x="8322869" y="2816352"/>
            <a:ext cx="2954426" cy="1005840"/>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4C5468"/>
              </a:buClr>
              <a:buSzPts val="900"/>
              <a:buFont typeface="Arial"/>
              <a:buNone/>
            </a:pPr>
            <a:r>
              <a:rPr lang="en-US" sz="900">
                <a:solidFill>
                  <a:srgbClr val="4C5468"/>
                </a:solidFill>
                <a:latin typeface="Arial"/>
                <a:ea typeface="Arial"/>
                <a:cs typeface="Arial"/>
                <a:sym typeface="Arial"/>
              </a:rPr>
              <a:t>Gamma emission is faint, so precision accumulates over hours and days. The instrument is passive — no laser, no mechanism, no pointing — and gathers while the spacecraft works.</a:t>
            </a:r>
            <a:endParaRPr sz="900">
              <a:solidFill>
                <a:schemeClr val="dk1"/>
              </a:solidFill>
              <a:latin typeface="Calibri"/>
              <a:ea typeface="Calibri"/>
              <a:cs typeface="Calibri"/>
              <a:sym typeface="Calibri"/>
            </a:endParaRPr>
          </a:p>
        </p:txBody>
      </p:sp>
      <p:sp>
        <p:nvSpPr>
          <p:cNvPr id="682" name="Google Shape;682;p20"/>
          <p:cNvSpPr/>
          <p:nvPr/>
        </p:nvSpPr>
        <p:spPr>
          <a:xfrm>
            <a:off x="658368" y="4187952"/>
            <a:ext cx="6400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900"/>
              <a:buFont typeface="Arial"/>
              <a:buNone/>
            </a:pPr>
            <a:r>
              <a:rPr b="1" lang="en-US" sz="900">
                <a:solidFill>
                  <a:srgbClr val="4C5468"/>
                </a:solidFill>
                <a:latin typeface="Arial"/>
                <a:ea typeface="Arial"/>
                <a:cs typeface="Arial"/>
                <a:sym typeface="Arial"/>
              </a:rPr>
              <a:t>PARTNERSHIP — GAMMA-RAY SPECTROMETERS BUILT</a:t>
            </a:r>
            <a:endParaRPr sz="900">
              <a:solidFill>
                <a:schemeClr val="dk1"/>
              </a:solidFill>
              <a:latin typeface="Calibri"/>
              <a:ea typeface="Calibri"/>
              <a:cs typeface="Calibri"/>
              <a:sym typeface="Calibri"/>
            </a:endParaRPr>
          </a:p>
        </p:txBody>
      </p:sp>
      <p:graphicFrame>
        <p:nvGraphicFramePr>
          <p:cNvPr id="683" name="Google Shape;683;p20"/>
          <p:cNvGraphicFramePr/>
          <p:nvPr/>
        </p:nvGraphicFramePr>
        <p:xfrm>
          <a:off x="658368" y="4462272"/>
          <a:ext cx="3000000" cy="3000000"/>
        </p:xfrm>
        <a:graphic>
          <a:graphicData uri="http://schemas.openxmlformats.org/drawingml/2006/table">
            <a:tbl>
              <a:tblPr>
                <a:noFill/>
                <a:tableStyleId>{3F18019F-0D7F-44A6-9491-1058076FFA4A}</a:tableStyleId>
              </a:tblPr>
              <a:tblGrid>
                <a:gridCol w="1874525"/>
                <a:gridCol w="2194550"/>
                <a:gridCol w="2651750"/>
              </a:tblGrid>
              <a:tr h="329175">
                <a:tc>
                  <a:txBody>
                    <a:bodyPr/>
                    <a:lstStyle/>
                    <a:p>
                      <a:pPr indent="0" lvl="0" marL="0" marR="0" rtl="0" algn="l">
                        <a:spcBef>
                          <a:spcPts val="0"/>
                        </a:spcBef>
                        <a:spcAft>
                          <a:spcPts val="0"/>
                        </a:spcAft>
                        <a:buClr>
                          <a:srgbClr val="FFFFFF"/>
                        </a:buClr>
                        <a:buSzPts val="950"/>
                        <a:buFont typeface="Arial"/>
                        <a:buNone/>
                      </a:pPr>
                      <a:r>
                        <a:rPr b="1" lang="en-US" sz="950" u="none" cap="none" strike="noStrike">
                          <a:solidFill>
                            <a:srgbClr val="FFFFFF"/>
                          </a:solidFill>
                          <a:latin typeface="Arial"/>
                          <a:ea typeface="Arial"/>
                          <a:cs typeface="Arial"/>
                          <a:sym typeface="Arial"/>
                        </a:rPr>
                        <a:t>Laboratory</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950"/>
                        <a:buFont typeface="Arial"/>
                        <a:buNone/>
                      </a:pPr>
                      <a:r>
                        <a:rPr b="1" lang="en-US" sz="950" u="none" cap="none" strike="noStrike">
                          <a:solidFill>
                            <a:srgbClr val="FFFFFF"/>
                          </a:solidFill>
                          <a:latin typeface="Arial"/>
                          <a:ea typeface="Arial"/>
                          <a:cs typeface="Arial"/>
                          <a:sym typeface="Arial"/>
                        </a:rPr>
                        <a:t>Role</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950"/>
                        <a:buFont typeface="Arial"/>
                        <a:buNone/>
                      </a:pPr>
                      <a:r>
                        <a:rPr b="1" lang="en-US" sz="950" u="none" cap="none" strike="noStrike">
                          <a:solidFill>
                            <a:srgbClr val="FFFFFF"/>
                          </a:solidFill>
                          <a:latin typeface="Arial"/>
                          <a:ea typeface="Arial"/>
                          <a:cs typeface="Arial"/>
                          <a:sym typeface="Arial"/>
                        </a:rPr>
                        <a:t>Instruments built</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r>
              <a:tr h="329175">
                <a:tc>
                  <a:txBody>
                    <a:bodyPr/>
                    <a:lstStyle/>
                    <a:p>
                      <a:pPr indent="0" lvl="0" marL="0" marR="0" rtl="0" algn="l">
                        <a:spcBef>
                          <a:spcPts val="0"/>
                        </a:spcBef>
                        <a:spcAft>
                          <a:spcPts val="0"/>
                        </a:spcAft>
                        <a:buClr>
                          <a:srgbClr val="151B29"/>
                        </a:buClr>
                        <a:buSzPts val="950"/>
                        <a:buFont typeface="Arial"/>
                        <a:buNone/>
                      </a:pPr>
                      <a:r>
                        <a:rPr b="1" lang="en-US" sz="950" u="none" cap="none" strike="noStrike">
                          <a:solidFill>
                            <a:srgbClr val="151B29"/>
                          </a:solidFill>
                          <a:latin typeface="Arial"/>
                          <a:ea typeface="Arial"/>
                          <a:cs typeface="Arial"/>
                          <a:sym typeface="Arial"/>
                        </a:rPr>
                        <a:t>Johns Hopkins APL</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50"/>
                        <a:buFont typeface="Arial"/>
                        <a:buNone/>
                      </a:pPr>
                      <a:r>
                        <a:rPr lang="en-US" sz="950" u="none" cap="none" strike="noStrike">
                          <a:solidFill>
                            <a:srgbClr val="151B29"/>
                          </a:solidFill>
                          <a:latin typeface="Arial"/>
                          <a:ea typeface="Arial"/>
                          <a:cs typeface="Arial"/>
                          <a:sym typeface="Arial"/>
                        </a:rPr>
                        <a:t>Instrument lead and integrator</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50"/>
                        <a:buFont typeface="Arial"/>
                        <a:buNone/>
                      </a:pPr>
                      <a:r>
                        <a:rPr lang="en-US" sz="950" u="none" cap="none" strike="noStrike">
                          <a:solidFill>
                            <a:srgbClr val="151B29"/>
                          </a:solidFill>
                          <a:latin typeface="Arial"/>
                          <a:ea typeface="Arial"/>
                          <a:cs typeface="Arial"/>
                          <a:sym typeface="Arial"/>
                        </a:rPr>
                        <a:t>NEAR Shoemaker, MESSENGER, MEGANE, Psyche, Dragonfly</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r>
              <a:tr h="329175">
                <a:tc>
                  <a:txBody>
                    <a:bodyPr/>
                    <a:lstStyle/>
                    <a:p>
                      <a:pPr indent="0" lvl="0" marL="0" marR="0" rtl="0" algn="l">
                        <a:spcBef>
                          <a:spcPts val="0"/>
                        </a:spcBef>
                        <a:spcAft>
                          <a:spcPts val="0"/>
                        </a:spcAft>
                        <a:buClr>
                          <a:srgbClr val="151B29"/>
                        </a:buClr>
                        <a:buSzPts val="950"/>
                        <a:buFont typeface="Arial"/>
                        <a:buNone/>
                      </a:pPr>
                      <a:r>
                        <a:rPr b="1" lang="en-US" sz="950" u="none" cap="none" strike="noStrike">
                          <a:solidFill>
                            <a:srgbClr val="151B29"/>
                          </a:solidFill>
                          <a:latin typeface="Arial"/>
                          <a:ea typeface="Arial"/>
                          <a:cs typeface="Arial"/>
                          <a:sym typeface="Arial"/>
                        </a:rPr>
                        <a:t>Lawrence Livermore NL</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950"/>
                        <a:buFont typeface="Arial"/>
                        <a:buNone/>
                      </a:pPr>
                      <a:r>
                        <a:rPr lang="en-US" sz="950" u="none" cap="none" strike="noStrike">
                          <a:solidFill>
                            <a:srgbClr val="151B29"/>
                          </a:solidFill>
                          <a:latin typeface="Arial"/>
                          <a:ea typeface="Arial"/>
                          <a:cs typeface="Arial"/>
                          <a:sym typeface="Arial"/>
                        </a:rPr>
                        <a:t>High-purity germanium sensor</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950"/>
                        <a:buFont typeface="Arial"/>
                        <a:buNone/>
                      </a:pPr>
                      <a:r>
                        <a:rPr lang="en-US" sz="950" u="none" cap="none" strike="noStrike">
                          <a:solidFill>
                            <a:srgbClr val="151B29"/>
                          </a:solidFill>
                          <a:latin typeface="Arial"/>
                          <a:ea typeface="Arial"/>
                          <a:cs typeface="Arial"/>
                          <a:sym typeface="Arial"/>
                        </a:rPr>
                        <a:t>MESSENGER, MEGANE, Psyche</a:t>
                      </a:r>
                      <a:endParaRPr sz="95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r>
            </a:tbl>
          </a:graphicData>
        </a:graphic>
      </p:graphicFrame>
      <p:sp>
        <p:nvSpPr>
          <p:cNvPr id="684" name="Google Shape;684;p20"/>
          <p:cNvSpPr/>
          <p:nvPr/>
        </p:nvSpPr>
        <p:spPr>
          <a:xfrm>
            <a:off x="7699248" y="4187952"/>
            <a:ext cx="384048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900"/>
              <a:buFont typeface="Arial"/>
              <a:buNone/>
            </a:pPr>
            <a:r>
              <a:rPr b="1" lang="en-US" sz="900">
                <a:solidFill>
                  <a:srgbClr val="4C5468"/>
                </a:solidFill>
                <a:latin typeface="Arial"/>
                <a:ea typeface="Arial"/>
                <a:cs typeface="Arial"/>
                <a:sym typeface="Arial"/>
              </a:rPr>
              <a:t>OPEN FOR THE FIRST TECHNICAL EXCHANGE</a:t>
            </a:r>
            <a:endParaRPr sz="900">
              <a:solidFill>
                <a:schemeClr val="dk1"/>
              </a:solidFill>
              <a:latin typeface="Calibri"/>
              <a:ea typeface="Calibri"/>
              <a:cs typeface="Calibri"/>
              <a:sym typeface="Calibri"/>
            </a:endParaRPr>
          </a:p>
        </p:txBody>
      </p:sp>
      <p:sp>
        <p:nvSpPr>
          <p:cNvPr id="685" name="Google Shape;685;p20"/>
          <p:cNvSpPr/>
          <p:nvPr/>
        </p:nvSpPr>
        <p:spPr>
          <a:xfrm>
            <a:off x="7699248" y="4462272"/>
            <a:ext cx="3831336" cy="1645920"/>
          </a:xfrm>
          <a:prstGeom prst="roundRect">
            <a:avLst>
              <a:gd fmla="val 5000"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6" name="Google Shape;686;p20"/>
          <p:cNvSpPr/>
          <p:nvPr/>
        </p:nvSpPr>
        <p:spPr>
          <a:xfrm>
            <a:off x="7955280" y="4704588"/>
            <a:ext cx="64008" cy="64008"/>
          </a:xfrm>
          <a:prstGeom prst="ellipse">
            <a:avLst/>
          </a:prstGeom>
          <a:solidFill>
            <a:srgbClr val="E8A33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7" name="Google Shape;687;p20"/>
          <p:cNvSpPr/>
          <p:nvPr/>
        </p:nvSpPr>
        <p:spPr>
          <a:xfrm>
            <a:off x="8156448" y="4599432"/>
            <a:ext cx="3200400" cy="5120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Footprint achievable at the planned operating altitude.</a:t>
            </a:r>
            <a:endParaRPr sz="900">
              <a:solidFill>
                <a:schemeClr val="dk1"/>
              </a:solidFill>
              <a:latin typeface="Calibri"/>
              <a:ea typeface="Calibri"/>
              <a:cs typeface="Calibri"/>
              <a:sym typeface="Calibri"/>
            </a:endParaRPr>
          </a:p>
        </p:txBody>
      </p:sp>
      <p:sp>
        <p:nvSpPr>
          <p:cNvPr id="688" name="Google Shape;688;p20"/>
          <p:cNvSpPr/>
          <p:nvPr/>
        </p:nvSpPr>
        <p:spPr>
          <a:xfrm>
            <a:off x="7955280" y="5106924"/>
            <a:ext cx="64008" cy="64008"/>
          </a:xfrm>
          <a:prstGeom prst="ellipse">
            <a:avLst/>
          </a:prstGeom>
          <a:solidFill>
            <a:srgbClr val="E8A33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9" name="Google Shape;689;p20"/>
          <p:cNvSpPr/>
          <p:nvPr/>
        </p:nvSpPr>
        <p:spPr>
          <a:xfrm>
            <a:off x="8156448" y="5001768"/>
            <a:ext cx="3200400" cy="5120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Boom against body mounting — spacecraft materials generate the same background the instrument measures.</a:t>
            </a:r>
            <a:endParaRPr sz="900">
              <a:solidFill>
                <a:schemeClr val="dk1"/>
              </a:solidFill>
              <a:latin typeface="Calibri"/>
              <a:ea typeface="Calibri"/>
              <a:cs typeface="Calibri"/>
              <a:sym typeface="Calibri"/>
            </a:endParaRPr>
          </a:p>
        </p:txBody>
      </p:sp>
      <p:sp>
        <p:nvSpPr>
          <p:cNvPr id="690" name="Google Shape;690;p20"/>
          <p:cNvSpPr/>
          <p:nvPr/>
        </p:nvSpPr>
        <p:spPr>
          <a:xfrm>
            <a:off x="7955280" y="5637276"/>
            <a:ext cx="64008" cy="64008"/>
          </a:xfrm>
          <a:prstGeom prst="ellipse">
            <a:avLst/>
          </a:prstGeom>
          <a:solidFill>
            <a:srgbClr val="E8A33D"/>
          </a:solid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91" name="Google Shape;691;p20"/>
          <p:cNvSpPr/>
          <p:nvPr/>
        </p:nvSpPr>
        <p:spPr>
          <a:xfrm>
            <a:off x="8156448" y="5532120"/>
            <a:ext cx="3200400" cy="512064"/>
          </a:xfrm>
          <a:prstGeom prst="rect">
            <a:avLst/>
          </a:prstGeom>
          <a:noFill/>
          <a:ln>
            <a:noFill/>
          </a:ln>
        </p:spPr>
        <p:txBody>
          <a:bodyPr anchorCtr="0" anchor="t" bIns="0" lIns="0" spcFirstLastPara="1" rIns="0" wrap="square" tIns="0">
            <a:noAutofit/>
          </a:bodyPr>
          <a:lstStyle/>
          <a:p>
            <a:pPr indent="0" lvl="0" marL="0" marR="0" rtl="0" algn="l">
              <a:lnSpc>
                <a:spcPct val="114000"/>
              </a:lnSpc>
              <a:spcBef>
                <a:spcPts val="0"/>
              </a:spcBef>
              <a:spcAft>
                <a:spcPts val="0"/>
              </a:spcAft>
              <a:buClr>
                <a:srgbClr val="151B29"/>
              </a:buClr>
              <a:buSzPts val="900"/>
              <a:buFont typeface="Arial"/>
              <a:buNone/>
            </a:pPr>
            <a:r>
              <a:rPr lang="en-US" sz="900">
                <a:solidFill>
                  <a:srgbClr val="151B29"/>
                </a:solidFill>
                <a:latin typeface="Arial"/>
                <a:ea typeface="Arial"/>
                <a:cs typeface="Arial"/>
                <a:sym typeface="Arial"/>
              </a:rPr>
              <a:t>Export control and technology transfer: both laboratories are United States national laboratories.</a:t>
            </a:r>
            <a:endParaRPr sz="900">
              <a:solidFill>
                <a:schemeClr val="dk1"/>
              </a:solidFill>
              <a:latin typeface="Calibri"/>
              <a:ea typeface="Calibri"/>
              <a:cs typeface="Calibri"/>
              <a:sym typeface="Calibri"/>
            </a:endParaRPr>
          </a:p>
        </p:txBody>
      </p:sp>
      <p:pic>
        <p:nvPicPr>
          <p:cNvPr descr="/home/claude/work/a2/logo_dark.png" id="692" name="Google Shape;692;p20"/>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693" name="Google Shape;693;p20"/>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bg>
      <p:bgPr>
        <a:solidFill>
          <a:srgbClr val="D9E1EF"/>
        </a:solidFill>
      </p:bgPr>
    </p:bg>
    <p:spTree>
      <p:nvGrpSpPr>
        <p:cNvPr id="698" name="Shape 698"/>
        <p:cNvGrpSpPr/>
        <p:nvPr/>
      </p:nvGrpSpPr>
      <p:grpSpPr>
        <a:xfrm>
          <a:off x="0" y="0"/>
          <a:ext cx="0" cy="0"/>
          <a:chOff x="0" y="0"/>
          <a:chExt cx="0" cy="0"/>
        </a:xfrm>
      </p:grpSpPr>
      <p:pic>
        <p:nvPicPr>
          <p:cNvPr descr="/home/claude/work/a2/light_wash.jpg" id="699" name="Google Shape;699;p21"/>
          <p:cNvPicPr preferRelativeResize="0"/>
          <p:nvPr/>
        </p:nvPicPr>
        <p:blipFill rotWithShape="1">
          <a:blip r:embed="rId3">
            <a:alphaModFix/>
          </a:blip>
          <a:srcRect b="0" l="0" r="0" t="0"/>
          <a:stretch/>
        </p:blipFill>
        <p:spPr>
          <a:xfrm>
            <a:off x="0" y="0"/>
            <a:ext cx="12191695" cy="6858000"/>
          </a:xfrm>
          <a:prstGeom prst="rect">
            <a:avLst/>
          </a:prstGeom>
          <a:noFill/>
          <a:ln>
            <a:noFill/>
          </a:ln>
        </p:spPr>
      </p:pic>
      <p:sp>
        <p:nvSpPr>
          <p:cNvPr id="700" name="Google Shape;700;p21"/>
          <p:cNvSpPr/>
          <p:nvPr/>
        </p:nvSpPr>
        <p:spPr>
          <a:xfrm>
            <a:off x="658368" y="530352"/>
            <a:ext cx="905256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A33D"/>
              </a:buClr>
              <a:buSzPts val="950"/>
              <a:buFont typeface="Arial"/>
              <a:buNone/>
            </a:pPr>
            <a:r>
              <a:rPr b="1" lang="en-US" sz="950">
                <a:solidFill>
                  <a:srgbClr val="E8A33D"/>
                </a:solidFill>
                <a:latin typeface="Arial"/>
                <a:ea typeface="Arial"/>
                <a:cs typeface="Arial"/>
                <a:sym typeface="Arial"/>
              </a:rPr>
              <a:t>APPENDIX</a:t>
            </a:r>
            <a:endParaRPr sz="950">
              <a:solidFill>
                <a:schemeClr val="dk1"/>
              </a:solidFill>
              <a:latin typeface="Calibri"/>
              <a:ea typeface="Calibri"/>
              <a:cs typeface="Calibri"/>
              <a:sym typeface="Calibri"/>
            </a:endParaRPr>
          </a:p>
        </p:txBody>
      </p:sp>
      <p:sp>
        <p:nvSpPr>
          <p:cNvPr id="701" name="Google Shape;701;p21"/>
          <p:cNvSpPr/>
          <p:nvPr/>
        </p:nvSpPr>
        <p:spPr>
          <a:xfrm>
            <a:off x="658368" y="795528"/>
            <a:ext cx="9052560" cy="409903"/>
          </a:xfrm>
          <a:prstGeom prst="rect">
            <a:avLst/>
          </a:prstGeom>
          <a:noFill/>
          <a:ln>
            <a:noFill/>
          </a:ln>
        </p:spPr>
        <p:txBody>
          <a:bodyPr anchorCtr="0" anchor="ctr" bIns="0" lIns="0" spcFirstLastPara="1" rIns="0" wrap="square" tIns="0">
            <a:noAutofit/>
          </a:bodyPr>
          <a:lstStyle/>
          <a:p>
            <a:pPr indent="0" lvl="0" marL="0" marR="0" rtl="0" algn="l">
              <a:lnSpc>
                <a:spcPct val="92000"/>
              </a:lnSpc>
              <a:spcBef>
                <a:spcPts val="0"/>
              </a:spcBef>
              <a:spcAft>
                <a:spcPts val="0"/>
              </a:spcAft>
              <a:buClr>
                <a:srgbClr val="13234C"/>
              </a:buClr>
              <a:buSzPts val="2600"/>
              <a:buFont typeface="Arial"/>
              <a:buNone/>
            </a:pPr>
            <a:r>
              <a:rPr b="1" lang="en-US" sz="2600">
                <a:solidFill>
                  <a:srgbClr val="13234C"/>
                </a:solidFill>
                <a:latin typeface="Arial"/>
                <a:ea typeface="Arial"/>
                <a:cs typeface="Arial"/>
                <a:sym typeface="Arial"/>
              </a:rPr>
              <a:t>Knowledge Gap Register — Evidence</a:t>
            </a:r>
            <a:endParaRPr sz="2600">
              <a:solidFill>
                <a:schemeClr val="dk1"/>
              </a:solidFill>
              <a:latin typeface="Calibri"/>
              <a:ea typeface="Calibri"/>
              <a:cs typeface="Calibri"/>
              <a:sym typeface="Calibri"/>
            </a:endParaRPr>
          </a:p>
        </p:txBody>
      </p:sp>
      <p:sp>
        <p:nvSpPr>
          <p:cNvPr id="702" name="Google Shape;702;p21"/>
          <p:cNvSpPr/>
          <p:nvPr/>
        </p:nvSpPr>
        <p:spPr>
          <a:xfrm>
            <a:off x="658368" y="1260295"/>
            <a:ext cx="9052560" cy="329184"/>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4C5468"/>
              </a:buClr>
              <a:buSzPts val="1250"/>
              <a:buFont typeface="Arial"/>
              <a:buNone/>
            </a:pPr>
            <a:r>
              <a:rPr lang="en-US" sz="1250">
                <a:solidFill>
                  <a:srgbClr val="4C5468"/>
                </a:solidFill>
                <a:latin typeface="Arial"/>
                <a:ea typeface="Arial"/>
                <a:cs typeface="Arial"/>
                <a:sym typeface="Arial"/>
              </a:rPr>
              <a:t>Why no confirmed instrument meets each registered gap.</a:t>
            </a:r>
            <a:endParaRPr sz="1250">
              <a:solidFill>
                <a:schemeClr val="dk1"/>
              </a:solidFill>
              <a:latin typeface="Calibri"/>
              <a:ea typeface="Calibri"/>
              <a:cs typeface="Calibri"/>
              <a:sym typeface="Calibri"/>
            </a:endParaRPr>
          </a:p>
        </p:txBody>
      </p:sp>
      <p:graphicFrame>
        <p:nvGraphicFramePr>
          <p:cNvPr id="703" name="Google Shape;703;p21"/>
          <p:cNvGraphicFramePr/>
          <p:nvPr/>
        </p:nvGraphicFramePr>
        <p:xfrm>
          <a:off x="658368" y="2011680"/>
          <a:ext cx="3000000" cy="3000000"/>
        </p:xfrm>
        <a:graphic>
          <a:graphicData uri="http://schemas.openxmlformats.org/drawingml/2006/table">
            <a:tbl>
              <a:tblPr>
                <a:noFill/>
                <a:tableStyleId>{3F18019F-0D7F-44A6-9491-1058076FFA4A}</a:tableStyleId>
              </a:tblPr>
              <a:tblGrid>
                <a:gridCol w="777250"/>
                <a:gridCol w="2331725"/>
                <a:gridCol w="5577850"/>
                <a:gridCol w="2188150"/>
              </a:tblGrid>
              <a:tr h="420625">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ID</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Knowledge gap</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Why no confirmed instrument meets it</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c>
                  <a:txBody>
                    <a:bodyPr/>
                    <a:lstStyle/>
                    <a:p>
                      <a:pPr indent="0" lvl="0" marL="0" marR="0" rtl="0" algn="l">
                        <a:spcBef>
                          <a:spcPts val="0"/>
                        </a:spcBef>
                        <a:spcAft>
                          <a:spcPts val="0"/>
                        </a:spcAft>
                        <a:buClr>
                          <a:srgbClr val="FFFFFF"/>
                        </a:buClr>
                        <a:buSzPts val="1000"/>
                        <a:buFont typeface="Arial"/>
                        <a:buNone/>
                      </a:pPr>
                      <a:r>
                        <a:rPr b="1" lang="en-US" sz="1000" u="none" cap="none" strike="noStrike">
                          <a:solidFill>
                            <a:srgbClr val="FFFFFF"/>
                          </a:solidFill>
                          <a:latin typeface="Arial"/>
                          <a:ea typeface="Arial"/>
                          <a:cs typeface="Arial"/>
                          <a:sym typeface="Arial"/>
                        </a:rPr>
                        <a:t>Outcome</a:t>
                      </a:r>
                      <a:endParaRPr sz="10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13234C"/>
                    </a:solidFill>
                  </a:tcPr>
                </a:tc>
              </a:tr>
              <a:tr h="420625">
                <a:tc>
                  <a:txBody>
                    <a:bodyPr/>
                    <a:lstStyle/>
                    <a:p>
                      <a:pPr indent="0" lvl="0" marL="0" marR="0" rtl="0" algn="l">
                        <a:spcBef>
                          <a:spcPts val="0"/>
                        </a:spcBef>
                        <a:spcAft>
                          <a:spcPts val="0"/>
                        </a:spcAft>
                        <a:buClr>
                          <a:srgbClr val="151B29"/>
                        </a:buClr>
                        <a:buSzPts val="900"/>
                        <a:buFont typeface="Arial"/>
                        <a:buNone/>
                      </a:pPr>
                      <a:r>
                        <a:rPr b="1" lang="en-US" sz="900" u="none" cap="none" strike="noStrike">
                          <a:solidFill>
                            <a:srgbClr val="151B29"/>
                          </a:solidFill>
                          <a:latin typeface="Arial"/>
                          <a:ea typeface="Arial"/>
                          <a:cs typeface="Arial"/>
                          <a:sym typeface="Arial"/>
                        </a:rPr>
                        <a:t>GAP-1</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Hydration state</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HAMLET's range ends at 1500 nm. The diagnostic OH and water bands near 2.0 and 3.0 µm fall outside it, and no other instrument covers that region.</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Removed — scientific value</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r>
              <a:tr h="420625">
                <a:tc>
                  <a:txBody>
                    <a:bodyPr/>
                    <a:lstStyle/>
                    <a:p>
                      <a:pPr indent="0" lvl="0" marL="0" marR="0" rtl="0" algn="l">
                        <a:spcBef>
                          <a:spcPts val="0"/>
                        </a:spcBef>
                        <a:spcAft>
                          <a:spcPts val="0"/>
                        </a:spcAft>
                        <a:buClr>
                          <a:srgbClr val="151B29"/>
                        </a:buClr>
                        <a:buSzPts val="900"/>
                        <a:buFont typeface="Arial"/>
                        <a:buNone/>
                      </a:pPr>
                      <a:r>
                        <a:rPr b="1" lang="en-US" sz="900" u="none" cap="none" strike="noStrike">
                          <a:solidFill>
                            <a:srgbClr val="151B29"/>
                          </a:solidFill>
                          <a:latin typeface="Arial"/>
                          <a:ea typeface="Arial"/>
                          <a:cs typeface="Arial"/>
                          <a:sym typeface="Arial"/>
                        </a:rPr>
                        <a:t>GAP-2</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8EC"/>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Weathering-corrected composition</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8EC"/>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All compositional instruments observe only the space-weathered surface layer. No independent reference exists against which the correction can be established.</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8EC"/>
                    </a:solidFill>
                  </a:tcPr>
                </a:tc>
                <a:tc>
                  <a:txBody>
                    <a:bodyPr/>
                    <a:lstStyle/>
                    <a:p>
                      <a:pPr indent="0" lvl="0" marL="0" marR="0" rtl="0" algn="l">
                        <a:spcBef>
                          <a:spcPts val="0"/>
                        </a:spcBef>
                        <a:spcAft>
                          <a:spcPts val="0"/>
                        </a:spcAft>
                        <a:buClr>
                          <a:srgbClr val="A8791F"/>
                        </a:buClr>
                        <a:buSzPts val="900"/>
                        <a:buFont typeface="Arial"/>
                        <a:buNone/>
                      </a:pPr>
                      <a:r>
                        <a:rPr b="1" lang="en-US" sz="900" u="none" cap="none" strike="noStrike">
                          <a:solidFill>
                            <a:srgbClr val="A8791F"/>
                          </a:solidFill>
                          <a:latin typeface="Arial"/>
                          <a:ea typeface="Arial"/>
                          <a:cs typeface="Arial"/>
                          <a:sym typeface="Arial"/>
                        </a:rPr>
                        <a:t>SELECTED</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8EC"/>
                    </a:solidFill>
                  </a:tcPr>
                </a:tc>
              </a:tr>
              <a:tr h="420625">
                <a:tc>
                  <a:txBody>
                    <a:bodyPr/>
                    <a:lstStyle/>
                    <a:p>
                      <a:pPr indent="0" lvl="0" marL="0" marR="0" rtl="0" algn="l">
                        <a:spcBef>
                          <a:spcPts val="0"/>
                        </a:spcBef>
                        <a:spcAft>
                          <a:spcPts val="0"/>
                        </a:spcAft>
                        <a:buClr>
                          <a:srgbClr val="151B29"/>
                        </a:buClr>
                        <a:buSzPts val="900"/>
                        <a:buFont typeface="Arial"/>
                        <a:buNone/>
                      </a:pPr>
                      <a:r>
                        <a:rPr b="1" lang="en-US" sz="900" u="none" cap="none" strike="noStrike">
                          <a:solidFill>
                            <a:srgbClr val="151B29"/>
                          </a:solidFill>
                          <a:latin typeface="Arial"/>
                          <a:ea typeface="Arial"/>
                          <a:cs typeface="Arial"/>
                          <a:sym typeface="Arial"/>
                        </a:rPr>
                        <a:t>GAP-3</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Regolith grain-size distribution</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TIRI already bears on grain size through thermal inertia. It is a proxy rather than a direct measurement, but it is one the mission already returns, and measuring the distribution itself needs surface contact an orbiter payload cannot give.</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Removed — mission compatibility</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FFFFFF"/>
                    </a:solidFill>
                  </a:tcPr>
                </a:tc>
              </a:tr>
              <a:tr h="420625">
                <a:tc>
                  <a:txBody>
                    <a:bodyPr/>
                    <a:lstStyle/>
                    <a:p>
                      <a:pPr indent="0" lvl="0" marL="0" marR="0" rtl="0" algn="l">
                        <a:spcBef>
                          <a:spcPts val="0"/>
                        </a:spcBef>
                        <a:spcAft>
                          <a:spcPts val="0"/>
                        </a:spcAft>
                        <a:buClr>
                          <a:srgbClr val="151B29"/>
                        </a:buClr>
                        <a:buSzPts val="900"/>
                        <a:buFont typeface="Arial"/>
                        <a:buNone/>
                      </a:pPr>
                      <a:r>
                        <a:rPr b="1" lang="en-US" sz="900" u="none" cap="none" strike="noStrike">
                          <a:solidFill>
                            <a:srgbClr val="151B29"/>
                          </a:solidFill>
                          <a:latin typeface="Arial"/>
                          <a:ea typeface="Arial"/>
                          <a:cs typeface="Arial"/>
                          <a:sym typeface="Arial"/>
                        </a:rPr>
                        <a:t>GAP-4</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Free Fe–Ni metallic phase fraction</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MARIE and HAMLET each give indirect indications of metal content, but neither separates free metallic iron from iron bound in silicates or oxides.</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c>
                  <a:txBody>
                    <a:bodyPr/>
                    <a:lstStyle/>
                    <a:p>
                      <a:pPr indent="0" lvl="0" marL="0" marR="0" rtl="0" algn="l">
                        <a:spcBef>
                          <a:spcPts val="0"/>
                        </a:spcBef>
                        <a:spcAft>
                          <a:spcPts val="0"/>
                        </a:spcAft>
                        <a:buClr>
                          <a:srgbClr val="151B29"/>
                        </a:buClr>
                        <a:buSzPts val="900"/>
                        <a:buFont typeface="Arial"/>
                        <a:buNone/>
                      </a:pPr>
                      <a:r>
                        <a:rPr lang="en-US" sz="900" u="none" cap="none" strike="noStrike">
                          <a:solidFill>
                            <a:srgbClr val="151B29"/>
                          </a:solidFill>
                          <a:latin typeface="Arial"/>
                          <a:ea typeface="Arial"/>
                          <a:cs typeface="Arial"/>
                          <a:sym typeface="Arial"/>
                        </a:rPr>
                        <a:t>Removed — scientific value</a:t>
                      </a:r>
                      <a:endParaRPr sz="900" u="none" cap="none" strike="noStrike">
                        <a:latin typeface="Arial"/>
                        <a:ea typeface="Arial"/>
                        <a:cs typeface="Arial"/>
                        <a:sym typeface="Arial"/>
                      </a:endParaRPr>
                    </a:p>
                  </a:txBody>
                  <a:tcPr marT="50800" marB="50800" marR="101600" marL="101600" anchor="ctr">
                    <a:lnL cap="flat" cmpd="sng" w="9525">
                      <a:solidFill>
                        <a:srgbClr val="C4CFE0"/>
                      </a:solidFill>
                      <a:prstDash val="solid"/>
                      <a:round/>
                      <a:headEnd len="sm" w="sm" type="none"/>
                      <a:tailEnd len="sm" w="sm" type="none"/>
                    </a:lnL>
                    <a:lnR cap="flat" cmpd="sng" w="9525">
                      <a:solidFill>
                        <a:srgbClr val="C4CFE0"/>
                      </a:solidFill>
                      <a:prstDash val="solid"/>
                      <a:round/>
                      <a:headEnd len="sm" w="sm" type="none"/>
                      <a:tailEnd len="sm" w="sm" type="none"/>
                    </a:lnR>
                    <a:lnT cap="flat" cmpd="sng" w="9525">
                      <a:solidFill>
                        <a:srgbClr val="C4CFE0"/>
                      </a:solidFill>
                      <a:prstDash val="solid"/>
                      <a:round/>
                      <a:headEnd len="sm" w="sm" type="none"/>
                      <a:tailEnd len="sm" w="sm" type="none"/>
                    </a:lnT>
                    <a:lnB cap="flat" cmpd="sng" w="9525">
                      <a:solidFill>
                        <a:srgbClr val="C4CFE0"/>
                      </a:solidFill>
                      <a:prstDash val="solid"/>
                      <a:round/>
                      <a:headEnd len="sm" w="sm" type="none"/>
                      <a:tailEnd len="sm" w="sm" type="none"/>
                    </a:lnB>
                    <a:solidFill>
                      <a:srgbClr val="E8EDF6"/>
                    </a:solidFill>
                  </a:tcPr>
                </a:tc>
              </a:tr>
            </a:tbl>
          </a:graphicData>
        </a:graphic>
      </p:graphicFrame>
      <p:sp>
        <p:nvSpPr>
          <p:cNvPr id="704" name="Google Shape;704;p21"/>
          <p:cNvSpPr/>
          <p:nvPr/>
        </p:nvSpPr>
        <p:spPr>
          <a:xfrm>
            <a:off x="658368" y="4700016"/>
            <a:ext cx="6400800"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4C5468"/>
              </a:buClr>
              <a:buSzPts val="900"/>
              <a:buFont typeface="Arial"/>
              <a:buNone/>
            </a:pPr>
            <a:r>
              <a:rPr b="1" lang="en-US" sz="900">
                <a:solidFill>
                  <a:srgbClr val="4C5468"/>
                </a:solidFill>
                <a:latin typeface="Arial"/>
                <a:ea typeface="Arial"/>
                <a:cs typeface="Arial"/>
                <a:sym typeface="Arial"/>
              </a:rPr>
              <a:t>HOW THE CONFIRMED PAYLOAD BEARS ON EACH GAP</a:t>
            </a:r>
            <a:endParaRPr sz="900">
              <a:solidFill>
                <a:schemeClr val="dk1"/>
              </a:solidFill>
              <a:latin typeface="Calibri"/>
              <a:ea typeface="Calibri"/>
              <a:cs typeface="Calibri"/>
              <a:sym typeface="Calibri"/>
            </a:endParaRPr>
          </a:p>
        </p:txBody>
      </p:sp>
      <p:sp>
        <p:nvSpPr>
          <p:cNvPr id="705" name="Google Shape;705;p21"/>
          <p:cNvSpPr/>
          <p:nvPr/>
        </p:nvSpPr>
        <p:spPr>
          <a:xfrm>
            <a:off x="658368" y="4992624"/>
            <a:ext cx="2540432" cy="1042416"/>
          </a:xfrm>
          <a:prstGeom prst="roundRect">
            <a:avLst>
              <a:gd fmla="val 789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6" name="Google Shape;706;p21"/>
          <p:cNvSpPr/>
          <p:nvPr/>
        </p:nvSpPr>
        <p:spPr>
          <a:xfrm>
            <a:off x="877824" y="5138928"/>
            <a:ext cx="210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HAMLET</a:t>
            </a:r>
            <a:endParaRPr sz="1200">
              <a:solidFill>
                <a:schemeClr val="dk1"/>
              </a:solidFill>
              <a:latin typeface="Calibri"/>
              <a:ea typeface="Calibri"/>
              <a:cs typeface="Calibri"/>
              <a:sym typeface="Calibri"/>
            </a:endParaRPr>
          </a:p>
        </p:txBody>
      </p:sp>
      <p:sp>
        <p:nvSpPr>
          <p:cNvPr id="707" name="Google Shape;707;p21"/>
          <p:cNvSpPr/>
          <p:nvPr/>
        </p:nvSpPr>
        <p:spPr>
          <a:xfrm>
            <a:off x="877824" y="5413248"/>
            <a:ext cx="2101520" cy="530352"/>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Closed inference, maturity map derived from the spectrum it would correct</a:t>
            </a:r>
            <a:endParaRPr sz="850">
              <a:solidFill>
                <a:schemeClr val="dk1"/>
              </a:solidFill>
              <a:latin typeface="Calibri"/>
              <a:ea typeface="Calibri"/>
              <a:cs typeface="Calibri"/>
              <a:sym typeface="Calibri"/>
            </a:endParaRPr>
          </a:p>
        </p:txBody>
      </p:sp>
      <p:sp>
        <p:nvSpPr>
          <p:cNvPr id="708" name="Google Shape;708;p21"/>
          <p:cNvSpPr/>
          <p:nvPr/>
        </p:nvSpPr>
        <p:spPr>
          <a:xfrm>
            <a:off x="3436544" y="4992624"/>
            <a:ext cx="2540432" cy="1042416"/>
          </a:xfrm>
          <a:prstGeom prst="roundRect">
            <a:avLst>
              <a:gd fmla="val 789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09" name="Google Shape;709;p21"/>
          <p:cNvSpPr/>
          <p:nvPr/>
        </p:nvSpPr>
        <p:spPr>
          <a:xfrm>
            <a:off x="3656000" y="5138928"/>
            <a:ext cx="210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TIRI</a:t>
            </a:r>
            <a:endParaRPr sz="1200">
              <a:solidFill>
                <a:schemeClr val="dk1"/>
              </a:solidFill>
              <a:latin typeface="Calibri"/>
              <a:ea typeface="Calibri"/>
              <a:cs typeface="Calibri"/>
              <a:sym typeface="Calibri"/>
            </a:endParaRPr>
          </a:p>
        </p:txBody>
      </p:sp>
      <p:sp>
        <p:nvSpPr>
          <p:cNvPr id="710" name="Google Shape;710;p21"/>
          <p:cNvSpPr/>
          <p:nvPr/>
        </p:nvSpPr>
        <p:spPr>
          <a:xfrm>
            <a:off x="3656000" y="5413248"/>
            <a:ext cx="2101520" cy="530352"/>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Supplies grain size already, so this study need not measure it</a:t>
            </a:r>
            <a:endParaRPr sz="850">
              <a:solidFill>
                <a:schemeClr val="dk1"/>
              </a:solidFill>
              <a:latin typeface="Calibri"/>
              <a:ea typeface="Calibri"/>
              <a:cs typeface="Calibri"/>
              <a:sym typeface="Calibri"/>
            </a:endParaRPr>
          </a:p>
        </p:txBody>
      </p:sp>
      <p:sp>
        <p:nvSpPr>
          <p:cNvPr id="711" name="Google Shape;711;p21"/>
          <p:cNvSpPr/>
          <p:nvPr/>
        </p:nvSpPr>
        <p:spPr>
          <a:xfrm>
            <a:off x="6214720" y="4992624"/>
            <a:ext cx="2540432" cy="1042416"/>
          </a:xfrm>
          <a:prstGeom prst="roundRect">
            <a:avLst>
              <a:gd fmla="val 789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2" name="Google Shape;712;p21"/>
          <p:cNvSpPr/>
          <p:nvPr/>
        </p:nvSpPr>
        <p:spPr>
          <a:xfrm>
            <a:off x="6434176" y="5138928"/>
            <a:ext cx="210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Radar</a:t>
            </a:r>
            <a:endParaRPr sz="1200">
              <a:solidFill>
                <a:schemeClr val="dk1"/>
              </a:solidFill>
              <a:latin typeface="Calibri"/>
              <a:ea typeface="Calibri"/>
              <a:cs typeface="Calibri"/>
              <a:sym typeface="Calibri"/>
            </a:endParaRPr>
          </a:p>
        </p:txBody>
      </p:sp>
      <p:sp>
        <p:nvSpPr>
          <p:cNvPr id="713" name="Google Shape;713;p21"/>
          <p:cNvSpPr/>
          <p:nvPr/>
        </p:nvSpPr>
        <p:spPr>
          <a:xfrm>
            <a:off x="6434176" y="5413248"/>
            <a:ext cx="2101520" cy="530352"/>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Unrelated, dielectric measurement is blind to nanophase iron</a:t>
            </a:r>
            <a:endParaRPr sz="850">
              <a:solidFill>
                <a:schemeClr val="dk1"/>
              </a:solidFill>
              <a:latin typeface="Calibri"/>
              <a:ea typeface="Calibri"/>
              <a:cs typeface="Calibri"/>
              <a:sym typeface="Calibri"/>
            </a:endParaRPr>
          </a:p>
        </p:txBody>
      </p:sp>
      <p:sp>
        <p:nvSpPr>
          <p:cNvPr id="714" name="Google Shape;714;p21"/>
          <p:cNvSpPr/>
          <p:nvPr/>
        </p:nvSpPr>
        <p:spPr>
          <a:xfrm>
            <a:off x="8992895" y="4992624"/>
            <a:ext cx="2540432" cy="1042416"/>
          </a:xfrm>
          <a:prstGeom prst="roundRect">
            <a:avLst>
              <a:gd fmla="val 7895" name="adj"/>
            </a:avLst>
          </a:prstGeom>
          <a:solidFill>
            <a:srgbClr val="FFFFFF"/>
          </a:solidFill>
          <a:ln cap="flat" cmpd="sng" w="9525">
            <a:solidFill>
              <a:srgbClr val="C4CFE0"/>
            </a:solidFill>
            <a:prstDash val="solid"/>
            <a:round/>
            <a:headEnd len="sm" w="sm" type="none"/>
            <a:tailEnd len="sm" w="sm" type="none"/>
          </a:ln>
          <a:effectLst>
            <a:outerShdw blurRad="127000" rotWithShape="0" algn="bl" dir="5400000" dist="25400">
              <a:srgbClr val="0B1226">
                <a:alpha val="10196"/>
              </a:srgbClr>
            </a:outerShdw>
          </a:effectLst>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5" name="Google Shape;715;p21"/>
          <p:cNvSpPr/>
          <p:nvPr/>
        </p:nvSpPr>
        <p:spPr>
          <a:xfrm>
            <a:off x="9212351" y="5138928"/>
            <a:ext cx="2101520" cy="23774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3234C"/>
              </a:buClr>
              <a:buSzPts val="1200"/>
              <a:buFont typeface="Arial"/>
              <a:buNone/>
            </a:pPr>
            <a:r>
              <a:rPr b="1" lang="en-US" sz="1200">
                <a:solidFill>
                  <a:srgbClr val="13234C"/>
                </a:solidFill>
                <a:latin typeface="Arial"/>
                <a:ea typeface="Arial"/>
                <a:cs typeface="Arial"/>
                <a:sym typeface="Arial"/>
              </a:rPr>
              <a:t>CHANCES / AFC</a:t>
            </a:r>
            <a:endParaRPr sz="1200">
              <a:solidFill>
                <a:schemeClr val="dk1"/>
              </a:solidFill>
              <a:latin typeface="Calibri"/>
              <a:ea typeface="Calibri"/>
              <a:cs typeface="Calibri"/>
              <a:sym typeface="Calibri"/>
            </a:endParaRPr>
          </a:p>
        </p:txBody>
      </p:sp>
      <p:sp>
        <p:nvSpPr>
          <p:cNvPr id="716" name="Google Shape;716;p21"/>
          <p:cNvSpPr/>
          <p:nvPr/>
        </p:nvSpPr>
        <p:spPr>
          <a:xfrm>
            <a:off x="9212351" y="5413248"/>
            <a:ext cx="2101520" cy="530352"/>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4C5468"/>
              </a:buClr>
              <a:buSzPts val="850"/>
              <a:buFont typeface="Arial"/>
              <a:buNone/>
            </a:pPr>
            <a:r>
              <a:rPr lang="en-US" sz="850">
                <a:solidFill>
                  <a:srgbClr val="4C5468"/>
                </a:solidFill>
                <a:latin typeface="Arial"/>
                <a:ea typeface="Arial"/>
                <a:cs typeface="Arial"/>
                <a:sym typeface="Arial"/>
              </a:rPr>
              <a:t>No overlap, locates where fresh material may be, never quantifies it</a:t>
            </a:r>
            <a:endParaRPr sz="850">
              <a:solidFill>
                <a:schemeClr val="dk1"/>
              </a:solidFill>
              <a:latin typeface="Calibri"/>
              <a:ea typeface="Calibri"/>
              <a:cs typeface="Calibri"/>
              <a:sym typeface="Calibri"/>
            </a:endParaRPr>
          </a:p>
        </p:txBody>
      </p:sp>
      <p:pic>
        <p:nvPicPr>
          <p:cNvPr descr="/home/claude/work/a2/logo_dark.png" id="717" name="Google Shape;717;p21"/>
          <p:cNvPicPr preferRelativeResize="0"/>
          <p:nvPr/>
        </p:nvPicPr>
        <p:blipFill rotWithShape="1">
          <a:blip r:embed="rId4">
            <a:alphaModFix/>
          </a:blip>
          <a:srcRect b="0" l="0" r="0" t="0"/>
          <a:stretch/>
        </p:blipFill>
        <p:spPr>
          <a:xfrm>
            <a:off x="10616340" y="122984"/>
            <a:ext cx="1450538" cy="814736"/>
          </a:xfrm>
          <a:prstGeom prst="rect">
            <a:avLst/>
          </a:prstGeom>
          <a:noFill/>
          <a:ln>
            <a:noFill/>
          </a:ln>
        </p:spPr>
      </p:pic>
      <p:sp>
        <p:nvSpPr>
          <p:cNvPr id="718" name="Google Shape;718;p21"/>
          <p:cNvSpPr txBox="1"/>
          <p:nvPr/>
        </p:nvSpPr>
        <p:spPr>
          <a:xfrm>
            <a:off x="5626159" y="6581001"/>
            <a:ext cx="939681" cy="276999"/>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Public</a:t>
            </a:r>
            <a:r>
              <a:rPr lang="en-US" sz="1200">
                <a:solidFill>
                  <a:srgbClr val="000000"/>
                </a:solidFill>
                <a:latin typeface="Calibri"/>
                <a:ea typeface="Calibri"/>
                <a:cs typeface="Calibri"/>
                <a:sym typeface="Calibri"/>
              </a:rPr>
              <a:t>   </a:t>
            </a:r>
            <a:r>
              <a:rPr lang="en-US" sz="1200">
                <a:solidFill>
                  <a:srgbClr val="339966"/>
                </a:solidFill>
                <a:latin typeface="Calibri"/>
                <a:ea typeface="Calibri"/>
                <a:cs typeface="Calibri"/>
                <a:sym typeface="Calibri"/>
              </a:rPr>
              <a:t>عام</a:t>
            </a:r>
            <a:endParaRPr sz="1200">
              <a:solidFill>
                <a:srgbClr val="339966"/>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