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2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4E4"/>
    <a:srgbClr val="F0F0F0"/>
    <a:srgbClr val="6DD9FF"/>
    <a:srgbClr val="BDC5D5"/>
    <a:srgbClr val="9BA7C0"/>
    <a:srgbClr val="727E95"/>
    <a:srgbClr val="D5D5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1" d="100"/>
          <a:sy n="81" d="100"/>
        </p:scale>
        <p:origin x="619"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5479173"/>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6.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3" Type="http://schemas.openxmlformats.org/officeDocument/2006/relationships/notesSlide" Target="../notesSlides/notesSlide5.xml"/><Relationship Id="rId7" Type="http://schemas.openxmlformats.org/officeDocument/2006/relationships/image" Target="../media/image8.png"/><Relationship Id="rId12" Type="http://schemas.openxmlformats.org/officeDocument/2006/relationships/image" Target="../media/image13.jpeg"/><Relationship Id="rId2" Type="http://schemas.openxmlformats.org/officeDocument/2006/relationships/slideLayout" Target="../slideLayouts/slideLayout1.xml"/><Relationship Id="rId16" Type="http://schemas.openxmlformats.org/officeDocument/2006/relationships/image" Target="../media/image17.jpeg"/><Relationship Id="rId1" Type="http://schemas.openxmlformats.org/officeDocument/2006/relationships/tags" Target="../tags/tag5.xml"/><Relationship Id="rId6" Type="http://schemas.openxmlformats.org/officeDocument/2006/relationships/image" Target="../media/image7.png"/><Relationship Id="rId11" Type="http://schemas.openxmlformats.org/officeDocument/2006/relationships/image" Target="../media/image12.jpeg"/><Relationship Id="rId5" Type="http://schemas.openxmlformats.org/officeDocument/2006/relationships/image" Target="../media/image6.png"/><Relationship Id="rId15" Type="http://schemas.openxmlformats.org/officeDocument/2006/relationships/image" Target="../media/image16.jpeg"/><Relationship Id="rId10" Type="http://schemas.openxmlformats.org/officeDocument/2006/relationships/image" Target="../media/image11.jpeg"/><Relationship Id="rId4" Type="http://schemas.openxmlformats.org/officeDocument/2006/relationships/image" Target="../media/image5.jpg"/><Relationship Id="rId9" Type="http://schemas.openxmlformats.org/officeDocument/2006/relationships/image" Target="../media/image10.jpeg"/><Relationship Id="rId14" Type="http://schemas.openxmlformats.org/officeDocument/2006/relationships/image" Target="../media/image15.jpe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notesSlide" Target="../notesSlides/notesSlide6.xml"/><Relationship Id="rId7" Type="http://schemas.openxmlformats.org/officeDocument/2006/relationships/image" Target="../media/image20.png"/><Relationship Id="rId2" Type="http://schemas.openxmlformats.org/officeDocument/2006/relationships/slideLayout" Target="../slideLayouts/slideLayout1.xml"/><Relationship Id="rId1" Type="http://schemas.openxmlformats.org/officeDocument/2006/relationships/tags" Target="../tags/tag6.xml"/><Relationship Id="rId6" Type="http://schemas.microsoft.com/office/2007/relationships/hdphoto" Target="../media/hdphoto1.wdp"/><Relationship Id="rId5" Type="http://schemas.openxmlformats.org/officeDocument/2006/relationships/image" Target="../media/image19.png"/><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6.pn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8.xml"/><Relationship Id="rId5" Type="http://schemas.openxmlformats.org/officeDocument/2006/relationships/image" Target="../media/image6.pn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21.jp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0.xml"/><Relationship Id="rId5" Type="http://schemas.openxmlformats.org/officeDocument/2006/relationships/image" Target="../media/image6.pn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2.png"/><Relationship Id="rId5" Type="http://schemas.openxmlformats.org/officeDocument/2006/relationships/image" Target="../media/image22.pn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3.xml"/><Relationship Id="rId5" Type="http://schemas.openxmlformats.org/officeDocument/2006/relationships/image" Target="../media/image6.png"/><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2.png"/><Relationship Id="rId5" Type="http://schemas.openxmlformats.org/officeDocument/2006/relationships/image" Target="../media/image23.png"/><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5.xml"/><Relationship Id="rId5" Type="http://schemas.openxmlformats.org/officeDocument/2006/relationships/image" Target="../media/image2.png"/><Relationship Id="rId4" Type="http://schemas.openxmlformats.org/officeDocument/2006/relationships/image" Target="../media/image24.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image" Target="../media/image6.png"/><Relationship Id="rId4" Type="http://schemas.openxmlformats.org/officeDocument/2006/relationships/image" Target="../media/image5.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image" Target="../media/image6.png"/><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8.xml"/><Relationship Id="rId5" Type="http://schemas.openxmlformats.org/officeDocument/2006/relationships/image" Target="../media/image6.png"/><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B16"/>
        </a:solidFill>
        <a:effectLst/>
      </p:bgPr>
    </p:bg>
    <p:spTree>
      <p:nvGrpSpPr>
        <p:cNvPr id="1" name=""/>
        <p:cNvGrpSpPr/>
        <p:nvPr/>
      </p:nvGrpSpPr>
      <p:grpSpPr>
        <a:xfrm>
          <a:off x="0" y="0"/>
          <a:ext cx="0" cy="0"/>
          <a:chOff x="0" y="0"/>
          <a:chExt cx="0" cy="0"/>
        </a:xfrm>
      </p:grpSpPr>
      <p:pic>
        <p:nvPicPr>
          <p:cNvPr id="2" name="Image 0" descr="/home/claude/work/a2/hero_title.jpg"/>
          <p:cNvPicPr>
            <a:picLocks noChangeAspect="1"/>
          </p:cNvPicPr>
          <p:nvPr/>
        </p:nvPicPr>
        <p:blipFill>
          <a:blip r:embed="rId4">
            <a:alphaModFix amt="70000"/>
          </a:blip>
          <a:stretch>
            <a:fillRect/>
          </a:stretch>
        </p:blipFill>
        <p:spPr>
          <a:xfrm>
            <a:off x="0" y="0"/>
            <a:ext cx="12191695" cy="6858000"/>
          </a:xfrm>
          <a:prstGeom prst="rect">
            <a:avLst/>
          </a:prstGeom>
        </p:spPr>
      </p:pic>
      <p:sp>
        <p:nvSpPr>
          <p:cNvPr id="4" name="Text 0"/>
          <p:cNvSpPr/>
          <p:nvPr/>
        </p:nvSpPr>
        <p:spPr>
          <a:xfrm>
            <a:off x="868680" y="3882280"/>
            <a:ext cx="8229600" cy="256032"/>
          </a:xfrm>
          <a:prstGeom prst="rect">
            <a:avLst/>
          </a:prstGeom>
          <a:noFill/>
          <a:ln/>
        </p:spPr>
        <p:txBody>
          <a:bodyPr wrap="square" lIns="0" tIns="0" rIns="0" bIns="0" rtlCol="0" anchor="ctr"/>
          <a:lstStyle/>
          <a:p>
            <a:pPr marL="0" indent="0">
              <a:buNone/>
            </a:pPr>
            <a:r>
              <a:rPr lang="en-US" sz="1050" b="1" kern="0" spc="260" dirty="0">
                <a:solidFill>
                  <a:srgbClr val="00B0F0"/>
                </a:solidFill>
                <a:latin typeface="Arial" pitchFamily="34" charset="0"/>
                <a:ea typeface="Arial" pitchFamily="34" charset="-122"/>
                <a:cs typeface="Arial" pitchFamily="34" charset="-120"/>
              </a:rPr>
              <a:t>SSA SUMMER TRAINING   |   JULY - AUGUST 2026</a:t>
            </a:r>
            <a:endParaRPr lang="en-US" sz="1050" dirty="0">
              <a:solidFill>
                <a:srgbClr val="00B0F0"/>
              </a:solidFill>
            </a:endParaRPr>
          </a:p>
        </p:txBody>
      </p:sp>
      <p:sp>
        <p:nvSpPr>
          <p:cNvPr id="5" name="Text 1"/>
          <p:cNvSpPr/>
          <p:nvPr/>
        </p:nvSpPr>
        <p:spPr>
          <a:xfrm>
            <a:off x="868680" y="4174888"/>
            <a:ext cx="12847320" cy="1005840"/>
          </a:xfrm>
          <a:prstGeom prst="rect">
            <a:avLst/>
          </a:prstGeom>
          <a:noFill/>
          <a:ln/>
        </p:spPr>
        <p:txBody>
          <a:bodyPr wrap="square" lIns="0" tIns="0" rIns="0" bIns="0" rtlCol="0" anchor="t"/>
          <a:lstStyle/>
          <a:p>
            <a:pPr marL="0" indent="0">
              <a:lnSpc>
                <a:spcPct val="94000"/>
              </a:lnSpc>
              <a:buNone/>
            </a:pPr>
            <a:r>
              <a:rPr lang="en-US" sz="3800" b="1" dirty="0">
                <a:solidFill>
                  <a:srgbClr val="FFFFFF"/>
                </a:solidFill>
                <a:latin typeface="29LT Adir" pitchFamily="34" charset="0"/>
                <a:ea typeface="29LT Adir" pitchFamily="34" charset="-122"/>
                <a:cs typeface="29LT Adir" pitchFamily="34" charset="-120"/>
              </a:rPr>
              <a:t>Noora AlQuaydhib Summer Training Journey</a:t>
            </a:r>
            <a:endParaRPr lang="en-US" sz="3800" dirty="0"/>
          </a:p>
        </p:txBody>
      </p:sp>
      <p:sp>
        <p:nvSpPr>
          <p:cNvPr id="6" name="Text 2"/>
          <p:cNvSpPr/>
          <p:nvPr/>
        </p:nvSpPr>
        <p:spPr>
          <a:xfrm>
            <a:off x="868680" y="4888120"/>
            <a:ext cx="8961120" cy="365760"/>
          </a:xfrm>
          <a:prstGeom prst="rect">
            <a:avLst/>
          </a:prstGeom>
          <a:noFill/>
          <a:ln/>
        </p:spPr>
        <p:txBody>
          <a:bodyPr wrap="square" lIns="0" tIns="0" rIns="0" bIns="0" rtlCol="0" anchor="t"/>
          <a:lstStyle/>
          <a:p>
            <a:pPr marL="0" indent="0">
              <a:buNone/>
            </a:pPr>
            <a:r>
              <a:rPr lang="en-US" sz="1450" dirty="0">
                <a:solidFill>
                  <a:schemeClr val="bg1"/>
                </a:solidFill>
                <a:latin typeface="29LT Adir" panose="00000506000000000000" pitchFamily="50" charset="-78"/>
                <a:ea typeface="Arial" pitchFamily="34" charset="-122"/>
                <a:cs typeface="29LT Adir" panose="00000506000000000000" pitchFamily="50" charset="-78"/>
              </a:rPr>
              <a:t>Scientific Gap Assessment and Payload Recommendation for RAMSES Mission for Asteroid (99942) Apophis</a:t>
            </a:r>
            <a:endParaRPr lang="en-US" sz="1450" dirty="0">
              <a:solidFill>
                <a:schemeClr val="bg1"/>
              </a:solidFill>
              <a:latin typeface="29LT Adir" panose="00000506000000000000" pitchFamily="50" charset="-78"/>
              <a:cs typeface="29LT Adir" panose="00000506000000000000" pitchFamily="50" charset="-78"/>
            </a:endParaRPr>
          </a:p>
        </p:txBody>
      </p:sp>
      <p:sp>
        <p:nvSpPr>
          <p:cNvPr id="7" name="Shape 3"/>
          <p:cNvSpPr/>
          <p:nvPr/>
        </p:nvSpPr>
        <p:spPr>
          <a:xfrm>
            <a:off x="868680" y="5820808"/>
            <a:ext cx="1920240" cy="9144"/>
          </a:xfrm>
          <a:prstGeom prst="rect">
            <a:avLst/>
          </a:prstGeom>
          <a:solidFill>
            <a:srgbClr val="3B4A6B"/>
          </a:solidFill>
          <a:ln/>
        </p:spPr>
        <p:txBody>
          <a:bodyPr/>
          <a:lstStyle/>
          <a:p>
            <a:endParaRPr lang="en-US"/>
          </a:p>
        </p:txBody>
      </p:sp>
      <p:sp>
        <p:nvSpPr>
          <p:cNvPr id="8" name="Text 4"/>
          <p:cNvSpPr/>
          <p:nvPr/>
        </p:nvSpPr>
        <p:spPr>
          <a:xfrm>
            <a:off x="868680" y="5912248"/>
            <a:ext cx="7315200" cy="274320"/>
          </a:xfrm>
          <a:prstGeom prst="rect">
            <a:avLst/>
          </a:prstGeom>
          <a:noFill/>
          <a:ln/>
        </p:spPr>
        <p:txBody>
          <a:bodyPr wrap="square" lIns="0" tIns="0" rIns="0" bIns="0" rtlCol="0" anchor="t"/>
          <a:lstStyle/>
          <a:p>
            <a:pPr marL="0" indent="0">
              <a:buNone/>
            </a:pPr>
            <a:r>
              <a:rPr lang="en-US" sz="1200" dirty="0">
                <a:solidFill>
                  <a:schemeClr val="bg1"/>
                </a:solidFill>
                <a:latin typeface="29LT Adir" panose="00000506000000000000" pitchFamily="50" charset="-78"/>
                <a:ea typeface="Arial" pitchFamily="34" charset="-122"/>
                <a:cs typeface="29LT Adir" panose="00000506000000000000" pitchFamily="50" charset="-78"/>
              </a:rPr>
              <a:t>Supervised by  Najla AlAhmadi  &amp;  Rawan AlRayes</a:t>
            </a:r>
            <a:endParaRPr lang="en-US" sz="1200" dirty="0">
              <a:solidFill>
                <a:schemeClr val="bg1"/>
              </a:solidFill>
              <a:latin typeface="29LT Adir" panose="00000506000000000000" pitchFamily="50" charset="-78"/>
              <a:cs typeface="29LT Adir" panose="00000506000000000000" pitchFamily="50" charset="-78"/>
            </a:endParaRPr>
          </a:p>
        </p:txBody>
      </p:sp>
      <p:pic>
        <p:nvPicPr>
          <p:cNvPr id="13" name="Image 2" descr="/home/claude/work/a2/logo_white.png">
            <a:extLst>
              <a:ext uri="{FF2B5EF4-FFF2-40B4-BE49-F238E27FC236}">
                <a16:creationId xmlns:a16="http://schemas.microsoft.com/office/drawing/2014/main" id="{12AC417A-030D-B64E-CD12-3D5A88D22B6D}"/>
              </a:ext>
            </a:extLst>
          </p:cNvPr>
          <p:cNvPicPr>
            <a:picLocks noChangeAspect="1"/>
          </p:cNvPicPr>
          <p:nvPr/>
        </p:nvPicPr>
        <p:blipFill>
          <a:blip r:embed="rId5"/>
          <a:stretch>
            <a:fillRect/>
          </a:stretch>
        </p:blipFill>
        <p:spPr>
          <a:xfrm>
            <a:off x="10353104" y="452014"/>
            <a:ext cx="1520245" cy="641200"/>
          </a:xfrm>
          <a:prstGeom prst="rect">
            <a:avLst/>
          </a:prstGeom>
        </p:spPr>
      </p:pic>
      <p:sp>
        <p:nvSpPr>
          <p:cNvPr id="16" name="BJPseudoFooter">
            <a:extLst>
              <a:ext uri="{FF2B5EF4-FFF2-40B4-BE49-F238E27FC236}">
                <a16:creationId xmlns:a16="http://schemas.microsoft.com/office/drawing/2014/main" id="{2518CFCA-DCB3-71F2-6E83-619A72B170DA}"/>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6"/>
        </a:solidFill>
        <a:effectLst/>
      </p:bgPr>
    </p:bg>
    <p:spTree>
      <p:nvGrpSpPr>
        <p:cNvPr id="1" name=""/>
        <p:cNvGrpSpPr/>
        <p:nvPr/>
      </p:nvGrpSpPr>
      <p:grpSpPr>
        <a:xfrm>
          <a:off x="0" y="0"/>
          <a:ext cx="0" cy="0"/>
          <a:chOff x="0" y="0"/>
          <a:chExt cx="0" cy="0"/>
        </a:xfrm>
      </p:grpSpPr>
      <p:pic>
        <p:nvPicPr>
          <p:cNvPr id="2" name="Image 0" descr="/home/claude/work/a2/glow_deep.jpg"/>
          <p:cNvPicPr>
            <a:picLocks noGrp="1" noRot="1" noChangeAspect="1" noMove="1" noResize="1" noEditPoints="1" noAdjustHandles="1" noChangeArrowheads="1" noChangeShapeType="1" noCrop="1"/>
          </p:cNvPicPr>
          <p:nvPr/>
        </p:nvPicPr>
        <p:blipFill>
          <a:blip r:embed="rId4"/>
          <a:stretch>
            <a:fillRect/>
          </a:stretch>
        </p:blipFill>
        <p:spPr>
          <a:xfrm>
            <a:off x="305" y="-9144"/>
            <a:ext cx="12191695" cy="6858000"/>
          </a:xfrm>
          <a:prstGeom prst="rect">
            <a:avLst/>
          </a:prstGeom>
        </p:spPr>
      </p:pic>
      <p:pic>
        <p:nvPicPr>
          <p:cNvPr id="3" name="Image 1" descr="/home/claude/work/a2/half_right.png"/>
          <p:cNvPicPr>
            <a:picLocks noChangeAspect="1"/>
          </p:cNvPicPr>
          <p:nvPr/>
        </p:nvPicPr>
        <p:blipFill>
          <a:blip r:embed="rId5"/>
          <a:stretch>
            <a:fillRect/>
          </a:stretch>
        </p:blipFill>
        <p:spPr>
          <a:xfrm>
            <a:off x="6812280" y="0"/>
            <a:ext cx="5379415" cy="5843016"/>
          </a:xfrm>
          <a:prstGeom prst="rect">
            <a:avLst/>
          </a:prstGeom>
        </p:spPr>
      </p:pic>
      <p:pic>
        <p:nvPicPr>
          <p:cNvPr id="4" name="Image 2" descr="/home/claude/work/a2/logo_white.png"/>
          <p:cNvPicPr>
            <a:picLocks noChangeAspect="1"/>
          </p:cNvPicPr>
          <p:nvPr/>
        </p:nvPicPr>
        <p:blipFill>
          <a:blip r:embed="rId6"/>
          <a:stretch>
            <a:fillRect/>
          </a:stretch>
        </p:blipFill>
        <p:spPr>
          <a:xfrm>
            <a:off x="10797385" y="310896"/>
            <a:ext cx="1133856" cy="478231"/>
          </a:xfrm>
          <a:prstGeom prst="rect">
            <a:avLst/>
          </a:prstGeom>
        </p:spPr>
      </p:pic>
      <p:sp>
        <p:nvSpPr>
          <p:cNvPr id="5" name="Text 0"/>
          <p:cNvSpPr/>
          <p:nvPr/>
        </p:nvSpPr>
        <p:spPr>
          <a:xfrm>
            <a:off x="658368" y="530352"/>
            <a:ext cx="6400800" cy="472966"/>
          </a:xfrm>
          <a:prstGeom prst="rect">
            <a:avLst/>
          </a:prstGeom>
          <a:noFill/>
          <a:ln/>
        </p:spPr>
        <p:txBody>
          <a:bodyPr wrap="square" lIns="0" tIns="0" rIns="0" bIns="0" rtlCol="0" anchor="ctr"/>
          <a:lstStyle/>
          <a:p>
            <a:pPr marL="0" indent="0">
              <a:lnSpc>
                <a:spcPct val="92000"/>
              </a:lnSpc>
              <a:buNone/>
            </a:pPr>
            <a:r>
              <a:rPr lang="en-US" sz="3000" b="1" dirty="0">
                <a:solidFill>
                  <a:srgbClr val="FFFFFF"/>
                </a:solidFill>
                <a:latin typeface="29LT Adir" pitchFamily="34" charset="0"/>
                <a:ea typeface="29LT Adir" pitchFamily="34" charset="-122"/>
                <a:cs typeface="29LT Adir" pitchFamily="34" charset="-120"/>
              </a:rPr>
              <a:t>Context &amp; Strategic Rationale</a:t>
            </a:r>
            <a:endParaRPr lang="en-US" sz="3000" dirty="0"/>
          </a:p>
        </p:txBody>
      </p:sp>
      <p:sp>
        <p:nvSpPr>
          <p:cNvPr id="6" name="Text 1"/>
          <p:cNvSpPr/>
          <p:nvPr/>
        </p:nvSpPr>
        <p:spPr>
          <a:xfrm>
            <a:off x="658368" y="1554480"/>
            <a:ext cx="457200" cy="274320"/>
          </a:xfrm>
          <a:prstGeom prst="rect">
            <a:avLst/>
          </a:prstGeom>
          <a:noFill/>
          <a:ln/>
        </p:spPr>
        <p:txBody>
          <a:bodyPr wrap="square" lIns="0" tIns="0" rIns="0" bIns="0" rtlCol="0" anchor="ctr"/>
          <a:lstStyle/>
          <a:p>
            <a:pPr marL="0" indent="0">
              <a:buNone/>
            </a:pPr>
            <a:r>
              <a:rPr lang="en-US" sz="1200" b="1" dirty="0">
                <a:solidFill>
                  <a:srgbClr val="00B0F0"/>
                </a:solidFill>
                <a:latin typeface="Arial" pitchFamily="34" charset="0"/>
                <a:ea typeface="Arial" pitchFamily="34" charset="-122"/>
                <a:cs typeface="Arial" pitchFamily="34" charset="-120"/>
              </a:rPr>
              <a:t>01</a:t>
            </a:r>
            <a:endParaRPr lang="en-US" sz="1200" dirty="0">
              <a:solidFill>
                <a:srgbClr val="00B0F0"/>
              </a:solidFill>
            </a:endParaRPr>
          </a:p>
        </p:txBody>
      </p:sp>
      <p:sp>
        <p:nvSpPr>
          <p:cNvPr id="7" name="Text 2"/>
          <p:cNvSpPr/>
          <p:nvPr/>
        </p:nvSpPr>
        <p:spPr>
          <a:xfrm>
            <a:off x="1161288" y="1536192"/>
            <a:ext cx="5120640" cy="274320"/>
          </a:xfrm>
          <a:prstGeom prst="rect">
            <a:avLst/>
          </a:prstGeom>
          <a:noFill/>
          <a:ln/>
        </p:spPr>
        <p:txBody>
          <a:bodyPr wrap="square" lIns="0" tIns="0" rIns="0" bIns="0" rtlCol="0" anchor="ctr"/>
          <a:lstStyle/>
          <a:p>
            <a:pPr marL="0" indent="0">
              <a:buNone/>
            </a:pPr>
            <a:r>
              <a:rPr lang="en-US" b="1" dirty="0">
                <a:solidFill>
                  <a:srgbClr val="FFFFFF"/>
                </a:solidFill>
                <a:latin typeface="29LT Adir" pitchFamily="34" charset="0"/>
                <a:ea typeface="29LT Adir" pitchFamily="34" charset="-122"/>
                <a:cs typeface="29LT Adir" pitchFamily="34" charset="-120"/>
              </a:rPr>
              <a:t>The Event</a:t>
            </a:r>
            <a:endParaRPr lang="en-US" dirty="0"/>
          </a:p>
        </p:txBody>
      </p:sp>
      <p:sp>
        <p:nvSpPr>
          <p:cNvPr id="8" name="Text 3"/>
          <p:cNvSpPr/>
          <p:nvPr/>
        </p:nvSpPr>
        <p:spPr>
          <a:xfrm>
            <a:off x="1161288" y="1810512"/>
            <a:ext cx="5349240" cy="566928"/>
          </a:xfrm>
          <a:prstGeom prst="rect">
            <a:avLst/>
          </a:prstGeom>
          <a:noFill/>
          <a:ln/>
        </p:spPr>
        <p:txBody>
          <a:bodyPr wrap="square" lIns="0" tIns="0" rIns="0" bIns="0" rtlCol="0" anchor="t"/>
          <a:lstStyle/>
          <a:p>
            <a:pPr marL="0" indent="0">
              <a:lnSpc>
                <a:spcPct val="112000"/>
              </a:lnSpc>
              <a:buNone/>
            </a:pPr>
            <a:r>
              <a:rPr lang="en-US" sz="1200" dirty="0">
                <a:solidFill>
                  <a:srgbClr val="BDC5D5"/>
                </a:solidFill>
                <a:latin typeface="Arial" pitchFamily="34" charset="0"/>
                <a:ea typeface="Arial" pitchFamily="34" charset="-122"/>
                <a:cs typeface="Arial" pitchFamily="34" charset="-120"/>
              </a:rPr>
              <a:t>On 13 April 2029. Apophis passes within ~32,000 km, closer than geostationary satellites, visible to the naked eye.</a:t>
            </a:r>
            <a:endParaRPr lang="en-US" sz="1200" dirty="0">
              <a:solidFill>
                <a:srgbClr val="BDC5D5"/>
              </a:solidFill>
            </a:endParaRPr>
          </a:p>
        </p:txBody>
      </p:sp>
      <p:sp>
        <p:nvSpPr>
          <p:cNvPr id="9" name="Shape 4"/>
          <p:cNvSpPr/>
          <p:nvPr/>
        </p:nvSpPr>
        <p:spPr>
          <a:xfrm>
            <a:off x="658368" y="2450592"/>
            <a:ext cx="5852160" cy="9144"/>
          </a:xfrm>
          <a:prstGeom prst="rect">
            <a:avLst/>
          </a:prstGeom>
          <a:solidFill>
            <a:srgbClr val="1E2740"/>
          </a:solidFill>
          <a:ln/>
        </p:spPr>
        <p:txBody>
          <a:bodyPr/>
          <a:lstStyle/>
          <a:p>
            <a:endParaRPr lang="en-US"/>
          </a:p>
        </p:txBody>
      </p:sp>
      <p:sp>
        <p:nvSpPr>
          <p:cNvPr id="10" name="Text 5"/>
          <p:cNvSpPr/>
          <p:nvPr/>
        </p:nvSpPr>
        <p:spPr>
          <a:xfrm>
            <a:off x="658368" y="2523744"/>
            <a:ext cx="457200" cy="274320"/>
          </a:xfrm>
          <a:prstGeom prst="rect">
            <a:avLst/>
          </a:prstGeom>
          <a:noFill/>
          <a:ln/>
        </p:spPr>
        <p:txBody>
          <a:bodyPr wrap="square" lIns="0" tIns="0" rIns="0" bIns="0" rtlCol="0" anchor="ctr"/>
          <a:lstStyle/>
          <a:p>
            <a:pPr marL="0" indent="0">
              <a:buNone/>
            </a:pPr>
            <a:r>
              <a:rPr lang="en-US" sz="1200" b="1" dirty="0">
                <a:solidFill>
                  <a:srgbClr val="00B0F0"/>
                </a:solidFill>
                <a:latin typeface="Arial" pitchFamily="34" charset="0"/>
                <a:ea typeface="Arial" pitchFamily="34" charset="-122"/>
                <a:cs typeface="Arial" pitchFamily="34" charset="-120"/>
              </a:rPr>
              <a:t>02</a:t>
            </a:r>
            <a:endParaRPr lang="en-US" sz="1200" dirty="0">
              <a:solidFill>
                <a:srgbClr val="00B0F0"/>
              </a:solidFill>
            </a:endParaRPr>
          </a:p>
        </p:txBody>
      </p:sp>
      <p:sp>
        <p:nvSpPr>
          <p:cNvPr id="11" name="Text 6"/>
          <p:cNvSpPr/>
          <p:nvPr/>
        </p:nvSpPr>
        <p:spPr>
          <a:xfrm>
            <a:off x="1161288" y="2505456"/>
            <a:ext cx="5120640" cy="274320"/>
          </a:xfrm>
          <a:prstGeom prst="rect">
            <a:avLst/>
          </a:prstGeom>
          <a:noFill/>
          <a:ln/>
        </p:spPr>
        <p:txBody>
          <a:bodyPr wrap="square" lIns="0" tIns="0" rIns="0" bIns="0" rtlCol="0" anchor="ctr"/>
          <a:lstStyle/>
          <a:p>
            <a:pPr marL="0" indent="0">
              <a:buNone/>
            </a:pPr>
            <a:r>
              <a:rPr lang="en-US" b="1" dirty="0">
                <a:solidFill>
                  <a:srgbClr val="FFFFFF"/>
                </a:solidFill>
                <a:latin typeface="29LT Adir" pitchFamily="34" charset="0"/>
                <a:ea typeface="29LT Adir" pitchFamily="34" charset="-122"/>
                <a:cs typeface="29LT Adir" pitchFamily="34" charset="-120"/>
              </a:rPr>
              <a:t>The Mission</a:t>
            </a:r>
            <a:endParaRPr lang="en-US" dirty="0"/>
          </a:p>
        </p:txBody>
      </p:sp>
      <p:sp>
        <p:nvSpPr>
          <p:cNvPr id="12" name="Text 7"/>
          <p:cNvSpPr/>
          <p:nvPr/>
        </p:nvSpPr>
        <p:spPr>
          <a:xfrm>
            <a:off x="1161288" y="2779776"/>
            <a:ext cx="5349240" cy="566928"/>
          </a:xfrm>
          <a:prstGeom prst="rect">
            <a:avLst/>
          </a:prstGeom>
          <a:noFill/>
          <a:ln/>
        </p:spPr>
        <p:txBody>
          <a:bodyPr wrap="square" lIns="0" tIns="0" rIns="0" bIns="0" rtlCol="0" anchor="t"/>
          <a:lstStyle/>
          <a:p>
            <a:pPr marL="0" indent="0">
              <a:lnSpc>
                <a:spcPct val="112000"/>
              </a:lnSpc>
              <a:buNone/>
            </a:pPr>
            <a:r>
              <a:rPr lang="en-US" sz="1200" dirty="0">
                <a:solidFill>
                  <a:srgbClr val="BDC5D5"/>
                </a:solidFill>
                <a:latin typeface="Arial" pitchFamily="34" charset="0"/>
                <a:ea typeface="Arial" pitchFamily="34" charset="-122"/>
                <a:cs typeface="Arial" pitchFamily="34" charset="-120"/>
              </a:rPr>
              <a:t>ESA has committed. ~EUR 150 million with OHB Italia. Now in build. Launch spring 2028, arrival February 2029.</a:t>
            </a:r>
            <a:endParaRPr lang="en-US" sz="1200" dirty="0">
              <a:solidFill>
                <a:srgbClr val="BDC5D5"/>
              </a:solidFill>
            </a:endParaRPr>
          </a:p>
        </p:txBody>
      </p:sp>
      <p:sp>
        <p:nvSpPr>
          <p:cNvPr id="13" name="Shape 8"/>
          <p:cNvSpPr/>
          <p:nvPr/>
        </p:nvSpPr>
        <p:spPr>
          <a:xfrm>
            <a:off x="658368" y="3419856"/>
            <a:ext cx="5852160" cy="9144"/>
          </a:xfrm>
          <a:prstGeom prst="rect">
            <a:avLst/>
          </a:prstGeom>
          <a:solidFill>
            <a:srgbClr val="1E2740"/>
          </a:solidFill>
          <a:ln/>
        </p:spPr>
        <p:txBody>
          <a:bodyPr/>
          <a:lstStyle/>
          <a:p>
            <a:endParaRPr lang="en-US"/>
          </a:p>
        </p:txBody>
      </p:sp>
      <p:sp>
        <p:nvSpPr>
          <p:cNvPr id="14" name="Text 9"/>
          <p:cNvSpPr/>
          <p:nvPr/>
        </p:nvSpPr>
        <p:spPr>
          <a:xfrm>
            <a:off x="658368" y="3493008"/>
            <a:ext cx="457200" cy="274320"/>
          </a:xfrm>
          <a:prstGeom prst="rect">
            <a:avLst/>
          </a:prstGeom>
          <a:noFill/>
          <a:ln/>
        </p:spPr>
        <p:txBody>
          <a:bodyPr wrap="square" lIns="0" tIns="0" rIns="0" bIns="0" rtlCol="0" anchor="ctr"/>
          <a:lstStyle/>
          <a:p>
            <a:pPr marL="0" indent="0">
              <a:buNone/>
            </a:pPr>
            <a:r>
              <a:rPr lang="en-US" sz="1200" b="1" dirty="0">
                <a:solidFill>
                  <a:srgbClr val="00B0F0"/>
                </a:solidFill>
                <a:latin typeface="Arial" pitchFamily="34" charset="0"/>
                <a:ea typeface="Arial" pitchFamily="34" charset="-122"/>
                <a:cs typeface="Arial" pitchFamily="34" charset="-120"/>
              </a:rPr>
              <a:t>03</a:t>
            </a:r>
            <a:endParaRPr lang="en-US" sz="1200" dirty="0">
              <a:solidFill>
                <a:srgbClr val="00B0F0"/>
              </a:solidFill>
            </a:endParaRPr>
          </a:p>
        </p:txBody>
      </p:sp>
      <p:sp>
        <p:nvSpPr>
          <p:cNvPr id="15" name="Text 10"/>
          <p:cNvSpPr/>
          <p:nvPr/>
        </p:nvSpPr>
        <p:spPr>
          <a:xfrm>
            <a:off x="1161288" y="3474720"/>
            <a:ext cx="5120640" cy="274320"/>
          </a:xfrm>
          <a:prstGeom prst="rect">
            <a:avLst/>
          </a:prstGeom>
          <a:noFill/>
          <a:ln/>
        </p:spPr>
        <p:txBody>
          <a:bodyPr wrap="square" lIns="0" tIns="0" rIns="0" bIns="0" rtlCol="0" anchor="ctr"/>
          <a:lstStyle/>
          <a:p>
            <a:pPr marL="0" indent="0">
              <a:buNone/>
            </a:pPr>
            <a:r>
              <a:rPr lang="en-US" b="1" dirty="0">
                <a:solidFill>
                  <a:srgbClr val="FFFFFF"/>
                </a:solidFill>
                <a:latin typeface="29LT Adir" pitchFamily="34" charset="0"/>
                <a:ea typeface="29LT Adir" pitchFamily="34" charset="-122"/>
                <a:cs typeface="29LT Adir" pitchFamily="34" charset="-120"/>
              </a:rPr>
              <a:t>The Platform</a:t>
            </a:r>
            <a:endParaRPr lang="en-US" dirty="0"/>
          </a:p>
        </p:txBody>
      </p:sp>
      <p:sp>
        <p:nvSpPr>
          <p:cNvPr id="16" name="Text 11"/>
          <p:cNvSpPr/>
          <p:nvPr/>
        </p:nvSpPr>
        <p:spPr>
          <a:xfrm>
            <a:off x="1161288" y="3749040"/>
            <a:ext cx="5349240" cy="566928"/>
          </a:xfrm>
          <a:prstGeom prst="rect">
            <a:avLst/>
          </a:prstGeom>
          <a:noFill/>
          <a:ln/>
        </p:spPr>
        <p:txBody>
          <a:bodyPr wrap="square" lIns="0" tIns="0" rIns="0" bIns="0" rtlCol="0" anchor="t"/>
          <a:lstStyle/>
          <a:p>
            <a:pPr marL="0" indent="0">
              <a:lnSpc>
                <a:spcPct val="112000"/>
              </a:lnSpc>
              <a:buNone/>
            </a:pPr>
            <a:r>
              <a:rPr lang="en-US" sz="1200" dirty="0">
                <a:solidFill>
                  <a:srgbClr val="BDC5D5"/>
                </a:solidFill>
                <a:latin typeface="Arial" pitchFamily="34" charset="0"/>
                <a:ea typeface="Arial" pitchFamily="34" charset="-122"/>
                <a:cs typeface="Arial" pitchFamily="34" charset="-120"/>
              </a:rPr>
              <a:t>A spacecraft in build still accepts payload conversations. The encounter will not recur.</a:t>
            </a:r>
            <a:endParaRPr lang="en-US" sz="1200" dirty="0">
              <a:solidFill>
                <a:srgbClr val="BDC5D5"/>
              </a:solidFill>
            </a:endParaRPr>
          </a:p>
        </p:txBody>
      </p:sp>
      <p:sp>
        <p:nvSpPr>
          <p:cNvPr id="17" name="Shape 12"/>
          <p:cNvSpPr/>
          <p:nvPr/>
        </p:nvSpPr>
        <p:spPr>
          <a:xfrm>
            <a:off x="658368" y="4389120"/>
            <a:ext cx="5852160" cy="9144"/>
          </a:xfrm>
          <a:prstGeom prst="rect">
            <a:avLst/>
          </a:prstGeom>
          <a:solidFill>
            <a:srgbClr val="1E2740"/>
          </a:solidFill>
          <a:ln/>
        </p:spPr>
        <p:txBody>
          <a:bodyPr/>
          <a:lstStyle/>
          <a:p>
            <a:endParaRPr lang="en-US"/>
          </a:p>
        </p:txBody>
      </p:sp>
      <p:sp>
        <p:nvSpPr>
          <p:cNvPr id="18" name="Text 13"/>
          <p:cNvSpPr/>
          <p:nvPr/>
        </p:nvSpPr>
        <p:spPr>
          <a:xfrm>
            <a:off x="658368" y="4462272"/>
            <a:ext cx="457200" cy="274320"/>
          </a:xfrm>
          <a:prstGeom prst="rect">
            <a:avLst/>
          </a:prstGeom>
          <a:noFill/>
          <a:ln/>
        </p:spPr>
        <p:txBody>
          <a:bodyPr wrap="square" lIns="0" tIns="0" rIns="0" bIns="0" rtlCol="0" anchor="ctr"/>
          <a:lstStyle/>
          <a:p>
            <a:pPr marL="0" indent="0">
              <a:buNone/>
            </a:pPr>
            <a:r>
              <a:rPr lang="en-US" sz="1200" b="1" dirty="0">
                <a:solidFill>
                  <a:srgbClr val="00B0F0"/>
                </a:solidFill>
                <a:latin typeface="Arial" pitchFamily="34" charset="0"/>
                <a:ea typeface="Arial" pitchFamily="34" charset="-122"/>
                <a:cs typeface="Arial" pitchFamily="34" charset="-120"/>
              </a:rPr>
              <a:t>04</a:t>
            </a:r>
            <a:endParaRPr lang="en-US" sz="1200" dirty="0">
              <a:solidFill>
                <a:srgbClr val="00B0F0"/>
              </a:solidFill>
            </a:endParaRPr>
          </a:p>
        </p:txBody>
      </p:sp>
      <p:sp>
        <p:nvSpPr>
          <p:cNvPr id="19" name="Text 14"/>
          <p:cNvSpPr/>
          <p:nvPr/>
        </p:nvSpPr>
        <p:spPr>
          <a:xfrm>
            <a:off x="1161288" y="4443984"/>
            <a:ext cx="5120640" cy="274320"/>
          </a:xfrm>
          <a:prstGeom prst="rect">
            <a:avLst/>
          </a:prstGeom>
          <a:noFill/>
          <a:ln/>
        </p:spPr>
        <p:txBody>
          <a:bodyPr wrap="square" lIns="0" tIns="0" rIns="0" bIns="0" rtlCol="0" anchor="ctr"/>
          <a:lstStyle/>
          <a:p>
            <a:pPr marL="0" indent="0">
              <a:buNone/>
            </a:pPr>
            <a:r>
              <a:rPr lang="en-US" b="1" dirty="0">
                <a:solidFill>
                  <a:srgbClr val="FFFFFF"/>
                </a:solidFill>
                <a:latin typeface="29LT Adir" pitchFamily="34" charset="0"/>
                <a:ea typeface="29LT Adir" pitchFamily="34" charset="-122"/>
                <a:cs typeface="29LT Adir" pitchFamily="34" charset="-120"/>
              </a:rPr>
              <a:t>The Goal</a:t>
            </a:r>
            <a:endParaRPr lang="en-US" dirty="0"/>
          </a:p>
        </p:txBody>
      </p:sp>
      <p:sp>
        <p:nvSpPr>
          <p:cNvPr id="20" name="Text 15"/>
          <p:cNvSpPr/>
          <p:nvPr/>
        </p:nvSpPr>
        <p:spPr>
          <a:xfrm>
            <a:off x="1161288" y="4718304"/>
            <a:ext cx="5349240" cy="566928"/>
          </a:xfrm>
          <a:prstGeom prst="rect">
            <a:avLst/>
          </a:prstGeom>
          <a:noFill/>
          <a:ln/>
        </p:spPr>
        <p:txBody>
          <a:bodyPr wrap="square" lIns="0" tIns="0" rIns="0" bIns="0" rtlCol="0" anchor="t"/>
          <a:lstStyle/>
          <a:p>
            <a:pPr marL="0" indent="0">
              <a:lnSpc>
                <a:spcPct val="112000"/>
              </a:lnSpc>
              <a:buNone/>
            </a:pPr>
            <a:r>
              <a:rPr lang="en-US" sz="1200" dirty="0">
                <a:solidFill>
                  <a:srgbClr val="BDC5D5"/>
                </a:solidFill>
                <a:latin typeface="Arial" pitchFamily="34" charset="0"/>
                <a:ea typeface="Arial" pitchFamily="34" charset="-122"/>
                <a:cs typeface="Arial" pitchFamily="34" charset="-120"/>
              </a:rPr>
              <a:t>An SSA instrument converts observer status into participant status on a joint ESA–JAXA mission.</a:t>
            </a:r>
            <a:endParaRPr lang="en-US" sz="1200" dirty="0">
              <a:solidFill>
                <a:srgbClr val="BDC5D5"/>
              </a:solidFill>
            </a:endParaRPr>
          </a:p>
        </p:txBody>
      </p:sp>
      <p:sp>
        <p:nvSpPr>
          <p:cNvPr id="21" name="Shape 16"/>
          <p:cNvSpPr/>
          <p:nvPr/>
        </p:nvSpPr>
        <p:spPr>
          <a:xfrm>
            <a:off x="658368" y="5328150"/>
            <a:ext cx="5852160" cy="932688"/>
          </a:xfrm>
          <a:prstGeom prst="roundRect">
            <a:avLst>
              <a:gd name="adj" fmla="val 7843"/>
            </a:avLst>
          </a:prstGeom>
          <a:solidFill>
            <a:srgbClr val="111A2E"/>
          </a:solidFill>
          <a:ln w="9525">
            <a:solidFill>
              <a:srgbClr val="283354"/>
            </a:solidFill>
            <a:prstDash val="solid"/>
          </a:ln>
        </p:spPr>
        <p:txBody>
          <a:bodyPr/>
          <a:lstStyle/>
          <a:p>
            <a:endParaRPr lang="en-US"/>
          </a:p>
        </p:txBody>
      </p:sp>
      <p:sp>
        <p:nvSpPr>
          <p:cNvPr id="22" name="Text 17"/>
          <p:cNvSpPr/>
          <p:nvPr/>
        </p:nvSpPr>
        <p:spPr>
          <a:xfrm>
            <a:off x="914400" y="5437878"/>
            <a:ext cx="5394960" cy="256032"/>
          </a:xfrm>
          <a:prstGeom prst="rect">
            <a:avLst/>
          </a:prstGeom>
          <a:noFill/>
          <a:ln/>
        </p:spPr>
        <p:txBody>
          <a:bodyPr wrap="square" lIns="0" tIns="0" rIns="0" bIns="0" rtlCol="0" anchor="ctr"/>
          <a:lstStyle/>
          <a:p>
            <a:pPr marL="0" indent="0">
              <a:buNone/>
            </a:pPr>
            <a:r>
              <a:rPr lang="en-US" sz="1350" b="1" dirty="0">
                <a:solidFill>
                  <a:srgbClr val="00B0F0"/>
                </a:solidFill>
                <a:latin typeface="29LT Adir" pitchFamily="34" charset="0"/>
                <a:ea typeface="29LT Adir" pitchFamily="34" charset="-122"/>
                <a:cs typeface="29LT Adir" pitchFamily="34" charset="-120"/>
              </a:rPr>
              <a:t>The question is no longer whether to participate.</a:t>
            </a:r>
            <a:endParaRPr lang="en-US" sz="1350" dirty="0">
              <a:solidFill>
                <a:srgbClr val="00B0F0"/>
              </a:solidFill>
            </a:endParaRPr>
          </a:p>
        </p:txBody>
      </p:sp>
      <p:sp>
        <p:nvSpPr>
          <p:cNvPr id="23" name="Text 18"/>
          <p:cNvSpPr/>
          <p:nvPr/>
        </p:nvSpPr>
        <p:spPr>
          <a:xfrm>
            <a:off x="914400" y="5712198"/>
            <a:ext cx="5394960" cy="457200"/>
          </a:xfrm>
          <a:prstGeom prst="rect">
            <a:avLst/>
          </a:prstGeom>
          <a:noFill/>
          <a:ln/>
        </p:spPr>
        <p:txBody>
          <a:bodyPr wrap="square" lIns="0" tIns="0" rIns="0" bIns="0" rtlCol="0" anchor="t"/>
          <a:lstStyle/>
          <a:p>
            <a:pPr marL="0" indent="0">
              <a:lnSpc>
                <a:spcPct val="110000"/>
              </a:lnSpc>
              <a:buNone/>
            </a:pPr>
            <a:r>
              <a:rPr lang="en-US" sz="950" dirty="0">
                <a:solidFill>
                  <a:schemeClr val="bg1"/>
                </a:solidFill>
                <a:latin typeface="Arial" pitchFamily="34" charset="0"/>
                <a:ea typeface="Arial" pitchFamily="34" charset="-122"/>
                <a:cs typeface="Arial" pitchFamily="34" charset="-120"/>
              </a:rPr>
              <a:t>Phase 1 settled the mission. What remains is to put a specific, technically credible contribution on the table while the build phase can still accommodate it.</a:t>
            </a:r>
            <a:endParaRPr lang="en-US" sz="950" dirty="0">
              <a:solidFill>
                <a:schemeClr val="bg1"/>
              </a:solidFill>
            </a:endParaRPr>
          </a:p>
        </p:txBody>
      </p:sp>
      <p:sp>
        <p:nvSpPr>
          <p:cNvPr id="24" name="Text 19"/>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54607C"/>
                </a:solidFill>
                <a:latin typeface="Arial" pitchFamily="34" charset="0"/>
                <a:ea typeface="Arial" pitchFamily="34" charset="-122"/>
                <a:cs typeface="Arial" pitchFamily="34" charset="-120"/>
              </a:rPr>
              <a:t>1</a:t>
            </a:r>
            <a:endParaRPr lang="en-US" sz="1000" dirty="0"/>
          </a:p>
        </p:txBody>
      </p:sp>
      <p:sp>
        <p:nvSpPr>
          <p:cNvPr id="29" name="BJPseudoFooter">
            <a:extLst>
              <a:ext uri="{FF2B5EF4-FFF2-40B4-BE49-F238E27FC236}">
                <a16:creationId xmlns:a16="http://schemas.microsoft.com/office/drawing/2014/main" id="{6E2CEB2C-233E-8CAA-BA00-F30B3206EA47}"/>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Grp="1" noRot="1" noChangeAspect="1" noMove="1" noResize="1" noEditPoints="1" noAdjustHandles="1" noChangeArrowheads="1" noChangeShapeType="1" noCrop="1"/>
          </p:cNvPicPr>
          <p:nvPr/>
        </p:nvPicPr>
        <p:blipFill>
          <a:blip r:embed="rId4"/>
          <a:stretch>
            <a:fillRect/>
          </a:stretch>
        </p:blipFill>
        <p:spPr>
          <a:xfrm>
            <a:off x="0" y="-9331"/>
            <a:ext cx="12191695" cy="6858000"/>
          </a:xfrm>
          <a:prstGeom prst="rect">
            <a:avLst/>
          </a:prstGeom>
        </p:spPr>
      </p:pic>
      <p:sp>
        <p:nvSpPr>
          <p:cNvPr id="41" name="Shape 8">
            <a:extLst>
              <a:ext uri="{FF2B5EF4-FFF2-40B4-BE49-F238E27FC236}">
                <a16:creationId xmlns:a16="http://schemas.microsoft.com/office/drawing/2014/main" id="{5E49A50C-CF5F-43EC-8381-2866129041D6}"/>
              </a:ext>
            </a:extLst>
          </p:cNvPr>
          <p:cNvSpPr/>
          <p:nvPr/>
        </p:nvSpPr>
        <p:spPr>
          <a:xfrm>
            <a:off x="5337048" y="1609344"/>
            <a:ext cx="6531102" cy="4543806"/>
          </a:xfrm>
          <a:prstGeom prst="roundRect">
            <a:avLst>
              <a:gd name="adj" fmla="val 5625"/>
            </a:avLst>
          </a:prstGeom>
          <a:solidFill>
            <a:srgbClr val="FFFFFF"/>
          </a:solidFill>
          <a:ln w="19050">
            <a:solidFill>
              <a:srgbClr val="00B0F0"/>
            </a:solidFill>
            <a:prstDash val="solid"/>
          </a:ln>
          <a:effectLst>
            <a:outerShdw blurRad="50800" dist="38100" dir="8100000" algn="tr" rotWithShape="0">
              <a:prstClr val="black">
                <a:alpha val="40000"/>
              </a:prstClr>
            </a:outerShdw>
          </a:effectLst>
        </p:spPr>
        <p:txBody>
          <a:bodyPr/>
          <a:lstStyle/>
          <a:p>
            <a:pPr algn="ctr"/>
            <a:endParaRPr lang="en-US"/>
          </a:p>
        </p:txBody>
      </p:sp>
      <p:sp>
        <p:nvSpPr>
          <p:cNvPr id="4" name="Text 0"/>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13234C"/>
                </a:solidFill>
                <a:latin typeface="29LT Adir" pitchFamily="34" charset="0"/>
                <a:ea typeface="29LT Adir" pitchFamily="34" charset="-122"/>
                <a:cs typeface="29LT Adir" pitchFamily="34" charset="-120"/>
              </a:rPr>
              <a:t>Study Objective &amp; Scope</a:t>
            </a:r>
            <a:endParaRPr lang="en-US" sz="3000" dirty="0"/>
          </a:p>
        </p:txBody>
      </p:sp>
      <p:sp>
        <p:nvSpPr>
          <p:cNvPr id="5" name="Text 1"/>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The second phase of a two-part programme. The first selected the mission; this one determines the contribution.</a:t>
            </a:r>
            <a:endParaRPr lang="en-US" sz="1250" dirty="0"/>
          </a:p>
        </p:txBody>
      </p:sp>
      <p:sp>
        <p:nvSpPr>
          <p:cNvPr id="6" name="Text 2"/>
          <p:cNvSpPr/>
          <p:nvPr/>
        </p:nvSpPr>
        <p:spPr>
          <a:xfrm>
            <a:off x="658368" y="2011680"/>
            <a:ext cx="4526280" cy="219456"/>
          </a:xfrm>
          <a:prstGeom prst="rect">
            <a:avLst/>
          </a:prstGeom>
          <a:noFill/>
          <a:ln/>
        </p:spPr>
        <p:txBody>
          <a:bodyPr wrap="square" lIns="0" tIns="0" rIns="0" bIns="0" rtlCol="0" anchor="ctr"/>
          <a:lstStyle/>
          <a:p>
            <a:pPr marL="0" indent="0">
              <a:buNone/>
            </a:pPr>
            <a:r>
              <a:rPr lang="en-US" sz="900" b="1" kern="0" spc="200" dirty="0">
                <a:solidFill>
                  <a:srgbClr val="6B7488"/>
                </a:solidFill>
                <a:latin typeface="Arial" pitchFamily="34" charset="0"/>
                <a:ea typeface="Arial" pitchFamily="34" charset="-122"/>
                <a:cs typeface="Arial" pitchFamily="34" charset="-120"/>
              </a:rPr>
              <a:t>WHERE THIS STUDY SITS</a:t>
            </a:r>
            <a:endParaRPr lang="en-US" sz="900" dirty="0"/>
          </a:p>
        </p:txBody>
      </p:sp>
      <p:sp>
        <p:nvSpPr>
          <p:cNvPr id="7" name="Shape 3"/>
          <p:cNvSpPr>
            <a:spLocks noGrp="1" noRot="1" noMove="1" noResize="1" noEditPoints="1" noAdjustHandles="1" noChangeArrowheads="1" noChangeShapeType="1"/>
          </p:cNvSpPr>
          <p:nvPr/>
        </p:nvSpPr>
        <p:spPr>
          <a:xfrm>
            <a:off x="550926" y="2340864"/>
            <a:ext cx="3988689" cy="1463040"/>
          </a:xfrm>
          <a:prstGeom prst="roundRect">
            <a:avLst>
              <a:gd name="adj" fmla="val 5625"/>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pPr algn="ctr"/>
            <a:endParaRPr lang="en-US"/>
          </a:p>
        </p:txBody>
      </p:sp>
      <p:sp>
        <p:nvSpPr>
          <p:cNvPr id="8" name="Text 4"/>
          <p:cNvSpPr/>
          <p:nvPr/>
        </p:nvSpPr>
        <p:spPr>
          <a:xfrm>
            <a:off x="522351" y="2560320"/>
            <a:ext cx="3941064" cy="201168"/>
          </a:xfrm>
          <a:prstGeom prst="rect">
            <a:avLst/>
          </a:prstGeom>
          <a:noFill/>
          <a:ln/>
        </p:spPr>
        <p:txBody>
          <a:bodyPr wrap="square" lIns="0" tIns="0" rIns="0" bIns="0" rtlCol="0" anchor="ctr"/>
          <a:lstStyle/>
          <a:p>
            <a:pPr marL="0" indent="0" algn="ctr">
              <a:buNone/>
            </a:pPr>
            <a:r>
              <a:rPr lang="en-US" sz="850" b="1" kern="0" spc="180" dirty="0">
                <a:solidFill>
                  <a:srgbClr val="6B7488"/>
                </a:solidFill>
                <a:latin typeface="Arial" pitchFamily="34" charset="0"/>
                <a:ea typeface="Arial" pitchFamily="34" charset="-122"/>
                <a:cs typeface="Arial" pitchFamily="34" charset="-120"/>
              </a:rPr>
              <a:t>PHASE 1 — COMPLETED</a:t>
            </a:r>
            <a:endParaRPr lang="en-US" sz="850" dirty="0"/>
          </a:p>
        </p:txBody>
      </p:sp>
      <p:sp>
        <p:nvSpPr>
          <p:cNvPr id="9" name="Text 5"/>
          <p:cNvSpPr/>
          <p:nvPr/>
        </p:nvSpPr>
        <p:spPr>
          <a:xfrm>
            <a:off x="531876" y="2798064"/>
            <a:ext cx="3941064" cy="329184"/>
          </a:xfrm>
          <a:prstGeom prst="rect">
            <a:avLst/>
          </a:prstGeom>
          <a:noFill/>
          <a:ln/>
        </p:spPr>
        <p:txBody>
          <a:bodyPr wrap="square" lIns="0" tIns="0" rIns="0" bIns="0" rtlCol="0" anchor="ctr"/>
          <a:lstStyle/>
          <a:p>
            <a:pPr marL="0" indent="0" algn="ctr">
              <a:buNone/>
            </a:pPr>
            <a:r>
              <a:rPr lang="en-US" sz="1800" b="1" dirty="0">
                <a:solidFill>
                  <a:srgbClr val="13234C"/>
                </a:solidFill>
                <a:latin typeface="29LT Adir" pitchFamily="34" charset="0"/>
                <a:ea typeface="29LT Adir" pitchFamily="34" charset="-122"/>
                <a:cs typeface="29LT Adir" pitchFamily="34" charset="-120"/>
              </a:rPr>
              <a:t>Asteroid Mission Study</a:t>
            </a:r>
            <a:endParaRPr lang="en-US" sz="1800" dirty="0"/>
          </a:p>
        </p:txBody>
      </p:sp>
      <p:sp>
        <p:nvSpPr>
          <p:cNvPr id="10" name="Text 6"/>
          <p:cNvSpPr/>
          <p:nvPr/>
        </p:nvSpPr>
        <p:spPr>
          <a:xfrm>
            <a:off x="579501" y="3200400"/>
            <a:ext cx="3941064" cy="457200"/>
          </a:xfrm>
          <a:prstGeom prst="rect">
            <a:avLst/>
          </a:prstGeom>
          <a:noFill/>
          <a:ln/>
        </p:spPr>
        <p:txBody>
          <a:bodyPr wrap="square" lIns="0" tIns="0" rIns="0" bIns="0" rtlCol="0" anchor="t"/>
          <a:lstStyle/>
          <a:p>
            <a:pPr marL="0" indent="0" algn="ctr">
              <a:lnSpc>
                <a:spcPct val="112000"/>
              </a:lnSpc>
              <a:buNone/>
            </a:pPr>
            <a:r>
              <a:rPr lang="en-US" sz="1050" dirty="0">
                <a:solidFill>
                  <a:srgbClr val="151B29"/>
                </a:solidFill>
                <a:latin typeface="Arial" pitchFamily="34" charset="0"/>
                <a:ea typeface="Arial" pitchFamily="34" charset="-122"/>
                <a:cs typeface="Arial" pitchFamily="34" charset="-120"/>
              </a:rPr>
              <a:t>11 missions benchmarked  → 2 prioritized → RAMSES selected.</a:t>
            </a:r>
            <a:endParaRPr lang="en-US" sz="1050" dirty="0"/>
          </a:p>
        </p:txBody>
      </p:sp>
      <p:sp>
        <p:nvSpPr>
          <p:cNvPr id="11" name="Shape 7"/>
          <p:cNvSpPr/>
          <p:nvPr/>
        </p:nvSpPr>
        <p:spPr>
          <a:xfrm>
            <a:off x="2363724" y="3931920"/>
            <a:ext cx="201168" cy="237744"/>
          </a:xfrm>
          <a:prstGeom prst="downArrow">
            <a:avLst/>
          </a:prstGeom>
          <a:solidFill>
            <a:srgbClr val="C3CBDA"/>
          </a:solidFill>
          <a:ln/>
        </p:spPr>
        <p:txBody>
          <a:bodyPr/>
          <a:lstStyle/>
          <a:p>
            <a:pPr algn="ctr"/>
            <a:endParaRPr lang="en-US"/>
          </a:p>
        </p:txBody>
      </p:sp>
      <p:sp>
        <p:nvSpPr>
          <p:cNvPr id="12" name="Shape 8"/>
          <p:cNvSpPr>
            <a:spLocks/>
          </p:cNvSpPr>
          <p:nvPr/>
        </p:nvSpPr>
        <p:spPr>
          <a:xfrm>
            <a:off x="516638" y="4315968"/>
            <a:ext cx="3988688" cy="1463040"/>
          </a:xfrm>
          <a:prstGeom prst="roundRect">
            <a:avLst>
              <a:gd name="adj" fmla="val 5625"/>
            </a:avLst>
          </a:prstGeom>
          <a:solidFill>
            <a:srgbClr val="FFFFFF"/>
          </a:solidFill>
          <a:ln w="19050">
            <a:solidFill>
              <a:srgbClr val="00B0F0"/>
            </a:solidFill>
            <a:prstDash val="solid"/>
          </a:ln>
          <a:effectLst>
            <a:outerShdw blurRad="50800" dist="38100" dir="8100000" algn="tr" rotWithShape="0">
              <a:prstClr val="black">
                <a:alpha val="40000"/>
              </a:prstClr>
            </a:outerShdw>
          </a:effectLst>
        </p:spPr>
        <p:txBody>
          <a:bodyPr/>
          <a:lstStyle/>
          <a:p>
            <a:pPr algn="ctr"/>
            <a:endParaRPr lang="en-US"/>
          </a:p>
        </p:txBody>
      </p:sp>
      <p:sp>
        <p:nvSpPr>
          <p:cNvPr id="13" name="Text 9"/>
          <p:cNvSpPr/>
          <p:nvPr/>
        </p:nvSpPr>
        <p:spPr>
          <a:xfrm>
            <a:off x="493776" y="4535424"/>
            <a:ext cx="3941064" cy="201168"/>
          </a:xfrm>
          <a:prstGeom prst="rect">
            <a:avLst/>
          </a:prstGeom>
          <a:noFill/>
          <a:ln/>
        </p:spPr>
        <p:txBody>
          <a:bodyPr wrap="square" lIns="0" tIns="0" rIns="0" bIns="0" rtlCol="0" anchor="ctr"/>
          <a:lstStyle/>
          <a:p>
            <a:pPr marL="0" indent="0" algn="ctr">
              <a:buNone/>
            </a:pPr>
            <a:r>
              <a:rPr lang="en-US" sz="850" b="1" kern="0" spc="180" dirty="0">
                <a:solidFill>
                  <a:srgbClr val="A8791F"/>
                </a:solidFill>
                <a:latin typeface="Arial" pitchFamily="34" charset="0"/>
                <a:ea typeface="Arial" pitchFamily="34" charset="-122"/>
                <a:cs typeface="Arial" pitchFamily="34" charset="-120"/>
              </a:rPr>
              <a:t>PHASE 2 — THIS STUDY</a:t>
            </a:r>
            <a:endParaRPr lang="en-US" sz="850" dirty="0"/>
          </a:p>
        </p:txBody>
      </p:sp>
      <p:sp>
        <p:nvSpPr>
          <p:cNvPr id="14" name="Text 10"/>
          <p:cNvSpPr/>
          <p:nvPr/>
        </p:nvSpPr>
        <p:spPr>
          <a:xfrm>
            <a:off x="493776" y="4773168"/>
            <a:ext cx="3941064" cy="329184"/>
          </a:xfrm>
          <a:prstGeom prst="rect">
            <a:avLst/>
          </a:prstGeom>
          <a:noFill/>
          <a:ln/>
        </p:spPr>
        <p:txBody>
          <a:bodyPr wrap="square" lIns="0" tIns="0" rIns="0" bIns="0" rtlCol="0" anchor="ctr"/>
          <a:lstStyle/>
          <a:p>
            <a:pPr marL="0" indent="0" algn="ctr">
              <a:buNone/>
            </a:pPr>
            <a:r>
              <a:rPr lang="en-US" sz="1800" b="1" dirty="0">
                <a:solidFill>
                  <a:srgbClr val="13234C"/>
                </a:solidFill>
                <a:latin typeface="29LT Adir" pitchFamily="34" charset="0"/>
                <a:ea typeface="29LT Adir" pitchFamily="34" charset="-122"/>
                <a:cs typeface="29LT Adir" pitchFamily="34" charset="-120"/>
              </a:rPr>
              <a:t>Payload Study</a:t>
            </a:r>
            <a:endParaRPr lang="en-US" sz="1800" dirty="0"/>
          </a:p>
        </p:txBody>
      </p:sp>
      <p:sp>
        <p:nvSpPr>
          <p:cNvPr id="15" name="Text 11"/>
          <p:cNvSpPr/>
          <p:nvPr/>
        </p:nvSpPr>
        <p:spPr>
          <a:xfrm>
            <a:off x="493776" y="5175504"/>
            <a:ext cx="3941064" cy="365760"/>
          </a:xfrm>
          <a:prstGeom prst="rect">
            <a:avLst/>
          </a:prstGeom>
          <a:noFill/>
          <a:ln/>
        </p:spPr>
        <p:txBody>
          <a:bodyPr wrap="square" lIns="0" tIns="0" rIns="0" bIns="0" rtlCol="0" anchor="t"/>
          <a:lstStyle/>
          <a:p>
            <a:pPr marL="0" indent="0" algn="ctr">
              <a:buNone/>
            </a:pPr>
            <a:r>
              <a:rPr lang="en-US" sz="1050" dirty="0">
                <a:solidFill>
                  <a:srgbClr val="151B29"/>
                </a:solidFill>
                <a:latin typeface="Arial" pitchFamily="34" charset="0"/>
                <a:ea typeface="Arial" pitchFamily="34" charset="-122"/>
                <a:cs typeface="Arial" pitchFamily="34" charset="-120"/>
              </a:rPr>
              <a:t>What does SSA put on the mission?</a:t>
            </a:r>
            <a:endParaRPr lang="en-US" sz="1050" dirty="0"/>
          </a:p>
        </p:txBody>
      </p:sp>
      <p:sp>
        <p:nvSpPr>
          <p:cNvPr id="16" name="Text 12"/>
          <p:cNvSpPr/>
          <p:nvPr/>
        </p:nvSpPr>
        <p:spPr>
          <a:xfrm>
            <a:off x="5623560" y="2011680"/>
            <a:ext cx="5897880" cy="219456"/>
          </a:xfrm>
          <a:prstGeom prst="rect">
            <a:avLst/>
          </a:prstGeom>
          <a:noFill/>
          <a:ln/>
        </p:spPr>
        <p:txBody>
          <a:bodyPr wrap="square" lIns="0" tIns="0" rIns="0" bIns="0" rtlCol="0" anchor="ctr"/>
          <a:lstStyle/>
          <a:p>
            <a:pPr marL="0" indent="0">
              <a:buNone/>
            </a:pPr>
            <a:r>
              <a:rPr lang="en-US" sz="1000" b="1" kern="0" spc="200" dirty="0">
                <a:solidFill>
                  <a:srgbClr val="00B0F0"/>
                </a:solidFill>
                <a:latin typeface="Arial" pitchFamily="34" charset="0"/>
                <a:ea typeface="Arial" pitchFamily="34" charset="-122"/>
                <a:cs typeface="Arial" pitchFamily="34" charset="-120"/>
              </a:rPr>
              <a:t>OBJECTIVE</a:t>
            </a:r>
            <a:endParaRPr lang="en-US" sz="1000" dirty="0">
              <a:solidFill>
                <a:srgbClr val="00B0F0"/>
              </a:solidFill>
            </a:endParaRPr>
          </a:p>
        </p:txBody>
      </p:sp>
      <p:sp>
        <p:nvSpPr>
          <p:cNvPr id="17" name="Shape 13"/>
          <p:cNvSpPr/>
          <p:nvPr/>
        </p:nvSpPr>
        <p:spPr>
          <a:xfrm>
            <a:off x="5623560" y="2340864"/>
            <a:ext cx="5897880" cy="1463040"/>
          </a:xfrm>
          <a:prstGeom prst="roundRect">
            <a:avLst>
              <a:gd name="adj" fmla="val 5000"/>
            </a:avLst>
          </a:prstGeom>
          <a:solidFill>
            <a:srgbClr val="101E42"/>
          </a:solidFill>
          <a:ln/>
        </p:spPr>
        <p:txBody>
          <a:bodyPr/>
          <a:lstStyle/>
          <a:p>
            <a:endParaRPr lang="en-US"/>
          </a:p>
        </p:txBody>
      </p:sp>
      <p:sp>
        <p:nvSpPr>
          <p:cNvPr id="18" name="Text 14"/>
          <p:cNvSpPr/>
          <p:nvPr/>
        </p:nvSpPr>
        <p:spPr>
          <a:xfrm>
            <a:off x="5934456" y="2340864"/>
            <a:ext cx="5276088" cy="1463040"/>
          </a:xfrm>
          <a:prstGeom prst="rect">
            <a:avLst/>
          </a:prstGeom>
          <a:noFill/>
          <a:ln/>
        </p:spPr>
        <p:txBody>
          <a:bodyPr wrap="square" lIns="0" tIns="0" rIns="0" bIns="0" rtlCol="0" anchor="ctr"/>
          <a:lstStyle/>
          <a:p>
            <a:pPr marL="0" indent="0">
              <a:lnSpc>
                <a:spcPct val="124000"/>
              </a:lnSpc>
              <a:buNone/>
            </a:pPr>
            <a:r>
              <a:rPr lang="en-US" sz="1200" dirty="0">
                <a:solidFill>
                  <a:srgbClr val="E7ECF7"/>
                </a:solidFill>
                <a:latin typeface="Arial" pitchFamily="34" charset="0"/>
                <a:ea typeface="Arial" pitchFamily="34" charset="-122"/>
                <a:cs typeface="Arial" pitchFamily="34" charset="-120"/>
              </a:rPr>
              <a:t>Identify the single measurement opportunity where an additional national payload would most increase the scientific return of RAMSES and carry it to a named instrument and a named route to obtaining it.</a:t>
            </a:r>
            <a:endParaRPr lang="en-US" sz="1200" dirty="0"/>
          </a:p>
        </p:txBody>
      </p:sp>
      <p:sp>
        <p:nvSpPr>
          <p:cNvPr id="19" name="Text 15"/>
          <p:cNvSpPr/>
          <p:nvPr/>
        </p:nvSpPr>
        <p:spPr>
          <a:xfrm>
            <a:off x="5623560" y="3986784"/>
            <a:ext cx="5897880" cy="219456"/>
          </a:xfrm>
          <a:prstGeom prst="rect">
            <a:avLst/>
          </a:prstGeom>
          <a:noFill/>
          <a:ln/>
        </p:spPr>
        <p:txBody>
          <a:bodyPr wrap="square" lIns="0" tIns="0" rIns="0" bIns="0" rtlCol="0" anchor="ctr"/>
          <a:lstStyle/>
          <a:p>
            <a:pPr marL="0" indent="0">
              <a:buNone/>
            </a:pPr>
            <a:r>
              <a:rPr lang="en-US" sz="1000" b="1" kern="0" spc="200" dirty="0">
                <a:solidFill>
                  <a:srgbClr val="00B0F0"/>
                </a:solidFill>
                <a:latin typeface="Arial" pitchFamily="34" charset="0"/>
                <a:ea typeface="Arial" pitchFamily="34" charset="-122"/>
                <a:cs typeface="Arial" pitchFamily="34" charset="-120"/>
              </a:rPr>
              <a:t>SCOPE BOUNDARIES</a:t>
            </a:r>
            <a:endParaRPr lang="en-US" sz="1000" dirty="0">
              <a:solidFill>
                <a:srgbClr val="00B0F0"/>
              </a:solidFill>
            </a:endParaRPr>
          </a:p>
        </p:txBody>
      </p:sp>
      <p:sp>
        <p:nvSpPr>
          <p:cNvPr id="20" name="Shape 16"/>
          <p:cNvSpPr/>
          <p:nvPr/>
        </p:nvSpPr>
        <p:spPr>
          <a:xfrm>
            <a:off x="5623560" y="4315968"/>
            <a:ext cx="5897880" cy="1463040"/>
          </a:xfrm>
          <a:prstGeom prst="roundRect">
            <a:avLst>
              <a:gd name="adj" fmla="val 5625"/>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21" name="Shape 17"/>
          <p:cNvSpPr/>
          <p:nvPr/>
        </p:nvSpPr>
        <p:spPr>
          <a:xfrm>
            <a:off x="5934456" y="4604004"/>
            <a:ext cx="68580" cy="68580"/>
          </a:xfrm>
          <a:prstGeom prst="ellipse">
            <a:avLst/>
          </a:prstGeom>
          <a:solidFill>
            <a:srgbClr val="E8A33D"/>
          </a:solidFill>
          <a:ln/>
        </p:spPr>
        <p:txBody>
          <a:bodyPr/>
          <a:lstStyle/>
          <a:p>
            <a:endParaRPr lang="en-US"/>
          </a:p>
        </p:txBody>
      </p:sp>
      <p:sp>
        <p:nvSpPr>
          <p:cNvPr id="22" name="Text 18"/>
          <p:cNvSpPr/>
          <p:nvPr/>
        </p:nvSpPr>
        <p:spPr>
          <a:xfrm>
            <a:off x="6135624" y="4498848"/>
            <a:ext cx="5056632" cy="365760"/>
          </a:xfrm>
          <a:prstGeom prst="rect">
            <a:avLst/>
          </a:prstGeom>
          <a:noFill/>
          <a:ln/>
        </p:spPr>
        <p:txBody>
          <a:bodyPr wrap="square" lIns="0" tIns="0" rIns="0" bIns="0" rtlCol="0" anchor="t"/>
          <a:lstStyle/>
          <a:p>
            <a:pPr marL="0" indent="0">
              <a:lnSpc>
                <a:spcPct val="108000"/>
              </a:lnSpc>
              <a:buNone/>
            </a:pPr>
            <a:r>
              <a:rPr lang="en-US" sz="1050" dirty="0">
                <a:solidFill>
                  <a:srgbClr val="151B29"/>
                </a:solidFill>
                <a:latin typeface="Arial" pitchFamily="34" charset="0"/>
                <a:ea typeface="Arial" pitchFamily="34" charset="-122"/>
                <a:cs typeface="Arial" pitchFamily="34" charset="-120"/>
              </a:rPr>
              <a:t>Confirmed payload by ESA only.</a:t>
            </a:r>
            <a:endParaRPr lang="en-US" sz="1050" dirty="0"/>
          </a:p>
        </p:txBody>
      </p:sp>
      <p:sp>
        <p:nvSpPr>
          <p:cNvPr id="23" name="Shape 19"/>
          <p:cNvSpPr/>
          <p:nvPr/>
        </p:nvSpPr>
        <p:spPr>
          <a:xfrm>
            <a:off x="5934456" y="5006340"/>
            <a:ext cx="68580" cy="68580"/>
          </a:xfrm>
          <a:prstGeom prst="ellipse">
            <a:avLst/>
          </a:prstGeom>
          <a:solidFill>
            <a:srgbClr val="E8A33D"/>
          </a:solidFill>
          <a:ln/>
        </p:spPr>
        <p:txBody>
          <a:bodyPr/>
          <a:lstStyle/>
          <a:p>
            <a:endParaRPr lang="en-US"/>
          </a:p>
        </p:txBody>
      </p:sp>
      <p:sp>
        <p:nvSpPr>
          <p:cNvPr id="24" name="Text 20"/>
          <p:cNvSpPr/>
          <p:nvPr/>
        </p:nvSpPr>
        <p:spPr>
          <a:xfrm>
            <a:off x="6135624" y="4901184"/>
            <a:ext cx="5056632" cy="365760"/>
          </a:xfrm>
          <a:prstGeom prst="rect">
            <a:avLst/>
          </a:prstGeom>
          <a:noFill/>
          <a:ln/>
        </p:spPr>
        <p:txBody>
          <a:bodyPr wrap="square" lIns="0" tIns="0" rIns="0" bIns="0" rtlCol="0" anchor="t"/>
          <a:lstStyle/>
          <a:p>
            <a:pPr marL="0" indent="0">
              <a:lnSpc>
                <a:spcPct val="108000"/>
              </a:lnSpc>
              <a:buNone/>
            </a:pPr>
            <a:r>
              <a:rPr lang="en-US" sz="1050" dirty="0">
                <a:solidFill>
                  <a:srgbClr val="151B29"/>
                </a:solidFill>
                <a:latin typeface="Arial" pitchFamily="34" charset="0"/>
                <a:ea typeface="Arial" pitchFamily="34" charset="-122"/>
                <a:cs typeface="Arial" pitchFamily="34" charset="-120"/>
              </a:rPr>
              <a:t>Must fit the existing architecture: no new spacecraft, stage or surface asset.</a:t>
            </a:r>
            <a:endParaRPr lang="en-US" sz="1050" dirty="0"/>
          </a:p>
        </p:txBody>
      </p:sp>
      <p:sp>
        <p:nvSpPr>
          <p:cNvPr id="25" name="Shape 21"/>
          <p:cNvSpPr/>
          <p:nvPr/>
        </p:nvSpPr>
        <p:spPr>
          <a:xfrm>
            <a:off x="5934456" y="5408676"/>
            <a:ext cx="68580" cy="68580"/>
          </a:xfrm>
          <a:prstGeom prst="ellipse">
            <a:avLst/>
          </a:prstGeom>
          <a:solidFill>
            <a:srgbClr val="E8A33D"/>
          </a:solidFill>
          <a:ln/>
        </p:spPr>
        <p:txBody>
          <a:bodyPr/>
          <a:lstStyle/>
          <a:p>
            <a:endParaRPr lang="en-US"/>
          </a:p>
        </p:txBody>
      </p:sp>
      <p:sp>
        <p:nvSpPr>
          <p:cNvPr id="26" name="Text 22"/>
          <p:cNvSpPr/>
          <p:nvPr/>
        </p:nvSpPr>
        <p:spPr>
          <a:xfrm>
            <a:off x="6135624" y="5303520"/>
            <a:ext cx="5056632" cy="365760"/>
          </a:xfrm>
          <a:prstGeom prst="rect">
            <a:avLst/>
          </a:prstGeom>
          <a:noFill/>
          <a:ln/>
        </p:spPr>
        <p:txBody>
          <a:bodyPr wrap="square" lIns="0" tIns="0" rIns="0" bIns="0" rtlCol="0" anchor="t"/>
          <a:lstStyle/>
          <a:p>
            <a:pPr marL="0" indent="0">
              <a:lnSpc>
                <a:spcPct val="108000"/>
              </a:lnSpc>
              <a:buNone/>
            </a:pPr>
            <a:r>
              <a:rPr lang="en-US" sz="1050" dirty="0">
                <a:solidFill>
                  <a:srgbClr val="151B29"/>
                </a:solidFill>
                <a:latin typeface="Arial" pitchFamily="34" charset="0"/>
                <a:ea typeface="Arial" pitchFamily="34" charset="-122"/>
                <a:cs typeface="Arial" pitchFamily="34" charset="-120"/>
              </a:rPr>
              <a:t>Methodology self-contained; heritage missions are context, not evidence.</a:t>
            </a:r>
            <a:endParaRPr lang="en-US" sz="1050" dirty="0"/>
          </a:p>
        </p:txBody>
      </p:sp>
      <p:sp>
        <p:nvSpPr>
          <p:cNvPr id="27" name="Text 23"/>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AAB2C2"/>
                </a:solidFill>
                <a:latin typeface="Arial" pitchFamily="34" charset="0"/>
                <a:ea typeface="Arial" pitchFamily="34" charset="-122"/>
                <a:cs typeface="Arial" pitchFamily="34" charset="-120"/>
              </a:rPr>
              <a:t>2</a:t>
            </a:r>
            <a:endParaRPr lang="en-US" sz="1000" dirty="0"/>
          </a:p>
        </p:txBody>
      </p:sp>
      <p:pic>
        <p:nvPicPr>
          <p:cNvPr id="40" name="Image 1" descr="/home/claude/work/a2/logo_dark.png">
            <a:extLst>
              <a:ext uri="{FF2B5EF4-FFF2-40B4-BE49-F238E27FC236}">
                <a16:creationId xmlns:a16="http://schemas.microsoft.com/office/drawing/2014/main" id="{00747E07-8C3A-46F2-2619-0A15FF4D9E5C}"/>
              </a:ext>
            </a:extLst>
          </p:cNvPr>
          <p:cNvPicPr>
            <a:picLocks noChangeAspect="1"/>
          </p:cNvPicPr>
          <p:nvPr/>
        </p:nvPicPr>
        <p:blipFill>
          <a:blip r:embed="rId5"/>
          <a:stretch>
            <a:fillRect/>
          </a:stretch>
        </p:blipFill>
        <p:spPr>
          <a:xfrm>
            <a:off x="10616340" y="122984"/>
            <a:ext cx="1450538" cy="814736"/>
          </a:xfrm>
          <a:prstGeom prst="rect">
            <a:avLst/>
          </a:prstGeom>
        </p:spPr>
      </p:pic>
      <p:cxnSp>
        <p:nvCxnSpPr>
          <p:cNvPr id="43" name="Straight Connector 42">
            <a:extLst>
              <a:ext uri="{FF2B5EF4-FFF2-40B4-BE49-F238E27FC236}">
                <a16:creationId xmlns:a16="http://schemas.microsoft.com/office/drawing/2014/main" id="{C6136184-1B03-AAEE-BBBC-6F006B7E0C97}"/>
              </a:ext>
            </a:extLst>
          </p:cNvPr>
          <p:cNvCxnSpPr>
            <a:cxnSpLocks/>
            <a:stCxn id="12" idx="3"/>
          </p:cNvCxnSpPr>
          <p:nvPr/>
        </p:nvCxnSpPr>
        <p:spPr>
          <a:xfrm flipV="1">
            <a:off x="4505326" y="2085975"/>
            <a:ext cx="831722" cy="296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4" name="Straight Connector 43">
            <a:extLst>
              <a:ext uri="{FF2B5EF4-FFF2-40B4-BE49-F238E27FC236}">
                <a16:creationId xmlns:a16="http://schemas.microsoft.com/office/drawing/2014/main" id="{31ECEE06-4211-0F36-E42C-36E1759FF978}"/>
              </a:ext>
            </a:extLst>
          </p:cNvPr>
          <p:cNvCxnSpPr>
            <a:cxnSpLocks/>
            <a:stCxn id="12" idx="3"/>
          </p:cNvCxnSpPr>
          <p:nvPr/>
        </p:nvCxnSpPr>
        <p:spPr>
          <a:xfrm>
            <a:off x="4505326" y="5047488"/>
            <a:ext cx="831722" cy="49377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54" name="BJPseudoFooter">
            <a:extLst>
              <a:ext uri="{FF2B5EF4-FFF2-40B4-BE49-F238E27FC236}">
                <a16:creationId xmlns:a16="http://schemas.microsoft.com/office/drawing/2014/main" id="{3F672B53-B9F3-F2BA-76DD-20201E53ED0F}"/>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ChangeAspect="1"/>
          </p:cNvPicPr>
          <p:nvPr/>
        </p:nvPicPr>
        <p:blipFill>
          <a:blip r:embed="rId4"/>
          <a:stretch>
            <a:fillRect/>
          </a:stretch>
        </p:blipFill>
        <p:spPr>
          <a:xfrm>
            <a:off x="0" y="-8878"/>
            <a:ext cx="12191695" cy="6858000"/>
          </a:xfrm>
          <a:prstGeom prst="rect">
            <a:avLst/>
          </a:prstGeom>
        </p:spPr>
      </p:pic>
      <p:sp>
        <p:nvSpPr>
          <p:cNvPr id="4" name="Text 0"/>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13234C"/>
                </a:solidFill>
                <a:latin typeface="29LT Adir" pitchFamily="34" charset="0"/>
                <a:ea typeface="29LT Adir" pitchFamily="34" charset="-122"/>
                <a:cs typeface="29LT Adir" pitchFamily="34" charset="-120"/>
              </a:rPr>
              <a:t>RAMSES Mission Overview</a:t>
            </a:r>
            <a:endParaRPr lang="en-US" sz="3000" dirty="0"/>
          </a:p>
        </p:txBody>
      </p:sp>
      <p:sp>
        <p:nvSpPr>
          <p:cNvPr id="5" name="Text 1"/>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Rapid Apophis Mission for Space Safety , joint ESA–JAXA planetary defence mission.</a:t>
            </a:r>
            <a:endParaRPr lang="en-US" sz="1250" dirty="0"/>
          </a:p>
        </p:txBody>
      </p:sp>
      <p:sp>
        <p:nvSpPr>
          <p:cNvPr id="6" name="Text 2"/>
          <p:cNvSpPr/>
          <p:nvPr/>
        </p:nvSpPr>
        <p:spPr>
          <a:xfrm>
            <a:off x="658368" y="1664208"/>
            <a:ext cx="4617720" cy="219456"/>
          </a:xfrm>
          <a:prstGeom prst="rect">
            <a:avLst/>
          </a:prstGeom>
          <a:noFill/>
          <a:ln/>
        </p:spPr>
        <p:txBody>
          <a:bodyPr wrap="square" lIns="0" tIns="0" rIns="0" bIns="0" rtlCol="0" anchor="ctr"/>
          <a:lstStyle/>
          <a:p>
            <a:pPr marL="0" indent="0">
              <a:buNone/>
            </a:pPr>
            <a:r>
              <a:rPr lang="en-US" sz="900" b="1" kern="0" spc="200" dirty="0">
                <a:solidFill>
                  <a:srgbClr val="00B0F0"/>
                </a:solidFill>
                <a:latin typeface="Arial" pitchFamily="34" charset="0"/>
                <a:ea typeface="Arial" pitchFamily="34" charset="-122"/>
                <a:cs typeface="Arial" pitchFamily="34" charset="-120"/>
              </a:rPr>
              <a:t>TARGET &amp; TIMELINE</a:t>
            </a:r>
            <a:endParaRPr lang="en-US" sz="900" dirty="0">
              <a:solidFill>
                <a:srgbClr val="00B0F0"/>
              </a:solidFill>
            </a:endParaRPr>
          </a:p>
        </p:txBody>
      </p:sp>
      <p:sp>
        <p:nvSpPr>
          <p:cNvPr id="7" name="Shape 3"/>
          <p:cNvSpPr/>
          <p:nvPr/>
        </p:nvSpPr>
        <p:spPr>
          <a:xfrm>
            <a:off x="658368" y="1975104"/>
            <a:ext cx="4617720" cy="2395728"/>
          </a:xfrm>
          <a:prstGeom prst="roundRect">
            <a:avLst>
              <a:gd name="adj" fmla="val 3435"/>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8" name="Text 4"/>
          <p:cNvSpPr/>
          <p:nvPr/>
        </p:nvSpPr>
        <p:spPr>
          <a:xfrm>
            <a:off x="950976" y="2157984"/>
            <a:ext cx="1234440" cy="274320"/>
          </a:xfrm>
          <a:prstGeom prst="rect">
            <a:avLst/>
          </a:prstGeom>
          <a:noFill/>
          <a:ln/>
        </p:spPr>
        <p:txBody>
          <a:bodyPr wrap="square" lIns="0" tIns="0" rIns="0" bIns="0" rtlCol="0" anchor="ctr"/>
          <a:lstStyle/>
          <a:p>
            <a:pPr marL="0" indent="0">
              <a:buNone/>
            </a:pPr>
            <a:r>
              <a:rPr lang="en-US" sz="1000" dirty="0">
                <a:solidFill>
                  <a:srgbClr val="6B7488"/>
                </a:solidFill>
                <a:latin typeface="Arial" pitchFamily="34" charset="0"/>
                <a:ea typeface="Arial" pitchFamily="34" charset="-122"/>
                <a:cs typeface="Arial" pitchFamily="34" charset="-120"/>
              </a:rPr>
              <a:t>Designation</a:t>
            </a:r>
            <a:endParaRPr lang="en-US" sz="1000" dirty="0"/>
          </a:p>
        </p:txBody>
      </p:sp>
      <p:sp>
        <p:nvSpPr>
          <p:cNvPr id="9" name="Text 5"/>
          <p:cNvSpPr/>
          <p:nvPr/>
        </p:nvSpPr>
        <p:spPr>
          <a:xfrm>
            <a:off x="2231136" y="2157984"/>
            <a:ext cx="2743200" cy="274320"/>
          </a:xfrm>
          <a:prstGeom prst="rect">
            <a:avLst/>
          </a:prstGeom>
          <a:noFill/>
          <a:ln/>
        </p:spPr>
        <p:txBody>
          <a:bodyPr wrap="square" lIns="0" tIns="0" rIns="0" bIns="0" rtlCol="0" anchor="ctr"/>
          <a:lstStyle/>
          <a:p>
            <a:pPr marL="0" indent="0">
              <a:buNone/>
            </a:pPr>
            <a:r>
              <a:rPr lang="en-US" sz="1050" b="1" dirty="0">
                <a:solidFill>
                  <a:srgbClr val="151B29"/>
                </a:solidFill>
                <a:latin typeface="Arial" pitchFamily="34" charset="0"/>
                <a:ea typeface="Arial" pitchFamily="34" charset="-122"/>
                <a:cs typeface="Arial" pitchFamily="34" charset="-120"/>
              </a:rPr>
              <a:t>Asteroid (99942) Apophis</a:t>
            </a:r>
            <a:endParaRPr lang="en-US" sz="1050" dirty="0"/>
          </a:p>
        </p:txBody>
      </p:sp>
      <p:sp>
        <p:nvSpPr>
          <p:cNvPr id="10" name="Shape 6"/>
          <p:cNvSpPr/>
          <p:nvPr/>
        </p:nvSpPr>
        <p:spPr>
          <a:xfrm>
            <a:off x="950976" y="2459736"/>
            <a:ext cx="4032504" cy="9144"/>
          </a:xfrm>
          <a:prstGeom prst="rect">
            <a:avLst/>
          </a:prstGeom>
          <a:solidFill>
            <a:srgbClr val="EBEEF4"/>
          </a:solidFill>
          <a:ln/>
        </p:spPr>
        <p:txBody>
          <a:bodyPr/>
          <a:lstStyle/>
          <a:p>
            <a:endParaRPr lang="en-US"/>
          </a:p>
        </p:txBody>
      </p:sp>
      <p:sp>
        <p:nvSpPr>
          <p:cNvPr id="11" name="Text 7"/>
          <p:cNvSpPr/>
          <p:nvPr/>
        </p:nvSpPr>
        <p:spPr>
          <a:xfrm>
            <a:off x="950976" y="2519172"/>
            <a:ext cx="1234440" cy="274320"/>
          </a:xfrm>
          <a:prstGeom prst="rect">
            <a:avLst/>
          </a:prstGeom>
          <a:noFill/>
          <a:ln/>
        </p:spPr>
        <p:txBody>
          <a:bodyPr wrap="square" lIns="0" tIns="0" rIns="0" bIns="0" rtlCol="0" anchor="ctr"/>
          <a:lstStyle/>
          <a:p>
            <a:pPr marL="0" indent="0">
              <a:buNone/>
            </a:pPr>
            <a:r>
              <a:rPr lang="en-US" sz="1000" dirty="0">
                <a:solidFill>
                  <a:srgbClr val="6B7488"/>
                </a:solidFill>
                <a:latin typeface="Arial" pitchFamily="34" charset="0"/>
                <a:ea typeface="Arial" pitchFamily="34" charset="-122"/>
                <a:cs typeface="Arial" pitchFamily="34" charset="-120"/>
              </a:rPr>
              <a:t>Size</a:t>
            </a:r>
            <a:endParaRPr lang="en-US" sz="1000" dirty="0"/>
          </a:p>
        </p:txBody>
      </p:sp>
      <p:sp>
        <p:nvSpPr>
          <p:cNvPr id="12" name="Text 8"/>
          <p:cNvSpPr/>
          <p:nvPr/>
        </p:nvSpPr>
        <p:spPr>
          <a:xfrm>
            <a:off x="2231136" y="2519172"/>
            <a:ext cx="2743200" cy="274320"/>
          </a:xfrm>
          <a:prstGeom prst="rect">
            <a:avLst/>
          </a:prstGeom>
          <a:noFill/>
          <a:ln/>
        </p:spPr>
        <p:txBody>
          <a:bodyPr wrap="square" lIns="0" tIns="0" rIns="0" bIns="0" rtlCol="0" anchor="ctr"/>
          <a:lstStyle/>
          <a:p>
            <a:pPr marL="0" indent="0">
              <a:buNone/>
            </a:pPr>
            <a:r>
              <a:rPr lang="en-US" sz="1050" b="1" dirty="0">
                <a:solidFill>
                  <a:srgbClr val="151B29"/>
                </a:solidFill>
                <a:latin typeface="Arial" pitchFamily="34" charset="0"/>
                <a:ea typeface="Arial" pitchFamily="34" charset="-122"/>
                <a:cs typeface="Arial" pitchFamily="34" charset="-120"/>
              </a:rPr>
              <a:t>~375 m across</a:t>
            </a:r>
            <a:endParaRPr lang="en-US" sz="1050" dirty="0"/>
          </a:p>
        </p:txBody>
      </p:sp>
      <p:sp>
        <p:nvSpPr>
          <p:cNvPr id="13" name="Shape 9"/>
          <p:cNvSpPr/>
          <p:nvPr/>
        </p:nvSpPr>
        <p:spPr>
          <a:xfrm>
            <a:off x="950976" y="2820924"/>
            <a:ext cx="4032504" cy="9144"/>
          </a:xfrm>
          <a:prstGeom prst="rect">
            <a:avLst/>
          </a:prstGeom>
          <a:solidFill>
            <a:srgbClr val="EBEEF4"/>
          </a:solidFill>
          <a:ln/>
        </p:spPr>
        <p:txBody>
          <a:bodyPr/>
          <a:lstStyle/>
          <a:p>
            <a:endParaRPr lang="en-US"/>
          </a:p>
        </p:txBody>
      </p:sp>
      <p:sp>
        <p:nvSpPr>
          <p:cNvPr id="14" name="Text 10"/>
          <p:cNvSpPr/>
          <p:nvPr/>
        </p:nvSpPr>
        <p:spPr>
          <a:xfrm>
            <a:off x="950976" y="2880360"/>
            <a:ext cx="1234440" cy="274320"/>
          </a:xfrm>
          <a:prstGeom prst="rect">
            <a:avLst/>
          </a:prstGeom>
          <a:noFill/>
          <a:ln/>
        </p:spPr>
        <p:txBody>
          <a:bodyPr wrap="square" lIns="0" tIns="0" rIns="0" bIns="0" rtlCol="0" anchor="ctr"/>
          <a:lstStyle/>
          <a:p>
            <a:pPr marL="0" indent="0">
              <a:buNone/>
            </a:pPr>
            <a:r>
              <a:rPr lang="en-US" sz="1000" dirty="0">
                <a:solidFill>
                  <a:srgbClr val="6B7488"/>
                </a:solidFill>
                <a:latin typeface="Arial" pitchFamily="34" charset="0"/>
                <a:ea typeface="Arial" pitchFamily="34" charset="-122"/>
                <a:cs typeface="Arial" pitchFamily="34" charset="-120"/>
              </a:rPr>
              <a:t>Taxonomy</a:t>
            </a:r>
            <a:endParaRPr lang="en-US" sz="1000" dirty="0"/>
          </a:p>
        </p:txBody>
      </p:sp>
      <p:sp>
        <p:nvSpPr>
          <p:cNvPr id="15" name="Text 11"/>
          <p:cNvSpPr/>
          <p:nvPr/>
        </p:nvSpPr>
        <p:spPr>
          <a:xfrm>
            <a:off x="2231136" y="2880360"/>
            <a:ext cx="2743200" cy="274320"/>
          </a:xfrm>
          <a:prstGeom prst="rect">
            <a:avLst/>
          </a:prstGeom>
          <a:noFill/>
          <a:ln/>
        </p:spPr>
        <p:txBody>
          <a:bodyPr wrap="square" lIns="0" tIns="0" rIns="0" bIns="0" rtlCol="0" anchor="ctr"/>
          <a:lstStyle/>
          <a:p>
            <a:pPr marL="0" indent="0">
              <a:buNone/>
            </a:pPr>
            <a:r>
              <a:rPr lang="en-US" sz="1050" b="1" dirty="0">
                <a:solidFill>
                  <a:srgbClr val="151B29"/>
                </a:solidFill>
                <a:latin typeface="Arial" pitchFamily="34" charset="0"/>
                <a:ea typeface="Arial" pitchFamily="34" charset="-122"/>
                <a:cs typeface="Arial" pitchFamily="34" charset="-120"/>
              </a:rPr>
              <a:t>Sq type, LL chondrite analogue</a:t>
            </a:r>
            <a:endParaRPr lang="en-US" sz="1050" dirty="0"/>
          </a:p>
        </p:txBody>
      </p:sp>
      <p:sp>
        <p:nvSpPr>
          <p:cNvPr id="16" name="Shape 12"/>
          <p:cNvSpPr/>
          <p:nvPr/>
        </p:nvSpPr>
        <p:spPr>
          <a:xfrm>
            <a:off x="950976" y="3182112"/>
            <a:ext cx="4032504" cy="9144"/>
          </a:xfrm>
          <a:prstGeom prst="rect">
            <a:avLst/>
          </a:prstGeom>
          <a:solidFill>
            <a:srgbClr val="EBEEF4"/>
          </a:solidFill>
          <a:ln/>
        </p:spPr>
        <p:txBody>
          <a:bodyPr/>
          <a:lstStyle/>
          <a:p>
            <a:endParaRPr lang="en-US"/>
          </a:p>
        </p:txBody>
      </p:sp>
      <p:sp>
        <p:nvSpPr>
          <p:cNvPr id="17" name="Text 13"/>
          <p:cNvSpPr/>
          <p:nvPr/>
        </p:nvSpPr>
        <p:spPr>
          <a:xfrm>
            <a:off x="950976" y="3241548"/>
            <a:ext cx="1234440" cy="274320"/>
          </a:xfrm>
          <a:prstGeom prst="rect">
            <a:avLst/>
          </a:prstGeom>
          <a:noFill/>
          <a:ln/>
        </p:spPr>
        <p:txBody>
          <a:bodyPr wrap="square" lIns="0" tIns="0" rIns="0" bIns="0" rtlCol="0" anchor="ctr"/>
          <a:lstStyle/>
          <a:p>
            <a:pPr marL="0" indent="0">
              <a:buNone/>
            </a:pPr>
            <a:r>
              <a:rPr lang="en-US" sz="1000" dirty="0">
                <a:solidFill>
                  <a:srgbClr val="6B7488"/>
                </a:solidFill>
                <a:latin typeface="Arial" pitchFamily="34" charset="0"/>
                <a:ea typeface="Arial" pitchFamily="34" charset="-122"/>
                <a:cs typeface="Arial" pitchFamily="34" charset="-120"/>
              </a:rPr>
              <a:t>Launch</a:t>
            </a:r>
            <a:endParaRPr lang="en-US" sz="1000" dirty="0"/>
          </a:p>
        </p:txBody>
      </p:sp>
      <p:sp>
        <p:nvSpPr>
          <p:cNvPr id="18" name="Text 14"/>
          <p:cNvSpPr/>
          <p:nvPr/>
        </p:nvSpPr>
        <p:spPr>
          <a:xfrm>
            <a:off x="2231136" y="3241548"/>
            <a:ext cx="2743200" cy="274320"/>
          </a:xfrm>
          <a:prstGeom prst="rect">
            <a:avLst/>
          </a:prstGeom>
          <a:noFill/>
          <a:ln/>
        </p:spPr>
        <p:txBody>
          <a:bodyPr wrap="square" lIns="0" tIns="0" rIns="0" bIns="0" rtlCol="0" anchor="ctr"/>
          <a:lstStyle/>
          <a:p>
            <a:r>
              <a:rPr lang="en-US" sz="1050" b="1" dirty="0">
                <a:solidFill>
                  <a:srgbClr val="151B29"/>
                </a:solidFill>
                <a:latin typeface="Arial" pitchFamily="34" charset="0"/>
                <a:ea typeface="Arial" pitchFamily="34" charset="-122"/>
                <a:cs typeface="Arial" pitchFamily="34" charset="-120"/>
              </a:rPr>
              <a:t>Spring 2028, H3 Rocket, Tanegashima</a:t>
            </a:r>
            <a:endParaRPr lang="en-US" sz="1050" dirty="0"/>
          </a:p>
        </p:txBody>
      </p:sp>
      <p:sp>
        <p:nvSpPr>
          <p:cNvPr id="19" name="Shape 15"/>
          <p:cNvSpPr/>
          <p:nvPr/>
        </p:nvSpPr>
        <p:spPr>
          <a:xfrm>
            <a:off x="950976" y="3543300"/>
            <a:ext cx="4032504" cy="9144"/>
          </a:xfrm>
          <a:prstGeom prst="rect">
            <a:avLst/>
          </a:prstGeom>
          <a:solidFill>
            <a:srgbClr val="EBEEF4"/>
          </a:solidFill>
          <a:ln/>
        </p:spPr>
        <p:txBody>
          <a:bodyPr/>
          <a:lstStyle/>
          <a:p>
            <a:endParaRPr lang="en-US"/>
          </a:p>
        </p:txBody>
      </p:sp>
      <p:sp>
        <p:nvSpPr>
          <p:cNvPr id="20" name="Text 16"/>
          <p:cNvSpPr/>
          <p:nvPr/>
        </p:nvSpPr>
        <p:spPr>
          <a:xfrm>
            <a:off x="950976" y="3602736"/>
            <a:ext cx="1234440" cy="274320"/>
          </a:xfrm>
          <a:prstGeom prst="rect">
            <a:avLst/>
          </a:prstGeom>
          <a:noFill/>
          <a:ln/>
        </p:spPr>
        <p:txBody>
          <a:bodyPr wrap="square" lIns="0" tIns="0" rIns="0" bIns="0" rtlCol="0" anchor="ctr"/>
          <a:lstStyle/>
          <a:p>
            <a:pPr marL="0" indent="0">
              <a:buNone/>
            </a:pPr>
            <a:r>
              <a:rPr lang="en-US" sz="1000" dirty="0">
                <a:solidFill>
                  <a:srgbClr val="6B7488"/>
                </a:solidFill>
                <a:latin typeface="Arial" pitchFamily="34" charset="0"/>
                <a:ea typeface="Arial" pitchFamily="34" charset="-122"/>
                <a:cs typeface="Arial" pitchFamily="34" charset="-120"/>
              </a:rPr>
              <a:t>Arrival</a:t>
            </a:r>
            <a:endParaRPr lang="en-US" sz="1000" dirty="0"/>
          </a:p>
        </p:txBody>
      </p:sp>
      <p:sp>
        <p:nvSpPr>
          <p:cNvPr id="21" name="Text 17"/>
          <p:cNvSpPr/>
          <p:nvPr/>
        </p:nvSpPr>
        <p:spPr>
          <a:xfrm>
            <a:off x="2231136" y="3602736"/>
            <a:ext cx="2743200" cy="274320"/>
          </a:xfrm>
          <a:prstGeom prst="rect">
            <a:avLst/>
          </a:prstGeom>
          <a:noFill/>
          <a:ln/>
        </p:spPr>
        <p:txBody>
          <a:bodyPr wrap="square" lIns="0" tIns="0" rIns="0" bIns="0" rtlCol="0" anchor="ctr"/>
          <a:lstStyle/>
          <a:p>
            <a:pPr marL="0" indent="0">
              <a:buNone/>
            </a:pPr>
            <a:r>
              <a:rPr lang="en-US" sz="1050" b="1" dirty="0">
                <a:solidFill>
                  <a:srgbClr val="151B29"/>
                </a:solidFill>
                <a:latin typeface="Arial" pitchFamily="34" charset="0"/>
                <a:ea typeface="Arial" pitchFamily="34" charset="-122"/>
                <a:cs typeface="Arial" pitchFamily="34" charset="-120"/>
              </a:rPr>
              <a:t>February 2029</a:t>
            </a:r>
            <a:endParaRPr lang="en-US" sz="1050" dirty="0"/>
          </a:p>
        </p:txBody>
      </p:sp>
      <p:sp>
        <p:nvSpPr>
          <p:cNvPr id="22" name="Shape 18"/>
          <p:cNvSpPr/>
          <p:nvPr/>
        </p:nvSpPr>
        <p:spPr>
          <a:xfrm>
            <a:off x="950976" y="3904488"/>
            <a:ext cx="4032504" cy="9144"/>
          </a:xfrm>
          <a:prstGeom prst="rect">
            <a:avLst/>
          </a:prstGeom>
          <a:solidFill>
            <a:srgbClr val="EBEEF4"/>
          </a:solidFill>
          <a:ln/>
        </p:spPr>
        <p:txBody>
          <a:bodyPr/>
          <a:lstStyle/>
          <a:p>
            <a:endParaRPr lang="en-US"/>
          </a:p>
        </p:txBody>
      </p:sp>
      <p:sp>
        <p:nvSpPr>
          <p:cNvPr id="23" name="Text 19"/>
          <p:cNvSpPr/>
          <p:nvPr/>
        </p:nvSpPr>
        <p:spPr>
          <a:xfrm>
            <a:off x="950976" y="3963924"/>
            <a:ext cx="1234440" cy="274320"/>
          </a:xfrm>
          <a:prstGeom prst="rect">
            <a:avLst/>
          </a:prstGeom>
          <a:noFill/>
          <a:ln/>
        </p:spPr>
        <p:txBody>
          <a:bodyPr wrap="square" lIns="0" tIns="0" rIns="0" bIns="0" rtlCol="0" anchor="ctr"/>
          <a:lstStyle/>
          <a:p>
            <a:pPr marL="0" indent="0">
              <a:buNone/>
            </a:pPr>
            <a:r>
              <a:rPr lang="en-US" sz="1000" dirty="0">
                <a:solidFill>
                  <a:srgbClr val="6B7488"/>
                </a:solidFill>
                <a:latin typeface="Arial" pitchFamily="34" charset="0"/>
                <a:ea typeface="Arial" pitchFamily="34" charset="-122"/>
                <a:cs typeface="Arial" pitchFamily="34" charset="-120"/>
              </a:rPr>
              <a:t>Close flyby</a:t>
            </a:r>
            <a:endParaRPr lang="en-US" sz="1000" dirty="0"/>
          </a:p>
        </p:txBody>
      </p:sp>
      <p:sp>
        <p:nvSpPr>
          <p:cNvPr id="24" name="Text 20"/>
          <p:cNvSpPr/>
          <p:nvPr/>
        </p:nvSpPr>
        <p:spPr>
          <a:xfrm>
            <a:off x="2231136" y="3963924"/>
            <a:ext cx="2743200" cy="274320"/>
          </a:xfrm>
          <a:prstGeom prst="rect">
            <a:avLst/>
          </a:prstGeom>
          <a:noFill/>
          <a:ln/>
        </p:spPr>
        <p:txBody>
          <a:bodyPr wrap="square" lIns="0" tIns="0" rIns="0" bIns="0" rtlCol="0" anchor="ctr"/>
          <a:lstStyle/>
          <a:p>
            <a:pPr marL="0" indent="0">
              <a:buNone/>
            </a:pPr>
            <a:r>
              <a:rPr lang="en-US" sz="1050" b="1" dirty="0">
                <a:solidFill>
                  <a:srgbClr val="151B29"/>
                </a:solidFill>
                <a:latin typeface="Arial" pitchFamily="34" charset="0"/>
                <a:ea typeface="Arial" pitchFamily="34" charset="-122"/>
                <a:cs typeface="Arial" pitchFamily="34" charset="-120"/>
              </a:rPr>
              <a:t>13 April 2029, ~32,000 km</a:t>
            </a:r>
            <a:endParaRPr lang="en-US" sz="1050" dirty="0"/>
          </a:p>
        </p:txBody>
      </p:sp>
      <p:sp>
        <p:nvSpPr>
          <p:cNvPr id="25" name="Text 21"/>
          <p:cNvSpPr/>
          <p:nvPr/>
        </p:nvSpPr>
        <p:spPr>
          <a:xfrm>
            <a:off x="5715000" y="1664208"/>
            <a:ext cx="5806440" cy="219456"/>
          </a:xfrm>
          <a:prstGeom prst="rect">
            <a:avLst/>
          </a:prstGeom>
          <a:noFill/>
          <a:ln/>
        </p:spPr>
        <p:txBody>
          <a:bodyPr wrap="square" lIns="0" tIns="0" rIns="0" bIns="0" rtlCol="0" anchor="ctr"/>
          <a:lstStyle/>
          <a:p>
            <a:pPr marL="0" indent="0">
              <a:buNone/>
            </a:pPr>
            <a:r>
              <a:rPr lang="en-US" sz="900" b="1" kern="0" spc="200" dirty="0">
                <a:solidFill>
                  <a:srgbClr val="00B0F0"/>
                </a:solidFill>
                <a:latin typeface="Arial" pitchFamily="34" charset="0"/>
                <a:ea typeface="Arial" pitchFamily="34" charset="-122"/>
                <a:cs typeface="Arial" pitchFamily="34" charset="-120"/>
              </a:rPr>
              <a:t>MISSION PUBLISHED OBJECTIVES</a:t>
            </a:r>
            <a:endParaRPr lang="en-US" sz="900" dirty="0">
              <a:solidFill>
                <a:srgbClr val="00B0F0"/>
              </a:solidFill>
            </a:endParaRPr>
          </a:p>
        </p:txBody>
      </p:sp>
      <p:sp>
        <p:nvSpPr>
          <p:cNvPr id="26" name="Shape 22"/>
          <p:cNvSpPr/>
          <p:nvPr/>
        </p:nvSpPr>
        <p:spPr>
          <a:xfrm>
            <a:off x="5715000" y="1975104"/>
            <a:ext cx="5806440" cy="2395728"/>
          </a:xfrm>
          <a:prstGeom prst="roundRect">
            <a:avLst>
              <a:gd name="adj" fmla="val 3435"/>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27" name="Shape 23"/>
          <p:cNvSpPr/>
          <p:nvPr/>
        </p:nvSpPr>
        <p:spPr>
          <a:xfrm>
            <a:off x="5989320" y="2194560"/>
            <a:ext cx="310896" cy="310896"/>
          </a:xfrm>
          <a:prstGeom prst="ellipse">
            <a:avLst/>
          </a:prstGeom>
          <a:solidFill>
            <a:srgbClr val="13234C"/>
          </a:solidFill>
          <a:ln/>
        </p:spPr>
        <p:txBody>
          <a:bodyPr/>
          <a:lstStyle/>
          <a:p>
            <a:endParaRPr lang="en-US"/>
          </a:p>
        </p:txBody>
      </p:sp>
      <p:sp>
        <p:nvSpPr>
          <p:cNvPr id="28" name="Text 24"/>
          <p:cNvSpPr/>
          <p:nvPr/>
        </p:nvSpPr>
        <p:spPr>
          <a:xfrm>
            <a:off x="5989320" y="219456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O1</a:t>
            </a:r>
            <a:endParaRPr lang="en-US" sz="1000" dirty="0"/>
          </a:p>
        </p:txBody>
      </p:sp>
      <p:sp>
        <p:nvSpPr>
          <p:cNvPr id="29" name="Text 25"/>
          <p:cNvSpPr/>
          <p:nvPr/>
        </p:nvSpPr>
        <p:spPr>
          <a:xfrm>
            <a:off x="6409944" y="2157984"/>
            <a:ext cx="4800600" cy="237744"/>
          </a:xfrm>
          <a:prstGeom prst="rect">
            <a:avLst/>
          </a:prstGeom>
          <a:noFill/>
          <a:ln/>
        </p:spPr>
        <p:txBody>
          <a:bodyPr wrap="square" lIns="0" tIns="0" rIns="0" bIns="0" rtlCol="0" anchor="ctr"/>
          <a:lstStyle/>
          <a:p>
            <a:pPr marL="0" indent="0">
              <a:buNone/>
            </a:pPr>
            <a:r>
              <a:rPr lang="en-US" sz="1250" b="1" dirty="0">
                <a:solidFill>
                  <a:srgbClr val="13234C"/>
                </a:solidFill>
                <a:latin typeface="29LT Adir" pitchFamily="34" charset="0"/>
                <a:ea typeface="29LT Adir" pitchFamily="34" charset="-122"/>
                <a:cs typeface="29LT Adir" pitchFamily="34" charset="-120"/>
              </a:rPr>
              <a:t>Shape, orbit and rotation</a:t>
            </a:r>
            <a:endParaRPr lang="en-US" sz="1250" dirty="0"/>
          </a:p>
        </p:txBody>
      </p:sp>
      <p:sp>
        <p:nvSpPr>
          <p:cNvPr id="30" name="Text 26"/>
          <p:cNvSpPr/>
          <p:nvPr/>
        </p:nvSpPr>
        <p:spPr>
          <a:xfrm>
            <a:off x="6409944" y="2386584"/>
            <a:ext cx="4800600" cy="274320"/>
          </a:xfrm>
          <a:prstGeom prst="rect">
            <a:avLst/>
          </a:prstGeom>
          <a:noFill/>
          <a:ln/>
        </p:spPr>
        <p:txBody>
          <a:bodyPr wrap="square" lIns="0" tIns="0" rIns="0" bIns="0" rtlCol="0" anchor="t"/>
          <a:lstStyle/>
          <a:p>
            <a:pPr marL="0" indent="0">
              <a:buNone/>
            </a:pPr>
            <a:r>
              <a:rPr lang="en-US" sz="950" dirty="0">
                <a:solidFill>
                  <a:srgbClr val="6B7488"/>
                </a:solidFill>
                <a:latin typeface="Arial" pitchFamily="34" charset="0"/>
                <a:ea typeface="Arial" pitchFamily="34" charset="-122"/>
                <a:cs typeface="Arial" pitchFamily="34" charset="-120"/>
              </a:rPr>
              <a:t>Before-and-after survey of shape, surface, orbit, rotation and orientation.</a:t>
            </a:r>
            <a:endParaRPr lang="en-US" sz="950" dirty="0"/>
          </a:p>
        </p:txBody>
      </p:sp>
      <p:sp>
        <p:nvSpPr>
          <p:cNvPr id="31" name="Shape 27"/>
          <p:cNvSpPr/>
          <p:nvPr/>
        </p:nvSpPr>
        <p:spPr>
          <a:xfrm>
            <a:off x="5989320" y="2743200"/>
            <a:ext cx="310896" cy="310896"/>
          </a:xfrm>
          <a:prstGeom prst="ellipse">
            <a:avLst/>
          </a:prstGeom>
          <a:solidFill>
            <a:srgbClr val="13234C"/>
          </a:solidFill>
          <a:ln/>
        </p:spPr>
        <p:txBody>
          <a:bodyPr/>
          <a:lstStyle/>
          <a:p>
            <a:endParaRPr lang="en-US"/>
          </a:p>
        </p:txBody>
      </p:sp>
      <p:sp>
        <p:nvSpPr>
          <p:cNvPr id="32" name="Text 28"/>
          <p:cNvSpPr/>
          <p:nvPr/>
        </p:nvSpPr>
        <p:spPr>
          <a:xfrm>
            <a:off x="5989320" y="274320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O2</a:t>
            </a:r>
            <a:endParaRPr lang="en-US" sz="1000" dirty="0"/>
          </a:p>
        </p:txBody>
      </p:sp>
      <p:sp>
        <p:nvSpPr>
          <p:cNvPr id="33" name="Text 29"/>
          <p:cNvSpPr/>
          <p:nvPr/>
        </p:nvSpPr>
        <p:spPr>
          <a:xfrm>
            <a:off x="6409944" y="2706624"/>
            <a:ext cx="4800600" cy="237744"/>
          </a:xfrm>
          <a:prstGeom prst="rect">
            <a:avLst/>
          </a:prstGeom>
          <a:noFill/>
          <a:ln/>
        </p:spPr>
        <p:txBody>
          <a:bodyPr wrap="square" lIns="0" tIns="0" rIns="0" bIns="0" rtlCol="0" anchor="ctr"/>
          <a:lstStyle/>
          <a:p>
            <a:pPr marL="0" indent="0">
              <a:buNone/>
            </a:pPr>
            <a:r>
              <a:rPr lang="en-US" sz="1250" b="1" dirty="0">
                <a:solidFill>
                  <a:srgbClr val="13234C"/>
                </a:solidFill>
                <a:latin typeface="29LT Adir" pitchFamily="34" charset="0"/>
                <a:ea typeface="29LT Adir" pitchFamily="34" charset="-122"/>
                <a:cs typeface="29LT Adir" pitchFamily="34" charset="-120"/>
              </a:rPr>
              <a:t>Composition and interior</a:t>
            </a:r>
            <a:endParaRPr lang="en-US" sz="1250" dirty="0"/>
          </a:p>
        </p:txBody>
      </p:sp>
      <p:sp>
        <p:nvSpPr>
          <p:cNvPr id="34" name="Text 30"/>
          <p:cNvSpPr/>
          <p:nvPr/>
        </p:nvSpPr>
        <p:spPr>
          <a:xfrm>
            <a:off x="6409944" y="2935224"/>
            <a:ext cx="4800600" cy="274320"/>
          </a:xfrm>
          <a:prstGeom prst="rect">
            <a:avLst/>
          </a:prstGeom>
          <a:noFill/>
          <a:ln/>
        </p:spPr>
        <p:txBody>
          <a:bodyPr wrap="square" lIns="0" tIns="0" rIns="0" bIns="0" rtlCol="0" anchor="t"/>
          <a:lstStyle/>
          <a:p>
            <a:pPr marL="0" indent="0">
              <a:buNone/>
            </a:pPr>
            <a:r>
              <a:rPr lang="en-US" sz="950" dirty="0">
                <a:solidFill>
                  <a:srgbClr val="6B7488"/>
                </a:solidFill>
                <a:latin typeface="Arial" pitchFamily="34" charset="0"/>
                <a:ea typeface="Arial" pitchFamily="34" charset="-122"/>
                <a:cs typeface="Arial" pitchFamily="34" charset="-120"/>
              </a:rPr>
              <a:t>Composition, interior structure, cohesion, mass, density and porosity.</a:t>
            </a:r>
            <a:endParaRPr lang="en-US" sz="950" dirty="0"/>
          </a:p>
        </p:txBody>
      </p:sp>
      <p:sp>
        <p:nvSpPr>
          <p:cNvPr id="35" name="Shape 31"/>
          <p:cNvSpPr/>
          <p:nvPr/>
        </p:nvSpPr>
        <p:spPr>
          <a:xfrm>
            <a:off x="5989320" y="3291840"/>
            <a:ext cx="310896" cy="310896"/>
          </a:xfrm>
          <a:prstGeom prst="ellipse">
            <a:avLst/>
          </a:prstGeom>
          <a:solidFill>
            <a:srgbClr val="13234C"/>
          </a:solidFill>
          <a:ln/>
        </p:spPr>
        <p:txBody>
          <a:bodyPr/>
          <a:lstStyle/>
          <a:p>
            <a:endParaRPr lang="en-US"/>
          </a:p>
        </p:txBody>
      </p:sp>
      <p:sp>
        <p:nvSpPr>
          <p:cNvPr id="36" name="Text 32"/>
          <p:cNvSpPr/>
          <p:nvPr/>
        </p:nvSpPr>
        <p:spPr>
          <a:xfrm>
            <a:off x="5989320" y="329184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O3</a:t>
            </a:r>
            <a:endParaRPr lang="en-US" sz="1000" dirty="0"/>
          </a:p>
        </p:txBody>
      </p:sp>
      <p:sp>
        <p:nvSpPr>
          <p:cNvPr id="37" name="Text 33"/>
          <p:cNvSpPr/>
          <p:nvPr/>
        </p:nvSpPr>
        <p:spPr>
          <a:xfrm>
            <a:off x="6409944" y="3255264"/>
            <a:ext cx="4800600" cy="237744"/>
          </a:xfrm>
          <a:prstGeom prst="rect">
            <a:avLst/>
          </a:prstGeom>
          <a:noFill/>
          <a:ln/>
        </p:spPr>
        <p:txBody>
          <a:bodyPr wrap="square" lIns="0" tIns="0" rIns="0" bIns="0" rtlCol="0" anchor="ctr"/>
          <a:lstStyle/>
          <a:p>
            <a:pPr marL="0" indent="0">
              <a:buNone/>
            </a:pPr>
            <a:r>
              <a:rPr lang="en-US" sz="1250" b="1" dirty="0">
                <a:solidFill>
                  <a:srgbClr val="13234C"/>
                </a:solidFill>
                <a:latin typeface="29LT Adir" pitchFamily="34" charset="0"/>
                <a:ea typeface="29LT Adir" pitchFamily="34" charset="-122"/>
                <a:cs typeface="29LT Adir" pitchFamily="34" charset="-120"/>
              </a:rPr>
              <a:t>Tidal response</a:t>
            </a:r>
            <a:endParaRPr lang="en-US" sz="1250" dirty="0"/>
          </a:p>
        </p:txBody>
      </p:sp>
      <p:sp>
        <p:nvSpPr>
          <p:cNvPr id="38" name="Text 34"/>
          <p:cNvSpPr/>
          <p:nvPr/>
        </p:nvSpPr>
        <p:spPr>
          <a:xfrm>
            <a:off x="6409944" y="3483864"/>
            <a:ext cx="4800600" cy="274320"/>
          </a:xfrm>
          <a:prstGeom prst="rect">
            <a:avLst/>
          </a:prstGeom>
          <a:noFill/>
          <a:ln/>
        </p:spPr>
        <p:txBody>
          <a:bodyPr wrap="square" lIns="0" tIns="0" rIns="0" bIns="0" rtlCol="0" anchor="t"/>
          <a:lstStyle/>
          <a:p>
            <a:pPr marL="0" indent="0">
              <a:buNone/>
            </a:pPr>
            <a:r>
              <a:rPr lang="en-US" sz="950" dirty="0">
                <a:solidFill>
                  <a:srgbClr val="6B7488"/>
                </a:solidFill>
                <a:latin typeface="Arial" pitchFamily="34" charset="0"/>
                <a:ea typeface="Arial" pitchFamily="34" charset="-122"/>
                <a:cs typeface="Arial" pitchFamily="34" charset="-120"/>
              </a:rPr>
              <a:t>How the asteroid responds to Earth's tidal forces.</a:t>
            </a:r>
            <a:endParaRPr lang="en-US" sz="950" dirty="0"/>
          </a:p>
        </p:txBody>
      </p:sp>
      <p:sp>
        <p:nvSpPr>
          <p:cNvPr id="39" name="Shape 35"/>
          <p:cNvSpPr/>
          <p:nvPr/>
        </p:nvSpPr>
        <p:spPr>
          <a:xfrm>
            <a:off x="5989320" y="3840480"/>
            <a:ext cx="310896" cy="310896"/>
          </a:xfrm>
          <a:prstGeom prst="ellipse">
            <a:avLst/>
          </a:prstGeom>
          <a:solidFill>
            <a:srgbClr val="13234C"/>
          </a:solidFill>
          <a:ln/>
        </p:spPr>
        <p:txBody>
          <a:bodyPr/>
          <a:lstStyle/>
          <a:p>
            <a:endParaRPr lang="en-US"/>
          </a:p>
        </p:txBody>
      </p:sp>
      <p:sp>
        <p:nvSpPr>
          <p:cNvPr id="40" name="Text 36"/>
          <p:cNvSpPr/>
          <p:nvPr/>
        </p:nvSpPr>
        <p:spPr>
          <a:xfrm>
            <a:off x="5989320" y="384048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O4</a:t>
            </a:r>
            <a:endParaRPr lang="en-US" sz="1000" dirty="0"/>
          </a:p>
        </p:txBody>
      </p:sp>
      <p:sp>
        <p:nvSpPr>
          <p:cNvPr id="41" name="Text 37"/>
          <p:cNvSpPr/>
          <p:nvPr/>
        </p:nvSpPr>
        <p:spPr>
          <a:xfrm>
            <a:off x="6409944" y="3803904"/>
            <a:ext cx="4800600" cy="237744"/>
          </a:xfrm>
          <a:prstGeom prst="rect">
            <a:avLst/>
          </a:prstGeom>
          <a:noFill/>
          <a:ln/>
        </p:spPr>
        <p:txBody>
          <a:bodyPr wrap="square" lIns="0" tIns="0" rIns="0" bIns="0" rtlCol="0" anchor="ctr"/>
          <a:lstStyle/>
          <a:p>
            <a:pPr marL="0" indent="0">
              <a:buNone/>
            </a:pPr>
            <a:r>
              <a:rPr lang="en-US" sz="1250" b="1" dirty="0">
                <a:solidFill>
                  <a:srgbClr val="13234C"/>
                </a:solidFill>
                <a:latin typeface="29LT Adir" pitchFamily="34" charset="0"/>
                <a:ea typeface="29LT Adir" pitchFamily="34" charset="-122"/>
                <a:cs typeface="29LT Adir" pitchFamily="34" charset="-120"/>
              </a:rPr>
              <a:t>Solar System science</a:t>
            </a:r>
            <a:endParaRPr lang="en-US" sz="1250" dirty="0"/>
          </a:p>
        </p:txBody>
      </p:sp>
      <p:sp>
        <p:nvSpPr>
          <p:cNvPr id="42" name="Text 38"/>
          <p:cNvSpPr/>
          <p:nvPr/>
        </p:nvSpPr>
        <p:spPr>
          <a:xfrm>
            <a:off x="6409944" y="4032504"/>
            <a:ext cx="4800600" cy="274320"/>
          </a:xfrm>
          <a:prstGeom prst="rect">
            <a:avLst/>
          </a:prstGeom>
          <a:noFill/>
          <a:ln/>
        </p:spPr>
        <p:txBody>
          <a:bodyPr wrap="square" lIns="0" tIns="0" rIns="0" bIns="0" rtlCol="0" anchor="t"/>
          <a:lstStyle/>
          <a:p>
            <a:pPr marL="0" indent="0">
              <a:buNone/>
            </a:pPr>
            <a:r>
              <a:rPr lang="en-US" sz="950" dirty="0">
                <a:solidFill>
                  <a:srgbClr val="6B7488"/>
                </a:solidFill>
                <a:latin typeface="Arial" pitchFamily="34" charset="0"/>
                <a:ea typeface="Arial" pitchFamily="34" charset="-122"/>
                <a:cs typeface="Arial" pitchFamily="34" charset="-120"/>
              </a:rPr>
              <a:t>Insight into the formation and evolution of the Solar System.</a:t>
            </a:r>
            <a:endParaRPr lang="en-US" sz="950" dirty="0"/>
          </a:p>
        </p:txBody>
      </p:sp>
      <p:sp>
        <p:nvSpPr>
          <p:cNvPr id="43" name="Text 39"/>
          <p:cNvSpPr/>
          <p:nvPr/>
        </p:nvSpPr>
        <p:spPr>
          <a:xfrm>
            <a:off x="658368" y="4553712"/>
            <a:ext cx="8229600" cy="256032"/>
          </a:xfrm>
          <a:prstGeom prst="rect">
            <a:avLst/>
          </a:prstGeom>
          <a:noFill/>
          <a:ln/>
        </p:spPr>
        <p:txBody>
          <a:bodyPr wrap="square" lIns="0" tIns="0" rIns="0" bIns="0" rtlCol="0" anchor="t"/>
          <a:lstStyle/>
          <a:p>
            <a:pPr marL="0" indent="0">
              <a:buNone/>
            </a:pPr>
            <a:r>
              <a:rPr lang="en-US" sz="1350" b="1" dirty="0">
                <a:solidFill>
                  <a:srgbClr val="13234C"/>
                </a:solidFill>
                <a:latin typeface="29LT Adir" pitchFamily="34" charset="0"/>
                <a:ea typeface="29LT Adir" pitchFamily="34" charset="-122"/>
                <a:cs typeface="29LT Adir" pitchFamily="34" charset="-120"/>
              </a:rPr>
              <a:t>Payload architecture: three platforms, twelve confirmed instruments</a:t>
            </a:r>
            <a:endParaRPr lang="en-US" sz="1350" dirty="0"/>
          </a:p>
        </p:txBody>
      </p:sp>
      <p:sp>
        <p:nvSpPr>
          <p:cNvPr id="44" name="Shape 40"/>
          <p:cNvSpPr/>
          <p:nvPr/>
        </p:nvSpPr>
        <p:spPr>
          <a:xfrm>
            <a:off x="658368" y="4901184"/>
            <a:ext cx="3490874" cy="1280160"/>
          </a:xfrm>
          <a:prstGeom prst="roundRect">
            <a:avLst>
              <a:gd name="adj" fmla="val 642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45" name="Text 41"/>
          <p:cNvSpPr/>
          <p:nvPr/>
        </p:nvSpPr>
        <p:spPr>
          <a:xfrm>
            <a:off x="914400" y="5047488"/>
            <a:ext cx="2978810" cy="292608"/>
          </a:xfrm>
          <a:prstGeom prst="rect">
            <a:avLst/>
          </a:prstGeom>
          <a:noFill/>
          <a:ln/>
        </p:spPr>
        <p:txBody>
          <a:bodyPr wrap="square" lIns="0" tIns="0" rIns="0" bIns="0" rtlCol="0" anchor="t"/>
          <a:lstStyle/>
          <a:p>
            <a:pPr marL="0" indent="0">
              <a:buNone/>
            </a:pPr>
            <a:r>
              <a:rPr lang="en-US" sz="1300" b="1" dirty="0">
                <a:solidFill>
                  <a:srgbClr val="13234C"/>
                </a:solidFill>
                <a:latin typeface="29LT Adir" pitchFamily="34" charset="0"/>
                <a:ea typeface="29LT Adir" pitchFamily="34" charset="-122"/>
                <a:cs typeface="29LT Adir" pitchFamily="34" charset="-120"/>
              </a:rPr>
              <a:t>Main Orbiter</a:t>
            </a:r>
            <a:endParaRPr lang="en-US" sz="1300" dirty="0"/>
          </a:p>
        </p:txBody>
      </p:sp>
      <p:sp>
        <p:nvSpPr>
          <p:cNvPr id="46" name="Shape 42"/>
          <p:cNvSpPr/>
          <p:nvPr/>
        </p:nvSpPr>
        <p:spPr>
          <a:xfrm>
            <a:off x="914400" y="5394960"/>
            <a:ext cx="1298448" cy="256032"/>
          </a:xfrm>
          <a:prstGeom prst="roundRect">
            <a:avLst>
              <a:gd name="adj" fmla="val 17857"/>
            </a:avLst>
          </a:prstGeom>
          <a:solidFill>
            <a:srgbClr val="6DD9FF"/>
          </a:solidFill>
          <a:ln/>
        </p:spPr>
        <p:txBody>
          <a:bodyPr/>
          <a:lstStyle/>
          <a:p>
            <a:endParaRPr lang="en-US"/>
          </a:p>
        </p:txBody>
      </p:sp>
      <p:sp>
        <p:nvSpPr>
          <p:cNvPr id="47" name="Text 43"/>
          <p:cNvSpPr/>
          <p:nvPr/>
        </p:nvSpPr>
        <p:spPr>
          <a:xfrm>
            <a:off x="914400" y="5394960"/>
            <a:ext cx="1298448" cy="256032"/>
          </a:xfrm>
          <a:prstGeom prst="rect">
            <a:avLst/>
          </a:prstGeom>
          <a:noFill/>
          <a:ln/>
        </p:spPr>
        <p:txBody>
          <a:bodyPr wrap="square" lIns="0" tIns="0" rIns="0" bIns="0" rtlCol="0" anchor="ctr"/>
          <a:lstStyle/>
          <a:p>
            <a:pPr marL="0" indent="0" algn="ctr">
              <a:buNone/>
            </a:pPr>
            <a:r>
              <a:rPr lang="en-US" sz="800" b="1" dirty="0">
                <a:solidFill>
                  <a:srgbClr val="13234C"/>
                </a:solidFill>
                <a:latin typeface="Arial" pitchFamily="34" charset="0"/>
                <a:ea typeface="Arial" pitchFamily="34" charset="-122"/>
                <a:cs typeface="Arial" pitchFamily="34" charset="-120"/>
              </a:rPr>
              <a:t>6</a:t>
            </a:r>
            <a:r>
              <a:rPr lang="en-US" sz="800" dirty="0">
                <a:solidFill>
                  <a:srgbClr val="000000"/>
                </a:solidFill>
                <a:latin typeface="Arial" pitchFamily="34" charset="0"/>
                <a:ea typeface="Arial" pitchFamily="34" charset="-122"/>
                <a:cs typeface="Arial" pitchFamily="34" charset="-120"/>
              </a:rPr>
              <a:t>   </a:t>
            </a:r>
            <a:r>
              <a:rPr lang="en-US" sz="800" kern="0" spc="110" dirty="0">
                <a:solidFill>
                  <a:srgbClr val="002060"/>
                </a:solidFill>
                <a:latin typeface="Arial" pitchFamily="34" charset="0"/>
                <a:ea typeface="Arial" pitchFamily="34" charset="-122"/>
                <a:cs typeface="Arial" pitchFamily="34" charset="-120"/>
              </a:rPr>
              <a:t>INSTRUMENTS</a:t>
            </a:r>
            <a:endParaRPr lang="en-US" sz="800" dirty="0">
              <a:solidFill>
                <a:srgbClr val="002060"/>
              </a:solidFill>
            </a:endParaRPr>
          </a:p>
        </p:txBody>
      </p:sp>
      <p:sp>
        <p:nvSpPr>
          <p:cNvPr id="48" name="Text 44"/>
          <p:cNvSpPr/>
          <p:nvPr/>
        </p:nvSpPr>
        <p:spPr>
          <a:xfrm>
            <a:off x="914400" y="5724144"/>
            <a:ext cx="2978810" cy="384048"/>
          </a:xfrm>
          <a:prstGeom prst="rect">
            <a:avLst/>
          </a:prstGeom>
          <a:noFill/>
          <a:ln/>
        </p:spPr>
        <p:txBody>
          <a:bodyPr wrap="square" lIns="0" tIns="0" rIns="0" bIns="0" rtlCol="0" anchor="t"/>
          <a:lstStyle/>
          <a:p>
            <a:pPr marL="0" indent="0">
              <a:lnSpc>
                <a:spcPct val="110000"/>
              </a:lnSpc>
              <a:buNone/>
            </a:pPr>
            <a:r>
              <a:rPr lang="en-US" sz="900" dirty="0">
                <a:solidFill>
                  <a:srgbClr val="6B7488"/>
                </a:solidFill>
                <a:latin typeface="Arial" pitchFamily="34" charset="0"/>
                <a:ea typeface="Arial" pitchFamily="34" charset="-122"/>
                <a:cs typeface="Arial" pitchFamily="34" charset="-120"/>
              </a:rPr>
              <a:t>AFC (×2)  ·  CHANCES  ·  HAMLET  ·  TIRI  ·  RSE  ·  RPS</a:t>
            </a:r>
            <a:endParaRPr lang="en-US" sz="900" dirty="0"/>
          </a:p>
        </p:txBody>
      </p:sp>
      <p:sp>
        <p:nvSpPr>
          <p:cNvPr id="49" name="Shape 45"/>
          <p:cNvSpPr/>
          <p:nvPr/>
        </p:nvSpPr>
        <p:spPr>
          <a:xfrm>
            <a:off x="4350410" y="4901184"/>
            <a:ext cx="3490874" cy="1280160"/>
          </a:xfrm>
          <a:prstGeom prst="roundRect">
            <a:avLst>
              <a:gd name="adj" fmla="val 642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50" name="Text 46"/>
          <p:cNvSpPr/>
          <p:nvPr/>
        </p:nvSpPr>
        <p:spPr>
          <a:xfrm>
            <a:off x="4606442" y="5047488"/>
            <a:ext cx="2978810" cy="292608"/>
          </a:xfrm>
          <a:prstGeom prst="rect">
            <a:avLst/>
          </a:prstGeom>
          <a:noFill/>
          <a:ln/>
        </p:spPr>
        <p:txBody>
          <a:bodyPr wrap="square" lIns="0" tIns="0" rIns="0" bIns="0" rtlCol="0" anchor="t"/>
          <a:lstStyle/>
          <a:p>
            <a:pPr marL="0" indent="0">
              <a:buNone/>
            </a:pPr>
            <a:r>
              <a:rPr lang="en-US" sz="1300" b="1" dirty="0">
                <a:solidFill>
                  <a:srgbClr val="13234C"/>
                </a:solidFill>
                <a:latin typeface="29LT Adir" pitchFamily="34" charset="0"/>
                <a:ea typeface="29LT Adir" pitchFamily="34" charset="-122"/>
                <a:cs typeface="29LT Adir" pitchFamily="34" charset="-120"/>
              </a:rPr>
              <a:t>Farinella: orbiter CubeSat</a:t>
            </a:r>
            <a:endParaRPr lang="en-US" sz="1300" dirty="0"/>
          </a:p>
        </p:txBody>
      </p:sp>
      <p:sp>
        <p:nvSpPr>
          <p:cNvPr id="51" name="Shape 47"/>
          <p:cNvSpPr/>
          <p:nvPr/>
        </p:nvSpPr>
        <p:spPr>
          <a:xfrm>
            <a:off x="4606442" y="5394960"/>
            <a:ext cx="1298448" cy="256032"/>
          </a:xfrm>
          <a:prstGeom prst="roundRect">
            <a:avLst>
              <a:gd name="adj" fmla="val 17857"/>
            </a:avLst>
          </a:prstGeom>
          <a:solidFill>
            <a:srgbClr val="6DD9FF"/>
          </a:solidFill>
          <a:ln/>
        </p:spPr>
        <p:txBody>
          <a:bodyPr/>
          <a:lstStyle/>
          <a:p>
            <a:endParaRPr lang="en-US"/>
          </a:p>
        </p:txBody>
      </p:sp>
      <p:sp>
        <p:nvSpPr>
          <p:cNvPr id="52" name="Text 48"/>
          <p:cNvSpPr/>
          <p:nvPr/>
        </p:nvSpPr>
        <p:spPr>
          <a:xfrm>
            <a:off x="4606442" y="5394960"/>
            <a:ext cx="1298448" cy="256032"/>
          </a:xfrm>
          <a:prstGeom prst="rect">
            <a:avLst/>
          </a:prstGeom>
          <a:noFill/>
          <a:ln/>
        </p:spPr>
        <p:txBody>
          <a:bodyPr wrap="square" lIns="0" tIns="0" rIns="0" bIns="0" rtlCol="0" anchor="ctr"/>
          <a:lstStyle/>
          <a:p>
            <a:pPr marL="0" indent="0" algn="ctr">
              <a:buNone/>
            </a:pPr>
            <a:r>
              <a:rPr lang="en-US" sz="800" b="1" dirty="0">
                <a:solidFill>
                  <a:srgbClr val="13234C"/>
                </a:solidFill>
                <a:latin typeface="Arial" pitchFamily="34" charset="0"/>
                <a:ea typeface="Arial" pitchFamily="34" charset="-122"/>
                <a:cs typeface="Arial" pitchFamily="34" charset="-120"/>
              </a:rPr>
              <a:t>3</a:t>
            </a:r>
            <a:r>
              <a:rPr lang="en-US" sz="800" dirty="0">
                <a:solidFill>
                  <a:srgbClr val="000000"/>
                </a:solidFill>
                <a:latin typeface="Arial" pitchFamily="34" charset="0"/>
                <a:ea typeface="Arial" pitchFamily="34" charset="-122"/>
                <a:cs typeface="Arial" pitchFamily="34" charset="-120"/>
              </a:rPr>
              <a:t>   </a:t>
            </a:r>
            <a:r>
              <a:rPr lang="en-US" sz="800" kern="0" spc="110" dirty="0">
                <a:solidFill>
                  <a:srgbClr val="002060"/>
                </a:solidFill>
                <a:latin typeface="Arial" pitchFamily="34" charset="0"/>
                <a:ea typeface="Arial" pitchFamily="34" charset="-122"/>
                <a:cs typeface="Arial" pitchFamily="34" charset="-120"/>
              </a:rPr>
              <a:t>INSTRUMENTS</a:t>
            </a:r>
            <a:endParaRPr lang="en-US" sz="800" dirty="0">
              <a:solidFill>
                <a:srgbClr val="002060"/>
              </a:solidFill>
            </a:endParaRPr>
          </a:p>
        </p:txBody>
      </p:sp>
      <p:sp>
        <p:nvSpPr>
          <p:cNvPr id="53" name="Text 49"/>
          <p:cNvSpPr/>
          <p:nvPr/>
        </p:nvSpPr>
        <p:spPr>
          <a:xfrm>
            <a:off x="4606442" y="5724144"/>
            <a:ext cx="2978810" cy="384048"/>
          </a:xfrm>
          <a:prstGeom prst="rect">
            <a:avLst/>
          </a:prstGeom>
          <a:noFill/>
          <a:ln/>
        </p:spPr>
        <p:txBody>
          <a:bodyPr wrap="square" lIns="0" tIns="0" rIns="0" bIns="0" rtlCol="0" anchor="t"/>
          <a:lstStyle/>
          <a:p>
            <a:pPr marL="0" indent="0">
              <a:lnSpc>
                <a:spcPct val="110000"/>
              </a:lnSpc>
              <a:buNone/>
            </a:pPr>
            <a:r>
              <a:rPr lang="en-US" sz="900" dirty="0">
                <a:solidFill>
                  <a:srgbClr val="6B7488"/>
                </a:solidFill>
                <a:latin typeface="Arial" pitchFamily="34" charset="0"/>
                <a:ea typeface="Arial" pitchFamily="34" charset="-122"/>
                <a:cs typeface="Arial" pitchFamily="34" charset="-120"/>
              </a:rPr>
              <a:t>HORUS  ·  Low-frequency radar  ·  VISTA</a:t>
            </a:r>
            <a:endParaRPr lang="en-US" sz="900" dirty="0"/>
          </a:p>
        </p:txBody>
      </p:sp>
      <p:sp>
        <p:nvSpPr>
          <p:cNvPr id="54" name="Shape 50"/>
          <p:cNvSpPr/>
          <p:nvPr/>
        </p:nvSpPr>
        <p:spPr>
          <a:xfrm>
            <a:off x="8042453" y="4901184"/>
            <a:ext cx="3490874" cy="1280160"/>
          </a:xfrm>
          <a:prstGeom prst="roundRect">
            <a:avLst>
              <a:gd name="adj" fmla="val 642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55" name="Text 51"/>
          <p:cNvSpPr/>
          <p:nvPr/>
        </p:nvSpPr>
        <p:spPr>
          <a:xfrm>
            <a:off x="8298485" y="5047488"/>
            <a:ext cx="2978810" cy="292608"/>
          </a:xfrm>
          <a:prstGeom prst="rect">
            <a:avLst/>
          </a:prstGeom>
          <a:noFill/>
          <a:ln/>
        </p:spPr>
        <p:txBody>
          <a:bodyPr wrap="square" lIns="0" tIns="0" rIns="0" bIns="0" rtlCol="0" anchor="t"/>
          <a:lstStyle/>
          <a:p>
            <a:pPr marL="0" indent="0">
              <a:buNone/>
            </a:pPr>
            <a:r>
              <a:rPr lang="en-US" sz="1300" b="1" dirty="0">
                <a:solidFill>
                  <a:srgbClr val="13234C"/>
                </a:solidFill>
                <a:latin typeface="29LT Adir" pitchFamily="34" charset="0"/>
                <a:ea typeface="29LT Adir" pitchFamily="34" charset="-122"/>
                <a:cs typeface="29LT Adir" pitchFamily="34" charset="-120"/>
              </a:rPr>
              <a:t>Don Quijote: lander CubeSat</a:t>
            </a:r>
            <a:endParaRPr lang="en-US" sz="1300" dirty="0"/>
          </a:p>
        </p:txBody>
      </p:sp>
      <p:sp>
        <p:nvSpPr>
          <p:cNvPr id="56" name="Shape 52"/>
          <p:cNvSpPr/>
          <p:nvPr/>
        </p:nvSpPr>
        <p:spPr>
          <a:xfrm>
            <a:off x="8298485" y="5394960"/>
            <a:ext cx="1298448" cy="256032"/>
          </a:xfrm>
          <a:prstGeom prst="roundRect">
            <a:avLst>
              <a:gd name="adj" fmla="val 17857"/>
            </a:avLst>
          </a:prstGeom>
          <a:solidFill>
            <a:srgbClr val="6DD9FF"/>
          </a:solidFill>
          <a:ln/>
        </p:spPr>
        <p:txBody>
          <a:bodyPr/>
          <a:lstStyle/>
          <a:p>
            <a:endParaRPr lang="en-US"/>
          </a:p>
        </p:txBody>
      </p:sp>
      <p:sp>
        <p:nvSpPr>
          <p:cNvPr id="57" name="Text 53"/>
          <p:cNvSpPr/>
          <p:nvPr/>
        </p:nvSpPr>
        <p:spPr>
          <a:xfrm>
            <a:off x="8298485" y="5394960"/>
            <a:ext cx="1298448" cy="256032"/>
          </a:xfrm>
          <a:prstGeom prst="rect">
            <a:avLst/>
          </a:prstGeom>
          <a:noFill/>
          <a:ln/>
        </p:spPr>
        <p:txBody>
          <a:bodyPr wrap="square" lIns="0" tIns="0" rIns="0" bIns="0" rtlCol="0" anchor="ctr"/>
          <a:lstStyle/>
          <a:p>
            <a:pPr marL="0" indent="0" algn="ctr">
              <a:buNone/>
            </a:pPr>
            <a:r>
              <a:rPr lang="en-US" sz="800" b="1" dirty="0">
                <a:solidFill>
                  <a:srgbClr val="13234C"/>
                </a:solidFill>
                <a:latin typeface="Arial" pitchFamily="34" charset="0"/>
                <a:ea typeface="Arial" pitchFamily="34" charset="-122"/>
                <a:cs typeface="Arial" pitchFamily="34" charset="-120"/>
              </a:rPr>
              <a:t>3</a:t>
            </a:r>
            <a:r>
              <a:rPr lang="en-US" sz="800" dirty="0">
                <a:solidFill>
                  <a:srgbClr val="000000"/>
                </a:solidFill>
                <a:latin typeface="Arial" pitchFamily="34" charset="0"/>
                <a:ea typeface="Arial" pitchFamily="34" charset="-122"/>
                <a:cs typeface="Arial" pitchFamily="34" charset="-120"/>
              </a:rPr>
              <a:t>   </a:t>
            </a:r>
            <a:r>
              <a:rPr lang="en-US" sz="800" kern="0" spc="110" dirty="0">
                <a:solidFill>
                  <a:srgbClr val="002060"/>
                </a:solidFill>
                <a:latin typeface="Arial" pitchFamily="34" charset="0"/>
                <a:ea typeface="Arial" pitchFamily="34" charset="-122"/>
                <a:cs typeface="Arial" pitchFamily="34" charset="-120"/>
              </a:rPr>
              <a:t>INSTRUMENTS</a:t>
            </a:r>
            <a:endParaRPr lang="en-US" sz="800" dirty="0">
              <a:solidFill>
                <a:srgbClr val="002060"/>
              </a:solidFill>
            </a:endParaRPr>
          </a:p>
        </p:txBody>
      </p:sp>
      <p:sp>
        <p:nvSpPr>
          <p:cNvPr id="58" name="Text 54"/>
          <p:cNvSpPr/>
          <p:nvPr/>
        </p:nvSpPr>
        <p:spPr>
          <a:xfrm>
            <a:off x="8298485" y="5724144"/>
            <a:ext cx="2978810" cy="384048"/>
          </a:xfrm>
          <a:prstGeom prst="rect">
            <a:avLst/>
          </a:prstGeom>
          <a:noFill/>
          <a:ln/>
        </p:spPr>
        <p:txBody>
          <a:bodyPr wrap="square" lIns="0" tIns="0" rIns="0" bIns="0" rtlCol="0" anchor="t"/>
          <a:lstStyle/>
          <a:p>
            <a:pPr marL="0" indent="0">
              <a:lnSpc>
                <a:spcPct val="110000"/>
              </a:lnSpc>
              <a:buNone/>
            </a:pPr>
            <a:r>
              <a:rPr lang="en-US" sz="900" dirty="0">
                <a:solidFill>
                  <a:srgbClr val="6B7488"/>
                </a:solidFill>
                <a:latin typeface="Arial" pitchFamily="34" charset="0"/>
                <a:ea typeface="Arial" pitchFamily="34" charset="-122"/>
                <a:cs typeface="Arial" pitchFamily="34" charset="-120"/>
              </a:rPr>
              <a:t>SIA  ·  Gravimeter  ·  MARIE</a:t>
            </a:r>
            <a:endParaRPr lang="en-US" sz="900" dirty="0"/>
          </a:p>
        </p:txBody>
      </p:sp>
      <p:sp>
        <p:nvSpPr>
          <p:cNvPr id="59" name="Text 55"/>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AAB2C2"/>
                </a:solidFill>
                <a:latin typeface="Arial" pitchFamily="34" charset="0"/>
                <a:ea typeface="Arial" pitchFamily="34" charset="-122"/>
                <a:cs typeface="Arial" pitchFamily="34" charset="-120"/>
              </a:rPr>
              <a:t>3</a:t>
            </a:r>
            <a:endParaRPr lang="en-US" sz="1000" dirty="0"/>
          </a:p>
        </p:txBody>
      </p:sp>
      <p:pic>
        <p:nvPicPr>
          <p:cNvPr id="64" name="Image 1" descr="/home/claude/work/a2/logo_dark.png">
            <a:extLst>
              <a:ext uri="{FF2B5EF4-FFF2-40B4-BE49-F238E27FC236}">
                <a16:creationId xmlns:a16="http://schemas.microsoft.com/office/drawing/2014/main" id="{3D8E3C9F-C8DA-F4B3-3BE0-DA1D786C521C}"/>
              </a:ext>
            </a:extLst>
          </p:cNvPr>
          <p:cNvPicPr>
            <a:picLocks noChangeAspect="1"/>
          </p:cNvPicPr>
          <p:nvPr/>
        </p:nvPicPr>
        <p:blipFill>
          <a:blip r:embed="rId5"/>
          <a:stretch>
            <a:fillRect/>
          </a:stretch>
        </p:blipFill>
        <p:spPr>
          <a:xfrm>
            <a:off x="10616340" y="122984"/>
            <a:ext cx="1450538" cy="814736"/>
          </a:xfrm>
          <a:prstGeom prst="rect">
            <a:avLst/>
          </a:prstGeom>
        </p:spPr>
      </p:pic>
      <p:sp>
        <p:nvSpPr>
          <p:cNvPr id="67" name="BJPseudoFooter">
            <a:extLst>
              <a:ext uri="{FF2B5EF4-FFF2-40B4-BE49-F238E27FC236}">
                <a16:creationId xmlns:a16="http://schemas.microsoft.com/office/drawing/2014/main" id="{6C8279C2-0AD2-7AFC-5478-CA31572B16E0}"/>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B"/>
        </a:solidFill>
        <a:effectLst/>
      </p:bgPr>
    </p:bg>
    <p:spTree>
      <p:nvGrpSpPr>
        <p:cNvPr id="1" name=""/>
        <p:cNvGrpSpPr/>
        <p:nvPr/>
      </p:nvGrpSpPr>
      <p:grpSpPr>
        <a:xfrm>
          <a:off x="0" y="0"/>
          <a:ext cx="0" cy="0"/>
          <a:chOff x="0" y="0"/>
          <a:chExt cx="0" cy="0"/>
        </a:xfrm>
      </p:grpSpPr>
      <p:sp>
        <p:nvSpPr>
          <p:cNvPr id="3" name="Shape 14">
            <a:extLst>
              <a:ext uri="{FF2B5EF4-FFF2-40B4-BE49-F238E27FC236}">
                <a16:creationId xmlns:a16="http://schemas.microsoft.com/office/drawing/2014/main" id="{2E08A341-6123-1972-E128-D1E16329A376}"/>
              </a:ext>
            </a:extLst>
          </p:cNvPr>
          <p:cNvSpPr/>
          <p:nvPr/>
        </p:nvSpPr>
        <p:spPr>
          <a:xfrm>
            <a:off x="375264" y="3721265"/>
            <a:ext cx="11441472" cy="2413490"/>
          </a:xfrm>
          <a:prstGeom prst="roundRect">
            <a:avLst>
              <a:gd name="adj" fmla="val 5056"/>
            </a:avLst>
          </a:prstGeom>
          <a:solidFill>
            <a:srgbClr val="FFFFFF"/>
          </a:solidFill>
          <a:ln w="9525">
            <a:solidFill>
              <a:srgbClr val="FFC000"/>
            </a:solidFill>
            <a:prstDash val="solid"/>
          </a:ln>
          <a:effectLst>
            <a:outerShdw blurRad="50800" dist="38100" dir="8100000" algn="tr" rotWithShape="0">
              <a:prstClr val="black">
                <a:alpha val="40000"/>
              </a:prstClr>
            </a:outerShdw>
          </a:effectLst>
        </p:spPr>
        <p:txBody>
          <a:bodyPr/>
          <a:lstStyle/>
          <a:p>
            <a:endParaRPr lang="en-US"/>
          </a:p>
        </p:txBody>
      </p:sp>
      <p:pic>
        <p:nvPicPr>
          <p:cNvPr id="2" name="Image 0" descr="/home/claude/work/a2/light_wash.jpg"/>
          <p:cNvPicPr>
            <a:picLocks noChangeAspect="1"/>
          </p:cNvPicPr>
          <p:nvPr/>
        </p:nvPicPr>
        <p:blipFill>
          <a:blip r:embed="rId4"/>
          <a:stretch>
            <a:fillRect/>
          </a:stretch>
        </p:blipFill>
        <p:spPr>
          <a:xfrm>
            <a:off x="9805530" y="1765134"/>
            <a:ext cx="1566964" cy="881439"/>
          </a:xfrm>
          <a:prstGeom prst="rect">
            <a:avLst/>
          </a:prstGeom>
        </p:spPr>
      </p:pic>
      <p:sp>
        <p:nvSpPr>
          <p:cNvPr id="4" name="Text 0"/>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13234C"/>
                </a:solidFill>
                <a:latin typeface="29LT Adir" pitchFamily="34" charset="0"/>
                <a:ea typeface="29LT Adir" pitchFamily="34" charset="-122"/>
                <a:cs typeface="29LT Adir" pitchFamily="34" charset="-120"/>
              </a:rPr>
              <a:t>Analysis Methodology</a:t>
            </a:r>
            <a:endParaRPr lang="en-US" sz="3000" dirty="0"/>
          </a:p>
        </p:txBody>
      </p:sp>
      <p:sp>
        <p:nvSpPr>
          <p:cNvPr id="5" name="Text 1"/>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A structured analysis narrowed the opportunity to one payload</a:t>
            </a:r>
            <a:endParaRPr lang="en-US" sz="1250" dirty="0"/>
          </a:p>
        </p:txBody>
      </p:sp>
      <p:sp>
        <p:nvSpPr>
          <p:cNvPr id="6" name="Shape 2"/>
          <p:cNvSpPr/>
          <p:nvPr/>
        </p:nvSpPr>
        <p:spPr>
          <a:xfrm>
            <a:off x="658368" y="1956816"/>
            <a:ext cx="1867753" cy="1627632"/>
          </a:xfrm>
          <a:prstGeom prst="roundRect">
            <a:avLst>
              <a:gd name="adj" fmla="val 5056"/>
            </a:avLst>
          </a:prstGeom>
          <a:solidFill>
            <a:srgbClr val="FFFFFF"/>
          </a:solidFill>
          <a:ln w="9525">
            <a:solidFill>
              <a:srgbClr val="FFC000"/>
            </a:solidFill>
            <a:prstDash val="solid"/>
          </a:ln>
          <a:effectLst>
            <a:outerShdw blurRad="50800" dist="38100" dir="8100000" algn="tr" rotWithShape="0">
              <a:prstClr val="black">
                <a:alpha val="40000"/>
              </a:prstClr>
            </a:outerShdw>
          </a:effectLst>
        </p:spPr>
        <p:txBody>
          <a:bodyPr/>
          <a:lstStyle/>
          <a:p>
            <a:endParaRPr lang="en-US"/>
          </a:p>
        </p:txBody>
      </p:sp>
      <p:sp>
        <p:nvSpPr>
          <p:cNvPr id="7" name="Text 3"/>
          <p:cNvSpPr/>
          <p:nvPr/>
        </p:nvSpPr>
        <p:spPr>
          <a:xfrm>
            <a:off x="841248" y="2176272"/>
            <a:ext cx="1501993" cy="548640"/>
          </a:xfrm>
          <a:prstGeom prst="rect">
            <a:avLst/>
          </a:prstGeom>
          <a:noFill/>
          <a:ln/>
        </p:spPr>
        <p:txBody>
          <a:bodyPr wrap="square" lIns="0" tIns="0" rIns="0" bIns="0" rtlCol="0" anchor="t"/>
          <a:lstStyle/>
          <a:p>
            <a:pPr marL="0" indent="0" algn="l">
              <a:lnSpc>
                <a:spcPct val="96000"/>
              </a:lnSpc>
              <a:buNone/>
            </a:pPr>
            <a:r>
              <a:rPr lang="en-US" sz="1350" b="1" dirty="0">
                <a:solidFill>
                  <a:srgbClr val="13234C"/>
                </a:solidFill>
                <a:latin typeface="29LT Adir" pitchFamily="34" charset="0"/>
                <a:ea typeface="29LT Adir" pitchFamily="34" charset="-122"/>
                <a:cs typeface="29LT Adir" pitchFamily="34" charset="-120"/>
              </a:rPr>
              <a:t>RAMSES baseline</a:t>
            </a:r>
            <a:endParaRPr lang="en-US" sz="1350" dirty="0"/>
          </a:p>
        </p:txBody>
      </p:sp>
      <p:sp>
        <p:nvSpPr>
          <p:cNvPr id="8" name="Text 4"/>
          <p:cNvSpPr/>
          <p:nvPr/>
        </p:nvSpPr>
        <p:spPr>
          <a:xfrm>
            <a:off x="841248" y="2743200"/>
            <a:ext cx="1501993" cy="749808"/>
          </a:xfrm>
          <a:prstGeom prst="rect">
            <a:avLst/>
          </a:prstGeom>
          <a:noFill/>
          <a:ln/>
        </p:spPr>
        <p:txBody>
          <a:bodyPr wrap="square" lIns="0" tIns="0" rIns="0" bIns="0" rtlCol="0" anchor="t"/>
          <a:lstStyle/>
          <a:p>
            <a:pPr marL="0" indent="0">
              <a:lnSpc>
                <a:spcPct val="112000"/>
              </a:lnSpc>
              <a:buNone/>
            </a:pPr>
            <a:r>
              <a:rPr lang="en-US" sz="900" dirty="0">
                <a:solidFill>
                  <a:srgbClr val="6B7488"/>
                </a:solidFill>
                <a:latin typeface="Arial" pitchFamily="34" charset="0"/>
                <a:ea typeface="Arial" pitchFamily="34" charset="-122"/>
                <a:cs typeface="Arial" pitchFamily="34" charset="-120"/>
              </a:rPr>
              <a:t>Studied the mission objectives, platforms and payloads</a:t>
            </a:r>
            <a:endParaRPr lang="en-US" sz="900" dirty="0"/>
          </a:p>
        </p:txBody>
      </p:sp>
      <p:sp>
        <p:nvSpPr>
          <p:cNvPr id="9" name="Shape 5"/>
          <p:cNvSpPr/>
          <p:nvPr/>
        </p:nvSpPr>
        <p:spPr>
          <a:xfrm>
            <a:off x="2590129" y="2670048"/>
            <a:ext cx="256032" cy="201168"/>
          </a:xfrm>
          <a:prstGeom prst="rightArrow">
            <a:avLst/>
          </a:prstGeom>
          <a:solidFill>
            <a:srgbClr val="6DD9FF"/>
          </a:solidFill>
          <a:ln/>
        </p:spPr>
        <p:txBody>
          <a:bodyPr/>
          <a:lstStyle/>
          <a:p>
            <a:endParaRPr lang="en-US"/>
          </a:p>
        </p:txBody>
      </p:sp>
      <p:sp>
        <p:nvSpPr>
          <p:cNvPr id="10" name="Shape 6"/>
          <p:cNvSpPr/>
          <p:nvPr/>
        </p:nvSpPr>
        <p:spPr>
          <a:xfrm>
            <a:off x="2910169" y="1956816"/>
            <a:ext cx="1867753" cy="1627632"/>
          </a:xfrm>
          <a:prstGeom prst="roundRect">
            <a:avLst>
              <a:gd name="adj" fmla="val 5056"/>
            </a:avLst>
          </a:prstGeom>
          <a:solidFill>
            <a:srgbClr val="FFFFFF"/>
          </a:solidFill>
          <a:ln w="9525">
            <a:solidFill>
              <a:srgbClr val="FFC000"/>
            </a:solidFill>
            <a:prstDash val="solid"/>
          </a:ln>
          <a:effectLst>
            <a:outerShdw blurRad="50800" dist="38100" dir="8100000" algn="tr" rotWithShape="0">
              <a:prstClr val="black">
                <a:alpha val="40000"/>
              </a:prstClr>
            </a:outerShdw>
          </a:effectLst>
        </p:spPr>
        <p:txBody>
          <a:bodyPr/>
          <a:lstStyle/>
          <a:p>
            <a:endParaRPr lang="en-US"/>
          </a:p>
        </p:txBody>
      </p:sp>
      <p:sp>
        <p:nvSpPr>
          <p:cNvPr id="11" name="Text 7"/>
          <p:cNvSpPr/>
          <p:nvPr/>
        </p:nvSpPr>
        <p:spPr>
          <a:xfrm>
            <a:off x="3093049" y="2176272"/>
            <a:ext cx="1501993" cy="548640"/>
          </a:xfrm>
          <a:prstGeom prst="rect">
            <a:avLst/>
          </a:prstGeom>
          <a:noFill/>
          <a:ln/>
        </p:spPr>
        <p:txBody>
          <a:bodyPr wrap="square" lIns="0" tIns="0" rIns="0" bIns="0" rtlCol="0" anchor="t"/>
          <a:lstStyle/>
          <a:p>
            <a:pPr marL="0" indent="0" algn="l">
              <a:lnSpc>
                <a:spcPct val="96000"/>
              </a:lnSpc>
              <a:buNone/>
            </a:pPr>
            <a:r>
              <a:rPr lang="en-US" sz="1350" b="1" dirty="0">
                <a:solidFill>
                  <a:srgbClr val="13234C"/>
                </a:solidFill>
                <a:latin typeface="29LT Adir" pitchFamily="34" charset="0"/>
                <a:ea typeface="29LT Adir" pitchFamily="34" charset="-122"/>
                <a:cs typeface="29LT Adir" pitchFamily="34" charset="-120"/>
              </a:rPr>
              <a:t>Mission Measurements</a:t>
            </a:r>
            <a:endParaRPr lang="en-US" sz="1350" dirty="0"/>
          </a:p>
        </p:txBody>
      </p:sp>
      <p:sp>
        <p:nvSpPr>
          <p:cNvPr id="12" name="Text 8"/>
          <p:cNvSpPr/>
          <p:nvPr/>
        </p:nvSpPr>
        <p:spPr>
          <a:xfrm>
            <a:off x="3093049" y="2743200"/>
            <a:ext cx="1501993" cy="749808"/>
          </a:xfrm>
          <a:prstGeom prst="rect">
            <a:avLst/>
          </a:prstGeom>
          <a:noFill/>
          <a:ln/>
        </p:spPr>
        <p:txBody>
          <a:bodyPr wrap="square" lIns="0" tIns="0" rIns="0" bIns="0" rtlCol="0" anchor="t"/>
          <a:lstStyle/>
          <a:p>
            <a:pPr marL="0" indent="0">
              <a:lnSpc>
                <a:spcPct val="112000"/>
              </a:lnSpc>
              <a:buNone/>
            </a:pPr>
            <a:r>
              <a:rPr lang="en-US" sz="900" dirty="0">
                <a:solidFill>
                  <a:srgbClr val="6B7488"/>
                </a:solidFill>
                <a:latin typeface="Arial" pitchFamily="34" charset="0"/>
                <a:ea typeface="Arial" pitchFamily="34" charset="-122"/>
                <a:cs typeface="Arial" pitchFamily="34" charset="-120"/>
              </a:rPr>
              <a:t>Analysed the measurements against objectives, then constructed them through a framework of multi-variables</a:t>
            </a:r>
            <a:endParaRPr lang="en-US" sz="900" dirty="0"/>
          </a:p>
        </p:txBody>
      </p:sp>
      <p:sp>
        <p:nvSpPr>
          <p:cNvPr id="13" name="Shape 9"/>
          <p:cNvSpPr/>
          <p:nvPr/>
        </p:nvSpPr>
        <p:spPr>
          <a:xfrm>
            <a:off x="4841931" y="2670048"/>
            <a:ext cx="256032" cy="201168"/>
          </a:xfrm>
          <a:prstGeom prst="rightArrow">
            <a:avLst/>
          </a:prstGeom>
          <a:solidFill>
            <a:srgbClr val="6DD9FF"/>
          </a:solidFill>
          <a:ln/>
        </p:spPr>
        <p:txBody>
          <a:bodyPr/>
          <a:lstStyle/>
          <a:p>
            <a:endParaRPr lang="en-US"/>
          </a:p>
        </p:txBody>
      </p:sp>
      <p:sp>
        <p:nvSpPr>
          <p:cNvPr id="14" name="Shape 10"/>
          <p:cNvSpPr/>
          <p:nvPr/>
        </p:nvSpPr>
        <p:spPr>
          <a:xfrm>
            <a:off x="5161971" y="1956816"/>
            <a:ext cx="1867753" cy="1627632"/>
          </a:xfrm>
          <a:prstGeom prst="roundRect">
            <a:avLst>
              <a:gd name="adj" fmla="val 5056"/>
            </a:avLst>
          </a:prstGeom>
          <a:solidFill>
            <a:srgbClr val="FFFFFF"/>
          </a:solidFill>
          <a:ln w="9525">
            <a:solidFill>
              <a:srgbClr val="FFC000"/>
            </a:solidFill>
            <a:prstDash val="solid"/>
          </a:ln>
          <a:effectLst>
            <a:outerShdw blurRad="50800" dist="38100" dir="8100000" algn="tr" rotWithShape="0">
              <a:prstClr val="black">
                <a:alpha val="40000"/>
              </a:prstClr>
            </a:outerShdw>
          </a:effectLst>
        </p:spPr>
        <p:txBody>
          <a:bodyPr/>
          <a:lstStyle/>
          <a:p>
            <a:endParaRPr lang="en-US"/>
          </a:p>
        </p:txBody>
      </p:sp>
      <p:sp>
        <p:nvSpPr>
          <p:cNvPr id="15" name="Text 11"/>
          <p:cNvSpPr/>
          <p:nvPr/>
        </p:nvSpPr>
        <p:spPr>
          <a:xfrm>
            <a:off x="5344851" y="2176272"/>
            <a:ext cx="1501993" cy="548640"/>
          </a:xfrm>
          <a:prstGeom prst="rect">
            <a:avLst/>
          </a:prstGeom>
          <a:noFill/>
          <a:ln/>
        </p:spPr>
        <p:txBody>
          <a:bodyPr wrap="square" lIns="0" tIns="0" rIns="0" bIns="0" rtlCol="0" anchor="t"/>
          <a:lstStyle/>
          <a:p>
            <a:pPr marL="0" indent="0" algn="l">
              <a:lnSpc>
                <a:spcPct val="96000"/>
              </a:lnSpc>
              <a:buNone/>
            </a:pPr>
            <a:r>
              <a:rPr lang="en-US" sz="1350" b="1" dirty="0">
                <a:solidFill>
                  <a:srgbClr val="13234C"/>
                </a:solidFill>
                <a:latin typeface="29LT Adir" pitchFamily="34" charset="0"/>
                <a:ea typeface="29LT Adir" pitchFamily="34" charset="-122"/>
                <a:cs typeface="29LT Adir" pitchFamily="34" charset="-120"/>
              </a:rPr>
              <a:t>Knowledge gaps</a:t>
            </a:r>
            <a:endParaRPr lang="en-US" sz="1350" dirty="0"/>
          </a:p>
        </p:txBody>
      </p:sp>
      <p:sp>
        <p:nvSpPr>
          <p:cNvPr id="16" name="Text 12"/>
          <p:cNvSpPr/>
          <p:nvPr/>
        </p:nvSpPr>
        <p:spPr>
          <a:xfrm>
            <a:off x="5344851" y="2743200"/>
            <a:ext cx="1501993" cy="749808"/>
          </a:xfrm>
          <a:prstGeom prst="rect">
            <a:avLst/>
          </a:prstGeom>
          <a:noFill/>
          <a:ln/>
        </p:spPr>
        <p:txBody>
          <a:bodyPr wrap="square" lIns="0" tIns="0" rIns="0" bIns="0" rtlCol="0" anchor="t"/>
          <a:lstStyle/>
          <a:p>
            <a:pPr marL="0" indent="0">
              <a:lnSpc>
                <a:spcPct val="112000"/>
              </a:lnSpc>
              <a:buNone/>
            </a:pPr>
            <a:r>
              <a:rPr lang="en-US" sz="900" dirty="0">
                <a:solidFill>
                  <a:srgbClr val="6B7488"/>
                </a:solidFill>
                <a:latin typeface="Arial" pitchFamily="34" charset="0"/>
                <a:ea typeface="Arial" pitchFamily="34" charset="-122"/>
                <a:cs typeface="Arial" pitchFamily="34" charset="-120"/>
              </a:rPr>
              <a:t>Determined knowledge gaps by extracting the non measured measurements</a:t>
            </a:r>
            <a:endParaRPr lang="en-US" sz="900" dirty="0"/>
          </a:p>
        </p:txBody>
      </p:sp>
      <p:sp>
        <p:nvSpPr>
          <p:cNvPr id="17" name="Shape 13"/>
          <p:cNvSpPr/>
          <p:nvPr/>
        </p:nvSpPr>
        <p:spPr>
          <a:xfrm>
            <a:off x="7093732" y="2670048"/>
            <a:ext cx="256032" cy="201168"/>
          </a:xfrm>
          <a:prstGeom prst="rightArrow">
            <a:avLst/>
          </a:prstGeom>
          <a:solidFill>
            <a:srgbClr val="6DD9FF"/>
          </a:solidFill>
          <a:ln/>
        </p:spPr>
        <p:txBody>
          <a:bodyPr/>
          <a:lstStyle/>
          <a:p>
            <a:endParaRPr lang="en-US"/>
          </a:p>
        </p:txBody>
      </p:sp>
      <p:sp>
        <p:nvSpPr>
          <p:cNvPr id="18" name="Shape 14"/>
          <p:cNvSpPr/>
          <p:nvPr/>
        </p:nvSpPr>
        <p:spPr>
          <a:xfrm>
            <a:off x="7413772" y="1956816"/>
            <a:ext cx="1867753" cy="1627632"/>
          </a:xfrm>
          <a:prstGeom prst="roundRect">
            <a:avLst>
              <a:gd name="adj" fmla="val 5056"/>
            </a:avLst>
          </a:prstGeom>
          <a:solidFill>
            <a:srgbClr val="FFFFFF"/>
          </a:solidFill>
          <a:ln w="9525">
            <a:solidFill>
              <a:srgbClr val="FFC000"/>
            </a:solidFill>
            <a:prstDash val="solid"/>
          </a:ln>
          <a:effectLst>
            <a:outerShdw blurRad="50800" dist="38100" dir="8100000" algn="tr" rotWithShape="0">
              <a:prstClr val="black">
                <a:alpha val="40000"/>
              </a:prstClr>
            </a:outerShdw>
          </a:effectLst>
        </p:spPr>
        <p:txBody>
          <a:bodyPr/>
          <a:lstStyle/>
          <a:p>
            <a:endParaRPr lang="en-US"/>
          </a:p>
        </p:txBody>
      </p:sp>
      <p:sp>
        <p:nvSpPr>
          <p:cNvPr id="19" name="Text 15"/>
          <p:cNvSpPr/>
          <p:nvPr/>
        </p:nvSpPr>
        <p:spPr>
          <a:xfrm>
            <a:off x="7596652" y="2176272"/>
            <a:ext cx="1501993" cy="548640"/>
          </a:xfrm>
          <a:prstGeom prst="rect">
            <a:avLst/>
          </a:prstGeom>
          <a:noFill/>
          <a:ln/>
        </p:spPr>
        <p:txBody>
          <a:bodyPr wrap="square" lIns="0" tIns="0" rIns="0" bIns="0" rtlCol="0" anchor="t"/>
          <a:lstStyle/>
          <a:p>
            <a:pPr marL="0" indent="0" algn="l">
              <a:lnSpc>
                <a:spcPct val="96000"/>
              </a:lnSpc>
              <a:buNone/>
            </a:pPr>
            <a:r>
              <a:rPr lang="en-US" sz="1350" b="1" dirty="0">
                <a:solidFill>
                  <a:srgbClr val="13234C"/>
                </a:solidFill>
                <a:latin typeface="29LT Adir" pitchFamily="34" charset="0"/>
                <a:ea typeface="29LT Adir" pitchFamily="34" charset="-122"/>
                <a:cs typeface="29LT Adir" pitchFamily="34" charset="-120"/>
              </a:rPr>
              <a:t>Payload trade study</a:t>
            </a:r>
            <a:endParaRPr lang="en-US" sz="1350" dirty="0"/>
          </a:p>
        </p:txBody>
      </p:sp>
      <p:sp>
        <p:nvSpPr>
          <p:cNvPr id="20" name="Text 16"/>
          <p:cNvSpPr/>
          <p:nvPr/>
        </p:nvSpPr>
        <p:spPr>
          <a:xfrm>
            <a:off x="7596652" y="2743200"/>
            <a:ext cx="1501993" cy="749808"/>
          </a:xfrm>
          <a:prstGeom prst="rect">
            <a:avLst/>
          </a:prstGeom>
          <a:noFill/>
          <a:ln/>
        </p:spPr>
        <p:txBody>
          <a:bodyPr wrap="square" lIns="0" tIns="0" rIns="0" bIns="0" rtlCol="0" anchor="t"/>
          <a:lstStyle/>
          <a:p>
            <a:pPr marL="0" indent="0">
              <a:lnSpc>
                <a:spcPct val="112000"/>
              </a:lnSpc>
              <a:buNone/>
            </a:pPr>
            <a:r>
              <a:rPr lang="en-US" sz="900" dirty="0">
                <a:solidFill>
                  <a:srgbClr val="6B7488"/>
                </a:solidFill>
                <a:latin typeface="Arial" pitchFamily="34" charset="0"/>
                <a:ea typeface="Arial" pitchFamily="34" charset="-122"/>
                <a:cs typeface="Arial" pitchFamily="34" charset="-120"/>
              </a:rPr>
              <a:t>Searched for a set of compatible payloads</a:t>
            </a:r>
            <a:endParaRPr lang="en-US" sz="900" dirty="0"/>
          </a:p>
        </p:txBody>
      </p:sp>
      <p:sp>
        <p:nvSpPr>
          <p:cNvPr id="21" name="Shape 17"/>
          <p:cNvSpPr/>
          <p:nvPr/>
        </p:nvSpPr>
        <p:spPr>
          <a:xfrm>
            <a:off x="9345534" y="2670048"/>
            <a:ext cx="256032" cy="201168"/>
          </a:xfrm>
          <a:prstGeom prst="rightArrow">
            <a:avLst/>
          </a:prstGeom>
          <a:solidFill>
            <a:srgbClr val="6DD9FF"/>
          </a:solidFill>
          <a:ln/>
        </p:spPr>
        <p:txBody>
          <a:bodyPr/>
          <a:lstStyle/>
          <a:p>
            <a:endParaRPr lang="en-US"/>
          </a:p>
        </p:txBody>
      </p:sp>
      <p:sp>
        <p:nvSpPr>
          <p:cNvPr id="22" name="Shape 18"/>
          <p:cNvSpPr/>
          <p:nvPr/>
        </p:nvSpPr>
        <p:spPr>
          <a:xfrm>
            <a:off x="9665574" y="1956816"/>
            <a:ext cx="1867753" cy="1627632"/>
          </a:xfrm>
          <a:prstGeom prst="roundRect">
            <a:avLst>
              <a:gd name="adj" fmla="val 5056"/>
            </a:avLst>
          </a:prstGeom>
          <a:solidFill>
            <a:srgbClr val="13234C"/>
          </a:solidFill>
          <a:ln/>
          <a:effectLst>
            <a:outerShdw blurRad="50800" dist="38100" dir="8100000" algn="tr" rotWithShape="0">
              <a:prstClr val="black">
                <a:alpha val="40000"/>
              </a:prstClr>
            </a:outerShdw>
          </a:effectLst>
        </p:spPr>
        <p:txBody>
          <a:bodyPr/>
          <a:lstStyle/>
          <a:p>
            <a:endParaRPr lang="en-US"/>
          </a:p>
        </p:txBody>
      </p:sp>
      <p:sp>
        <p:nvSpPr>
          <p:cNvPr id="23" name="Text 19"/>
          <p:cNvSpPr/>
          <p:nvPr/>
        </p:nvSpPr>
        <p:spPr>
          <a:xfrm>
            <a:off x="9848454" y="2523744"/>
            <a:ext cx="1501993" cy="548640"/>
          </a:xfrm>
          <a:prstGeom prst="rect">
            <a:avLst/>
          </a:prstGeom>
          <a:noFill/>
          <a:ln/>
        </p:spPr>
        <p:txBody>
          <a:bodyPr wrap="square" lIns="0" tIns="0" rIns="0" bIns="0" rtlCol="0" anchor="t"/>
          <a:lstStyle/>
          <a:p>
            <a:pPr marL="0" indent="0" algn="l">
              <a:lnSpc>
                <a:spcPct val="96000"/>
              </a:lnSpc>
              <a:buNone/>
            </a:pPr>
            <a:r>
              <a:rPr lang="en-US" sz="1400" b="1" dirty="0">
                <a:solidFill>
                  <a:srgbClr val="FFFFFF"/>
                </a:solidFill>
                <a:latin typeface="29LT Adir" pitchFamily="34" charset="0"/>
                <a:ea typeface="29LT Adir" pitchFamily="34" charset="-122"/>
                <a:cs typeface="29LT Adir" pitchFamily="34" charset="-120"/>
              </a:rPr>
              <a:t>One recommended payload</a:t>
            </a:r>
            <a:endParaRPr lang="en-US" sz="1400" dirty="0"/>
          </a:p>
        </p:txBody>
      </p:sp>
      <p:sp>
        <p:nvSpPr>
          <p:cNvPr id="36" name="Text 28"/>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AAB2C2"/>
                </a:solidFill>
                <a:latin typeface="Arial" pitchFamily="34" charset="0"/>
                <a:ea typeface="Arial" pitchFamily="34" charset="-122"/>
                <a:cs typeface="Arial" pitchFamily="34" charset="-120"/>
              </a:rPr>
              <a:t>4</a:t>
            </a:r>
            <a:endParaRPr lang="en-US" sz="1000" dirty="0"/>
          </a:p>
        </p:txBody>
      </p:sp>
      <p:pic>
        <p:nvPicPr>
          <p:cNvPr id="41" name="Image 1" descr="/home/claude/work/a2/logo_dark.png">
            <a:extLst>
              <a:ext uri="{FF2B5EF4-FFF2-40B4-BE49-F238E27FC236}">
                <a16:creationId xmlns:a16="http://schemas.microsoft.com/office/drawing/2014/main" id="{6CC81659-056E-6DC3-CA7D-6893C5DFE109}"/>
              </a:ext>
            </a:extLst>
          </p:cNvPr>
          <p:cNvPicPr>
            <a:picLocks noChangeAspect="1"/>
          </p:cNvPicPr>
          <p:nvPr/>
        </p:nvPicPr>
        <p:blipFill>
          <a:blip r:embed="rId5"/>
          <a:stretch>
            <a:fillRect/>
          </a:stretch>
        </p:blipFill>
        <p:spPr>
          <a:xfrm>
            <a:off x="10616340" y="122984"/>
            <a:ext cx="1450538" cy="814736"/>
          </a:xfrm>
          <a:prstGeom prst="rect">
            <a:avLst/>
          </a:prstGeom>
        </p:spPr>
      </p:pic>
      <p:pic>
        <p:nvPicPr>
          <p:cNvPr id="1026" name="id-25661DBB-9496-4632-9423-94E61FCD4C7F" descr="Image.png">
            <a:extLst>
              <a:ext uri="{FF2B5EF4-FFF2-40B4-BE49-F238E27FC236}">
                <a16:creationId xmlns:a16="http://schemas.microsoft.com/office/drawing/2014/main" id="{57887C45-0CF5-3ABC-CB24-06A06C5576E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620" r="1494"/>
          <a:stretch>
            <a:fillRect/>
          </a:stretch>
        </p:blipFill>
        <p:spPr bwMode="auto">
          <a:xfrm>
            <a:off x="9768651" y="3909152"/>
            <a:ext cx="1640721" cy="188817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id-B76E504D-5CD2-44E5-9ABD-29C717B287B1" descr="Image.png">
            <a:extLst>
              <a:ext uri="{FF2B5EF4-FFF2-40B4-BE49-F238E27FC236}">
                <a16:creationId xmlns:a16="http://schemas.microsoft.com/office/drawing/2014/main" id="{911A4C9F-1490-8DC1-3AEF-475ADF4BE5D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809" t="3286" r="1300"/>
          <a:stretch>
            <a:fillRect/>
          </a:stretch>
        </p:blipFill>
        <p:spPr bwMode="auto">
          <a:xfrm>
            <a:off x="9914938" y="4577553"/>
            <a:ext cx="1706019" cy="13884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44">
            <a:extLst>
              <a:ext uri="{FF2B5EF4-FFF2-40B4-BE49-F238E27FC236}">
                <a16:creationId xmlns:a16="http://schemas.microsoft.com/office/drawing/2014/main" id="{25F8DB1C-0920-3FF2-54B7-A2B2AEACCC50}"/>
              </a:ext>
            </a:extLst>
          </p:cNvPr>
          <p:cNvPicPr>
            <a:picLocks noChangeAspect="1"/>
          </p:cNvPicPr>
          <p:nvPr/>
        </p:nvPicPr>
        <p:blipFill>
          <a:blip r:embed="rId8"/>
          <a:srcRect l="5940" r="3509"/>
          <a:stretch>
            <a:fillRect/>
          </a:stretch>
        </p:blipFill>
        <p:spPr>
          <a:xfrm>
            <a:off x="3202193" y="4026289"/>
            <a:ext cx="1557913" cy="1789200"/>
          </a:xfrm>
          <a:prstGeom prst="rect">
            <a:avLst/>
          </a:prstGeom>
          <a:ln>
            <a:noFill/>
          </a:ln>
          <a:effectLst>
            <a:outerShdw blurRad="292100" dist="139700" dir="2700000" algn="tl" rotWithShape="0">
              <a:srgbClr val="333333">
                <a:alpha val="65000"/>
              </a:srgbClr>
            </a:outerShdw>
          </a:effectLst>
        </p:spPr>
      </p:pic>
      <p:pic>
        <p:nvPicPr>
          <p:cNvPr id="49" name="Picture 48">
            <a:extLst>
              <a:ext uri="{FF2B5EF4-FFF2-40B4-BE49-F238E27FC236}">
                <a16:creationId xmlns:a16="http://schemas.microsoft.com/office/drawing/2014/main" id="{90724810-45E8-D83C-42EB-3C0FBF795479}"/>
              </a:ext>
            </a:extLst>
          </p:cNvPr>
          <p:cNvPicPr>
            <a:picLocks noChangeAspect="1"/>
          </p:cNvPicPr>
          <p:nvPr/>
        </p:nvPicPr>
        <p:blipFill>
          <a:blip r:embed="rId9"/>
          <a:stretch>
            <a:fillRect/>
          </a:stretch>
        </p:blipFill>
        <p:spPr>
          <a:xfrm>
            <a:off x="545167" y="3901439"/>
            <a:ext cx="1561921" cy="1630494"/>
          </a:xfrm>
          <a:prstGeom prst="rect">
            <a:avLst/>
          </a:prstGeom>
          <a:ln>
            <a:noFill/>
          </a:ln>
          <a:effectLst>
            <a:outerShdw blurRad="292100" dist="139700" dir="2700000" algn="tl" rotWithShape="0">
              <a:srgbClr val="333333">
                <a:alpha val="65000"/>
              </a:srgbClr>
            </a:outerShdw>
          </a:effectLst>
        </p:spPr>
      </p:pic>
      <p:pic>
        <p:nvPicPr>
          <p:cNvPr id="51" name="Picture 50">
            <a:extLst>
              <a:ext uri="{FF2B5EF4-FFF2-40B4-BE49-F238E27FC236}">
                <a16:creationId xmlns:a16="http://schemas.microsoft.com/office/drawing/2014/main" id="{33CF60C8-5960-3029-329E-D51F59E8DFBF}"/>
              </a:ext>
            </a:extLst>
          </p:cNvPr>
          <p:cNvPicPr>
            <a:picLocks noChangeAspect="1"/>
          </p:cNvPicPr>
          <p:nvPr/>
        </p:nvPicPr>
        <p:blipFill>
          <a:blip r:embed="rId10"/>
          <a:srcRect l="2885" r="3167"/>
          <a:stretch>
            <a:fillRect/>
          </a:stretch>
        </p:blipFill>
        <p:spPr>
          <a:xfrm>
            <a:off x="3107112" y="4360887"/>
            <a:ext cx="1512841" cy="1651507"/>
          </a:xfrm>
          <a:prstGeom prst="rect">
            <a:avLst/>
          </a:prstGeom>
          <a:ln>
            <a:noFill/>
          </a:ln>
          <a:effectLst>
            <a:outerShdw blurRad="292100" dist="139700" dir="2700000" algn="tl" rotWithShape="0">
              <a:srgbClr val="333333">
                <a:alpha val="65000"/>
              </a:srgbClr>
            </a:outerShdw>
          </a:effectLst>
        </p:spPr>
      </p:pic>
      <p:sp>
        <p:nvSpPr>
          <p:cNvPr id="53" name="Shape 5">
            <a:extLst>
              <a:ext uri="{FF2B5EF4-FFF2-40B4-BE49-F238E27FC236}">
                <a16:creationId xmlns:a16="http://schemas.microsoft.com/office/drawing/2014/main" id="{CE0F390F-0F9C-364C-FBD9-986A92597122}"/>
              </a:ext>
            </a:extLst>
          </p:cNvPr>
          <p:cNvSpPr/>
          <p:nvPr/>
        </p:nvSpPr>
        <p:spPr>
          <a:xfrm>
            <a:off x="2595048" y="4978325"/>
            <a:ext cx="256032" cy="201168"/>
          </a:xfrm>
          <a:prstGeom prst="rightArrow">
            <a:avLst/>
          </a:prstGeom>
          <a:solidFill>
            <a:srgbClr val="6DD9FF"/>
          </a:solidFill>
          <a:ln/>
        </p:spPr>
        <p:txBody>
          <a:bodyPr/>
          <a:lstStyle/>
          <a:p>
            <a:endParaRPr lang="en-US"/>
          </a:p>
        </p:txBody>
      </p:sp>
      <p:sp>
        <p:nvSpPr>
          <p:cNvPr id="54" name="Shape 9">
            <a:extLst>
              <a:ext uri="{FF2B5EF4-FFF2-40B4-BE49-F238E27FC236}">
                <a16:creationId xmlns:a16="http://schemas.microsoft.com/office/drawing/2014/main" id="{69C4C322-B44F-BC94-08B9-959E74B57CE2}"/>
              </a:ext>
            </a:extLst>
          </p:cNvPr>
          <p:cNvSpPr/>
          <p:nvPr/>
        </p:nvSpPr>
        <p:spPr>
          <a:xfrm>
            <a:off x="4917059" y="4950891"/>
            <a:ext cx="256032" cy="201168"/>
          </a:xfrm>
          <a:prstGeom prst="rightArrow">
            <a:avLst/>
          </a:prstGeom>
          <a:solidFill>
            <a:srgbClr val="6DD9FF"/>
          </a:solidFill>
          <a:ln/>
        </p:spPr>
        <p:txBody>
          <a:bodyPr/>
          <a:lstStyle/>
          <a:p>
            <a:endParaRPr lang="en-US"/>
          </a:p>
        </p:txBody>
      </p:sp>
      <p:pic>
        <p:nvPicPr>
          <p:cNvPr id="43" name="Picture 42">
            <a:extLst>
              <a:ext uri="{FF2B5EF4-FFF2-40B4-BE49-F238E27FC236}">
                <a16:creationId xmlns:a16="http://schemas.microsoft.com/office/drawing/2014/main" id="{C001CFDC-AC4A-D559-51F4-5BAF09EB49BD}"/>
              </a:ext>
            </a:extLst>
          </p:cNvPr>
          <p:cNvPicPr>
            <a:picLocks noChangeAspect="1"/>
          </p:cNvPicPr>
          <p:nvPr/>
        </p:nvPicPr>
        <p:blipFill>
          <a:blip r:embed="rId11"/>
          <a:stretch>
            <a:fillRect/>
          </a:stretch>
        </p:blipFill>
        <p:spPr>
          <a:xfrm>
            <a:off x="894054" y="4074364"/>
            <a:ext cx="1552352" cy="1807922"/>
          </a:xfrm>
          <a:prstGeom prst="rect">
            <a:avLst/>
          </a:prstGeom>
          <a:ln>
            <a:noFill/>
          </a:ln>
          <a:effectLst>
            <a:outerShdw blurRad="292100" dist="139700" dir="2700000" algn="tl" rotWithShape="0">
              <a:srgbClr val="333333">
                <a:alpha val="65000"/>
              </a:srgbClr>
            </a:outerShdw>
          </a:effectLst>
        </p:spPr>
      </p:pic>
      <p:pic>
        <p:nvPicPr>
          <p:cNvPr id="47" name="Picture 46">
            <a:extLst>
              <a:ext uri="{FF2B5EF4-FFF2-40B4-BE49-F238E27FC236}">
                <a16:creationId xmlns:a16="http://schemas.microsoft.com/office/drawing/2014/main" id="{D0B6EF0D-2D79-FF64-1A56-99B09ECA4522}"/>
              </a:ext>
            </a:extLst>
          </p:cNvPr>
          <p:cNvPicPr>
            <a:picLocks noChangeAspect="1"/>
          </p:cNvPicPr>
          <p:nvPr/>
        </p:nvPicPr>
        <p:blipFill>
          <a:blip r:embed="rId12"/>
          <a:stretch>
            <a:fillRect/>
          </a:stretch>
        </p:blipFill>
        <p:spPr>
          <a:xfrm>
            <a:off x="532240" y="4455820"/>
            <a:ext cx="1350560" cy="1499616"/>
          </a:xfrm>
          <a:prstGeom prst="rect">
            <a:avLst/>
          </a:prstGeom>
          <a:ln>
            <a:noFill/>
          </a:ln>
          <a:effectLst>
            <a:outerShdw blurRad="292100" dist="139700" dir="2700000" algn="tl" rotWithShape="0">
              <a:srgbClr val="333333">
                <a:alpha val="65000"/>
              </a:srgbClr>
            </a:outerShdw>
          </a:effectLst>
        </p:spPr>
      </p:pic>
      <p:sp>
        <p:nvSpPr>
          <p:cNvPr id="55" name="Shape 13">
            <a:extLst>
              <a:ext uri="{FF2B5EF4-FFF2-40B4-BE49-F238E27FC236}">
                <a16:creationId xmlns:a16="http://schemas.microsoft.com/office/drawing/2014/main" id="{AADC9311-360F-03EE-C192-7899A60AF5E4}"/>
              </a:ext>
            </a:extLst>
          </p:cNvPr>
          <p:cNvSpPr/>
          <p:nvPr/>
        </p:nvSpPr>
        <p:spPr>
          <a:xfrm>
            <a:off x="7105436" y="4950891"/>
            <a:ext cx="256032" cy="201168"/>
          </a:xfrm>
          <a:prstGeom prst="rightArrow">
            <a:avLst/>
          </a:prstGeom>
          <a:solidFill>
            <a:srgbClr val="6DD9FF"/>
          </a:solidFill>
          <a:ln/>
        </p:spPr>
        <p:txBody>
          <a:bodyPr/>
          <a:lstStyle/>
          <a:p>
            <a:endParaRPr lang="en-US"/>
          </a:p>
        </p:txBody>
      </p:sp>
      <p:sp>
        <p:nvSpPr>
          <p:cNvPr id="56" name="Shape 17">
            <a:extLst>
              <a:ext uri="{FF2B5EF4-FFF2-40B4-BE49-F238E27FC236}">
                <a16:creationId xmlns:a16="http://schemas.microsoft.com/office/drawing/2014/main" id="{8132D128-B336-C82E-066C-00204A82D5E8}"/>
              </a:ext>
            </a:extLst>
          </p:cNvPr>
          <p:cNvSpPr/>
          <p:nvPr/>
        </p:nvSpPr>
        <p:spPr>
          <a:xfrm>
            <a:off x="9438683" y="4978325"/>
            <a:ext cx="256032" cy="201168"/>
          </a:xfrm>
          <a:prstGeom prst="rightArrow">
            <a:avLst/>
          </a:prstGeom>
          <a:solidFill>
            <a:srgbClr val="6DD9FF"/>
          </a:solidFill>
          <a:ln/>
        </p:spPr>
        <p:txBody>
          <a:bodyPr/>
          <a:lstStyle/>
          <a:p>
            <a:endParaRPr lang="en-US"/>
          </a:p>
        </p:txBody>
      </p:sp>
      <p:pic>
        <p:nvPicPr>
          <p:cNvPr id="60" name="Picture 59">
            <a:extLst>
              <a:ext uri="{FF2B5EF4-FFF2-40B4-BE49-F238E27FC236}">
                <a16:creationId xmlns:a16="http://schemas.microsoft.com/office/drawing/2014/main" id="{CE3EC36C-9430-6AA6-96E0-2FCF65EFB5DA}"/>
              </a:ext>
            </a:extLst>
          </p:cNvPr>
          <p:cNvPicPr>
            <a:picLocks noChangeAspect="1"/>
          </p:cNvPicPr>
          <p:nvPr/>
        </p:nvPicPr>
        <p:blipFill>
          <a:blip r:embed="rId13"/>
          <a:stretch>
            <a:fillRect/>
          </a:stretch>
        </p:blipFill>
        <p:spPr>
          <a:xfrm>
            <a:off x="5270866" y="3956096"/>
            <a:ext cx="1446747" cy="1794289"/>
          </a:xfrm>
          <a:prstGeom prst="rect">
            <a:avLst/>
          </a:prstGeom>
          <a:ln>
            <a:noFill/>
          </a:ln>
          <a:effectLst>
            <a:outerShdw blurRad="292100" dist="139700" dir="2700000" algn="tl" rotWithShape="0">
              <a:srgbClr val="333333">
                <a:alpha val="65000"/>
              </a:srgbClr>
            </a:outerShdw>
          </a:effectLst>
        </p:spPr>
      </p:pic>
      <p:pic>
        <p:nvPicPr>
          <p:cNvPr id="58" name="Picture 57">
            <a:extLst>
              <a:ext uri="{FF2B5EF4-FFF2-40B4-BE49-F238E27FC236}">
                <a16:creationId xmlns:a16="http://schemas.microsoft.com/office/drawing/2014/main" id="{D897A310-556C-6401-7AFF-37348D5210E2}"/>
              </a:ext>
            </a:extLst>
          </p:cNvPr>
          <p:cNvPicPr>
            <a:picLocks noChangeAspect="1"/>
          </p:cNvPicPr>
          <p:nvPr/>
        </p:nvPicPr>
        <p:blipFill>
          <a:blip r:embed="rId14"/>
          <a:srcRect l="2307" t="1793" r="3800"/>
          <a:stretch>
            <a:fillRect/>
          </a:stretch>
        </p:blipFill>
        <p:spPr>
          <a:xfrm>
            <a:off x="5610184" y="4286945"/>
            <a:ext cx="1387094" cy="1626878"/>
          </a:xfrm>
          <a:prstGeom prst="rect">
            <a:avLst/>
          </a:prstGeom>
          <a:ln>
            <a:noFill/>
          </a:ln>
          <a:effectLst>
            <a:outerShdw blurRad="292100" dist="139700" dir="2700000" algn="tl" rotWithShape="0">
              <a:srgbClr val="333333">
                <a:alpha val="65000"/>
              </a:srgbClr>
            </a:outerShdw>
          </a:effectLst>
        </p:spPr>
      </p:pic>
      <p:pic>
        <p:nvPicPr>
          <p:cNvPr id="62" name="Picture 61">
            <a:extLst>
              <a:ext uri="{FF2B5EF4-FFF2-40B4-BE49-F238E27FC236}">
                <a16:creationId xmlns:a16="http://schemas.microsoft.com/office/drawing/2014/main" id="{D4A7927D-0C28-F4B2-CB13-F0B3816B5B01}"/>
              </a:ext>
            </a:extLst>
          </p:cNvPr>
          <p:cNvPicPr>
            <a:picLocks noChangeAspect="1"/>
          </p:cNvPicPr>
          <p:nvPr/>
        </p:nvPicPr>
        <p:blipFill>
          <a:blip r:embed="rId15"/>
          <a:srcRect l="3171" t="2419" r="2666"/>
          <a:stretch>
            <a:fillRect/>
          </a:stretch>
        </p:blipFill>
        <p:spPr>
          <a:xfrm>
            <a:off x="7506317" y="4039240"/>
            <a:ext cx="1759517" cy="1147401"/>
          </a:xfrm>
          <a:prstGeom prst="rect">
            <a:avLst/>
          </a:prstGeom>
          <a:ln>
            <a:noFill/>
          </a:ln>
          <a:effectLst>
            <a:outerShdw blurRad="292100" dist="139700" dir="2700000" algn="tl" rotWithShape="0">
              <a:srgbClr val="333333">
                <a:alpha val="65000"/>
              </a:srgbClr>
            </a:outerShdw>
          </a:effectLst>
        </p:spPr>
      </p:pic>
      <p:pic>
        <p:nvPicPr>
          <p:cNvPr id="1024" name="Picture 1023">
            <a:extLst>
              <a:ext uri="{FF2B5EF4-FFF2-40B4-BE49-F238E27FC236}">
                <a16:creationId xmlns:a16="http://schemas.microsoft.com/office/drawing/2014/main" id="{3AEAE07B-7286-BB95-A023-33E306CD8E4B}"/>
              </a:ext>
            </a:extLst>
          </p:cNvPr>
          <p:cNvPicPr>
            <a:picLocks noChangeAspect="1"/>
          </p:cNvPicPr>
          <p:nvPr/>
        </p:nvPicPr>
        <p:blipFill>
          <a:blip r:embed="rId16"/>
          <a:srcRect l="3373" r="4049"/>
          <a:stretch>
            <a:fillRect/>
          </a:stretch>
        </p:blipFill>
        <p:spPr>
          <a:xfrm>
            <a:off x="7621214" y="4545999"/>
            <a:ext cx="1686807" cy="1108770"/>
          </a:xfrm>
          <a:prstGeom prst="rect">
            <a:avLst/>
          </a:prstGeom>
          <a:ln>
            <a:noFill/>
          </a:ln>
          <a:effectLst>
            <a:outerShdw blurRad="292100" dist="139700" dir="2700000" algn="tl" rotWithShape="0">
              <a:srgbClr val="333333">
                <a:alpha val="65000"/>
              </a:srgbClr>
            </a:outerShdw>
          </a:effectLst>
        </p:spPr>
      </p:pic>
      <p:sp>
        <p:nvSpPr>
          <p:cNvPr id="1029" name="BJPseudoFooter">
            <a:extLst>
              <a:ext uri="{FF2B5EF4-FFF2-40B4-BE49-F238E27FC236}">
                <a16:creationId xmlns:a16="http://schemas.microsoft.com/office/drawing/2014/main" id="{87D3E0BA-A155-A714-12E4-F82422BE5956}"/>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6"/>
        </a:solidFill>
        <a:effectLst/>
      </p:bgPr>
    </p:bg>
    <p:spTree>
      <p:nvGrpSpPr>
        <p:cNvPr id="1" name=""/>
        <p:cNvGrpSpPr/>
        <p:nvPr/>
      </p:nvGrpSpPr>
      <p:grpSpPr>
        <a:xfrm>
          <a:off x="0" y="0"/>
          <a:ext cx="0" cy="0"/>
          <a:chOff x="0" y="0"/>
          <a:chExt cx="0" cy="0"/>
        </a:xfrm>
      </p:grpSpPr>
      <p:pic>
        <p:nvPicPr>
          <p:cNvPr id="2" name="Image 0" descr="/home/claude/work/a2/glow_blue.jpg"/>
          <p:cNvPicPr>
            <a:picLocks noChangeAspect="1"/>
          </p:cNvPicPr>
          <p:nvPr/>
        </p:nvPicPr>
        <p:blipFill>
          <a:blip r:embed="rId4"/>
          <a:stretch>
            <a:fillRect/>
          </a:stretch>
        </p:blipFill>
        <p:spPr>
          <a:xfrm>
            <a:off x="0" y="-10160"/>
            <a:ext cx="12191695" cy="6858000"/>
          </a:xfrm>
          <a:prstGeom prst="rect">
            <a:avLst/>
          </a:prstGeom>
        </p:spPr>
      </p:pic>
      <p:pic>
        <p:nvPicPr>
          <p:cNvPr id="40" name="Picture 39" descr="ESA - First CubeSat joins ESA's Ramses mission to asteroid Apophis">
            <a:extLst>
              <a:ext uri="{FF2B5EF4-FFF2-40B4-BE49-F238E27FC236}">
                <a16:creationId xmlns:a16="http://schemas.microsoft.com/office/drawing/2014/main" id="{DEFC64BA-95E7-B8A1-55BE-FC3DE64A2032}"/>
              </a:ext>
            </a:extLst>
          </p:cNvPr>
          <p:cNvPicPr>
            <a:picLocks noChangeAspect="1"/>
          </p:cNvPicPr>
          <p:nvPr/>
        </p:nvPicPr>
        <p:blipFill>
          <a:blip r:embed="rId5">
            <a:alphaModFix amt="18000"/>
            <a:extLst>
              <a:ext uri="{BEBA8EAE-BF5A-486C-A8C5-ECC9F3942E4B}">
                <a14:imgProps xmlns:a14="http://schemas.microsoft.com/office/drawing/2010/main">
                  <a14:imgLayer r:embed="rId6">
                    <a14:imgEffect>
                      <a14:brightnessContrast bright="-40000" contrast="-40000"/>
                    </a14:imgEffect>
                  </a14:imgLayer>
                </a14:imgProps>
              </a:ext>
            </a:extLst>
          </a:blip>
          <a:stretch>
            <a:fillRect/>
          </a:stretch>
        </p:blipFill>
        <p:spPr>
          <a:xfrm>
            <a:off x="19164" y="3217"/>
            <a:ext cx="12191695" cy="6857829"/>
          </a:xfrm>
          <a:prstGeom prst="rect">
            <a:avLst/>
          </a:prstGeom>
        </p:spPr>
      </p:pic>
      <p:pic>
        <p:nvPicPr>
          <p:cNvPr id="3" name="Image 1" descr="/home/claude/work/a2/asteroid_left.png"/>
          <p:cNvPicPr>
            <a:picLocks noChangeAspect="1"/>
          </p:cNvPicPr>
          <p:nvPr/>
        </p:nvPicPr>
        <p:blipFill>
          <a:blip r:embed="rId7">
            <a:alphaModFix amt="62000"/>
          </a:blip>
          <a:srcRect t="20589"/>
          <a:stretch>
            <a:fillRect/>
          </a:stretch>
        </p:blipFill>
        <p:spPr>
          <a:xfrm>
            <a:off x="8229600" y="5138928"/>
            <a:ext cx="3962095" cy="3033064"/>
          </a:xfrm>
          <a:prstGeom prst="rect">
            <a:avLst/>
          </a:prstGeom>
        </p:spPr>
      </p:pic>
      <p:sp>
        <p:nvSpPr>
          <p:cNvPr id="6" name="Text 1"/>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FFFFFF"/>
                </a:solidFill>
                <a:latin typeface="29LT Adir" pitchFamily="34" charset="0"/>
                <a:ea typeface="29LT Adir" pitchFamily="34" charset="-122"/>
                <a:cs typeface="29LT Adir" pitchFamily="34" charset="-120"/>
              </a:rPr>
              <a:t>What RAMSES Already Measures</a:t>
            </a:r>
            <a:endParaRPr lang="en-US" sz="3000" dirty="0"/>
          </a:p>
        </p:txBody>
      </p:sp>
      <p:sp>
        <p:nvSpPr>
          <p:cNvPr id="7" name="Text 2"/>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9BA7C0"/>
                </a:solidFill>
                <a:latin typeface="Arial" pitchFamily="34" charset="0"/>
                <a:ea typeface="Arial" pitchFamily="34" charset="-122"/>
                <a:cs typeface="Arial" pitchFamily="34" charset="-120"/>
              </a:rPr>
              <a:t>Confirmed payload by platform</a:t>
            </a:r>
            <a:endParaRPr lang="en-US" sz="1250" dirty="0"/>
          </a:p>
        </p:txBody>
      </p:sp>
      <p:sp>
        <p:nvSpPr>
          <p:cNvPr id="8" name="Text 3"/>
          <p:cNvSpPr/>
          <p:nvPr/>
        </p:nvSpPr>
        <p:spPr>
          <a:xfrm>
            <a:off x="658368" y="2103120"/>
            <a:ext cx="3466490" cy="274320"/>
          </a:xfrm>
          <a:prstGeom prst="rect">
            <a:avLst/>
          </a:prstGeom>
          <a:noFill/>
          <a:ln/>
        </p:spPr>
        <p:txBody>
          <a:bodyPr wrap="square" lIns="0" tIns="0" rIns="0" bIns="0" rtlCol="0" anchor="ctr"/>
          <a:lstStyle/>
          <a:p>
            <a:pPr marL="0" indent="0">
              <a:buNone/>
            </a:pPr>
            <a:r>
              <a:rPr lang="en-US" sz="1400" b="1" dirty="0">
                <a:solidFill>
                  <a:srgbClr val="00B0F0"/>
                </a:solidFill>
                <a:latin typeface="29LT Adir" pitchFamily="34" charset="0"/>
                <a:ea typeface="29LT Adir" pitchFamily="34" charset="-122"/>
                <a:cs typeface="29LT Adir" pitchFamily="34" charset="-120"/>
              </a:rPr>
              <a:t>Main Orbiter</a:t>
            </a:r>
            <a:endParaRPr lang="en-US" sz="1400" dirty="0">
              <a:solidFill>
                <a:srgbClr val="00B0F0"/>
              </a:solidFill>
            </a:endParaRPr>
          </a:p>
        </p:txBody>
      </p:sp>
      <p:sp>
        <p:nvSpPr>
          <p:cNvPr id="9" name="Shape 4"/>
          <p:cNvSpPr/>
          <p:nvPr/>
        </p:nvSpPr>
        <p:spPr>
          <a:xfrm>
            <a:off x="658368" y="2450592"/>
            <a:ext cx="3466490" cy="9144"/>
          </a:xfrm>
          <a:prstGeom prst="rect">
            <a:avLst/>
          </a:prstGeom>
          <a:solidFill>
            <a:srgbClr val="2C3A5C"/>
          </a:solidFill>
          <a:ln/>
        </p:spPr>
        <p:txBody>
          <a:bodyPr/>
          <a:lstStyle/>
          <a:p>
            <a:endParaRPr lang="en-US"/>
          </a:p>
        </p:txBody>
      </p:sp>
      <p:sp>
        <p:nvSpPr>
          <p:cNvPr id="10" name="Text 5"/>
          <p:cNvSpPr/>
          <p:nvPr/>
        </p:nvSpPr>
        <p:spPr>
          <a:xfrm>
            <a:off x="658368" y="2651760"/>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AFC (×2)</a:t>
            </a:r>
            <a:endParaRPr lang="en-US" sz="1150" dirty="0"/>
          </a:p>
        </p:txBody>
      </p:sp>
      <p:sp>
        <p:nvSpPr>
          <p:cNvPr id="11" name="Text 6"/>
          <p:cNvSpPr/>
          <p:nvPr/>
        </p:nvSpPr>
        <p:spPr>
          <a:xfrm>
            <a:off x="658368" y="2852928"/>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Wide-field imaging, shape</a:t>
            </a:r>
            <a:endParaRPr lang="en-US" sz="950" dirty="0"/>
          </a:p>
        </p:txBody>
      </p:sp>
      <p:sp>
        <p:nvSpPr>
          <p:cNvPr id="12" name="Text 7"/>
          <p:cNvSpPr/>
          <p:nvPr/>
        </p:nvSpPr>
        <p:spPr>
          <a:xfrm>
            <a:off x="658368" y="3218688"/>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CHANCES</a:t>
            </a:r>
            <a:endParaRPr lang="en-US" sz="1150" dirty="0"/>
          </a:p>
        </p:txBody>
      </p:sp>
      <p:sp>
        <p:nvSpPr>
          <p:cNvPr id="13" name="Text 8"/>
          <p:cNvSpPr/>
          <p:nvPr/>
        </p:nvSpPr>
        <p:spPr>
          <a:xfrm>
            <a:off x="658368" y="3419856"/>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Colour imaging, change detection</a:t>
            </a:r>
            <a:endParaRPr lang="en-US" sz="950" dirty="0"/>
          </a:p>
        </p:txBody>
      </p:sp>
      <p:sp>
        <p:nvSpPr>
          <p:cNvPr id="14" name="Text 9"/>
          <p:cNvSpPr/>
          <p:nvPr/>
        </p:nvSpPr>
        <p:spPr>
          <a:xfrm>
            <a:off x="658368" y="3785616"/>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HAMLET</a:t>
            </a:r>
            <a:endParaRPr lang="en-US" sz="1150" dirty="0"/>
          </a:p>
        </p:txBody>
      </p:sp>
      <p:sp>
        <p:nvSpPr>
          <p:cNvPr id="15" name="Text 10"/>
          <p:cNvSpPr/>
          <p:nvPr/>
        </p:nvSpPr>
        <p:spPr>
          <a:xfrm>
            <a:off x="658368" y="3986784"/>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Hyperspectral, 650–1500 nm</a:t>
            </a:r>
            <a:endParaRPr lang="en-US" sz="950" dirty="0"/>
          </a:p>
        </p:txBody>
      </p:sp>
      <p:sp>
        <p:nvSpPr>
          <p:cNvPr id="16" name="Text 11"/>
          <p:cNvSpPr/>
          <p:nvPr/>
        </p:nvSpPr>
        <p:spPr>
          <a:xfrm>
            <a:off x="658368" y="4352544"/>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TIRI</a:t>
            </a:r>
            <a:endParaRPr lang="en-US" sz="1150" dirty="0"/>
          </a:p>
        </p:txBody>
      </p:sp>
      <p:sp>
        <p:nvSpPr>
          <p:cNvPr id="17" name="Text 12"/>
          <p:cNvSpPr/>
          <p:nvPr/>
        </p:nvSpPr>
        <p:spPr>
          <a:xfrm>
            <a:off x="658368" y="4553712"/>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Thermal infrared, grain size</a:t>
            </a:r>
            <a:endParaRPr lang="en-US" sz="950" dirty="0"/>
          </a:p>
        </p:txBody>
      </p:sp>
      <p:sp>
        <p:nvSpPr>
          <p:cNvPr id="18" name="Text 13"/>
          <p:cNvSpPr/>
          <p:nvPr/>
        </p:nvSpPr>
        <p:spPr>
          <a:xfrm>
            <a:off x="658368" y="4919472"/>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RSE</a:t>
            </a:r>
            <a:endParaRPr lang="en-US" sz="1150" dirty="0"/>
          </a:p>
        </p:txBody>
      </p:sp>
      <p:sp>
        <p:nvSpPr>
          <p:cNvPr id="19" name="Text 14"/>
          <p:cNvSpPr/>
          <p:nvPr/>
        </p:nvSpPr>
        <p:spPr>
          <a:xfrm>
            <a:off x="658368" y="5120640"/>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Radio science, gravity, tides</a:t>
            </a:r>
            <a:endParaRPr lang="en-US" sz="950" dirty="0"/>
          </a:p>
        </p:txBody>
      </p:sp>
      <p:sp>
        <p:nvSpPr>
          <p:cNvPr id="20" name="Text 15"/>
          <p:cNvSpPr/>
          <p:nvPr/>
        </p:nvSpPr>
        <p:spPr>
          <a:xfrm>
            <a:off x="658368" y="5486400"/>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RPS</a:t>
            </a:r>
            <a:endParaRPr lang="en-US" sz="1150" dirty="0"/>
          </a:p>
        </p:txBody>
      </p:sp>
      <p:sp>
        <p:nvSpPr>
          <p:cNvPr id="21" name="Text 16"/>
          <p:cNvSpPr/>
          <p:nvPr/>
        </p:nvSpPr>
        <p:spPr>
          <a:xfrm>
            <a:off x="658368" y="5687568"/>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Charged-particle environment</a:t>
            </a:r>
            <a:endParaRPr lang="en-US" sz="950" dirty="0"/>
          </a:p>
        </p:txBody>
      </p:sp>
      <p:sp>
        <p:nvSpPr>
          <p:cNvPr id="22" name="Text 17"/>
          <p:cNvSpPr/>
          <p:nvPr/>
        </p:nvSpPr>
        <p:spPr>
          <a:xfrm>
            <a:off x="4362602" y="2103120"/>
            <a:ext cx="3466490" cy="274320"/>
          </a:xfrm>
          <a:prstGeom prst="rect">
            <a:avLst/>
          </a:prstGeom>
          <a:noFill/>
          <a:ln/>
        </p:spPr>
        <p:txBody>
          <a:bodyPr wrap="square" lIns="0" tIns="0" rIns="0" bIns="0" rtlCol="0" anchor="ctr"/>
          <a:lstStyle/>
          <a:p>
            <a:pPr marL="0" indent="0">
              <a:buNone/>
            </a:pPr>
            <a:r>
              <a:rPr lang="en-US" sz="1400" b="1" dirty="0">
                <a:solidFill>
                  <a:srgbClr val="00B0F0"/>
                </a:solidFill>
                <a:latin typeface="29LT Adir" pitchFamily="34" charset="0"/>
                <a:ea typeface="29LT Adir" pitchFamily="34" charset="-122"/>
                <a:cs typeface="29LT Adir" pitchFamily="34" charset="-120"/>
              </a:rPr>
              <a:t>Farinella  ·  Orbiter CubeSat</a:t>
            </a:r>
            <a:endParaRPr lang="en-US" sz="1400" dirty="0">
              <a:solidFill>
                <a:srgbClr val="00B0F0"/>
              </a:solidFill>
            </a:endParaRPr>
          </a:p>
        </p:txBody>
      </p:sp>
      <p:sp>
        <p:nvSpPr>
          <p:cNvPr id="23" name="Shape 18"/>
          <p:cNvSpPr/>
          <p:nvPr/>
        </p:nvSpPr>
        <p:spPr>
          <a:xfrm>
            <a:off x="4362602" y="2450592"/>
            <a:ext cx="3466490" cy="9144"/>
          </a:xfrm>
          <a:prstGeom prst="rect">
            <a:avLst/>
          </a:prstGeom>
          <a:solidFill>
            <a:srgbClr val="2C3A5C"/>
          </a:solidFill>
          <a:ln/>
        </p:spPr>
        <p:txBody>
          <a:bodyPr/>
          <a:lstStyle/>
          <a:p>
            <a:endParaRPr lang="en-US"/>
          </a:p>
        </p:txBody>
      </p:sp>
      <p:sp>
        <p:nvSpPr>
          <p:cNvPr id="24" name="Text 19"/>
          <p:cNvSpPr/>
          <p:nvPr/>
        </p:nvSpPr>
        <p:spPr>
          <a:xfrm>
            <a:off x="4362602" y="2651760"/>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HORUS</a:t>
            </a:r>
            <a:endParaRPr lang="en-US" sz="1150" dirty="0"/>
          </a:p>
        </p:txBody>
      </p:sp>
      <p:sp>
        <p:nvSpPr>
          <p:cNvPr id="25" name="Text 20"/>
          <p:cNvSpPr/>
          <p:nvPr/>
        </p:nvSpPr>
        <p:spPr>
          <a:xfrm>
            <a:off x="4362602" y="2852928"/>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Close-range imaging</a:t>
            </a:r>
            <a:endParaRPr lang="en-US" sz="950" dirty="0"/>
          </a:p>
        </p:txBody>
      </p:sp>
      <p:sp>
        <p:nvSpPr>
          <p:cNvPr id="26" name="Text 21"/>
          <p:cNvSpPr/>
          <p:nvPr/>
        </p:nvSpPr>
        <p:spPr>
          <a:xfrm>
            <a:off x="4362602" y="3218688"/>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Radar</a:t>
            </a:r>
            <a:endParaRPr lang="en-US" sz="1150" dirty="0"/>
          </a:p>
        </p:txBody>
      </p:sp>
      <p:sp>
        <p:nvSpPr>
          <p:cNvPr id="27" name="Text 22"/>
          <p:cNvSpPr/>
          <p:nvPr/>
        </p:nvSpPr>
        <p:spPr>
          <a:xfrm>
            <a:off x="4362602" y="3419856"/>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Interior structure, metre scale</a:t>
            </a:r>
            <a:endParaRPr lang="en-US" sz="950" dirty="0"/>
          </a:p>
        </p:txBody>
      </p:sp>
      <p:sp>
        <p:nvSpPr>
          <p:cNvPr id="28" name="Text 23"/>
          <p:cNvSpPr/>
          <p:nvPr/>
        </p:nvSpPr>
        <p:spPr>
          <a:xfrm>
            <a:off x="4362602" y="3785616"/>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VISTA</a:t>
            </a:r>
            <a:endParaRPr lang="en-US" sz="1150" dirty="0"/>
          </a:p>
        </p:txBody>
      </p:sp>
      <p:sp>
        <p:nvSpPr>
          <p:cNvPr id="29" name="Text 24"/>
          <p:cNvSpPr/>
          <p:nvPr/>
        </p:nvSpPr>
        <p:spPr>
          <a:xfrm>
            <a:off x="4362602" y="3986784"/>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Dust volatiles and organics</a:t>
            </a:r>
            <a:endParaRPr lang="en-US" sz="950" dirty="0"/>
          </a:p>
        </p:txBody>
      </p:sp>
      <p:sp>
        <p:nvSpPr>
          <p:cNvPr id="30" name="Text 25"/>
          <p:cNvSpPr/>
          <p:nvPr/>
        </p:nvSpPr>
        <p:spPr>
          <a:xfrm>
            <a:off x="8066837" y="2103120"/>
            <a:ext cx="3466490" cy="274320"/>
          </a:xfrm>
          <a:prstGeom prst="rect">
            <a:avLst/>
          </a:prstGeom>
          <a:noFill/>
          <a:ln/>
        </p:spPr>
        <p:txBody>
          <a:bodyPr wrap="square" lIns="0" tIns="0" rIns="0" bIns="0" rtlCol="0" anchor="ctr"/>
          <a:lstStyle/>
          <a:p>
            <a:pPr marL="0" indent="0">
              <a:buNone/>
            </a:pPr>
            <a:r>
              <a:rPr lang="en-US" sz="1400" b="1" dirty="0">
                <a:solidFill>
                  <a:srgbClr val="00B0F0"/>
                </a:solidFill>
                <a:latin typeface="29LT Adir" pitchFamily="34" charset="0"/>
                <a:ea typeface="29LT Adir" pitchFamily="34" charset="-122"/>
                <a:cs typeface="29LT Adir" pitchFamily="34" charset="-120"/>
              </a:rPr>
              <a:t>Don Quijote  ·  Lander CubeSat</a:t>
            </a:r>
            <a:endParaRPr lang="en-US" sz="1400" dirty="0">
              <a:solidFill>
                <a:srgbClr val="00B0F0"/>
              </a:solidFill>
            </a:endParaRPr>
          </a:p>
        </p:txBody>
      </p:sp>
      <p:sp>
        <p:nvSpPr>
          <p:cNvPr id="31" name="Shape 26"/>
          <p:cNvSpPr/>
          <p:nvPr/>
        </p:nvSpPr>
        <p:spPr>
          <a:xfrm>
            <a:off x="8066837" y="2450592"/>
            <a:ext cx="3466490" cy="9144"/>
          </a:xfrm>
          <a:prstGeom prst="rect">
            <a:avLst/>
          </a:prstGeom>
          <a:solidFill>
            <a:srgbClr val="2C3A5C"/>
          </a:solidFill>
          <a:ln/>
        </p:spPr>
        <p:txBody>
          <a:bodyPr/>
          <a:lstStyle/>
          <a:p>
            <a:endParaRPr lang="en-US"/>
          </a:p>
        </p:txBody>
      </p:sp>
      <p:sp>
        <p:nvSpPr>
          <p:cNvPr id="32" name="Text 27"/>
          <p:cNvSpPr/>
          <p:nvPr/>
        </p:nvSpPr>
        <p:spPr>
          <a:xfrm>
            <a:off x="8066837" y="2651760"/>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SIA</a:t>
            </a:r>
            <a:endParaRPr lang="en-US" sz="1150" dirty="0"/>
          </a:p>
        </p:txBody>
      </p:sp>
      <p:sp>
        <p:nvSpPr>
          <p:cNvPr id="33" name="Text 28"/>
          <p:cNvSpPr/>
          <p:nvPr/>
        </p:nvSpPr>
        <p:spPr>
          <a:xfrm>
            <a:off x="8066837" y="2852928"/>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Surface seismometry</a:t>
            </a:r>
            <a:endParaRPr lang="en-US" sz="950" dirty="0"/>
          </a:p>
        </p:txBody>
      </p:sp>
      <p:sp>
        <p:nvSpPr>
          <p:cNvPr id="34" name="Text 29"/>
          <p:cNvSpPr/>
          <p:nvPr/>
        </p:nvSpPr>
        <p:spPr>
          <a:xfrm>
            <a:off x="8066837" y="3218688"/>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Gravimeter</a:t>
            </a:r>
            <a:endParaRPr lang="en-US" sz="1150" dirty="0"/>
          </a:p>
        </p:txBody>
      </p:sp>
      <p:sp>
        <p:nvSpPr>
          <p:cNvPr id="35" name="Text 30"/>
          <p:cNvSpPr/>
          <p:nvPr/>
        </p:nvSpPr>
        <p:spPr>
          <a:xfrm>
            <a:off x="8066837" y="3419856"/>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Local density distribution</a:t>
            </a:r>
            <a:endParaRPr lang="en-US" sz="950" dirty="0"/>
          </a:p>
        </p:txBody>
      </p:sp>
      <p:sp>
        <p:nvSpPr>
          <p:cNvPr id="36" name="Text 31"/>
          <p:cNvSpPr/>
          <p:nvPr/>
        </p:nvSpPr>
        <p:spPr>
          <a:xfrm>
            <a:off x="8066837" y="3785616"/>
            <a:ext cx="346649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MARIE</a:t>
            </a:r>
            <a:endParaRPr lang="en-US" sz="1150" dirty="0"/>
          </a:p>
        </p:txBody>
      </p:sp>
      <p:sp>
        <p:nvSpPr>
          <p:cNvPr id="37" name="Text 32"/>
          <p:cNvSpPr/>
          <p:nvPr/>
        </p:nvSpPr>
        <p:spPr>
          <a:xfrm>
            <a:off x="8066837" y="3986784"/>
            <a:ext cx="3466490" cy="274320"/>
          </a:xfrm>
          <a:prstGeom prst="rect">
            <a:avLst/>
          </a:prstGeom>
          <a:noFill/>
          <a:ln/>
        </p:spPr>
        <p:txBody>
          <a:bodyPr wrap="square" lIns="0" tIns="0" rIns="0" bIns="0" rtlCol="0" anchor="ctr"/>
          <a:lstStyle/>
          <a:p>
            <a:pPr marL="0" indent="0">
              <a:buNone/>
            </a:pPr>
            <a:r>
              <a:rPr lang="en-US" sz="950" dirty="0">
                <a:solidFill>
                  <a:srgbClr val="9BA7C0"/>
                </a:solidFill>
                <a:latin typeface="Arial" pitchFamily="34" charset="0"/>
                <a:ea typeface="Arial" pitchFamily="34" charset="-122"/>
                <a:cs typeface="Arial" pitchFamily="34" charset="-120"/>
              </a:rPr>
              <a:t>Surface magnetometry</a:t>
            </a:r>
            <a:endParaRPr lang="en-US" sz="950" dirty="0"/>
          </a:p>
        </p:txBody>
      </p:sp>
      <p:sp>
        <p:nvSpPr>
          <p:cNvPr id="38" name="Text 33"/>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54607C"/>
                </a:solidFill>
                <a:latin typeface="Arial" pitchFamily="34" charset="0"/>
                <a:ea typeface="Arial" pitchFamily="34" charset="-122"/>
                <a:cs typeface="Arial" pitchFamily="34" charset="-120"/>
              </a:rPr>
              <a:t>5</a:t>
            </a:r>
            <a:endParaRPr lang="en-US" sz="1000" dirty="0"/>
          </a:p>
        </p:txBody>
      </p:sp>
      <p:pic>
        <p:nvPicPr>
          <p:cNvPr id="41" name="Image 2" descr="/home/claude/work/a2/logo_white.png">
            <a:extLst>
              <a:ext uri="{FF2B5EF4-FFF2-40B4-BE49-F238E27FC236}">
                <a16:creationId xmlns:a16="http://schemas.microsoft.com/office/drawing/2014/main" id="{70AC92F1-3898-B27A-9C6C-6FB9A3E2C3B9}"/>
              </a:ext>
            </a:extLst>
          </p:cNvPr>
          <p:cNvPicPr>
            <a:picLocks noChangeAspect="1"/>
          </p:cNvPicPr>
          <p:nvPr/>
        </p:nvPicPr>
        <p:blipFill>
          <a:blip r:embed="rId8"/>
          <a:stretch>
            <a:fillRect/>
          </a:stretch>
        </p:blipFill>
        <p:spPr>
          <a:xfrm>
            <a:off x="10797385" y="310896"/>
            <a:ext cx="1133856" cy="478231"/>
          </a:xfrm>
          <a:prstGeom prst="rect">
            <a:avLst/>
          </a:prstGeom>
        </p:spPr>
      </p:pic>
      <p:sp>
        <p:nvSpPr>
          <p:cNvPr id="44" name="BJPseudoFooter">
            <a:extLst>
              <a:ext uri="{FF2B5EF4-FFF2-40B4-BE49-F238E27FC236}">
                <a16:creationId xmlns:a16="http://schemas.microsoft.com/office/drawing/2014/main" id="{3314925B-BD5F-2833-E58F-499964EB2806}"/>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
        <p:nvSpPr>
          <p:cNvPr id="5" name="Text 0"/>
          <p:cNvSpPr/>
          <p:nvPr/>
        </p:nvSpPr>
        <p:spPr>
          <a:xfrm>
            <a:off x="658368" y="6272784"/>
            <a:ext cx="8595360" cy="274320"/>
          </a:xfrm>
          <a:prstGeom prst="rect">
            <a:avLst/>
          </a:prstGeom>
          <a:noFill/>
          <a:ln/>
        </p:spPr>
        <p:txBody>
          <a:bodyPr wrap="square" lIns="0" tIns="0" rIns="0" bIns="0" rtlCol="0" anchor="ctr"/>
          <a:lstStyle/>
          <a:p>
            <a:pPr marL="0" indent="0" algn="l">
              <a:buNone/>
            </a:pPr>
            <a:r>
              <a:rPr lang="en-US" sz="800" b="1" kern="0" spc="150" dirty="0">
                <a:solidFill>
                  <a:srgbClr val="E8A33D"/>
                </a:solidFill>
                <a:latin typeface="Arial" pitchFamily="34" charset="0"/>
                <a:ea typeface="Arial" pitchFamily="34" charset="-122"/>
                <a:cs typeface="Arial" pitchFamily="34" charset="-120"/>
              </a:rPr>
              <a:t>BASELINE</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OPPORTUNITIES</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SELECTION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RECOMMENDATION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VALUE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ChangeAspect="1"/>
          </p:cNvPicPr>
          <p:nvPr/>
        </p:nvPicPr>
        <p:blipFill>
          <a:blip r:embed="rId4"/>
          <a:stretch>
            <a:fillRect/>
          </a:stretch>
        </p:blipFill>
        <p:spPr>
          <a:xfrm>
            <a:off x="0" y="0"/>
            <a:ext cx="12191695" cy="6858000"/>
          </a:xfrm>
          <a:prstGeom prst="rect">
            <a:avLst/>
          </a:prstGeom>
        </p:spPr>
      </p:pic>
      <p:sp>
        <p:nvSpPr>
          <p:cNvPr id="4" name="Text 0"/>
          <p:cNvSpPr/>
          <p:nvPr/>
        </p:nvSpPr>
        <p:spPr>
          <a:xfrm>
            <a:off x="658368" y="6272784"/>
            <a:ext cx="8595360" cy="274320"/>
          </a:xfrm>
          <a:prstGeom prst="rect">
            <a:avLst/>
          </a:prstGeom>
          <a:noFill/>
          <a:ln/>
        </p:spPr>
        <p:txBody>
          <a:bodyPr wrap="square" lIns="0" tIns="0" rIns="0" bIns="0" rtlCol="0" anchor="ctr"/>
          <a:lstStyle/>
          <a:p>
            <a:pPr marL="0" indent="0" algn="l">
              <a:buNone/>
            </a:pPr>
            <a:r>
              <a:rPr lang="en-US" sz="800" kern="0" spc="150" dirty="0">
                <a:solidFill>
                  <a:srgbClr val="AAB2C2"/>
                </a:solidFill>
                <a:latin typeface="Arial" pitchFamily="34" charset="0"/>
                <a:ea typeface="Arial" pitchFamily="34" charset="-122"/>
                <a:cs typeface="Arial" pitchFamily="34" charset="-120"/>
              </a:rPr>
              <a:t>BASELINE</a:t>
            </a:r>
            <a:r>
              <a:rPr lang="en-US" sz="800" dirty="0">
                <a:solidFill>
                  <a:srgbClr val="000000"/>
                </a:solidFill>
                <a:latin typeface="Arial" pitchFamily="34" charset="0"/>
                <a:ea typeface="Arial" pitchFamily="34" charset="-122"/>
                <a:cs typeface="Arial" pitchFamily="34" charset="-120"/>
              </a:rPr>
              <a:t>     </a:t>
            </a:r>
            <a:r>
              <a:rPr lang="en-US" sz="800" b="1" kern="0" spc="150" dirty="0">
                <a:solidFill>
                  <a:srgbClr val="13234C"/>
                </a:solidFill>
                <a:latin typeface="Arial" pitchFamily="34" charset="0"/>
                <a:ea typeface="Arial" pitchFamily="34" charset="-122"/>
                <a:cs typeface="Arial" pitchFamily="34" charset="-120"/>
              </a:rPr>
              <a:t>OPPORTUNITIES</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SELECTION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RECOMMENDATION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VALUE</a:t>
            </a:r>
            <a:endParaRPr lang="en-US" sz="800" dirty="0"/>
          </a:p>
        </p:txBody>
      </p:sp>
      <p:sp>
        <p:nvSpPr>
          <p:cNvPr id="5" name="Text 1"/>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13234C"/>
                </a:solidFill>
                <a:latin typeface="29LT Adir" pitchFamily="34" charset="0"/>
                <a:ea typeface="29LT Adir" pitchFamily="34" charset="-122"/>
                <a:cs typeface="29LT Adir" pitchFamily="34" charset="-120"/>
              </a:rPr>
              <a:t>Four Scientific Opportunities</a:t>
            </a:r>
            <a:endParaRPr lang="en-US" sz="3000" dirty="0"/>
          </a:p>
        </p:txBody>
      </p:sp>
      <p:sp>
        <p:nvSpPr>
          <p:cNvPr id="6" name="Text 2"/>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Measurement openings the mission never set out to address, registered only where no confirmed instrument meets them.</a:t>
            </a:r>
            <a:endParaRPr lang="en-US" sz="1250" dirty="0"/>
          </a:p>
        </p:txBody>
      </p:sp>
      <p:sp>
        <p:nvSpPr>
          <p:cNvPr id="7" name="Shape 3"/>
          <p:cNvSpPr/>
          <p:nvPr/>
        </p:nvSpPr>
        <p:spPr>
          <a:xfrm>
            <a:off x="658368" y="2121408"/>
            <a:ext cx="2567864" cy="1847088"/>
          </a:xfrm>
          <a:prstGeom prst="roundRect">
            <a:avLst>
              <a:gd name="adj" fmla="val 4455"/>
            </a:avLst>
          </a:prstGeom>
          <a:solidFill>
            <a:srgbClr val="FFFFFF"/>
          </a:solidFill>
          <a:ln w="9525">
            <a:solidFill>
              <a:srgbClr val="DFE4EE"/>
            </a:solidFill>
            <a:prstDash val="solid"/>
          </a:ln>
          <a:effectLst>
            <a:outerShdw blurRad="50800" dist="38100" dir="8100000" algn="tr" rotWithShape="0">
              <a:prstClr val="black">
                <a:alpha val="40000"/>
              </a:prstClr>
            </a:outerShdw>
          </a:effectLst>
        </p:spPr>
        <p:txBody>
          <a:bodyPr/>
          <a:lstStyle/>
          <a:p>
            <a:endParaRPr lang="en-US"/>
          </a:p>
        </p:txBody>
      </p:sp>
      <p:sp>
        <p:nvSpPr>
          <p:cNvPr id="8" name="Text 4"/>
          <p:cNvSpPr/>
          <p:nvPr/>
        </p:nvSpPr>
        <p:spPr>
          <a:xfrm>
            <a:off x="896112" y="2359152"/>
            <a:ext cx="2092376" cy="219456"/>
          </a:xfrm>
          <a:prstGeom prst="rect">
            <a:avLst/>
          </a:prstGeom>
          <a:noFill/>
          <a:ln/>
        </p:spPr>
        <p:txBody>
          <a:bodyPr wrap="square" lIns="0" tIns="0" rIns="0" bIns="0" rtlCol="0" anchor="ctr"/>
          <a:lstStyle/>
          <a:p>
            <a:pPr marL="0" indent="0">
              <a:buNone/>
            </a:pPr>
            <a:r>
              <a:rPr lang="en-US" sz="950" b="1" kern="0" spc="180" dirty="0">
                <a:solidFill>
                  <a:srgbClr val="6B7488"/>
                </a:solidFill>
                <a:latin typeface="Arial" pitchFamily="34" charset="0"/>
                <a:ea typeface="Arial" pitchFamily="34" charset="-122"/>
                <a:cs typeface="Arial" pitchFamily="34" charset="-120"/>
              </a:rPr>
              <a:t>GAP-1</a:t>
            </a:r>
            <a:endParaRPr lang="en-US" sz="950" dirty="0"/>
          </a:p>
        </p:txBody>
      </p:sp>
      <p:sp>
        <p:nvSpPr>
          <p:cNvPr id="9" name="Text 5"/>
          <p:cNvSpPr/>
          <p:nvPr/>
        </p:nvSpPr>
        <p:spPr>
          <a:xfrm>
            <a:off x="896112" y="2743200"/>
            <a:ext cx="2092376" cy="1042416"/>
          </a:xfrm>
          <a:prstGeom prst="rect">
            <a:avLst/>
          </a:prstGeom>
          <a:noFill/>
          <a:ln/>
        </p:spPr>
        <p:txBody>
          <a:bodyPr wrap="square" lIns="0" tIns="0" rIns="0" bIns="0" rtlCol="0" anchor="t"/>
          <a:lstStyle/>
          <a:p>
            <a:pPr marL="0" indent="0">
              <a:lnSpc>
                <a:spcPct val="98000"/>
              </a:lnSpc>
              <a:buNone/>
            </a:pPr>
            <a:r>
              <a:rPr lang="en-US" sz="1700" b="1" dirty="0">
                <a:solidFill>
                  <a:srgbClr val="13234C"/>
                </a:solidFill>
                <a:latin typeface="29LT Adir" pitchFamily="34" charset="0"/>
                <a:ea typeface="29LT Adir" pitchFamily="34" charset="-122"/>
                <a:cs typeface="29LT Adir" pitchFamily="34" charset="-120"/>
              </a:rPr>
              <a:t>Hydration state</a:t>
            </a:r>
            <a:endParaRPr lang="en-US" sz="1700" dirty="0"/>
          </a:p>
        </p:txBody>
      </p:sp>
      <p:sp>
        <p:nvSpPr>
          <p:cNvPr id="10" name="Shape 6"/>
          <p:cNvSpPr/>
          <p:nvPr/>
        </p:nvSpPr>
        <p:spPr>
          <a:xfrm>
            <a:off x="3427400" y="2121408"/>
            <a:ext cx="2567864" cy="1847088"/>
          </a:xfrm>
          <a:prstGeom prst="roundRect">
            <a:avLst>
              <a:gd name="adj" fmla="val 4455"/>
            </a:avLst>
          </a:prstGeom>
          <a:solidFill>
            <a:srgbClr val="FFF8EC"/>
          </a:solidFill>
          <a:ln w="22225">
            <a:solidFill>
              <a:srgbClr val="E8A33D"/>
            </a:solidFill>
            <a:prstDash val="solid"/>
          </a:ln>
          <a:effectLst>
            <a:outerShdw blurRad="50800" dist="38100" dir="8100000" algn="tr" rotWithShape="0">
              <a:prstClr val="black">
                <a:alpha val="40000"/>
              </a:prstClr>
            </a:outerShdw>
          </a:effectLst>
        </p:spPr>
        <p:txBody>
          <a:bodyPr/>
          <a:lstStyle/>
          <a:p>
            <a:endParaRPr lang="en-US"/>
          </a:p>
        </p:txBody>
      </p:sp>
      <p:sp>
        <p:nvSpPr>
          <p:cNvPr id="11" name="Text 7"/>
          <p:cNvSpPr/>
          <p:nvPr/>
        </p:nvSpPr>
        <p:spPr>
          <a:xfrm>
            <a:off x="3665144" y="2359152"/>
            <a:ext cx="2092376" cy="219456"/>
          </a:xfrm>
          <a:prstGeom prst="rect">
            <a:avLst/>
          </a:prstGeom>
          <a:noFill/>
          <a:ln/>
        </p:spPr>
        <p:txBody>
          <a:bodyPr wrap="square" lIns="0" tIns="0" rIns="0" bIns="0" rtlCol="0" anchor="ctr"/>
          <a:lstStyle/>
          <a:p>
            <a:pPr marL="0" indent="0">
              <a:buNone/>
            </a:pPr>
            <a:r>
              <a:rPr lang="en-US" sz="950" b="1" kern="0" spc="180" dirty="0">
                <a:solidFill>
                  <a:srgbClr val="A8791F"/>
                </a:solidFill>
                <a:latin typeface="Arial" pitchFamily="34" charset="0"/>
                <a:ea typeface="Arial" pitchFamily="34" charset="-122"/>
                <a:cs typeface="Arial" pitchFamily="34" charset="-120"/>
              </a:rPr>
              <a:t>GAP-2</a:t>
            </a:r>
            <a:endParaRPr lang="en-US" sz="950" dirty="0"/>
          </a:p>
        </p:txBody>
      </p:sp>
      <p:sp>
        <p:nvSpPr>
          <p:cNvPr id="13" name="Shape 9"/>
          <p:cNvSpPr/>
          <p:nvPr/>
        </p:nvSpPr>
        <p:spPr>
          <a:xfrm>
            <a:off x="6196432" y="2121408"/>
            <a:ext cx="2567864" cy="1847088"/>
          </a:xfrm>
          <a:prstGeom prst="roundRect">
            <a:avLst>
              <a:gd name="adj" fmla="val 4455"/>
            </a:avLst>
          </a:prstGeom>
          <a:solidFill>
            <a:srgbClr val="FFFFFF"/>
          </a:solidFill>
          <a:ln w="9525">
            <a:solidFill>
              <a:srgbClr val="DFE4EE"/>
            </a:solidFill>
            <a:prstDash val="solid"/>
          </a:ln>
          <a:effectLst>
            <a:outerShdw blurRad="50800" dist="38100" dir="8100000" algn="tr" rotWithShape="0">
              <a:prstClr val="black">
                <a:alpha val="40000"/>
              </a:prstClr>
            </a:outerShdw>
          </a:effectLst>
        </p:spPr>
        <p:txBody>
          <a:bodyPr/>
          <a:lstStyle/>
          <a:p>
            <a:endParaRPr lang="en-US"/>
          </a:p>
        </p:txBody>
      </p:sp>
      <p:sp>
        <p:nvSpPr>
          <p:cNvPr id="14" name="Text 10"/>
          <p:cNvSpPr/>
          <p:nvPr/>
        </p:nvSpPr>
        <p:spPr>
          <a:xfrm>
            <a:off x="6434176" y="2359152"/>
            <a:ext cx="2092376" cy="219456"/>
          </a:xfrm>
          <a:prstGeom prst="rect">
            <a:avLst/>
          </a:prstGeom>
          <a:noFill/>
          <a:ln/>
        </p:spPr>
        <p:txBody>
          <a:bodyPr wrap="square" lIns="0" tIns="0" rIns="0" bIns="0" rtlCol="0" anchor="ctr"/>
          <a:lstStyle/>
          <a:p>
            <a:pPr marL="0" indent="0">
              <a:buNone/>
            </a:pPr>
            <a:r>
              <a:rPr lang="en-US" sz="950" b="1" kern="0" spc="180" dirty="0">
                <a:solidFill>
                  <a:srgbClr val="6B7488"/>
                </a:solidFill>
                <a:latin typeface="Arial" pitchFamily="34" charset="0"/>
                <a:ea typeface="Arial" pitchFamily="34" charset="-122"/>
                <a:cs typeface="Arial" pitchFamily="34" charset="-120"/>
              </a:rPr>
              <a:t>GAP-3</a:t>
            </a:r>
            <a:endParaRPr lang="en-US" sz="950" dirty="0"/>
          </a:p>
        </p:txBody>
      </p:sp>
      <p:sp>
        <p:nvSpPr>
          <p:cNvPr id="15" name="Text 11"/>
          <p:cNvSpPr/>
          <p:nvPr/>
        </p:nvSpPr>
        <p:spPr>
          <a:xfrm>
            <a:off x="6434176" y="2743200"/>
            <a:ext cx="2092376" cy="1042416"/>
          </a:xfrm>
          <a:prstGeom prst="rect">
            <a:avLst/>
          </a:prstGeom>
          <a:noFill/>
          <a:ln/>
        </p:spPr>
        <p:txBody>
          <a:bodyPr wrap="square" lIns="0" tIns="0" rIns="0" bIns="0" rtlCol="0" anchor="t"/>
          <a:lstStyle/>
          <a:p>
            <a:pPr marL="0" indent="0">
              <a:lnSpc>
                <a:spcPct val="98000"/>
              </a:lnSpc>
              <a:buNone/>
            </a:pPr>
            <a:r>
              <a:rPr lang="en-US" sz="1700" b="1" dirty="0">
                <a:solidFill>
                  <a:srgbClr val="13234C"/>
                </a:solidFill>
                <a:latin typeface="29LT Adir" pitchFamily="34" charset="0"/>
                <a:ea typeface="29LT Adir" pitchFamily="34" charset="-122"/>
                <a:cs typeface="29LT Adir" pitchFamily="34" charset="-120"/>
              </a:rPr>
              <a:t>Regolith grain-size distribution</a:t>
            </a:r>
            <a:endParaRPr lang="en-US" sz="1700" dirty="0"/>
          </a:p>
        </p:txBody>
      </p:sp>
      <p:sp>
        <p:nvSpPr>
          <p:cNvPr id="16" name="Shape 12"/>
          <p:cNvSpPr/>
          <p:nvPr/>
        </p:nvSpPr>
        <p:spPr>
          <a:xfrm>
            <a:off x="8965463" y="2121408"/>
            <a:ext cx="2567864" cy="1847088"/>
          </a:xfrm>
          <a:prstGeom prst="roundRect">
            <a:avLst>
              <a:gd name="adj" fmla="val 4455"/>
            </a:avLst>
          </a:prstGeom>
          <a:solidFill>
            <a:srgbClr val="FFFFFF"/>
          </a:solidFill>
          <a:ln w="9525">
            <a:solidFill>
              <a:srgbClr val="DFE4EE"/>
            </a:solidFill>
            <a:prstDash val="solid"/>
          </a:ln>
          <a:effectLst>
            <a:outerShdw blurRad="50800" dist="38100" dir="8100000" algn="tr" rotWithShape="0">
              <a:prstClr val="black">
                <a:alpha val="40000"/>
              </a:prstClr>
            </a:outerShdw>
          </a:effectLst>
        </p:spPr>
        <p:txBody>
          <a:bodyPr/>
          <a:lstStyle/>
          <a:p>
            <a:endParaRPr lang="en-US"/>
          </a:p>
        </p:txBody>
      </p:sp>
      <p:sp>
        <p:nvSpPr>
          <p:cNvPr id="17" name="Text 13"/>
          <p:cNvSpPr/>
          <p:nvPr/>
        </p:nvSpPr>
        <p:spPr>
          <a:xfrm>
            <a:off x="9203207" y="2359152"/>
            <a:ext cx="2092376" cy="219456"/>
          </a:xfrm>
          <a:prstGeom prst="rect">
            <a:avLst/>
          </a:prstGeom>
          <a:noFill/>
          <a:ln/>
        </p:spPr>
        <p:txBody>
          <a:bodyPr wrap="square" lIns="0" tIns="0" rIns="0" bIns="0" rtlCol="0" anchor="ctr"/>
          <a:lstStyle/>
          <a:p>
            <a:pPr marL="0" indent="0">
              <a:buNone/>
            </a:pPr>
            <a:r>
              <a:rPr lang="en-US" sz="950" b="1" kern="0" spc="180" dirty="0">
                <a:solidFill>
                  <a:srgbClr val="6B7488"/>
                </a:solidFill>
                <a:latin typeface="Arial" pitchFamily="34" charset="0"/>
                <a:ea typeface="Arial" pitchFamily="34" charset="-122"/>
                <a:cs typeface="Arial" pitchFamily="34" charset="-120"/>
              </a:rPr>
              <a:t>GAP-4</a:t>
            </a:r>
            <a:endParaRPr lang="en-US" sz="950" dirty="0"/>
          </a:p>
        </p:txBody>
      </p:sp>
      <p:sp>
        <p:nvSpPr>
          <p:cNvPr id="18" name="Text 14"/>
          <p:cNvSpPr/>
          <p:nvPr/>
        </p:nvSpPr>
        <p:spPr>
          <a:xfrm>
            <a:off x="9203207" y="2743200"/>
            <a:ext cx="2092376" cy="1042416"/>
          </a:xfrm>
          <a:prstGeom prst="rect">
            <a:avLst/>
          </a:prstGeom>
          <a:noFill/>
          <a:ln/>
        </p:spPr>
        <p:txBody>
          <a:bodyPr wrap="square" lIns="0" tIns="0" rIns="0" bIns="0" rtlCol="0" anchor="t"/>
          <a:lstStyle/>
          <a:p>
            <a:pPr marL="0" indent="0">
              <a:lnSpc>
                <a:spcPct val="98000"/>
              </a:lnSpc>
              <a:buNone/>
            </a:pPr>
            <a:r>
              <a:rPr lang="en-US" sz="1700" b="1" dirty="0">
                <a:solidFill>
                  <a:srgbClr val="13234C"/>
                </a:solidFill>
                <a:latin typeface="29LT Adir" pitchFamily="34" charset="0"/>
                <a:ea typeface="29LT Adir" pitchFamily="34" charset="-122"/>
                <a:cs typeface="29LT Adir" pitchFamily="34" charset="-120"/>
              </a:rPr>
              <a:t>Free Fe–Ni metallic phase fraction</a:t>
            </a:r>
            <a:endParaRPr lang="en-US" sz="1700" dirty="0"/>
          </a:p>
        </p:txBody>
      </p:sp>
      <p:sp>
        <p:nvSpPr>
          <p:cNvPr id="19" name="Shape 15"/>
          <p:cNvSpPr/>
          <p:nvPr/>
        </p:nvSpPr>
        <p:spPr>
          <a:xfrm>
            <a:off x="658368" y="4590288"/>
            <a:ext cx="10874959" cy="1188720"/>
          </a:xfrm>
          <a:prstGeom prst="roundRect">
            <a:avLst>
              <a:gd name="adj" fmla="val 6923"/>
            </a:avLst>
          </a:prstGeom>
          <a:solidFill>
            <a:srgbClr val="0E1A38"/>
          </a:solidFill>
          <a:ln/>
          <a:effectLst>
            <a:outerShdw blurRad="50800" dist="38100" dir="16200000" rotWithShape="0">
              <a:prstClr val="black">
                <a:alpha val="40000"/>
              </a:prstClr>
            </a:outerShdw>
          </a:effectLst>
        </p:spPr>
        <p:txBody>
          <a:bodyPr/>
          <a:lstStyle/>
          <a:p>
            <a:endParaRPr lang="en-US"/>
          </a:p>
        </p:txBody>
      </p:sp>
      <p:sp>
        <p:nvSpPr>
          <p:cNvPr id="20" name="Text 16"/>
          <p:cNvSpPr/>
          <p:nvPr/>
        </p:nvSpPr>
        <p:spPr>
          <a:xfrm>
            <a:off x="1161288" y="4809744"/>
            <a:ext cx="9869119" cy="777240"/>
          </a:xfrm>
          <a:prstGeom prst="rect">
            <a:avLst/>
          </a:prstGeom>
          <a:noFill/>
          <a:ln/>
        </p:spPr>
        <p:txBody>
          <a:bodyPr wrap="square" lIns="0" tIns="0" rIns="0" bIns="0" rtlCol="0" anchor="ctr"/>
          <a:lstStyle/>
          <a:p>
            <a:pPr marL="0" indent="0">
              <a:lnSpc>
                <a:spcPct val="114000"/>
              </a:lnSpc>
              <a:buNone/>
            </a:pPr>
            <a:r>
              <a:rPr lang="en-US" sz="1600" dirty="0">
                <a:solidFill>
                  <a:srgbClr val="EFF3FA"/>
                </a:solidFill>
                <a:latin typeface="29LT Adir" pitchFamily="34" charset="0"/>
                <a:ea typeface="29LT Adir" pitchFamily="34" charset="-122"/>
                <a:cs typeface="29LT Adir" pitchFamily="34" charset="-120"/>
              </a:rPr>
              <a:t>Weathering-corrected composition was the only opportunity that was both scientifically differentiated and complementary to the existing payload.</a:t>
            </a:r>
            <a:endParaRPr lang="en-US" sz="1600" dirty="0"/>
          </a:p>
        </p:txBody>
      </p:sp>
      <p:sp>
        <p:nvSpPr>
          <p:cNvPr id="21" name="Text 17"/>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AAB2C2"/>
                </a:solidFill>
                <a:latin typeface="Arial" pitchFamily="34" charset="0"/>
                <a:ea typeface="Arial" pitchFamily="34" charset="-122"/>
                <a:cs typeface="Arial" pitchFamily="34" charset="-120"/>
              </a:rPr>
              <a:t>6</a:t>
            </a:r>
            <a:endParaRPr lang="en-US" sz="1000" dirty="0"/>
          </a:p>
        </p:txBody>
      </p:sp>
      <p:pic>
        <p:nvPicPr>
          <p:cNvPr id="24" name="Image 1" descr="/home/claude/work/a2/logo_dark.png">
            <a:extLst>
              <a:ext uri="{FF2B5EF4-FFF2-40B4-BE49-F238E27FC236}">
                <a16:creationId xmlns:a16="http://schemas.microsoft.com/office/drawing/2014/main" id="{10AB9C42-E45F-7B10-5216-37B25AB3C649}"/>
              </a:ext>
            </a:extLst>
          </p:cNvPr>
          <p:cNvPicPr>
            <a:picLocks noChangeAspect="1"/>
          </p:cNvPicPr>
          <p:nvPr/>
        </p:nvPicPr>
        <p:blipFill>
          <a:blip r:embed="rId5"/>
          <a:stretch>
            <a:fillRect/>
          </a:stretch>
        </p:blipFill>
        <p:spPr>
          <a:xfrm>
            <a:off x="10616340" y="122984"/>
            <a:ext cx="1450538" cy="814736"/>
          </a:xfrm>
          <a:prstGeom prst="rect">
            <a:avLst/>
          </a:prstGeom>
        </p:spPr>
      </p:pic>
      <p:sp>
        <p:nvSpPr>
          <p:cNvPr id="27" name="BJPseudoFooter">
            <a:extLst>
              <a:ext uri="{FF2B5EF4-FFF2-40B4-BE49-F238E27FC236}">
                <a16:creationId xmlns:a16="http://schemas.microsoft.com/office/drawing/2014/main" id="{7BE43015-8127-3FF2-A86D-CB48D1789FDF}"/>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
        <p:nvSpPr>
          <p:cNvPr id="3" name="Text 5">
            <a:extLst>
              <a:ext uri="{FF2B5EF4-FFF2-40B4-BE49-F238E27FC236}">
                <a16:creationId xmlns:a16="http://schemas.microsoft.com/office/drawing/2014/main" id="{C78454A7-F01B-D70F-3B3B-BA560A3954C5}"/>
              </a:ext>
            </a:extLst>
          </p:cNvPr>
          <p:cNvSpPr/>
          <p:nvPr/>
        </p:nvSpPr>
        <p:spPr>
          <a:xfrm>
            <a:off x="3683432" y="2651760"/>
            <a:ext cx="2092376" cy="1042416"/>
          </a:xfrm>
          <a:prstGeom prst="rect">
            <a:avLst/>
          </a:prstGeom>
          <a:noFill/>
          <a:ln/>
        </p:spPr>
        <p:txBody>
          <a:bodyPr wrap="square" lIns="0" tIns="0" rIns="0" bIns="0" rtlCol="0" anchor="t"/>
          <a:lstStyle/>
          <a:p>
            <a:pPr>
              <a:lnSpc>
                <a:spcPct val="98000"/>
              </a:lnSpc>
            </a:pPr>
            <a:r>
              <a:rPr lang="en-US" sz="1700" b="1" dirty="0">
                <a:solidFill>
                  <a:srgbClr val="13234C"/>
                </a:solidFill>
                <a:latin typeface="29LT Adir" pitchFamily="34" charset="0"/>
                <a:ea typeface="29LT Adir" pitchFamily="34" charset="-122"/>
                <a:cs typeface="29LT Adir" pitchFamily="34" charset="-120"/>
              </a:rPr>
              <a:t>Weathering-corrected composition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ChangeAspect="1"/>
          </p:cNvPicPr>
          <p:nvPr/>
        </p:nvPicPr>
        <p:blipFill>
          <a:blip r:embed="rId4"/>
          <a:stretch>
            <a:fillRect/>
          </a:stretch>
        </p:blipFill>
        <p:spPr>
          <a:xfrm>
            <a:off x="0" y="0"/>
            <a:ext cx="12191695" cy="6858000"/>
          </a:xfrm>
          <a:prstGeom prst="rect">
            <a:avLst/>
          </a:prstGeom>
        </p:spPr>
      </p:pic>
      <p:sp>
        <p:nvSpPr>
          <p:cNvPr id="4" name="Text 0"/>
          <p:cNvSpPr/>
          <p:nvPr/>
        </p:nvSpPr>
        <p:spPr>
          <a:xfrm>
            <a:off x="658368" y="6272784"/>
            <a:ext cx="8595360" cy="274320"/>
          </a:xfrm>
          <a:prstGeom prst="rect">
            <a:avLst/>
          </a:prstGeom>
          <a:noFill/>
          <a:ln/>
        </p:spPr>
        <p:txBody>
          <a:bodyPr wrap="square" lIns="0" tIns="0" rIns="0" bIns="0" rtlCol="0" anchor="ctr"/>
          <a:lstStyle/>
          <a:p>
            <a:pPr marL="0" indent="0" algn="l">
              <a:buNone/>
            </a:pPr>
            <a:r>
              <a:rPr lang="en-US" sz="800" kern="0" spc="150" dirty="0">
                <a:solidFill>
                  <a:srgbClr val="AAB2C2"/>
                </a:solidFill>
                <a:latin typeface="Arial" pitchFamily="34" charset="0"/>
                <a:ea typeface="Arial" pitchFamily="34" charset="-122"/>
                <a:cs typeface="Arial" pitchFamily="34" charset="-120"/>
              </a:rPr>
              <a:t>BASELINE</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OPPORTUNITIES</a:t>
            </a:r>
            <a:r>
              <a:rPr lang="en-US" sz="800" dirty="0">
                <a:solidFill>
                  <a:srgbClr val="000000"/>
                </a:solidFill>
                <a:latin typeface="Arial" pitchFamily="34" charset="0"/>
                <a:ea typeface="Arial" pitchFamily="34" charset="-122"/>
                <a:cs typeface="Arial" pitchFamily="34" charset="-120"/>
              </a:rPr>
              <a:t>     </a:t>
            </a:r>
            <a:r>
              <a:rPr lang="en-US" sz="800" b="1" kern="0" spc="150" dirty="0">
                <a:solidFill>
                  <a:srgbClr val="13234C"/>
                </a:solidFill>
                <a:latin typeface="Arial" pitchFamily="34" charset="0"/>
                <a:ea typeface="Arial" pitchFamily="34" charset="-122"/>
                <a:cs typeface="Arial" pitchFamily="34" charset="-120"/>
              </a:rPr>
              <a:t>SELECTION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RECOMMENDATION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VALUE</a:t>
            </a:r>
            <a:endParaRPr lang="en-US" sz="800" dirty="0"/>
          </a:p>
        </p:txBody>
      </p:sp>
      <p:sp>
        <p:nvSpPr>
          <p:cNvPr id="5" name="Text 1"/>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13234C"/>
                </a:solidFill>
                <a:latin typeface="29LT Adir" pitchFamily="34" charset="0"/>
                <a:ea typeface="29LT Adir" pitchFamily="34" charset="-122"/>
                <a:cs typeface="29LT Adir" pitchFamily="34" charset="-120"/>
              </a:rPr>
              <a:t>Priority Selection</a:t>
            </a:r>
            <a:endParaRPr lang="en-US" sz="3000" dirty="0"/>
          </a:p>
        </p:txBody>
      </p:sp>
      <p:sp>
        <p:nvSpPr>
          <p:cNvPr id="6" name="Text 2"/>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Four opportunities passed through three lenses in fixed order, plus an overlap test against the existing requirement set.</a:t>
            </a:r>
            <a:endParaRPr lang="en-US" sz="1250" dirty="0"/>
          </a:p>
        </p:txBody>
      </p:sp>
      <p:sp>
        <p:nvSpPr>
          <p:cNvPr id="7" name="Shape 3"/>
          <p:cNvSpPr/>
          <p:nvPr/>
        </p:nvSpPr>
        <p:spPr>
          <a:xfrm>
            <a:off x="658368" y="1920240"/>
            <a:ext cx="10874959" cy="566928"/>
          </a:xfrm>
          <a:prstGeom prst="roundRect">
            <a:avLst>
              <a:gd name="adj" fmla="val 11290"/>
            </a:avLst>
          </a:prstGeom>
          <a:solidFill>
            <a:srgbClr val="FFFFFF"/>
          </a:solidFill>
          <a:ln w="9525">
            <a:solidFill>
              <a:srgbClr val="DFE4EE"/>
            </a:solidFill>
            <a:prstDash val="solid"/>
          </a:ln>
        </p:spPr>
        <p:txBody>
          <a:bodyPr/>
          <a:lstStyle/>
          <a:p>
            <a:endParaRPr lang="en-US"/>
          </a:p>
        </p:txBody>
      </p:sp>
      <p:sp>
        <p:nvSpPr>
          <p:cNvPr id="8" name="Text 4"/>
          <p:cNvSpPr/>
          <p:nvPr/>
        </p:nvSpPr>
        <p:spPr>
          <a:xfrm>
            <a:off x="932688" y="1920240"/>
            <a:ext cx="3108960" cy="566928"/>
          </a:xfrm>
          <a:prstGeom prst="rect">
            <a:avLst/>
          </a:prstGeom>
          <a:noFill/>
          <a:ln/>
        </p:spPr>
        <p:txBody>
          <a:bodyPr wrap="square" lIns="0" tIns="0" rIns="0" bIns="0" rtlCol="0" anchor="ctr"/>
          <a:lstStyle/>
          <a:p>
            <a:pPr marL="0" indent="0">
              <a:buNone/>
            </a:pPr>
            <a:r>
              <a:rPr lang="en-US" sz="1100" dirty="0">
                <a:solidFill>
                  <a:srgbClr val="6B7488"/>
                </a:solidFill>
                <a:latin typeface="Arial" pitchFamily="34" charset="0"/>
                <a:ea typeface="Arial" pitchFamily="34" charset="-122"/>
                <a:cs typeface="Arial" pitchFamily="34" charset="-120"/>
              </a:rPr>
              <a:t>Four identified knowledge gaps</a:t>
            </a:r>
            <a:endParaRPr lang="en-US" sz="1100" dirty="0"/>
          </a:p>
        </p:txBody>
      </p:sp>
      <p:sp>
        <p:nvSpPr>
          <p:cNvPr id="9" name="Shape 5"/>
          <p:cNvSpPr/>
          <p:nvPr/>
        </p:nvSpPr>
        <p:spPr>
          <a:xfrm>
            <a:off x="4663440" y="2048256"/>
            <a:ext cx="1517904" cy="310896"/>
          </a:xfrm>
          <a:prstGeom prst="roundRect">
            <a:avLst>
              <a:gd name="adj" fmla="val 14706"/>
            </a:avLst>
          </a:prstGeom>
          <a:solidFill>
            <a:srgbClr val="F1F3F8"/>
          </a:solidFill>
          <a:ln/>
        </p:spPr>
        <p:txBody>
          <a:bodyPr/>
          <a:lstStyle/>
          <a:p>
            <a:endParaRPr lang="en-US"/>
          </a:p>
        </p:txBody>
      </p:sp>
      <p:sp>
        <p:nvSpPr>
          <p:cNvPr id="10" name="Text 6"/>
          <p:cNvSpPr/>
          <p:nvPr/>
        </p:nvSpPr>
        <p:spPr>
          <a:xfrm>
            <a:off x="4663440" y="2048256"/>
            <a:ext cx="1517904" cy="310896"/>
          </a:xfrm>
          <a:prstGeom prst="rect">
            <a:avLst/>
          </a:prstGeom>
          <a:noFill/>
          <a:ln/>
        </p:spPr>
        <p:txBody>
          <a:bodyPr wrap="square" lIns="0" tIns="0" rIns="0" bIns="0" rtlCol="0" anchor="ctr"/>
          <a:lstStyle/>
          <a:p>
            <a:pPr marL="0" indent="0" algn="ctr">
              <a:buNone/>
            </a:pPr>
            <a:r>
              <a:rPr lang="en-US" sz="1000" b="1" kern="0" spc="80" dirty="0">
                <a:solidFill>
                  <a:srgbClr val="6B7488"/>
                </a:solidFill>
                <a:latin typeface="Arial" pitchFamily="34" charset="0"/>
                <a:ea typeface="Arial" pitchFamily="34" charset="-122"/>
                <a:cs typeface="Arial" pitchFamily="34" charset="-120"/>
              </a:rPr>
              <a:t>GAP-1</a:t>
            </a:r>
            <a:endParaRPr lang="en-US" sz="1000" dirty="0"/>
          </a:p>
        </p:txBody>
      </p:sp>
      <p:sp>
        <p:nvSpPr>
          <p:cNvPr id="11" name="Shape 7"/>
          <p:cNvSpPr/>
          <p:nvPr/>
        </p:nvSpPr>
        <p:spPr>
          <a:xfrm>
            <a:off x="6364224" y="2048256"/>
            <a:ext cx="1517904" cy="310896"/>
          </a:xfrm>
          <a:prstGeom prst="roundRect">
            <a:avLst>
              <a:gd name="adj" fmla="val 14706"/>
            </a:avLst>
          </a:prstGeom>
          <a:solidFill>
            <a:srgbClr val="FBEFD9"/>
          </a:solidFill>
          <a:ln w="15875">
            <a:solidFill>
              <a:srgbClr val="E8A33D"/>
            </a:solidFill>
            <a:prstDash val="solid"/>
          </a:ln>
        </p:spPr>
        <p:txBody>
          <a:bodyPr/>
          <a:lstStyle/>
          <a:p>
            <a:endParaRPr lang="en-US"/>
          </a:p>
        </p:txBody>
      </p:sp>
      <p:sp>
        <p:nvSpPr>
          <p:cNvPr id="12" name="Text 8"/>
          <p:cNvSpPr/>
          <p:nvPr/>
        </p:nvSpPr>
        <p:spPr>
          <a:xfrm>
            <a:off x="6364224" y="2048256"/>
            <a:ext cx="1517904" cy="310896"/>
          </a:xfrm>
          <a:prstGeom prst="rect">
            <a:avLst/>
          </a:prstGeom>
          <a:noFill/>
          <a:ln/>
        </p:spPr>
        <p:txBody>
          <a:bodyPr wrap="square" lIns="0" tIns="0" rIns="0" bIns="0" rtlCol="0" anchor="ctr"/>
          <a:lstStyle/>
          <a:p>
            <a:pPr marL="0" indent="0" algn="ctr">
              <a:buNone/>
            </a:pPr>
            <a:r>
              <a:rPr lang="en-US" sz="1000" b="1" kern="0" spc="80" dirty="0">
                <a:solidFill>
                  <a:srgbClr val="A8791F"/>
                </a:solidFill>
                <a:latin typeface="Arial" pitchFamily="34" charset="0"/>
                <a:ea typeface="Arial" pitchFamily="34" charset="-122"/>
                <a:cs typeface="Arial" pitchFamily="34" charset="-120"/>
              </a:rPr>
              <a:t>GAP-2</a:t>
            </a:r>
            <a:endParaRPr lang="en-US" sz="1000" dirty="0"/>
          </a:p>
        </p:txBody>
      </p:sp>
      <p:sp>
        <p:nvSpPr>
          <p:cNvPr id="13" name="Shape 9"/>
          <p:cNvSpPr/>
          <p:nvPr/>
        </p:nvSpPr>
        <p:spPr>
          <a:xfrm>
            <a:off x="8065008" y="2048256"/>
            <a:ext cx="1517904" cy="310896"/>
          </a:xfrm>
          <a:prstGeom prst="roundRect">
            <a:avLst>
              <a:gd name="adj" fmla="val 14706"/>
            </a:avLst>
          </a:prstGeom>
          <a:solidFill>
            <a:srgbClr val="F1F3F8"/>
          </a:solidFill>
          <a:ln/>
        </p:spPr>
        <p:txBody>
          <a:bodyPr/>
          <a:lstStyle/>
          <a:p>
            <a:endParaRPr lang="en-US"/>
          </a:p>
        </p:txBody>
      </p:sp>
      <p:sp>
        <p:nvSpPr>
          <p:cNvPr id="14" name="Text 10"/>
          <p:cNvSpPr/>
          <p:nvPr/>
        </p:nvSpPr>
        <p:spPr>
          <a:xfrm>
            <a:off x="8065008" y="2048256"/>
            <a:ext cx="1517904" cy="310896"/>
          </a:xfrm>
          <a:prstGeom prst="rect">
            <a:avLst/>
          </a:prstGeom>
          <a:noFill/>
          <a:ln/>
        </p:spPr>
        <p:txBody>
          <a:bodyPr wrap="square" lIns="0" tIns="0" rIns="0" bIns="0" rtlCol="0" anchor="ctr"/>
          <a:lstStyle/>
          <a:p>
            <a:pPr marL="0" indent="0" algn="ctr">
              <a:buNone/>
            </a:pPr>
            <a:r>
              <a:rPr lang="en-US" sz="1000" b="1" kern="0" spc="80" dirty="0">
                <a:solidFill>
                  <a:srgbClr val="6B7488"/>
                </a:solidFill>
                <a:latin typeface="Arial" pitchFamily="34" charset="0"/>
                <a:ea typeface="Arial" pitchFamily="34" charset="-122"/>
                <a:cs typeface="Arial" pitchFamily="34" charset="-120"/>
              </a:rPr>
              <a:t>GAP-3</a:t>
            </a:r>
            <a:endParaRPr lang="en-US" sz="1000" dirty="0"/>
          </a:p>
        </p:txBody>
      </p:sp>
      <p:sp>
        <p:nvSpPr>
          <p:cNvPr id="15" name="Shape 11"/>
          <p:cNvSpPr/>
          <p:nvPr/>
        </p:nvSpPr>
        <p:spPr>
          <a:xfrm>
            <a:off x="9765792" y="2048256"/>
            <a:ext cx="1517904" cy="310896"/>
          </a:xfrm>
          <a:prstGeom prst="roundRect">
            <a:avLst>
              <a:gd name="adj" fmla="val 14706"/>
            </a:avLst>
          </a:prstGeom>
          <a:solidFill>
            <a:srgbClr val="F1F3F8"/>
          </a:solidFill>
          <a:ln/>
        </p:spPr>
        <p:txBody>
          <a:bodyPr/>
          <a:lstStyle/>
          <a:p>
            <a:endParaRPr lang="en-US"/>
          </a:p>
        </p:txBody>
      </p:sp>
      <p:sp>
        <p:nvSpPr>
          <p:cNvPr id="16" name="Text 12"/>
          <p:cNvSpPr/>
          <p:nvPr/>
        </p:nvSpPr>
        <p:spPr>
          <a:xfrm>
            <a:off x="9765792" y="2048256"/>
            <a:ext cx="1517904" cy="310896"/>
          </a:xfrm>
          <a:prstGeom prst="rect">
            <a:avLst/>
          </a:prstGeom>
          <a:noFill/>
          <a:ln/>
        </p:spPr>
        <p:txBody>
          <a:bodyPr wrap="square" lIns="0" tIns="0" rIns="0" bIns="0" rtlCol="0" anchor="ctr"/>
          <a:lstStyle/>
          <a:p>
            <a:pPr marL="0" indent="0" algn="ctr">
              <a:buNone/>
            </a:pPr>
            <a:r>
              <a:rPr lang="en-US" sz="1000" b="1" kern="0" spc="80" dirty="0">
                <a:solidFill>
                  <a:srgbClr val="6B7488"/>
                </a:solidFill>
                <a:latin typeface="Arial" pitchFamily="34" charset="0"/>
                <a:ea typeface="Arial" pitchFamily="34" charset="-122"/>
                <a:cs typeface="Arial" pitchFamily="34" charset="-120"/>
              </a:rPr>
              <a:t>GAP-4</a:t>
            </a:r>
            <a:endParaRPr lang="en-US" sz="1000" dirty="0"/>
          </a:p>
        </p:txBody>
      </p:sp>
      <p:sp>
        <p:nvSpPr>
          <p:cNvPr id="17" name="Shape 13"/>
          <p:cNvSpPr/>
          <p:nvPr/>
        </p:nvSpPr>
        <p:spPr>
          <a:xfrm>
            <a:off x="5989320" y="2578608"/>
            <a:ext cx="201168" cy="237744"/>
          </a:xfrm>
          <a:prstGeom prst="downArrow">
            <a:avLst/>
          </a:prstGeom>
          <a:solidFill>
            <a:srgbClr val="00B0F0"/>
          </a:solidFill>
          <a:ln/>
        </p:spPr>
        <p:txBody>
          <a:bodyPr/>
          <a:lstStyle/>
          <a:p>
            <a:endParaRPr lang="en-US"/>
          </a:p>
        </p:txBody>
      </p:sp>
      <p:sp>
        <p:nvSpPr>
          <p:cNvPr id="18" name="Shape 14"/>
          <p:cNvSpPr/>
          <p:nvPr/>
        </p:nvSpPr>
        <p:spPr>
          <a:xfrm>
            <a:off x="658368" y="2980944"/>
            <a:ext cx="3466490" cy="1645920"/>
          </a:xfrm>
          <a:prstGeom prst="roundRect">
            <a:avLst>
              <a:gd name="adj" fmla="val 5000"/>
            </a:avLst>
          </a:prstGeom>
          <a:solidFill>
            <a:srgbClr val="FFFFFF"/>
          </a:solidFill>
          <a:ln w="9525">
            <a:solidFill>
              <a:srgbClr val="DFE4EE"/>
            </a:solidFill>
            <a:prstDash val="solid"/>
          </a:ln>
          <a:effectLst>
            <a:outerShdw blurRad="50800" dist="38100" dir="5400000" algn="t" rotWithShape="0">
              <a:prstClr val="black">
                <a:alpha val="40000"/>
              </a:prstClr>
            </a:outerShdw>
          </a:effectLst>
        </p:spPr>
        <p:txBody>
          <a:bodyPr/>
          <a:lstStyle/>
          <a:p>
            <a:endParaRPr lang="en-US"/>
          </a:p>
        </p:txBody>
      </p:sp>
      <p:sp>
        <p:nvSpPr>
          <p:cNvPr id="19" name="Shape 15"/>
          <p:cNvSpPr/>
          <p:nvPr/>
        </p:nvSpPr>
        <p:spPr>
          <a:xfrm>
            <a:off x="914400" y="3218688"/>
            <a:ext cx="329184" cy="329184"/>
          </a:xfrm>
          <a:prstGeom prst="ellipse">
            <a:avLst/>
          </a:prstGeom>
          <a:solidFill>
            <a:srgbClr val="13234C"/>
          </a:solidFill>
          <a:ln/>
        </p:spPr>
        <p:txBody>
          <a:bodyPr/>
          <a:lstStyle/>
          <a:p>
            <a:endParaRPr lang="en-US"/>
          </a:p>
        </p:txBody>
      </p:sp>
      <p:sp>
        <p:nvSpPr>
          <p:cNvPr id="20" name="Text 16"/>
          <p:cNvSpPr/>
          <p:nvPr/>
        </p:nvSpPr>
        <p:spPr>
          <a:xfrm>
            <a:off x="914400" y="321868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21" name="Text 17"/>
          <p:cNvSpPr/>
          <p:nvPr/>
        </p:nvSpPr>
        <p:spPr>
          <a:xfrm>
            <a:off x="1335024" y="3200400"/>
            <a:ext cx="2552090" cy="365760"/>
          </a:xfrm>
          <a:prstGeom prst="rect">
            <a:avLst/>
          </a:prstGeom>
          <a:noFill/>
          <a:ln/>
        </p:spPr>
        <p:txBody>
          <a:bodyPr wrap="square" lIns="0" tIns="0" rIns="0" bIns="0" rtlCol="0" anchor="ctr"/>
          <a:lstStyle/>
          <a:p>
            <a:pPr marL="0" indent="0">
              <a:lnSpc>
                <a:spcPct val="95000"/>
              </a:lnSpc>
              <a:buNone/>
            </a:pPr>
            <a:r>
              <a:rPr lang="en-US" sz="1500" b="1" dirty="0">
                <a:solidFill>
                  <a:srgbClr val="13234C"/>
                </a:solidFill>
                <a:latin typeface="29LT Adir" pitchFamily="34" charset="0"/>
                <a:ea typeface="29LT Adir" pitchFamily="34" charset="-122"/>
                <a:cs typeface="29LT Adir" pitchFamily="34" charset="-120"/>
              </a:rPr>
              <a:t>Strategic fit</a:t>
            </a:r>
            <a:endParaRPr lang="en-US" sz="1500" dirty="0"/>
          </a:p>
        </p:txBody>
      </p:sp>
      <p:sp>
        <p:nvSpPr>
          <p:cNvPr id="22" name="Text 18"/>
          <p:cNvSpPr/>
          <p:nvPr/>
        </p:nvSpPr>
        <p:spPr>
          <a:xfrm>
            <a:off x="914400" y="3730752"/>
            <a:ext cx="2954426" cy="512064"/>
          </a:xfrm>
          <a:prstGeom prst="rect">
            <a:avLst/>
          </a:prstGeom>
          <a:noFill/>
          <a:ln/>
        </p:spPr>
        <p:txBody>
          <a:bodyPr wrap="square" lIns="0" tIns="0" rIns="0" bIns="0" rtlCol="0" anchor="t"/>
          <a:lstStyle/>
          <a:p>
            <a:pPr marL="0" indent="0">
              <a:lnSpc>
                <a:spcPct val="112000"/>
              </a:lnSpc>
              <a:buNone/>
            </a:pPr>
            <a:r>
              <a:rPr lang="en-US" sz="1000" dirty="0">
                <a:solidFill>
                  <a:srgbClr val="6B7488"/>
                </a:solidFill>
                <a:latin typeface="Arial" pitchFamily="34" charset="0"/>
                <a:ea typeface="Arial" pitchFamily="34" charset="-122"/>
                <a:cs typeface="Arial" pitchFamily="34" charset="-120"/>
              </a:rPr>
              <a:t>Unique to the 2029 encounter and compatible with the architecture</a:t>
            </a:r>
            <a:endParaRPr lang="en-US" sz="1000" dirty="0"/>
          </a:p>
        </p:txBody>
      </p:sp>
      <p:sp>
        <p:nvSpPr>
          <p:cNvPr id="23" name="Shape 19"/>
          <p:cNvSpPr/>
          <p:nvPr/>
        </p:nvSpPr>
        <p:spPr>
          <a:xfrm>
            <a:off x="914400" y="4224528"/>
            <a:ext cx="2954426" cy="274320"/>
          </a:xfrm>
          <a:prstGeom prst="roundRect">
            <a:avLst>
              <a:gd name="adj" fmla="val 16667"/>
            </a:avLst>
          </a:prstGeom>
          <a:solidFill>
            <a:srgbClr val="FBECE8"/>
          </a:solidFill>
          <a:ln/>
        </p:spPr>
        <p:txBody>
          <a:bodyPr/>
          <a:lstStyle/>
          <a:p>
            <a:endParaRPr lang="en-US"/>
          </a:p>
        </p:txBody>
      </p:sp>
      <p:sp>
        <p:nvSpPr>
          <p:cNvPr id="24" name="Text 20"/>
          <p:cNvSpPr/>
          <p:nvPr/>
        </p:nvSpPr>
        <p:spPr>
          <a:xfrm>
            <a:off x="914400" y="4224528"/>
            <a:ext cx="2954426" cy="274320"/>
          </a:xfrm>
          <a:prstGeom prst="rect">
            <a:avLst/>
          </a:prstGeom>
          <a:noFill/>
          <a:ln/>
        </p:spPr>
        <p:txBody>
          <a:bodyPr wrap="square" lIns="0" tIns="0" rIns="0" bIns="0" rtlCol="0" anchor="ctr"/>
          <a:lstStyle/>
          <a:p>
            <a:pPr marL="0" indent="0" algn="ctr">
              <a:buNone/>
            </a:pPr>
            <a:r>
              <a:rPr lang="en-US" sz="950" b="1" dirty="0">
                <a:solidFill>
                  <a:srgbClr val="A44A34"/>
                </a:solidFill>
                <a:latin typeface="Arial" pitchFamily="34" charset="0"/>
                <a:ea typeface="Arial" pitchFamily="34" charset="-122"/>
                <a:cs typeface="Arial" pitchFamily="34" charset="-120"/>
              </a:rPr>
              <a:t>GAP-4, GAP-1 out</a:t>
            </a:r>
            <a:endParaRPr lang="en-US" sz="950" dirty="0"/>
          </a:p>
        </p:txBody>
      </p:sp>
      <p:sp>
        <p:nvSpPr>
          <p:cNvPr id="25" name="Shape 21"/>
          <p:cNvSpPr/>
          <p:nvPr/>
        </p:nvSpPr>
        <p:spPr>
          <a:xfrm>
            <a:off x="4362602" y="2980944"/>
            <a:ext cx="3466490" cy="1645920"/>
          </a:xfrm>
          <a:prstGeom prst="roundRect">
            <a:avLst>
              <a:gd name="adj" fmla="val 5000"/>
            </a:avLst>
          </a:prstGeom>
          <a:solidFill>
            <a:srgbClr val="FFFFFF"/>
          </a:solidFill>
          <a:ln w="9525">
            <a:solidFill>
              <a:srgbClr val="DFE4EE"/>
            </a:solidFill>
            <a:prstDash val="solid"/>
          </a:ln>
          <a:effectLst>
            <a:outerShdw blurRad="50800" dist="38100" dir="5400000" algn="t" rotWithShape="0">
              <a:prstClr val="black">
                <a:alpha val="40000"/>
              </a:prstClr>
            </a:outerShdw>
          </a:effectLst>
        </p:spPr>
        <p:txBody>
          <a:bodyPr/>
          <a:lstStyle/>
          <a:p>
            <a:endParaRPr lang="en-US"/>
          </a:p>
        </p:txBody>
      </p:sp>
      <p:sp>
        <p:nvSpPr>
          <p:cNvPr id="26" name="Shape 22"/>
          <p:cNvSpPr/>
          <p:nvPr/>
        </p:nvSpPr>
        <p:spPr>
          <a:xfrm>
            <a:off x="4618634" y="3218688"/>
            <a:ext cx="329184" cy="329184"/>
          </a:xfrm>
          <a:prstGeom prst="ellipse">
            <a:avLst/>
          </a:prstGeom>
          <a:solidFill>
            <a:srgbClr val="13234C"/>
          </a:solidFill>
          <a:ln/>
        </p:spPr>
        <p:txBody>
          <a:bodyPr/>
          <a:lstStyle/>
          <a:p>
            <a:endParaRPr lang="en-US"/>
          </a:p>
        </p:txBody>
      </p:sp>
      <p:sp>
        <p:nvSpPr>
          <p:cNvPr id="27" name="Text 23"/>
          <p:cNvSpPr/>
          <p:nvPr/>
        </p:nvSpPr>
        <p:spPr>
          <a:xfrm>
            <a:off x="4618634" y="321868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28" name="Text 24"/>
          <p:cNvSpPr/>
          <p:nvPr/>
        </p:nvSpPr>
        <p:spPr>
          <a:xfrm>
            <a:off x="5039258" y="3200400"/>
            <a:ext cx="2552090" cy="365760"/>
          </a:xfrm>
          <a:prstGeom prst="rect">
            <a:avLst/>
          </a:prstGeom>
          <a:noFill/>
          <a:ln/>
        </p:spPr>
        <p:txBody>
          <a:bodyPr wrap="square" lIns="0" tIns="0" rIns="0" bIns="0" rtlCol="0" anchor="ctr"/>
          <a:lstStyle/>
          <a:p>
            <a:pPr marL="0" indent="0">
              <a:lnSpc>
                <a:spcPct val="95000"/>
              </a:lnSpc>
              <a:buNone/>
            </a:pPr>
            <a:r>
              <a:rPr lang="en-US" sz="1500" b="1" dirty="0">
                <a:solidFill>
                  <a:srgbClr val="13234C"/>
                </a:solidFill>
                <a:latin typeface="29LT Adir" pitchFamily="34" charset="0"/>
                <a:ea typeface="29LT Adir" pitchFamily="34" charset="-122"/>
                <a:cs typeface="29LT Adir" pitchFamily="34" charset="-120"/>
              </a:rPr>
              <a:t>Scientific value</a:t>
            </a:r>
            <a:endParaRPr lang="en-US" sz="1500" dirty="0"/>
          </a:p>
        </p:txBody>
      </p:sp>
      <p:sp>
        <p:nvSpPr>
          <p:cNvPr id="29" name="Text 25"/>
          <p:cNvSpPr/>
          <p:nvPr/>
        </p:nvSpPr>
        <p:spPr>
          <a:xfrm>
            <a:off x="4618634" y="3730752"/>
            <a:ext cx="2954426" cy="512064"/>
          </a:xfrm>
          <a:prstGeom prst="rect">
            <a:avLst/>
          </a:prstGeom>
          <a:noFill/>
          <a:ln/>
        </p:spPr>
        <p:txBody>
          <a:bodyPr wrap="square" lIns="0" tIns="0" rIns="0" bIns="0" rtlCol="0" anchor="t"/>
          <a:lstStyle/>
          <a:p>
            <a:pPr marL="0" indent="0">
              <a:lnSpc>
                <a:spcPct val="112000"/>
              </a:lnSpc>
              <a:buNone/>
            </a:pPr>
            <a:r>
              <a:rPr lang="en-US" sz="1000" dirty="0">
                <a:solidFill>
                  <a:srgbClr val="6B7488"/>
                </a:solidFill>
                <a:latin typeface="Arial" pitchFamily="34" charset="0"/>
                <a:ea typeface="Arial" pitchFamily="34" charset="-122"/>
                <a:cs typeface="Arial" pitchFamily="34" charset="-120"/>
              </a:rPr>
              <a:t>Not an answer already known before the mission flies</a:t>
            </a:r>
            <a:endParaRPr lang="en-US" sz="1000" dirty="0"/>
          </a:p>
        </p:txBody>
      </p:sp>
      <p:sp>
        <p:nvSpPr>
          <p:cNvPr id="30" name="Shape 26"/>
          <p:cNvSpPr/>
          <p:nvPr/>
        </p:nvSpPr>
        <p:spPr>
          <a:xfrm>
            <a:off x="4618634" y="4224528"/>
            <a:ext cx="2954426" cy="274320"/>
          </a:xfrm>
          <a:prstGeom prst="roundRect">
            <a:avLst>
              <a:gd name="adj" fmla="val 16667"/>
            </a:avLst>
          </a:prstGeom>
          <a:solidFill>
            <a:srgbClr val="FBECE8"/>
          </a:solidFill>
          <a:ln/>
        </p:spPr>
        <p:txBody>
          <a:bodyPr/>
          <a:lstStyle/>
          <a:p>
            <a:endParaRPr lang="en-US"/>
          </a:p>
        </p:txBody>
      </p:sp>
      <p:sp>
        <p:nvSpPr>
          <p:cNvPr id="31" name="Text 27"/>
          <p:cNvSpPr/>
          <p:nvPr/>
        </p:nvSpPr>
        <p:spPr>
          <a:xfrm>
            <a:off x="4618634" y="4224528"/>
            <a:ext cx="2954426" cy="274320"/>
          </a:xfrm>
          <a:prstGeom prst="rect">
            <a:avLst/>
          </a:prstGeom>
          <a:noFill/>
          <a:ln/>
        </p:spPr>
        <p:txBody>
          <a:bodyPr wrap="square" lIns="0" tIns="0" rIns="0" bIns="0" rtlCol="0" anchor="ctr"/>
          <a:lstStyle/>
          <a:p>
            <a:pPr marL="0" indent="0" algn="ctr">
              <a:buNone/>
            </a:pPr>
            <a:r>
              <a:rPr lang="en-US" sz="950" b="1" dirty="0">
                <a:solidFill>
                  <a:srgbClr val="A44A34"/>
                </a:solidFill>
                <a:latin typeface="Arial" pitchFamily="34" charset="0"/>
                <a:ea typeface="Arial" pitchFamily="34" charset="-122"/>
                <a:cs typeface="Arial" pitchFamily="34" charset="-120"/>
              </a:rPr>
              <a:t>Both confirmed out</a:t>
            </a:r>
            <a:endParaRPr lang="en-US" sz="950" dirty="0"/>
          </a:p>
        </p:txBody>
      </p:sp>
      <p:sp>
        <p:nvSpPr>
          <p:cNvPr id="32" name="Shape 28"/>
          <p:cNvSpPr/>
          <p:nvPr/>
        </p:nvSpPr>
        <p:spPr>
          <a:xfrm>
            <a:off x="8066837" y="2980944"/>
            <a:ext cx="3466490" cy="1645920"/>
          </a:xfrm>
          <a:prstGeom prst="roundRect">
            <a:avLst>
              <a:gd name="adj" fmla="val 5000"/>
            </a:avLst>
          </a:prstGeom>
          <a:solidFill>
            <a:srgbClr val="FFFFFF"/>
          </a:solidFill>
          <a:ln w="9525">
            <a:solidFill>
              <a:srgbClr val="DFE4EE"/>
            </a:solidFill>
            <a:prstDash val="solid"/>
          </a:ln>
          <a:effectLst>
            <a:outerShdw blurRad="50800" dist="38100" dir="5400000" algn="t" rotWithShape="0">
              <a:prstClr val="black">
                <a:alpha val="40000"/>
              </a:prstClr>
            </a:outerShdw>
          </a:effectLst>
        </p:spPr>
        <p:txBody>
          <a:bodyPr/>
          <a:lstStyle/>
          <a:p>
            <a:endParaRPr lang="en-US"/>
          </a:p>
        </p:txBody>
      </p:sp>
      <p:sp>
        <p:nvSpPr>
          <p:cNvPr id="33" name="Shape 29"/>
          <p:cNvSpPr/>
          <p:nvPr/>
        </p:nvSpPr>
        <p:spPr>
          <a:xfrm>
            <a:off x="8322869" y="3218688"/>
            <a:ext cx="329184" cy="329184"/>
          </a:xfrm>
          <a:prstGeom prst="ellipse">
            <a:avLst/>
          </a:prstGeom>
          <a:solidFill>
            <a:srgbClr val="13234C"/>
          </a:solidFill>
          <a:ln/>
        </p:spPr>
        <p:txBody>
          <a:bodyPr/>
          <a:lstStyle/>
          <a:p>
            <a:endParaRPr lang="en-US"/>
          </a:p>
        </p:txBody>
      </p:sp>
      <p:sp>
        <p:nvSpPr>
          <p:cNvPr id="34" name="Text 30"/>
          <p:cNvSpPr/>
          <p:nvPr/>
        </p:nvSpPr>
        <p:spPr>
          <a:xfrm>
            <a:off x="8322869" y="321868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35" name="Text 31"/>
          <p:cNvSpPr/>
          <p:nvPr/>
        </p:nvSpPr>
        <p:spPr>
          <a:xfrm>
            <a:off x="8743493" y="3200400"/>
            <a:ext cx="2552090" cy="365760"/>
          </a:xfrm>
          <a:prstGeom prst="rect">
            <a:avLst/>
          </a:prstGeom>
          <a:noFill/>
          <a:ln/>
        </p:spPr>
        <p:txBody>
          <a:bodyPr wrap="square" lIns="0" tIns="0" rIns="0" bIns="0" rtlCol="0" anchor="ctr"/>
          <a:lstStyle/>
          <a:p>
            <a:pPr marL="0" indent="0">
              <a:lnSpc>
                <a:spcPct val="95000"/>
              </a:lnSpc>
              <a:buNone/>
            </a:pPr>
            <a:r>
              <a:rPr lang="en-US" sz="1500" b="1" dirty="0">
                <a:solidFill>
                  <a:srgbClr val="13234C"/>
                </a:solidFill>
                <a:latin typeface="29LT Adir" pitchFamily="34" charset="0"/>
                <a:ea typeface="29LT Adir" pitchFamily="34" charset="-122"/>
                <a:cs typeface="29LT Adir" pitchFamily="34" charset="-120"/>
              </a:rPr>
              <a:t>Mission compatibility</a:t>
            </a:r>
            <a:endParaRPr lang="en-US" sz="1500" dirty="0"/>
          </a:p>
        </p:txBody>
      </p:sp>
      <p:sp>
        <p:nvSpPr>
          <p:cNvPr id="36" name="Text 32"/>
          <p:cNvSpPr/>
          <p:nvPr/>
        </p:nvSpPr>
        <p:spPr>
          <a:xfrm>
            <a:off x="8322869" y="3730752"/>
            <a:ext cx="2954426" cy="512064"/>
          </a:xfrm>
          <a:prstGeom prst="rect">
            <a:avLst/>
          </a:prstGeom>
          <a:noFill/>
          <a:ln/>
        </p:spPr>
        <p:txBody>
          <a:bodyPr wrap="square" lIns="0" tIns="0" rIns="0" bIns="0" rtlCol="0" anchor="t"/>
          <a:lstStyle/>
          <a:p>
            <a:pPr marL="0" indent="0">
              <a:lnSpc>
                <a:spcPct val="112000"/>
              </a:lnSpc>
              <a:buNone/>
            </a:pPr>
            <a:r>
              <a:rPr lang="en-US" sz="1000" dirty="0">
                <a:solidFill>
                  <a:srgbClr val="6B7488"/>
                </a:solidFill>
                <a:latin typeface="Arial" pitchFamily="34" charset="0"/>
                <a:ea typeface="Arial" pitchFamily="34" charset="-122"/>
                <a:cs typeface="Arial" pitchFamily="34" charset="-120"/>
              </a:rPr>
              <a:t>Not already addressed by the existing requirement set</a:t>
            </a:r>
            <a:endParaRPr lang="en-US" sz="1000" dirty="0"/>
          </a:p>
        </p:txBody>
      </p:sp>
      <p:sp>
        <p:nvSpPr>
          <p:cNvPr id="37" name="Shape 33"/>
          <p:cNvSpPr/>
          <p:nvPr/>
        </p:nvSpPr>
        <p:spPr>
          <a:xfrm>
            <a:off x="8322869" y="4224528"/>
            <a:ext cx="2954426" cy="274320"/>
          </a:xfrm>
          <a:prstGeom prst="roundRect">
            <a:avLst>
              <a:gd name="adj" fmla="val 16667"/>
            </a:avLst>
          </a:prstGeom>
          <a:solidFill>
            <a:srgbClr val="FBECE8"/>
          </a:solidFill>
          <a:ln/>
        </p:spPr>
        <p:txBody>
          <a:bodyPr/>
          <a:lstStyle/>
          <a:p>
            <a:endParaRPr lang="en-US"/>
          </a:p>
        </p:txBody>
      </p:sp>
      <p:sp>
        <p:nvSpPr>
          <p:cNvPr id="38" name="Text 34"/>
          <p:cNvSpPr/>
          <p:nvPr/>
        </p:nvSpPr>
        <p:spPr>
          <a:xfrm>
            <a:off x="8322869" y="4224528"/>
            <a:ext cx="2954426" cy="274320"/>
          </a:xfrm>
          <a:prstGeom prst="rect">
            <a:avLst/>
          </a:prstGeom>
          <a:noFill/>
          <a:ln/>
        </p:spPr>
        <p:txBody>
          <a:bodyPr wrap="square" lIns="0" tIns="0" rIns="0" bIns="0" rtlCol="0" anchor="ctr"/>
          <a:lstStyle/>
          <a:p>
            <a:pPr marL="0" indent="0" algn="ctr">
              <a:buNone/>
            </a:pPr>
            <a:r>
              <a:rPr lang="en-US" sz="950" b="1" dirty="0">
                <a:solidFill>
                  <a:srgbClr val="A44A34"/>
                </a:solidFill>
                <a:latin typeface="Arial" pitchFamily="34" charset="0"/>
                <a:ea typeface="Arial" pitchFamily="34" charset="-122"/>
                <a:cs typeface="Arial" pitchFamily="34" charset="-120"/>
              </a:rPr>
              <a:t>GAP-3 out</a:t>
            </a:r>
            <a:endParaRPr lang="en-US" sz="950" dirty="0"/>
          </a:p>
        </p:txBody>
      </p:sp>
      <p:sp>
        <p:nvSpPr>
          <p:cNvPr id="39" name="Shape 35"/>
          <p:cNvSpPr/>
          <p:nvPr/>
        </p:nvSpPr>
        <p:spPr>
          <a:xfrm>
            <a:off x="5989320" y="4736592"/>
            <a:ext cx="201168" cy="237744"/>
          </a:xfrm>
          <a:prstGeom prst="downArrow">
            <a:avLst/>
          </a:prstGeom>
          <a:solidFill>
            <a:srgbClr val="00B0F0"/>
          </a:solidFill>
          <a:ln/>
        </p:spPr>
        <p:txBody>
          <a:bodyPr/>
          <a:lstStyle/>
          <a:p>
            <a:endParaRPr lang="en-US"/>
          </a:p>
        </p:txBody>
      </p:sp>
      <p:sp>
        <p:nvSpPr>
          <p:cNvPr id="40" name="Shape 36"/>
          <p:cNvSpPr/>
          <p:nvPr/>
        </p:nvSpPr>
        <p:spPr>
          <a:xfrm>
            <a:off x="658368" y="5102352"/>
            <a:ext cx="10874959" cy="1005840"/>
          </a:xfrm>
          <a:prstGeom prst="roundRect">
            <a:avLst>
              <a:gd name="adj" fmla="val 8182"/>
            </a:avLst>
          </a:prstGeom>
          <a:solidFill>
            <a:srgbClr val="0E1A38"/>
          </a:solidFill>
          <a:ln/>
        </p:spPr>
        <p:txBody>
          <a:bodyPr/>
          <a:lstStyle/>
          <a:p>
            <a:endParaRPr lang="en-US"/>
          </a:p>
        </p:txBody>
      </p:sp>
      <p:sp>
        <p:nvSpPr>
          <p:cNvPr id="41" name="Text 37"/>
          <p:cNvSpPr/>
          <p:nvPr/>
        </p:nvSpPr>
        <p:spPr>
          <a:xfrm>
            <a:off x="1078992" y="5230368"/>
            <a:ext cx="2926080" cy="219456"/>
          </a:xfrm>
          <a:prstGeom prst="rect">
            <a:avLst/>
          </a:prstGeom>
          <a:noFill/>
          <a:ln/>
        </p:spPr>
        <p:txBody>
          <a:bodyPr wrap="square" lIns="0" tIns="0" rIns="0" bIns="0" rtlCol="0" anchor="ctr"/>
          <a:lstStyle/>
          <a:p>
            <a:pPr marL="0" indent="0">
              <a:buNone/>
            </a:pPr>
            <a:r>
              <a:rPr lang="en-US" sz="900" b="1" kern="0" spc="240" dirty="0">
                <a:solidFill>
                  <a:srgbClr val="E8A33D"/>
                </a:solidFill>
                <a:latin typeface="Arial" pitchFamily="34" charset="0"/>
                <a:ea typeface="Arial" pitchFamily="34" charset="-122"/>
                <a:cs typeface="Arial" pitchFamily="34" charset="-120"/>
              </a:rPr>
              <a:t>ONE PRIORITY</a:t>
            </a:r>
            <a:endParaRPr lang="en-US" sz="900" dirty="0"/>
          </a:p>
        </p:txBody>
      </p:sp>
      <p:sp>
        <p:nvSpPr>
          <p:cNvPr id="42" name="Text 38"/>
          <p:cNvSpPr/>
          <p:nvPr/>
        </p:nvSpPr>
        <p:spPr>
          <a:xfrm>
            <a:off x="1078992" y="5468112"/>
            <a:ext cx="6766560" cy="402336"/>
          </a:xfrm>
          <a:prstGeom prst="rect">
            <a:avLst/>
          </a:prstGeom>
          <a:noFill/>
          <a:ln/>
        </p:spPr>
        <p:txBody>
          <a:bodyPr wrap="square" lIns="0" tIns="0" rIns="0" bIns="0" rtlCol="0" anchor="ctr"/>
          <a:lstStyle/>
          <a:p>
            <a:pPr marL="0" indent="0">
              <a:buNone/>
            </a:pPr>
            <a:r>
              <a:rPr lang="en-US" sz="2100" b="1" dirty="0">
                <a:solidFill>
                  <a:srgbClr val="FFFFFF"/>
                </a:solidFill>
                <a:latin typeface="29LT Adir" pitchFamily="34" charset="0"/>
                <a:ea typeface="29LT Adir" pitchFamily="34" charset="-122"/>
                <a:cs typeface="29LT Adir" pitchFamily="34" charset="-120"/>
              </a:rPr>
              <a:t>Weathering-corrected composition</a:t>
            </a:r>
            <a:endParaRPr lang="en-US" sz="2100" dirty="0"/>
          </a:p>
        </p:txBody>
      </p:sp>
      <p:sp>
        <p:nvSpPr>
          <p:cNvPr id="43" name="Text 39"/>
          <p:cNvSpPr/>
          <p:nvPr/>
        </p:nvSpPr>
        <p:spPr>
          <a:xfrm>
            <a:off x="7863840" y="5340096"/>
            <a:ext cx="3200400" cy="548640"/>
          </a:xfrm>
          <a:prstGeom prst="rect">
            <a:avLst/>
          </a:prstGeom>
          <a:noFill/>
          <a:ln/>
        </p:spPr>
        <p:txBody>
          <a:bodyPr wrap="square" lIns="0" tIns="0" rIns="0" bIns="0" rtlCol="0" anchor="ctr"/>
          <a:lstStyle/>
          <a:p>
            <a:pPr marL="0" indent="0" algn="r">
              <a:lnSpc>
                <a:spcPct val="116000"/>
              </a:lnSpc>
              <a:buNone/>
            </a:pPr>
            <a:r>
              <a:rPr lang="en-US" sz="1000" dirty="0">
                <a:solidFill>
                  <a:srgbClr val="8FA0C0"/>
                </a:solidFill>
                <a:latin typeface="Arial" pitchFamily="34" charset="0"/>
                <a:ea typeface="Arial" pitchFamily="34" charset="-122"/>
                <a:cs typeface="Arial" pitchFamily="34" charset="-120"/>
              </a:rPr>
              <a:t>Touched by no requirement and</a:t>
            </a:r>
            <a:endParaRPr lang="en-US" sz="1000" dirty="0"/>
          </a:p>
          <a:p>
            <a:pPr marL="0" indent="0" algn="r">
              <a:lnSpc>
                <a:spcPct val="116000"/>
              </a:lnSpc>
              <a:buNone/>
            </a:pPr>
            <a:r>
              <a:rPr lang="en-US" sz="1000" dirty="0">
                <a:solidFill>
                  <a:srgbClr val="8FA0C0"/>
                </a:solidFill>
                <a:latin typeface="Arial" pitchFamily="34" charset="0"/>
                <a:ea typeface="Arial" pitchFamily="34" charset="-122"/>
                <a:cs typeface="Arial" pitchFamily="34" charset="-120"/>
              </a:rPr>
              <a:t>by no confirmed instrument.</a:t>
            </a:r>
            <a:endParaRPr lang="en-US" sz="1000" dirty="0"/>
          </a:p>
        </p:txBody>
      </p:sp>
      <p:sp>
        <p:nvSpPr>
          <p:cNvPr id="44" name="Text 40"/>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AAB2C2"/>
                </a:solidFill>
                <a:latin typeface="Arial" pitchFamily="34" charset="0"/>
                <a:ea typeface="Arial" pitchFamily="34" charset="-122"/>
                <a:cs typeface="Arial" pitchFamily="34" charset="-120"/>
              </a:rPr>
              <a:t>7</a:t>
            </a:r>
            <a:endParaRPr lang="en-US" sz="1000" dirty="0"/>
          </a:p>
        </p:txBody>
      </p:sp>
      <p:pic>
        <p:nvPicPr>
          <p:cNvPr id="47" name="Image 1" descr="/home/claude/work/a2/logo_dark.png">
            <a:extLst>
              <a:ext uri="{FF2B5EF4-FFF2-40B4-BE49-F238E27FC236}">
                <a16:creationId xmlns:a16="http://schemas.microsoft.com/office/drawing/2014/main" id="{8368E810-555E-7615-98FD-18D80A0E7B71}"/>
              </a:ext>
            </a:extLst>
          </p:cNvPr>
          <p:cNvPicPr>
            <a:picLocks noChangeAspect="1"/>
          </p:cNvPicPr>
          <p:nvPr/>
        </p:nvPicPr>
        <p:blipFill>
          <a:blip r:embed="rId5"/>
          <a:stretch>
            <a:fillRect/>
          </a:stretch>
        </p:blipFill>
        <p:spPr>
          <a:xfrm>
            <a:off x="10616340" y="122984"/>
            <a:ext cx="1450538" cy="814736"/>
          </a:xfrm>
          <a:prstGeom prst="rect">
            <a:avLst/>
          </a:prstGeom>
        </p:spPr>
      </p:pic>
      <p:sp>
        <p:nvSpPr>
          <p:cNvPr id="50" name="BJPseudoFooter">
            <a:extLst>
              <a:ext uri="{FF2B5EF4-FFF2-40B4-BE49-F238E27FC236}">
                <a16:creationId xmlns:a16="http://schemas.microsoft.com/office/drawing/2014/main" id="{CD007064-0E50-2F07-5E5C-46C74AECC870}"/>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B16"/>
        </a:solidFill>
        <a:effectLst/>
      </p:bgPr>
    </p:bg>
    <p:spTree>
      <p:nvGrpSpPr>
        <p:cNvPr id="1" name=""/>
        <p:cNvGrpSpPr/>
        <p:nvPr/>
      </p:nvGrpSpPr>
      <p:grpSpPr>
        <a:xfrm>
          <a:off x="0" y="0"/>
          <a:ext cx="0" cy="0"/>
          <a:chOff x="0" y="0"/>
          <a:chExt cx="0" cy="0"/>
        </a:xfrm>
      </p:grpSpPr>
      <p:pic>
        <p:nvPicPr>
          <p:cNvPr id="2" name="Image 0" descr="/home/claude/work/a2/glow_amber.jpg"/>
          <p:cNvPicPr>
            <a:picLocks noChangeAspect="1"/>
          </p:cNvPicPr>
          <p:nvPr/>
        </p:nvPicPr>
        <p:blipFill>
          <a:blip r:embed="rId4"/>
          <a:stretch>
            <a:fillRect/>
          </a:stretch>
        </p:blipFill>
        <p:spPr>
          <a:xfrm>
            <a:off x="0" y="0"/>
            <a:ext cx="12191695" cy="6858000"/>
          </a:xfrm>
          <a:prstGeom prst="rect">
            <a:avLst/>
          </a:prstGeom>
        </p:spPr>
      </p:pic>
      <p:pic>
        <p:nvPicPr>
          <p:cNvPr id="3" name="Image 1" descr="/home/claude/work/a2/logo_white.png"/>
          <p:cNvPicPr>
            <a:picLocks noChangeAspect="1"/>
          </p:cNvPicPr>
          <p:nvPr/>
        </p:nvPicPr>
        <p:blipFill>
          <a:blip r:embed="rId5"/>
          <a:stretch>
            <a:fillRect/>
          </a:stretch>
        </p:blipFill>
        <p:spPr>
          <a:xfrm>
            <a:off x="10801600" y="329184"/>
            <a:ext cx="1133856" cy="478231"/>
          </a:xfrm>
          <a:prstGeom prst="rect">
            <a:avLst/>
          </a:prstGeom>
        </p:spPr>
      </p:pic>
      <p:sp>
        <p:nvSpPr>
          <p:cNvPr id="4" name="Text 0"/>
          <p:cNvSpPr/>
          <p:nvPr/>
        </p:nvSpPr>
        <p:spPr>
          <a:xfrm>
            <a:off x="658368" y="6272784"/>
            <a:ext cx="8595360" cy="274320"/>
          </a:xfrm>
          <a:prstGeom prst="rect">
            <a:avLst/>
          </a:prstGeom>
          <a:noFill/>
          <a:ln/>
        </p:spPr>
        <p:txBody>
          <a:bodyPr wrap="square" lIns="0" tIns="0" rIns="0" bIns="0" rtlCol="0" anchor="ctr"/>
          <a:lstStyle/>
          <a:p>
            <a:pPr marL="0" indent="0" algn="l">
              <a:buNone/>
            </a:pPr>
            <a:r>
              <a:rPr lang="en-US" sz="800" kern="0" spc="150" dirty="0">
                <a:solidFill>
                  <a:srgbClr val="54607C"/>
                </a:solidFill>
                <a:latin typeface="Arial" pitchFamily="34" charset="0"/>
                <a:ea typeface="Arial" pitchFamily="34" charset="-122"/>
                <a:cs typeface="Arial" pitchFamily="34" charset="-120"/>
              </a:rPr>
              <a:t>BASELINE</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OPPORTUNITIES</a:t>
            </a:r>
            <a:r>
              <a:rPr lang="en-US" sz="800" dirty="0">
                <a:solidFill>
                  <a:srgbClr val="000000"/>
                </a:solidFill>
                <a:latin typeface="Arial" pitchFamily="34" charset="0"/>
                <a:ea typeface="Arial" pitchFamily="34" charset="-122"/>
                <a:cs typeface="Arial" pitchFamily="34" charset="-120"/>
              </a:rPr>
              <a:t>     </a:t>
            </a:r>
            <a:r>
              <a:rPr lang="en-US" sz="800" b="1" kern="0" spc="150" dirty="0">
                <a:solidFill>
                  <a:srgbClr val="E8A33D"/>
                </a:solidFill>
                <a:latin typeface="Arial" pitchFamily="34" charset="0"/>
                <a:ea typeface="Arial" pitchFamily="34" charset="-122"/>
                <a:cs typeface="Arial" pitchFamily="34" charset="-120"/>
              </a:rPr>
              <a:t>SELECTION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RECOMMENDATION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VALUE</a:t>
            </a:r>
            <a:endParaRPr lang="en-US" sz="800" dirty="0"/>
          </a:p>
        </p:txBody>
      </p:sp>
      <p:sp>
        <p:nvSpPr>
          <p:cNvPr id="5" name="Text 1"/>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FFFFFF"/>
                </a:solidFill>
                <a:latin typeface="29LT Adir" pitchFamily="34" charset="0"/>
                <a:ea typeface="29LT Adir" pitchFamily="34" charset="-122"/>
                <a:cs typeface="29LT Adir" pitchFamily="34" charset="-120"/>
              </a:rPr>
              <a:t>The Scientific Problem</a:t>
            </a:r>
            <a:endParaRPr lang="en-US" sz="3000" dirty="0"/>
          </a:p>
        </p:txBody>
      </p:sp>
      <p:sp>
        <p:nvSpPr>
          <p:cNvPr id="6" name="Text 2"/>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9BA7C0"/>
                </a:solidFill>
                <a:latin typeface="Arial" pitchFamily="34" charset="0"/>
                <a:ea typeface="Arial" pitchFamily="34" charset="-122"/>
                <a:cs typeface="Arial" pitchFamily="34" charset="-120"/>
              </a:rPr>
              <a:t>Space weathering changes what we see without changing the bulk composition.</a:t>
            </a:r>
            <a:endParaRPr lang="en-US" sz="1250" dirty="0"/>
          </a:p>
        </p:txBody>
      </p:sp>
      <p:sp>
        <p:nvSpPr>
          <p:cNvPr id="7" name="Shape 3"/>
          <p:cNvSpPr/>
          <p:nvPr/>
        </p:nvSpPr>
        <p:spPr>
          <a:xfrm>
            <a:off x="658368" y="2066544"/>
            <a:ext cx="2362124" cy="914400"/>
          </a:xfrm>
          <a:prstGeom prst="roundRect">
            <a:avLst>
              <a:gd name="adj" fmla="val 8000"/>
            </a:avLst>
          </a:prstGeom>
          <a:solidFill>
            <a:srgbClr val="111A2E"/>
          </a:solidFill>
          <a:ln w="9525">
            <a:solidFill>
              <a:srgbClr val="2A3552"/>
            </a:solidFill>
            <a:prstDash val="solid"/>
          </a:ln>
        </p:spPr>
        <p:txBody>
          <a:bodyPr/>
          <a:lstStyle/>
          <a:p>
            <a:endParaRPr lang="en-US"/>
          </a:p>
        </p:txBody>
      </p:sp>
      <p:sp>
        <p:nvSpPr>
          <p:cNvPr id="8" name="Text 4"/>
          <p:cNvSpPr/>
          <p:nvPr/>
        </p:nvSpPr>
        <p:spPr>
          <a:xfrm>
            <a:off x="804672" y="2066544"/>
            <a:ext cx="2069516" cy="914400"/>
          </a:xfrm>
          <a:prstGeom prst="rect">
            <a:avLst/>
          </a:prstGeom>
          <a:noFill/>
          <a:ln/>
        </p:spPr>
        <p:txBody>
          <a:bodyPr wrap="square" lIns="0" tIns="0" rIns="0" bIns="0" rtlCol="0" anchor="ctr"/>
          <a:lstStyle/>
          <a:p>
            <a:pPr marL="0" indent="0" algn="ctr">
              <a:lnSpc>
                <a:spcPct val="100000"/>
              </a:lnSpc>
              <a:buNone/>
            </a:pPr>
            <a:r>
              <a:rPr lang="en-US" sz="1350" dirty="0">
                <a:solidFill>
                  <a:srgbClr val="FFFFFF"/>
                </a:solidFill>
                <a:latin typeface="29LT Adir" pitchFamily="34" charset="0"/>
                <a:ea typeface="29LT Adir" pitchFamily="34" charset="-122"/>
                <a:cs typeface="29LT Adir" pitchFamily="34" charset="-120"/>
              </a:rPr>
              <a:t>Fresh material</a:t>
            </a:r>
            <a:endParaRPr lang="en-US" sz="1350" dirty="0"/>
          </a:p>
        </p:txBody>
      </p:sp>
      <p:sp>
        <p:nvSpPr>
          <p:cNvPr id="9" name="Shape 5"/>
          <p:cNvSpPr/>
          <p:nvPr/>
        </p:nvSpPr>
        <p:spPr>
          <a:xfrm>
            <a:off x="3130220" y="2423160"/>
            <a:ext cx="256032" cy="201168"/>
          </a:xfrm>
          <a:prstGeom prst="rightArrow">
            <a:avLst/>
          </a:prstGeom>
          <a:solidFill>
            <a:srgbClr val="00B0F0"/>
          </a:solidFill>
          <a:ln/>
        </p:spPr>
        <p:txBody>
          <a:bodyPr/>
          <a:lstStyle/>
          <a:p>
            <a:endParaRPr lang="en-US"/>
          </a:p>
        </p:txBody>
      </p:sp>
      <p:sp>
        <p:nvSpPr>
          <p:cNvPr id="10" name="Shape 6"/>
          <p:cNvSpPr/>
          <p:nvPr/>
        </p:nvSpPr>
        <p:spPr>
          <a:xfrm>
            <a:off x="3495980" y="2066544"/>
            <a:ext cx="2362124" cy="914400"/>
          </a:xfrm>
          <a:prstGeom prst="roundRect">
            <a:avLst>
              <a:gd name="adj" fmla="val 8000"/>
            </a:avLst>
          </a:prstGeom>
          <a:solidFill>
            <a:srgbClr val="111A2E"/>
          </a:solidFill>
          <a:ln w="9525">
            <a:solidFill>
              <a:srgbClr val="2A3552"/>
            </a:solidFill>
            <a:prstDash val="solid"/>
          </a:ln>
        </p:spPr>
        <p:txBody>
          <a:bodyPr/>
          <a:lstStyle/>
          <a:p>
            <a:endParaRPr lang="en-US"/>
          </a:p>
        </p:txBody>
      </p:sp>
      <p:sp>
        <p:nvSpPr>
          <p:cNvPr id="11" name="Text 7"/>
          <p:cNvSpPr/>
          <p:nvPr/>
        </p:nvSpPr>
        <p:spPr>
          <a:xfrm>
            <a:off x="3642284" y="2066544"/>
            <a:ext cx="2069516" cy="914400"/>
          </a:xfrm>
          <a:prstGeom prst="rect">
            <a:avLst/>
          </a:prstGeom>
          <a:noFill/>
          <a:ln/>
        </p:spPr>
        <p:txBody>
          <a:bodyPr wrap="square" lIns="0" tIns="0" rIns="0" bIns="0" rtlCol="0" anchor="ctr"/>
          <a:lstStyle/>
          <a:p>
            <a:pPr marL="0" indent="0" algn="ctr">
              <a:lnSpc>
                <a:spcPct val="100000"/>
              </a:lnSpc>
              <a:buNone/>
            </a:pPr>
            <a:r>
              <a:rPr lang="en-US" sz="1350" dirty="0">
                <a:solidFill>
                  <a:srgbClr val="FFFFFF"/>
                </a:solidFill>
                <a:latin typeface="29LT Adir" pitchFamily="34" charset="0"/>
                <a:ea typeface="29LT Adir" pitchFamily="34" charset="-122"/>
                <a:cs typeface="29LT Adir" pitchFamily="34" charset="-120"/>
              </a:rPr>
              <a:t>Space weathering</a:t>
            </a:r>
            <a:endParaRPr lang="en-US" sz="1350" dirty="0"/>
          </a:p>
        </p:txBody>
      </p:sp>
      <p:sp>
        <p:nvSpPr>
          <p:cNvPr id="12" name="Shape 8"/>
          <p:cNvSpPr/>
          <p:nvPr/>
        </p:nvSpPr>
        <p:spPr>
          <a:xfrm>
            <a:off x="5967832" y="2423160"/>
            <a:ext cx="256032" cy="201168"/>
          </a:xfrm>
          <a:prstGeom prst="rightArrow">
            <a:avLst/>
          </a:prstGeom>
          <a:solidFill>
            <a:srgbClr val="00B0F0"/>
          </a:solidFill>
          <a:ln/>
        </p:spPr>
        <p:txBody>
          <a:bodyPr/>
          <a:lstStyle/>
          <a:p>
            <a:endParaRPr lang="en-US"/>
          </a:p>
        </p:txBody>
      </p:sp>
      <p:sp>
        <p:nvSpPr>
          <p:cNvPr id="13" name="Shape 9"/>
          <p:cNvSpPr/>
          <p:nvPr/>
        </p:nvSpPr>
        <p:spPr>
          <a:xfrm>
            <a:off x="6333592" y="2066544"/>
            <a:ext cx="2362124" cy="914400"/>
          </a:xfrm>
          <a:prstGeom prst="roundRect">
            <a:avLst>
              <a:gd name="adj" fmla="val 8000"/>
            </a:avLst>
          </a:prstGeom>
          <a:solidFill>
            <a:srgbClr val="111A2E"/>
          </a:solidFill>
          <a:ln w="9525">
            <a:solidFill>
              <a:srgbClr val="2A3552"/>
            </a:solidFill>
            <a:prstDash val="solid"/>
          </a:ln>
        </p:spPr>
        <p:txBody>
          <a:bodyPr/>
          <a:lstStyle/>
          <a:p>
            <a:endParaRPr lang="en-US"/>
          </a:p>
        </p:txBody>
      </p:sp>
      <p:sp>
        <p:nvSpPr>
          <p:cNvPr id="14" name="Text 10"/>
          <p:cNvSpPr/>
          <p:nvPr/>
        </p:nvSpPr>
        <p:spPr>
          <a:xfrm>
            <a:off x="6479896" y="2066544"/>
            <a:ext cx="2069516" cy="914400"/>
          </a:xfrm>
          <a:prstGeom prst="rect">
            <a:avLst/>
          </a:prstGeom>
          <a:noFill/>
          <a:ln/>
        </p:spPr>
        <p:txBody>
          <a:bodyPr wrap="square" lIns="0" tIns="0" rIns="0" bIns="0" rtlCol="0" anchor="ctr"/>
          <a:lstStyle/>
          <a:p>
            <a:pPr marL="0" indent="0" algn="ctr">
              <a:lnSpc>
                <a:spcPct val="100000"/>
              </a:lnSpc>
              <a:buNone/>
            </a:pPr>
            <a:r>
              <a:rPr lang="en-US" sz="1350" dirty="0">
                <a:solidFill>
                  <a:srgbClr val="FFFFFF"/>
                </a:solidFill>
                <a:latin typeface="29LT Adir" pitchFamily="34" charset="0"/>
                <a:ea typeface="29LT Adir" pitchFamily="34" charset="-122"/>
                <a:cs typeface="29LT Adir" pitchFamily="34" charset="-120"/>
              </a:rPr>
              <a:t>Altered optical spectrum</a:t>
            </a:r>
            <a:endParaRPr lang="en-US" sz="1350" dirty="0"/>
          </a:p>
        </p:txBody>
      </p:sp>
      <p:sp>
        <p:nvSpPr>
          <p:cNvPr id="15" name="Shape 11"/>
          <p:cNvSpPr/>
          <p:nvPr/>
        </p:nvSpPr>
        <p:spPr>
          <a:xfrm>
            <a:off x="8805443" y="2423160"/>
            <a:ext cx="256032" cy="201168"/>
          </a:xfrm>
          <a:prstGeom prst="rightArrow">
            <a:avLst/>
          </a:prstGeom>
          <a:solidFill>
            <a:srgbClr val="00B0F0"/>
          </a:solidFill>
          <a:ln/>
        </p:spPr>
        <p:txBody>
          <a:bodyPr/>
          <a:lstStyle/>
          <a:p>
            <a:endParaRPr lang="en-US"/>
          </a:p>
        </p:txBody>
      </p:sp>
      <p:sp>
        <p:nvSpPr>
          <p:cNvPr id="16" name="Shape 12"/>
          <p:cNvSpPr/>
          <p:nvPr/>
        </p:nvSpPr>
        <p:spPr>
          <a:xfrm>
            <a:off x="9171203" y="2066544"/>
            <a:ext cx="2362124" cy="914400"/>
          </a:xfrm>
          <a:prstGeom prst="roundRect">
            <a:avLst>
              <a:gd name="adj" fmla="val 8000"/>
            </a:avLst>
          </a:prstGeom>
          <a:solidFill>
            <a:srgbClr val="111A2E"/>
          </a:solidFill>
          <a:ln w="19050">
            <a:solidFill>
              <a:srgbClr val="F0F0F0"/>
            </a:solidFill>
            <a:prstDash val="solid"/>
          </a:ln>
        </p:spPr>
        <p:txBody>
          <a:bodyPr/>
          <a:lstStyle/>
          <a:p>
            <a:endParaRPr lang="en-US"/>
          </a:p>
        </p:txBody>
      </p:sp>
      <p:sp>
        <p:nvSpPr>
          <p:cNvPr id="17" name="Text 13"/>
          <p:cNvSpPr/>
          <p:nvPr/>
        </p:nvSpPr>
        <p:spPr>
          <a:xfrm>
            <a:off x="9317507" y="2066544"/>
            <a:ext cx="2069516" cy="914400"/>
          </a:xfrm>
          <a:prstGeom prst="rect">
            <a:avLst/>
          </a:prstGeom>
          <a:noFill/>
          <a:ln/>
        </p:spPr>
        <p:txBody>
          <a:bodyPr wrap="square" lIns="0" tIns="0" rIns="0" bIns="0" rtlCol="0" anchor="ctr"/>
          <a:lstStyle/>
          <a:p>
            <a:pPr marL="0" indent="0" algn="ctr">
              <a:lnSpc>
                <a:spcPct val="100000"/>
              </a:lnSpc>
              <a:buNone/>
            </a:pPr>
            <a:r>
              <a:rPr lang="en-US" sz="1350" dirty="0">
                <a:solidFill>
                  <a:srgbClr val="00B0F0"/>
                </a:solidFill>
                <a:latin typeface="29LT Adir" pitchFamily="34" charset="0"/>
                <a:ea typeface="29LT Adir" pitchFamily="34" charset="-122"/>
                <a:cs typeface="29LT Adir" pitchFamily="34" charset="-120"/>
              </a:rPr>
              <a:t>Biased mineralogical interpretation</a:t>
            </a:r>
            <a:endParaRPr lang="en-US" sz="1350" dirty="0">
              <a:solidFill>
                <a:srgbClr val="00B0F0"/>
              </a:solidFill>
            </a:endParaRPr>
          </a:p>
        </p:txBody>
      </p:sp>
      <p:sp>
        <p:nvSpPr>
          <p:cNvPr id="18" name="Shape 14"/>
          <p:cNvSpPr/>
          <p:nvPr/>
        </p:nvSpPr>
        <p:spPr>
          <a:xfrm>
            <a:off x="658368" y="3310128"/>
            <a:ext cx="10874959" cy="1225296"/>
          </a:xfrm>
          <a:prstGeom prst="roundRect">
            <a:avLst>
              <a:gd name="adj" fmla="val 6716"/>
            </a:avLst>
          </a:prstGeom>
          <a:solidFill>
            <a:srgbClr val="13233F"/>
          </a:solidFill>
          <a:ln/>
        </p:spPr>
        <p:txBody>
          <a:bodyPr/>
          <a:lstStyle/>
          <a:p>
            <a:endParaRPr lang="en-US"/>
          </a:p>
        </p:txBody>
      </p:sp>
      <p:sp>
        <p:nvSpPr>
          <p:cNvPr id="19" name="Text 15"/>
          <p:cNvSpPr/>
          <p:nvPr/>
        </p:nvSpPr>
        <p:spPr>
          <a:xfrm>
            <a:off x="1133856" y="3474720"/>
            <a:ext cx="8686800" cy="310896"/>
          </a:xfrm>
          <a:prstGeom prst="rect">
            <a:avLst/>
          </a:prstGeom>
          <a:noFill/>
          <a:ln/>
        </p:spPr>
        <p:txBody>
          <a:bodyPr wrap="square" lIns="0" tIns="0" rIns="0" bIns="0" rtlCol="0" anchor="ctr"/>
          <a:lstStyle/>
          <a:p>
            <a:pPr marL="0" indent="0">
              <a:buNone/>
            </a:pPr>
            <a:r>
              <a:rPr lang="en-US" sz="1600" dirty="0">
                <a:solidFill>
                  <a:srgbClr val="9CBBE6"/>
                </a:solidFill>
                <a:latin typeface="29LT Adir" pitchFamily="34" charset="0"/>
                <a:ea typeface="29LT Adir" pitchFamily="34" charset="-122"/>
                <a:cs typeface="29LT Adir" pitchFamily="34" charset="-120"/>
              </a:rPr>
              <a:t>RAMSES can measure the spectrum.</a:t>
            </a:r>
            <a:endParaRPr lang="en-US" sz="1600" dirty="0"/>
          </a:p>
        </p:txBody>
      </p:sp>
      <p:sp>
        <p:nvSpPr>
          <p:cNvPr id="20" name="Text 16"/>
          <p:cNvSpPr/>
          <p:nvPr/>
        </p:nvSpPr>
        <p:spPr>
          <a:xfrm>
            <a:off x="1133856" y="3840480"/>
            <a:ext cx="9692640" cy="512064"/>
          </a:xfrm>
          <a:prstGeom prst="rect">
            <a:avLst/>
          </a:prstGeom>
          <a:noFill/>
          <a:ln/>
        </p:spPr>
        <p:txBody>
          <a:bodyPr wrap="square" lIns="0" tIns="0" rIns="0" bIns="0" rtlCol="0" anchor="ctr"/>
          <a:lstStyle/>
          <a:p>
            <a:pPr marL="0" indent="0">
              <a:buNone/>
            </a:pPr>
            <a:r>
              <a:rPr lang="en-US" sz="1900" b="1" dirty="0">
                <a:solidFill>
                  <a:srgbClr val="E8A33D"/>
                </a:solidFill>
                <a:latin typeface="29LT Adir" pitchFamily="34" charset="0"/>
                <a:ea typeface="29LT Adir" pitchFamily="34" charset="-122"/>
                <a:cs typeface="29LT Adir" pitchFamily="34" charset="-120"/>
              </a:rPr>
              <a:t>BUT </a:t>
            </a:r>
            <a:r>
              <a:rPr lang="en-US" sz="1900" dirty="0">
                <a:solidFill>
                  <a:srgbClr val="FFFFFF"/>
                </a:solidFill>
                <a:latin typeface="29LT Adir" pitchFamily="34" charset="0"/>
                <a:ea typeface="29LT Adir" pitchFamily="34" charset="-122"/>
                <a:cs typeface="29LT Adir" pitchFamily="34" charset="-120"/>
              </a:rPr>
              <a:t>it cannot independently measure the reference needed to correct it.</a:t>
            </a:r>
            <a:endParaRPr lang="en-US" sz="1900" dirty="0"/>
          </a:p>
        </p:txBody>
      </p:sp>
      <p:sp>
        <p:nvSpPr>
          <p:cNvPr id="21" name="Shape 17"/>
          <p:cNvSpPr/>
          <p:nvPr/>
        </p:nvSpPr>
        <p:spPr>
          <a:xfrm>
            <a:off x="658368" y="4773168"/>
            <a:ext cx="5245456" cy="1188720"/>
          </a:xfrm>
          <a:prstGeom prst="roundRect">
            <a:avLst>
              <a:gd name="adj" fmla="val 6154"/>
            </a:avLst>
          </a:prstGeom>
          <a:solidFill>
            <a:srgbClr val="111A2E"/>
          </a:solidFill>
          <a:ln w="9525">
            <a:solidFill>
              <a:srgbClr val="F0F0F0"/>
            </a:solidFill>
            <a:prstDash val="solid"/>
          </a:ln>
        </p:spPr>
        <p:txBody>
          <a:bodyPr/>
          <a:lstStyle/>
          <a:p>
            <a:endParaRPr lang="en-US"/>
          </a:p>
        </p:txBody>
      </p:sp>
      <p:sp>
        <p:nvSpPr>
          <p:cNvPr id="22" name="Text 18"/>
          <p:cNvSpPr/>
          <p:nvPr/>
        </p:nvSpPr>
        <p:spPr>
          <a:xfrm>
            <a:off x="932688" y="4937760"/>
            <a:ext cx="4696816" cy="274320"/>
          </a:xfrm>
          <a:prstGeom prst="rect">
            <a:avLst/>
          </a:prstGeom>
          <a:noFill/>
          <a:ln/>
        </p:spPr>
        <p:txBody>
          <a:bodyPr wrap="square" lIns="0" tIns="0" rIns="0" bIns="0" rtlCol="0" anchor="ctr"/>
          <a:lstStyle/>
          <a:p>
            <a:pPr marL="0" indent="0">
              <a:buNone/>
            </a:pPr>
            <a:r>
              <a:rPr lang="en-US" sz="1350" b="1" dirty="0">
                <a:solidFill>
                  <a:srgbClr val="00B0F0"/>
                </a:solidFill>
                <a:latin typeface="29LT Adir" pitchFamily="34" charset="0"/>
                <a:ea typeface="29LT Adir" pitchFamily="34" charset="-122"/>
                <a:cs typeface="29LT Adir" pitchFamily="34" charset="-120"/>
              </a:rPr>
              <a:t>The correction closes on itself</a:t>
            </a:r>
            <a:endParaRPr lang="en-US" sz="1350" dirty="0">
              <a:solidFill>
                <a:srgbClr val="00B0F0"/>
              </a:solidFill>
            </a:endParaRPr>
          </a:p>
        </p:txBody>
      </p:sp>
      <p:sp>
        <p:nvSpPr>
          <p:cNvPr id="23" name="Text 19"/>
          <p:cNvSpPr/>
          <p:nvPr/>
        </p:nvSpPr>
        <p:spPr>
          <a:xfrm>
            <a:off x="932688" y="5248656"/>
            <a:ext cx="4696816" cy="603504"/>
          </a:xfrm>
          <a:prstGeom prst="rect">
            <a:avLst/>
          </a:prstGeom>
          <a:noFill/>
          <a:ln/>
        </p:spPr>
        <p:txBody>
          <a:bodyPr wrap="square" lIns="0" tIns="0" rIns="0" bIns="0" rtlCol="0" anchor="t"/>
          <a:lstStyle/>
          <a:p>
            <a:pPr marL="0" indent="0">
              <a:lnSpc>
                <a:spcPct val="114000"/>
              </a:lnSpc>
              <a:buNone/>
            </a:pPr>
            <a:r>
              <a:rPr lang="en-US" sz="1000" dirty="0">
                <a:solidFill>
                  <a:srgbClr val="9BA7C0"/>
                </a:solidFill>
                <a:latin typeface="Arial" pitchFamily="34" charset="0"/>
                <a:ea typeface="Arial" pitchFamily="34" charset="-122"/>
                <a:cs typeface="Arial" pitchFamily="34" charset="-120"/>
              </a:rPr>
              <a:t>HAMLET's maturity map is derived from the spectrum it would correct, which makes it verifiable only against its source</a:t>
            </a:r>
            <a:endParaRPr lang="en-US" sz="1000" dirty="0"/>
          </a:p>
        </p:txBody>
      </p:sp>
      <p:sp>
        <p:nvSpPr>
          <p:cNvPr id="24" name="Shape 20"/>
          <p:cNvSpPr/>
          <p:nvPr/>
        </p:nvSpPr>
        <p:spPr>
          <a:xfrm>
            <a:off x="6287872" y="4773168"/>
            <a:ext cx="5245456" cy="1188720"/>
          </a:xfrm>
          <a:prstGeom prst="roundRect">
            <a:avLst>
              <a:gd name="adj" fmla="val 6154"/>
            </a:avLst>
          </a:prstGeom>
          <a:solidFill>
            <a:srgbClr val="111A2E"/>
          </a:solidFill>
          <a:ln w="9525">
            <a:solidFill>
              <a:srgbClr val="F0F0F0"/>
            </a:solidFill>
            <a:prstDash val="solid"/>
          </a:ln>
        </p:spPr>
        <p:txBody>
          <a:bodyPr/>
          <a:lstStyle/>
          <a:p>
            <a:endParaRPr lang="en-US" dirty="0"/>
          </a:p>
        </p:txBody>
      </p:sp>
      <p:sp>
        <p:nvSpPr>
          <p:cNvPr id="25" name="Text 21"/>
          <p:cNvSpPr/>
          <p:nvPr/>
        </p:nvSpPr>
        <p:spPr>
          <a:xfrm>
            <a:off x="6562192" y="4937760"/>
            <a:ext cx="4696816" cy="274320"/>
          </a:xfrm>
          <a:prstGeom prst="rect">
            <a:avLst/>
          </a:prstGeom>
          <a:noFill/>
          <a:ln/>
        </p:spPr>
        <p:txBody>
          <a:bodyPr wrap="square" lIns="0" tIns="0" rIns="0" bIns="0" rtlCol="0" anchor="ctr"/>
          <a:lstStyle/>
          <a:p>
            <a:pPr marL="0" indent="0">
              <a:buNone/>
            </a:pPr>
            <a:r>
              <a:rPr lang="en-US" sz="1350" b="1" dirty="0">
                <a:solidFill>
                  <a:srgbClr val="00B0F0"/>
                </a:solidFill>
                <a:latin typeface="29LT Adir" pitchFamily="34" charset="0"/>
                <a:ea typeface="29LT Adir" pitchFamily="34" charset="-122"/>
                <a:cs typeface="29LT Adir" pitchFamily="34" charset="-120"/>
              </a:rPr>
              <a:t>Why it matters at Apophis</a:t>
            </a:r>
            <a:endParaRPr lang="en-US" sz="1350" dirty="0">
              <a:solidFill>
                <a:srgbClr val="00B0F0"/>
              </a:solidFill>
            </a:endParaRPr>
          </a:p>
        </p:txBody>
      </p:sp>
      <p:sp>
        <p:nvSpPr>
          <p:cNvPr id="26" name="Text 22"/>
          <p:cNvSpPr/>
          <p:nvPr/>
        </p:nvSpPr>
        <p:spPr>
          <a:xfrm>
            <a:off x="6562192" y="5248656"/>
            <a:ext cx="4696816" cy="603504"/>
          </a:xfrm>
          <a:prstGeom prst="rect">
            <a:avLst/>
          </a:prstGeom>
          <a:noFill/>
          <a:ln/>
        </p:spPr>
        <p:txBody>
          <a:bodyPr wrap="square" lIns="0" tIns="0" rIns="0" bIns="0" rtlCol="0" anchor="t"/>
          <a:lstStyle/>
          <a:p>
            <a:pPr marL="0" indent="0">
              <a:lnSpc>
                <a:spcPct val="114000"/>
              </a:lnSpc>
              <a:buNone/>
            </a:pPr>
            <a:r>
              <a:rPr lang="en-US" sz="1000" dirty="0">
                <a:solidFill>
                  <a:srgbClr val="9BA7C0"/>
                </a:solidFill>
                <a:latin typeface="Arial" pitchFamily="34" charset="0"/>
                <a:ea typeface="Arial" pitchFamily="34" charset="-122"/>
                <a:cs typeface="Arial" pitchFamily="34" charset="-120"/>
              </a:rPr>
              <a:t>Sq type: a surface partly but not wholly refreshed. The 2029 encounter may reset the maturity clock, a natural experiment that will not recur.</a:t>
            </a:r>
            <a:endParaRPr lang="en-US" sz="1000" dirty="0"/>
          </a:p>
        </p:txBody>
      </p:sp>
      <p:sp>
        <p:nvSpPr>
          <p:cNvPr id="27" name="Text 23"/>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54607C"/>
                </a:solidFill>
                <a:latin typeface="Arial" pitchFamily="34" charset="0"/>
                <a:ea typeface="Arial" pitchFamily="34" charset="-122"/>
                <a:cs typeface="Arial" pitchFamily="34" charset="-120"/>
              </a:rPr>
              <a:t>8</a:t>
            </a:r>
            <a:endParaRPr lang="en-US" sz="1000" dirty="0"/>
          </a:p>
        </p:txBody>
      </p:sp>
      <p:sp>
        <p:nvSpPr>
          <p:cNvPr id="31" name="BJPseudoFooter">
            <a:extLst>
              <a:ext uri="{FF2B5EF4-FFF2-40B4-BE49-F238E27FC236}">
                <a16:creationId xmlns:a16="http://schemas.microsoft.com/office/drawing/2014/main" id="{EA1EF314-33C7-2B56-AFAE-1DE90F0B5242}"/>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ChangeAspect="1"/>
          </p:cNvPicPr>
          <p:nvPr/>
        </p:nvPicPr>
        <p:blipFill>
          <a:blip r:embed="rId4"/>
          <a:stretch>
            <a:fillRect/>
          </a:stretch>
        </p:blipFill>
        <p:spPr>
          <a:xfrm>
            <a:off x="0" y="0"/>
            <a:ext cx="12191695" cy="6858000"/>
          </a:xfrm>
          <a:prstGeom prst="rect">
            <a:avLst/>
          </a:prstGeom>
        </p:spPr>
      </p:pic>
      <p:sp>
        <p:nvSpPr>
          <p:cNvPr id="4" name="Text 0"/>
          <p:cNvSpPr/>
          <p:nvPr/>
        </p:nvSpPr>
        <p:spPr>
          <a:xfrm>
            <a:off x="658368" y="6272784"/>
            <a:ext cx="8595360" cy="274320"/>
          </a:xfrm>
          <a:prstGeom prst="rect">
            <a:avLst/>
          </a:prstGeom>
          <a:noFill/>
          <a:ln/>
        </p:spPr>
        <p:txBody>
          <a:bodyPr wrap="square" lIns="0" tIns="0" rIns="0" bIns="0" rtlCol="0" anchor="ctr"/>
          <a:lstStyle/>
          <a:p>
            <a:pPr marL="0" indent="0" algn="l">
              <a:buNone/>
            </a:pPr>
            <a:r>
              <a:rPr lang="en-US" sz="800" kern="0" spc="150" dirty="0">
                <a:solidFill>
                  <a:srgbClr val="AAB2C2"/>
                </a:solidFill>
                <a:latin typeface="Arial" pitchFamily="34" charset="0"/>
                <a:ea typeface="Arial" pitchFamily="34" charset="-122"/>
                <a:cs typeface="Arial" pitchFamily="34" charset="-120"/>
              </a:rPr>
              <a:t>BASELINE</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OPPORTUNITIES</a:t>
            </a:r>
            <a:r>
              <a:rPr lang="en-US" sz="800" dirty="0">
                <a:solidFill>
                  <a:srgbClr val="000000"/>
                </a:solidFill>
                <a:latin typeface="Arial" pitchFamily="34" charset="0"/>
                <a:ea typeface="Arial" pitchFamily="34" charset="-122"/>
                <a:cs typeface="Arial" pitchFamily="34" charset="-120"/>
              </a:rPr>
              <a:t>     </a:t>
            </a:r>
            <a:r>
              <a:rPr lang="en-US" sz="800" b="1" kern="0" spc="150" dirty="0">
                <a:solidFill>
                  <a:srgbClr val="13234C"/>
                </a:solidFill>
                <a:latin typeface="Arial" pitchFamily="34" charset="0"/>
                <a:ea typeface="Arial" pitchFamily="34" charset="-122"/>
                <a:cs typeface="Arial" pitchFamily="34" charset="-120"/>
              </a:rPr>
              <a:t>SELECTION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RECOMMENDATION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VALUE</a:t>
            </a:r>
            <a:endParaRPr lang="en-US" sz="800" dirty="0"/>
          </a:p>
        </p:txBody>
      </p:sp>
      <p:sp>
        <p:nvSpPr>
          <p:cNvPr id="5" name="Text 1"/>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13234C"/>
                </a:solidFill>
                <a:latin typeface="29LT Adir" pitchFamily="34" charset="0"/>
                <a:ea typeface="29LT Adir" pitchFamily="34" charset="-122"/>
                <a:cs typeface="29LT Adir" pitchFamily="34" charset="-120"/>
              </a:rPr>
              <a:t>The Required Observable</a:t>
            </a:r>
            <a:endParaRPr lang="en-US" sz="3000" dirty="0"/>
          </a:p>
        </p:txBody>
      </p:sp>
      <p:sp>
        <p:nvSpPr>
          <p:cNvPr id="6" name="Text 2"/>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What measurement would close the opportunity?</a:t>
            </a:r>
            <a:endParaRPr lang="en-US" sz="1250" dirty="0"/>
          </a:p>
        </p:txBody>
      </p:sp>
      <p:sp>
        <p:nvSpPr>
          <p:cNvPr id="7" name="Shape 3"/>
          <p:cNvSpPr/>
          <p:nvPr/>
        </p:nvSpPr>
        <p:spPr>
          <a:xfrm>
            <a:off x="658368" y="1938528"/>
            <a:ext cx="10874959" cy="1078992"/>
          </a:xfrm>
          <a:prstGeom prst="roundRect">
            <a:avLst>
              <a:gd name="adj" fmla="val 7627"/>
            </a:avLst>
          </a:prstGeom>
          <a:solidFill>
            <a:srgbClr val="0E1A38"/>
          </a:solidFill>
          <a:ln/>
          <a:effectLst>
            <a:outerShdw blurRad="50800" dist="38100" dir="8100000" algn="tr" rotWithShape="0">
              <a:prstClr val="black">
                <a:alpha val="40000"/>
              </a:prstClr>
            </a:outerShdw>
          </a:effectLst>
        </p:spPr>
        <p:txBody>
          <a:bodyPr/>
          <a:lstStyle/>
          <a:p>
            <a:endParaRPr lang="en-US"/>
          </a:p>
        </p:txBody>
      </p:sp>
      <p:sp>
        <p:nvSpPr>
          <p:cNvPr id="8" name="Text 4"/>
          <p:cNvSpPr/>
          <p:nvPr/>
        </p:nvSpPr>
        <p:spPr>
          <a:xfrm>
            <a:off x="658368" y="2103120"/>
            <a:ext cx="10874959" cy="457200"/>
          </a:xfrm>
          <a:prstGeom prst="rect">
            <a:avLst/>
          </a:prstGeom>
          <a:noFill/>
          <a:ln/>
        </p:spPr>
        <p:txBody>
          <a:bodyPr wrap="square" lIns="0" tIns="0" rIns="0" bIns="0" rtlCol="0" anchor="ctr"/>
          <a:lstStyle/>
          <a:p>
            <a:pPr marL="0" indent="0" algn="ctr">
              <a:buNone/>
            </a:pPr>
            <a:r>
              <a:rPr lang="en-US" sz="2600" b="1" dirty="0">
                <a:solidFill>
                  <a:srgbClr val="FFFFFF"/>
                </a:solidFill>
                <a:latin typeface="29LT Adir" pitchFamily="34" charset="0"/>
                <a:ea typeface="29LT Adir" pitchFamily="34" charset="-122"/>
                <a:cs typeface="29LT Adir" pitchFamily="34" charset="-120"/>
              </a:rPr>
              <a:t>Independent elemental abundance</a:t>
            </a:r>
            <a:endParaRPr lang="en-US" sz="2600" dirty="0"/>
          </a:p>
        </p:txBody>
      </p:sp>
      <p:sp>
        <p:nvSpPr>
          <p:cNvPr id="9" name="Text 5"/>
          <p:cNvSpPr/>
          <p:nvPr/>
        </p:nvSpPr>
        <p:spPr>
          <a:xfrm>
            <a:off x="658368" y="2596896"/>
            <a:ext cx="10874959" cy="274320"/>
          </a:xfrm>
          <a:prstGeom prst="rect">
            <a:avLst/>
          </a:prstGeom>
          <a:noFill/>
          <a:ln/>
        </p:spPr>
        <p:txBody>
          <a:bodyPr wrap="square" lIns="0" tIns="0" rIns="0" bIns="0" rtlCol="0" anchor="ctr"/>
          <a:lstStyle/>
          <a:p>
            <a:pPr marL="0" indent="0" algn="ctr">
              <a:buNone/>
            </a:pPr>
            <a:r>
              <a:rPr lang="en-US" sz="1150" dirty="0">
                <a:solidFill>
                  <a:srgbClr val="92A3C4"/>
                </a:solidFill>
                <a:latin typeface="Arial" pitchFamily="34" charset="0"/>
                <a:ea typeface="Arial" pitchFamily="34" charset="-122"/>
                <a:cs typeface="Arial" pitchFamily="34" charset="-120"/>
              </a:rPr>
              <a:t>of the near-surface regolith</a:t>
            </a:r>
            <a:endParaRPr lang="en-US" sz="1150" dirty="0"/>
          </a:p>
        </p:txBody>
      </p:sp>
      <p:sp>
        <p:nvSpPr>
          <p:cNvPr id="10" name="Shape 6"/>
          <p:cNvSpPr/>
          <p:nvPr/>
        </p:nvSpPr>
        <p:spPr>
          <a:xfrm>
            <a:off x="658368" y="3346704"/>
            <a:ext cx="3466490" cy="1700784"/>
          </a:xfrm>
          <a:prstGeom prst="roundRect">
            <a:avLst>
              <a:gd name="adj" fmla="val 4839"/>
            </a:avLst>
          </a:prstGeom>
          <a:solidFill>
            <a:srgbClr val="FFFFFF"/>
          </a:solidFill>
          <a:ln w="9525">
            <a:solidFill>
              <a:srgbClr val="DFE4EE"/>
            </a:solidFill>
            <a:prstDash val="solid"/>
          </a:ln>
          <a:effectLst>
            <a:outerShdw blurRad="50800" dist="38100" dir="8100000" algn="tr" rotWithShape="0">
              <a:prstClr val="black">
                <a:alpha val="40000"/>
              </a:prstClr>
            </a:outerShdw>
          </a:effectLst>
        </p:spPr>
        <p:txBody>
          <a:bodyPr/>
          <a:lstStyle/>
          <a:p>
            <a:endParaRPr lang="en-US"/>
          </a:p>
        </p:txBody>
      </p:sp>
      <p:sp>
        <p:nvSpPr>
          <p:cNvPr id="11" name="Shape 7"/>
          <p:cNvSpPr/>
          <p:nvPr/>
        </p:nvSpPr>
        <p:spPr>
          <a:xfrm>
            <a:off x="932688" y="3602736"/>
            <a:ext cx="347472" cy="347472"/>
          </a:xfrm>
          <a:prstGeom prst="ellipse">
            <a:avLst/>
          </a:prstGeom>
          <a:solidFill>
            <a:srgbClr val="13234C"/>
          </a:solidFill>
          <a:ln/>
        </p:spPr>
        <p:txBody>
          <a:bodyPr/>
          <a:lstStyle/>
          <a:p>
            <a:endParaRPr lang="en-US"/>
          </a:p>
        </p:txBody>
      </p:sp>
      <p:sp>
        <p:nvSpPr>
          <p:cNvPr id="12" name="Text 8"/>
          <p:cNvSpPr/>
          <p:nvPr/>
        </p:nvSpPr>
        <p:spPr>
          <a:xfrm>
            <a:off x="932688" y="36027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9"/>
          <p:cNvSpPr/>
          <p:nvPr/>
        </p:nvSpPr>
        <p:spPr>
          <a:xfrm>
            <a:off x="1371600" y="3584448"/>
            <a:ext cx="2497226" cy="402336"/>
          </a:xfrm>
          <a:prstGeom prst="rect">
            <a:avLst/>
          </a:prstGeom>
          <a:noFill/>
          <a:ln/>
        </p:spPr>
        <p:txBody>
          <a:bodyPr wrap="square" lIns="0" tIns="0" rIns="0" bIns="0" rtlCol="0" anchor="ctr"/>
          <a:lstStyle/>
          <a:p>
            <a:pPr marL="0" indent="0">
              <a:lnSpc>
                <a:spcPct val="95000"/>
              </a:lnSpc>
              <a:buNone/>
            </a:pPr>
            <a:r>
              <a:rPr lang="en-US" sz="1500" b="1" dirty="0">
                <a:solidFill>
                  <a:srgbClr val="13234C"/>
                </a:solidFill>
                <a:latin typeface="29LT Adir" pitchFamily="34" charset="0"/>
                <a:ea typeface="29LT Adir" pitchFamily="34" charset="-122"/>
                <a:cs typeface="29LT Adir" pitchFamily="34" charset="-120"/>
              </a:rPr>
              <a:t>From orbit</a:t>
            </a:r>
            <a:endParaRPr lang="en-US" sz="1500" dirty="0"/>
          </a:p>
        </p:txBody>
      </p:sp>
      <p:sp>
        <p:nvSpPr>
          <p:cNvPr id="14" name="Text 10"/>
          <p:cNvSpPr/>
          <p:nvPr/>
        </p:nvSpPr>
        <p:spPr>
          <a:xfrm>
            <a:off x="932688" y="4187952"/>
            <a:ext cx="2917850" cy="731520"/>
          </a:xfrm>
          <a:prstGeom prst="rect">
            <a:avLst/>
          </a:prstGeom>
          <a:noFill/>
          <a:ln/>
        </p:spPr>
        <p:txBody>
          <a:bodyPr wrap="square" lIns="0" tIns="0" rIns="0" bIns="0" rtlCol="0" anchor="t"/>
          <a:lstStyle/>
          <a:p>
            <a:pPr marL="0" indent="0">
              <a:lnSpc>
                <a:spcPct val="116000"/>
              </a:lnSpc>
              <a:buNone/>
            </a:pPr>
            <a:r>
              <a:rPr lang="en-US" sz="1000" dirty="0">
                <a:solidFill>
                  <a:srgbClr val="6B7488"/>
                </a:solidFill>
                <a:latin typeface="Arial" pitchFamily="34" charset="0"/>
                <a:ea typeface="Arial" pitchFamily="34" charset="-122"/>
                <a:cs typeface="Arial" pitchFamily="34" charset="-120"/>
              </a:rPr>
              <a:t>The correction is applied to maps. A reference from a single landing site cannot travel across a body.</a:t>
            </a:r>
            <a:endParaRPr lang="en-US" sz="1000" dirty="0"/>
          </a:p>
        </p:txBody>
      </p:sp>
      <p:sp>
        <p:nvSpPr>
          <p:cNvPr id="15" name="Shape 11"/>
          <p:cNvSpPr/>
          <p:nvPr/>
        </p:nvSpPr>
        <p:spPr>
          <a:xfrm>
            <a:off x="4362602" y="3346704"/>
            <a:ext cx="3466490" cy="1700784"/>
          </a:xfrm>
          <a:prstGeom prst="roundRect">
            <a:avLst>
              <a:gd name="adj" fmla="val 4839"/>
            </a:avLst>
          </a:prstGeom>
          <a:solidFill>
            <a:srgbClr val="FFFFFF"/>
          </a:solidFill>
          <a:ln w="9525">
            <a:solidFill>
              <a:srgbClr val="DFE4EE"/>
            </a:solidFill>
            <a:prstDash val="solid"/>
          </a:ln>
          <a:effectLst>
            <a:outerShdw blurRad="50800" dist="38100" dir="8100000" algn="tr" rotWithShape="0">
              <a:prstClr val="black">
                <a:alpha val="40000"/>
              </a:prstClr>
            </a:outerShdw>
          </a:effectLst>
        </p:spPr>
        <p:txBody>
          <a:bodyPr/>
          <a:lstStyle/>
          <a:p>
            <a:endParaRPr lang="en-US"/>
          </a:p>
        </p:txBody>
      </p:sp>
      <p:sp>
        <p:nvSpPr>
          <p:cNvPr id="16" name="Shape 12"/>
          <p:cNvSpPr/>
          <p:nvPr/>
        </p:nvSpPr>
        <p:spPr>
          <a:xfrm>
            <a:off x="4636922" y="3602736"/>
            <a:ext cx="347472" cy="347472"/>
          </a:xfrm>
          <a:prstGeom prst="ellipse">
            <a:avLst/>
          </a:prstGeom>
          <a:solidFill>
            <a:srgbClr val="13234C"/>
          </a:solidFill>
          <a:ln/>
        </p:spPr>
        <p:txBody>
          <a:bodyPr/>
          <a:lstStyle/>
          <a:p>
            <a:endParaRPr lang="en-US"/>
          </a:p>
        </p:txBody>
      </p:sp>
      <p:sp>
        <p:nvSpPr>
          <p:cNvPr id="17" name="Text 13"/>
          <p:cNvSpPr/>
          <p:nvPr/>
        </p:nvSpPr>
        <p:spPr>
          <a:xfrm>
            <a:off x="4636922" y="36027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8" name="Text 14"/>
          <p:cNvSpPr/>
          <p:nvPr/>
        </p:nvSpPr>
        <p:spPr>
          <a:xfrm>
            <a:off x="5075834" y="3584448"/>
            <a:ext cx="2497226" cy="402336"/>
          </a:xfrm>
          <a:prstGeom prst="rect">
            <a:avLst/>
          </a:prstGeom>
          <a:noFill/>
          <a:ln/>
        </p:spPr>
        <p:txBody>
          <a:bodyPr wrap="square" lIns="0" tIns="0" rIns="0" bIns="0" rtlCol="0" anchor="ctr"/>
          <a:lstStyle/>
          <a:p>
            <a:pPr marL="0" indent="0">
              <a:lnSpc>
                <a:spcPct val="95000"/>
              </a:lnSpc>
              <a:buNone/>
            </a:pPr>
            <a:r>
              <a:rPr lang="en-US" sz="1500" b="1" dirty="0">
                <a:solidFill>
                  <a:srgbClr val="13234C"/>
                </a:solidFill>
                <a:latin typeface="29LT Adir" pitchFamily="34" charset="0"/>
                <a:ea typeface="29LT Adir" pitchFamily="34" charset="-122"/>
                <a:cs typeface="29LT Adir" pitchFamily="34" charset="-120"/>
              </a:rPr>
              <a:t>Below the weathered surface</a:t>
            </a:r>
            <a:endParaRPr lang="en-US" sz="1500" dirty="0"/>
          </a:p>
        </p:txBody>
      </p:sp>
      <p:sp>
        <p:nvSpPr>
          <p:cNvPr id="19" name="Text 15"/>
          <p:cNvSpPr/>
          <p:nvPr/>
        </p:nvSpPr>
        <p:spPr>
          <a:xfrm>
            <a:off x="4636922" y="4187952"/>
            <a:ext cx="2917850" cy="731520"/>
          </a:xfrm>
          <a:prstGeom prst="rect">
            <a:avLst/>
          </a:prstGeom>
          <a:noFill/>
          <a:ln/>
        </p:spPr>
        <p:txBody>
          <a:bodyPr wrap="square" lIns="0" tIns="0" rIns="0" bIns="0" rtlCol="0" anchor="t"/>
          <a:lstStyle/>
          <a:p>
            <a:pPr marL="0" indent="0">
              <a:lnSpc>
                <a:spcPct val="116000"/>
              </a:lnSpc>
              <a:buNone/>
            </a:pPr>
            <a:r>
              <a:rPr lang="en-US" sz="1000" dirty="0">
                <a:solidFill>
                  <a:srgbClr val="6B7488"/>
                </a:solidFill>
                <a:latin typeface="Arial" pitchFamily="34" charset="0"/>
                <a:ea typeface="Arial" pitchFamily="34" charset="-122"/>
                <a:cs typeface="Arial" pitchFamily="34" charset="-120"/>
              </a:rPr>
              <a:t>Sampling depth must exceed the altered layer, or the reference carries the bias it was meant to remove.</a:t>
            </a:r>
            <a:endParaRPr lang="en-US" sz="1000" dirty="0"/>
          </a:p>
        </p:txBody>
      </p:sp>
      <p:sp>
        <p:nvSpPr>
          <p:cNvPr id="20" name="Shape 16"/>
          <p:cNvSpPr/>
          <p:nvPr/>
        </p:nvSpPr>
        <p:spPr>
          <a:xfrm>
            <a:off x="8066837" y="3346704"/>
            <a:ext cx="3466490" cy="1700784"/>
          </a:xfrm>
          <a:prstGeom prst="roundRect">
            <a:avLst>
              <a:gd name="adj" fmla="val 4839"/>
            </a:avLst>
          </a:prstGeom>
          <a:solidFill>
            <a:srgbClr val="FFFFFF"/>
          </a:solidFill>
          <a:ln w="9525">
            <a:solidFill>
              <a:srgbClr val="DFE4EE"/>
            </a:solidFill>
            <a:prstDash val="solid"/>
          </a:ln>
          <a:effectLst>
            <a:outerShdw blurRad="50800" dist="38100" dir="8100000" algn="tr" rotWithShape="0">
              <a:prstClr val="black">
                <a:alpha val="40000"/>
              </a:prstClr>
            </a:outerShdw>
          </a:effectLst>
        </p:spPr>
        <p:txBody>
          <a:bodyPr/>
          <a:lstStyle/>
          <a:p>
            <a:endParaRPr lang="en-US"/>
          </a:p>
        </p:txBody>
      </p:sp>
      <p:sp>
        <p:nvSpPr>
          <p:cNvPr id="21" name="Shape 17"/>
          <p:cNvSpPr/>
          <p:nvPr/>
        </p:nvSpPr>
        <p:spPr>
          <a:xfrm>
            <a:off x="8341157" y="3602736"/>
            <a:ext cx="347472" cy="347472"/>
          </a:xfrm>
          <a:prstGeom prst="ellipse">
            <a:avLst/>
          </a:prstGeom>
          <a:solidFill>
            <a:srgbClr val="13234C"/>
          </a:solidFill>
          <a:ln/>
        </p:spPr>
        <p:txBody>
          <a:bodyPr/>
          <a:lstStyle/>
          <a:p>
            <a:endParaRPr lang="en-US"/>
          </a:p>
        </p:txBody>
      </p:sp>
      <p:sp>
        <p:nvSpPr>
          <p:cNvPr id="22" name="Text 18"/>
          <p:cNvSpPr/>
          <p:nvPr/>
        </p:nvSpPr>
        <p:spPr>
          <a:xfrm>
            <a:off x="8341157" y="36027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3" name="Text 19"/>
          <p:cNvSpPr/>
          <p:nvPr/>
        </p:nvSpPr>
        <p:spPr>
          <a:xfrm>
            <a:off x="8780069" y="3584448"/>
            <a:ext cx="2497226" cy="402336"/>
          </a:xfrm>
          <a:prstGeom prst="rect">
            <a:avLst/>
          </a:prstGeom>
          <a:noFill/>
          <a:ln/>
        </p:spPr>
        <p:txBody>
          <a:bodyPr wrap="square" lIns="0" tIns="0" rIns="0" bIns="0" rtlCol="0" anchor="ctr"/>
          <a:lstStyle/>
          <a:p>
            <a:pPr marL="0" indent="0">
              <a:lnSpc>
                <a:spcPct val="95000"/>
              </a:lnSpc>
              <a:buNone/>
            </a:pPr>
            <a:r>
              <a:rPr lang="en-US" sz="1500" b="1" dirty="0">
                <a:solidFill>
                  <a:srgbClr val="13234C"/>
                </a:solidFill>
                <a:latin typeface="29LT Adir" pitchFamily="34" charset="0"/>
                <a:ea typeface="29LT Adir" pitchFamily="34" charset="-122"/>
                <a:cs typeface="29LT Adir" pitchFamily="34" charset="-120"/>
              </a:rPr>
              <a:t>Independent of reflected light</a:t>
            </a:r>
            <a:endParaRPr lang="en-US" sz="1500" dirty="0"/>
          </a:p>
        </p:txBody>
      </p:sp>
      <p:sp>
        <p:nvSpPr>
          <p:cNvPr id="24" name="Text 20"/>
          <p:cNvSpPr/>
          <p:nvPr/>
        </p:nvSpPr>
        <p:spPr>
          <a:xfrm>
            <a:off x="8341157" y="4187952"/>
            <a:ext cx="2917850" cy="731520"/>
          </a:xfrm>
          <a:prstGeom prst="rect">
            <a:avLst/>
          </a:prstGeom>
          <a:noFill/>
          <a:ln/>
        </p:spPr>
        <p:txBody>
          <a:bodyPr wrap="square" lIns="0" tIns="0" rIns="0" bIns="0" rtlCol="0" anchor="t"/>
          <a:lstStyle/>
          <a:p>
            <a:pPr marL="0" indent="0">
              <a:lnSpc>
                <a:spcPct val="116000"/>
              </a:lnSpc>
              <a:buNone/>
            </a:pPr>
            <a:r>
              <a:rPr lang="en-US" sz="1000" dirty="0">
                <a:solidFill>
                  <a:srgbClr val="6B7488"/>
                </a:solidFill>
                <a:latin typeface="Arial" pitchFamily="34" charset="0"/>
                <a:ea typeface="Arial" pitchFamily="34" charset="-122"/>
                <a:cs typeface="Arial" pitchFamily="34" charset="-120"/>
              </a:rPr>
              <a:t>A route through the spectrum would inherit the bias it exists to correct.</a:t>
            </a:r>
            <a:endParaRPr lang="en-US" sz="1000" dirty="0"/>
          </a:p>
        </p:txBody>
      </p:sp>
      <p:sp>
        <p:nvSpPr>
          <p:cNvPr id="25" name="Shape 21"/>
          <p:cNvSpPr/>
          <p:nvPr/>
        </p:nvSpPr>
        <p:spPr>
          <a:xfrm>
            <a:off x="658368" y="5285232"/>
            <a:ext cx="10874959" cy="749808"/>
          </a:xfrm>
          <a:prstGeom prst="roundRect">
            <a:avLst>
              <a:gd name="adj" fmla="val 9756"/>
            </a:avLst>
          </a:prstGeom>
          <a:solidFill>
            <a:srgbClr val="FFF8EC"/>
          </a:solidFill>
          <a:ln w="15875">
            <a:solidFill>
              <a:srgbClr val="E8A33D"/>
            </a:solidFill>
            <a:prstDash val="solid"/>
          </a:ln>
        </p:spPr>
        <p:txBody>
          <a:bodyPr/>
          <a:lstStyle/>
          <a:p>
            <a:endParaRPr lang="en-US"/>
          </a:p>
        </p:txBody>
      </p:sp>
      <p:sp>
        <p:nvSpPr>
          <p:cNvPr id="26" name="Text 22"/>
          <p:cNvSpPr/>
          <p:nvPr/>
        </p:nvSpPr>
        <p:spPr>
          <a:xfrm>
            <a:off x="658368" y="5285232"/>
            <a:ext cx="10874959" cy="749808"/>
          </a:xfrm>
          <a:prstGeom prst="rect">
            <a:avLst/>
          </a:prstGeom>
          <a:noFill/>
          <a:ln/>
        </p:spPr>
        <p:txBody>
          <a:bodyPr wrap="square" lIns="0" tIns="0" rIns="0" bIns="0" rtlCol="0" anchor="ctr"/>
          <a:lstStyle/>
          <a:p>
            <a:pPr marL="0" indent="0" algn="ctr">
              <a:buNone/>
            </a:pPr>
            <a:r>
              <a:rPr lang="en-US" sz="1450" b="1" dirty="0">
                <a:solidFill>
                  <a:srgbClr val="7A5510"/>
                </a:solidFill>
                <a:latin typeface="29LT Adir" pitchFamily="34" charset="0"/>
                <a:ea typeface="29LT Adir" pitchFamily="34" charset="-122"/>
                <a:cs typeface="29LT Adir" pitchFamily="34" charset="-120"/>
              </a:rPr>
              <a:t>This defines the instrument requirement  before any instrument is selected.</a:t>
            </a:r>
            <a:endParaRPr lang="en-US" sz="1450" dirty="0"/>
          </a:p>
        </p:txBody>
      </p:sp>
      <p:sp>
        <p:nvSpPr>
          <p:cNvPr id="27" name="Text 23"/>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AAB2C2"/>
                </a:solidFill>
                <a:latin typeface="Arial" pitchFamily="34" charset="0"/>
                <a:ea typeface="Arial" pitchFamily="34" charset="-122"/>
                <a:cs typeface="Arial" pitchFamily="34" charset="-120"/>
              </a:rPr>
              <a:t>9</a:t>
            </a:r>
            <a:endParaRPr lang="en-US" sz="1000" dirty="0"/>
          </a:p>
        </p:txBody>
      </p:sp>
      <p:pic>
        <p:nvPicPr>
          <p:cNvPr id="30" name="Image 1" descr="/home/claude/work/a2/logo_dark.png">
            <a:extLst>
              <a:ext uri="{FF2B5EF4-FFF2-40B4-BE49-F238E27FC236}">
                <a16:creationId xmlns:a16="http://schemas.microsoft.com/office/drawing/2014/main" id="{CD6BB9F4-F554-8A3E-DB28-2466A6A827F1}"/>
              </a:ext>
            </a:extLst>
          </p:cNvPr>
          <p:cNvPicPr>
            <a:picLocks noChangeAspect="1"/>
          </p:cNvPicPr>
          <p:nvPr/>
        </p:nvPicPr>
        <p:blipFill>
          <a:blip r:embed="rId5"/>
          <a:stretch>
            <a:fillRect/>
          </a:stretch>
        </p:blipFill>
        <p:spPr>
          <a:xfrm>
            <a:off x="10616340" y="122984"/>
            <a:ext cx="1450538" cy="814736"/>
          </a:xfrm>
          <a:prstGeom prst="rect">
            <a:avLst/>
          </a:prstGeom>
        </p:spPr>
      </p:pic>
      <p:sp>
        <p:nvSpPr>
          <p:cNvPr id="33" name="BJPseudoFooter">
            <a:extLst>
              <a:ext uri="{FF2B5EF4-FFF2-40B4-BE49-F238E27FC236}">
                <a16:creationId xmlns:a16="http://schemas.microsoft.com/office/drawing/2014/main" id="{77897215-7B92-2C39-79BC-3D0B148E3902}"/>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Grp="1" noRot="1" noChangeAspect="1" noMove="1" noResize="1" noEditPoints="1" noAdjustHandles="1" noChangeArrowheads="1" noChangeShapeType="1" noCrop="1"/>
          </p:cNvPicPr>
          <p:nvPr/>
        </p:nvPicPr>
        <p:blipFill>
          <a:blip r:embed="rId4"/>
          <a:stretch>
            <a:fillRect/>
          </a:stretch>
        </p:blipFill>
        <p:spPr>
          <a:xfrm>
            <a:off x="0" y="0"/>
            <a:ext cx="12191695" cy="6858000"/>
          </a:xfrm>
          <a:prstGeom prst="rect">
            <a:avLst/>
          </a:prstGeom>
        </p:spPr>
      </p:pic>
      <p:sp>
        <p:nvSpPr>
          <p:cNvPr id="4" name="Text 0"/>
          <p:cNvSpPr/>
          <p:nvPr/>
        </p:nvSpPr>
        <p:spPr>
          <a:xfrm>
            <a:off x="658368" y="6272784"/>
            <a:ext cx="8595360" cy="274320"/>
          </a:xfrm>
          <a:prstGeom prst="rect">
            <a:avLst/>
          </a:prstGeom>
          <a:noFill/>
          <a:ln/>
        </p:spPr>
        <p:txBody>
          <a:bodyPr wrap="square" lIns="0" tIns="0" rIns="0" bIns="0" rtlCol="0" anchor="ctr"/>
          <a:lstStyle/>
          <a:p>
            <a:pPr marL="0" indent="0" algn="l">
              <a:buNone/>
            </a:pPr>
            <a:r>
              <a:rPr lang="en-US" sz="800" kern="0" spc="150" dirty="0">
                <a:solidFill>
                  <a:srgbClr val="AAB2C2"/>
                </a:solidFill>
                <a:latin typeface="Arial" pitchFamily="34" charset="0"/>
                <a:ea typeface="Arial" pitchFamily="34" charset="-122"/>
                <a:cs typeface="Arial" pitchFamily="34" charset="-120"/>
              </a:rPr>
              <a:t>BASELINE</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OPPORTUNITIES</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SELECTION</a:t>
            </a:r>
            <a:r>
              <a:rPr lang="en-US" sz="800" dirty="0">
                <a:solidFill>
                  <a:srgbClr val="000000"/>
                </a:solidFill>
                <a:latin typeface="Arial" pitchFamily="34" charset="0"/>
                <a:ea typeface="Arial" pitchFamily="34" charset="-122"/>
                <a:cs typeface="Arial" pitchFamily="34" charset="-120"/>
              </a:rPr>
              <a:t>     </a:t>
            </a:r>
            <a:r>
              <a:rPr lang="en-US" sz="800" b="1" kern="0" spc="150" dirty="0">
                <a:solidFill>
                  <a:srgbClr val="13234C"/>
                </a:solidFill>
                <a:latin typeface="Arial" pitchFamily="34" charset="0"/>
                <a:ea typeface="Arial" pitchFamily="34" charset="-122"/>
                <a:cs typeface="Arial" pitchFamily="34" charset="-120"/>
              </a:rPr>
              <a:t>RECOMMENDATION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VALUE</a:t>
            </a:r>
            <a:endParaRPr lang="en-US" sz="800" dirty="0"/>
          </a:p>
        </p:txBody>
      </p:sp>
      <p:sp>
        <p:nvSpPr>
          <p:cNvPr id="5" name="Text 1"/>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13234C"/>
                </a:solidFill>
                <a:latin typeface="29LT Adir" pitchFamily="34" charset="0"/>
                <a:ea typeface="29LT Adir" pitchFamily="34" charset="-122"/>
                <a:cs typeface="29LT Adir" pitchFamily="34" charset="-120"/>
              </a:rPr>
              <a:t>Candidate Payload Assessment</a:t>
            </a:r>
            <a:endParaRPr lang="en-US" sz="3000" dirty="0"/>
          </a:p>
        </p:txBody>
      </p:sp>
      <p:sp>
        <p:nvSpPr>
          <p:cNvPr id="6" name="Text 2"/>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Five candidate payloads were assessed against the required observable and the orbiter, only architecture.</a:t>
            </a:r>
            <a:endParaRPr lang="en-US" sz="1250" dirty="0"/>
          </a:p>
        </p:txBody>
      </p:sp>
      <p:sp>
        <p:nvSpPr>
          <p:cNvPr id="7" name="Shape 3"/>
          <p:cNvSpPr/>
          <p:nvPr/>
        </p:nvSpPr>
        <p:spPr>
          <a:xfrm>
            <a:off x="658368" y="1920240"/>
            <a:ext cx="10874959" cy="566928"/>
          </a:xfrm>
          <a:prstGeom prst="roundRect">
            <a:avLst>
              <a:gd name="adj" fmla="val 11290"/>
            </a:avLst>
          </a:prstGeom>
          <a:solidFill>
            <a:srgbClr val="FFFFFF"/>
          </a:solidFill>
          <a:ln w="9525">
            <a:solidFill>
              <a:srgbClr val="DFE4EE"/>
            </a:solidFill>
            <a:prstDash val="solid"/>
          </a:ln>
          <a:effectLst>
            <a:outerShdw blurRad="50800" dist="38100" dir="2700000" algn="tl" rotWithShape="0">
              <a:prstClr val="black">
                <a:alpha val="40000"/>
              </a:prstClr>
            </a:outerShdw>
          </a:effectLst>
        </p:spPr>
        <p:txBody>
          <a:bodyPr/>
          <a:lstStyle/>
          <a:p>
            <a:endParaRPr lang="en-US"/>
          </a:p>
        </p:txBody>
      </p:sp>
      <p:sp>
        <p:nvSpPr>
          <p:cNvPr id="8" name="Text 4"/>
          <p:cNvSpPr/>
          <p:nvPr/>
        </p:nvSpPr>
        <p:spPr>
          <a:xfrm>
            <a:off x="987552" y="1920240"/>
            <a:ext cx="4754880" cy="566928"/>
          </a:xfrm>
          <a:prstGeom prst="rect">
            <a:avLst/>
          </a:prstGeom>
          <a:noFill/>
          <a:ln/>
        </p:spPr>
        <p:txBody>
          <a:bodyPr wrap="square" lIns="0" tIns="0" rIns="0" bIns="0" rtlCol="0" anchor="ctr"/>
          <a:lstStyle/>
          <a:p>
            <a:pPr marL="0" indent="0">
              <a:buNone/>
            </a:pPr>
            <a:r>
              <a:rPr lang="en-US" sz="1400" dirty="0">
                <a:solidFill>
                  <a:srgbClr val="13234C"/>
                </a:solidFill>
                <a:latin typeface="29LT Adir" pitchFamily="34" charset="0"/>
                <a:ea typeface="29LT Adir" pitchFamily="34" charset="-122"/>
                <a:cs typeface="29LT Adir" pitchFamily="34" charset="-120"/>
              </a:rPr>
              <a:t>Mössbauer Spectrometer</a:t>
            </a:r>
            <a:endParaRPr lang="en-US" sz="1400" dirty="0"/>
          </a:p>
        </p:txBody>
      </p:sp>
      <p:sp>
        <p:nvSpPr>
          <p:cNvPr id="9" name="Shape 5"/>
          <p:cNvSpPr/>
          <p:nvPr/>
        </p:nvSpPr>
        <p:spPr>
          <a:xfrm>
            <a:off x="5760720" y="2061972"/>
            <a:ext cx="283464" cy="283464"/>
          </a:xfrm>
          <a:prstGeom prst="ellipse">
            <a:avLst/>
          </a:prstGeom>
          <a:solidFill>
            <a:srgbClr val="C0563F"/>
          </a:solidFill>
          <a:ln/>
        </p:spPr>
        <p:txBody>
          <a:bodyPr/>
          <a:lstStyle/>
          <a:p>
            <a:endParaRPr lang="en-US"/>
          </a:p>
        </p:txBody>
      </p:sp>
      <p:sp>
        <p:nvSpPr>
          <p:cNvPr id="10" name="Text 6"/>
          <p:cNvSpPr/>
          <p:nvPr/>
        </p:nvSpPr>
        <p:spPr>
          <a:xfrm>
            <a:off x="5760720" y="2061972"/>
            <a:ext cx="283464" cy="28346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1" name="Text 7"/>
          <p:cNvSpPr/>
          <p:nvPr/>
        </p:nvSpPr>
        <p:spPr>
          <a:xfrm>
            <a:off x="6272784" y="1920240"/>
            <a:ext cx="4937760" cy="566928"/>
          </a:xfrm>
          <a:prstGeom prst="rect">
            <a:avLst/>
          </a:prstGeom>
          <a:noFill/>
          <a:ln/>
        </p:spPr>
        <p:txBody>
          <a:bodyPr wrap="square" lIns="0" tIns="0" rIns="0" bIns="0" rtlCol="0" anchor="ctr"/>
          <a:lstStyle/>
          <a:p>
            <a:pPr marL="0" indent="0">
              <a:buNone/>
            </a:pPr>
            <a:r>
              <a:rPr lang="en-US" sz="1100" dirty="0">
                <a:solidFill>
                  <a:srgbClr val="6B7488"/>
                </a:solidFill>
                <a:latin typeface="Arial" pitchFamily="34" charset="0"/>
                <a:ea typeface="Arial" pitchFamily="34" charset="-122"/>
                <a:cs typeface="Arial" pitchFamily="34" charset="-120"/>
              </a:rPr>
              <a:t>Landing required</a:t>
            </a:r>
            <a:endParaRPr lang="en-US" sz="1100" dirty="0"/>
          </a:p>
        </p:txBody>
      </p:sp>
      <p:sp>
        <p:nvSpPr>
          <p:cNvPr id="12" name="Shape 8"/>
          <p:cNvSpPr/>
          <p:nvPr/>
        </p:nvSpPr>
        <p:spPr>
          <a:xfrm>
            <a:off x="658368" y="2596896"/>
            <a:ext cx="10874959" cy="566928"/>
          </a:xfrm>
          <a:prstGeom prst="roundRect">
            <a:avLst>
              <a:gd name="adj" fmla="val 11290"/>
            </a:avLst>
          </a:prstGeom>
          <a:solidFill>
            <a:srgbClr val="FFFFFF"/>
          </a:solidFill>
          <a:ln w="9525">
            <a:solidFill>
              <a:srgbClr val="DFE4EE"/>
            </a:solidFill>
            <a:prstDash val="solid"/>
          </a:ln>
          <a:effectLst>
            <a:outerShdw blurRad="50800" dist="38100" dir="2700000" algn="tl" rotWithShape="0">
              <a:prstClr val="black">
                <a:alpha val="40000"/>
              </a:prstClr>
            </a:outerShdw>
          </a:effectLst>
        </p:spPr>
        <p:txBody>
          <a:bodyPr/>
          <a:lstStyle/>
          <a:p>
            <a:endParaRPr lang="en-US"/>
          </a:p>
        </p:txBody>
      </p:sp>
      <p:sp>
        <p:nvSpPr>
          <p:cNvPr id="13" name="Text 9"/>
          <p:cNvSpPr/>
          <p:nvPr/>
        </p:nvSpPr>
        <p:spPr>
          <a:xfrm>
            <a:off x="987552" y="2596896"/>
            <a:ext cx="4754880" cy="566928"/>
          </a:xfrm>
          <a:prstGeom prst="rect">
            <a:avLst/>
          </a:prstGeom>
          <a:noFill/>
          <a:ln/>
        </p:spPr>
        <p:txBody>
          <a:bodyPr wrap="square" lIns="0" tIns="0" rIns="0" bIns="0" rtlCol="0" anchor="ctr"/>
          <a:lstStyle/>
          <a:p>
            <a:pPr marL="0" indent="0">
              <a:buNone/>
            </a:pPr>
            <a:r>
              <a:rPr lang="en-US" sz="1400" dirty="0">
                <a:solidFill>
                  <a:srgbClr val="13234C"/>
                </a:solidFill>
                <a:latin typeface="29LT Adir" pitchFamily="34" charset="0"/>
                <a:ea typeface="29LT Adir" pitchFamily="34" charset="-122"/>
                <a:cs typeface="29LT Adir" pitchFamily="34" charset="-120"/>
              </a:rPr>
              <a:t>MicrOmega Microscope</a:t>
            </a:r>
            <a:endParaRPr lang="en-US" sz="1400" dirty="0"/>
          </a:p>
        </p:txBody>
      </p:sp>
      <p:sp>
        <p:nvSpPr>
          <p:cNvPr id="14" name="Shape 10"/>
          <p:cNvSpPr/>
          <p:nvPr/>
        </p:nvSpPr>
        <p:spPr>
          <a:xfrm>
            <a:off x="5760720" y="2738628"/>
            <a:ext cx="283464" cy="283464"/>
          </a:xfrm>
          <a:prstGeom prst="ellipse">
            <a:avLst/>
          </a:prstGeom>
          <a:solidFill>
            <a:srgbClr val="C0563F"/>
          </a:solidFill>
          <a:ln/>
        </p:spPr>
        <p:txBody>
          <a:bodyPr/>
          <a:lstStyle/>
          <a:p>
            <a:endParaRPr lang="en-US"/>
          </a:p>
        </p:txBody>
      </p:sp>
      <p:sp>
        <p:nvSpPr>
          <p:cNvPr id="15" name="Text 11"/>
          <p:cNvSpPr/>
          <p:nvPr/>
        </p:nvSpPr>
        <p:spPr>
          <a:xfrm>
            <a:off x="5760720" y="2738628"/>
            <a:ext cx="283464" cy="28346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6" name="Text 12"/>
          <p:cNvSpPr/>
          <p:nvPr/>
        </p:nvSpPr>
        <p:spPr>
          <a:xfrm>
            <a:off x="6272784" y="2596896"/>
            <a:ext cx="4937760" cy="566928"/>
          </a:xfrm>
          <a:prstGeom prst="rect">
            <a:avLst/>
          </a:prstGeom>
          <a:noFill/>
          <a:ln/>
        </p:spPr>
        <p:txBody>
          <a:bodyPr wrap="square" lIns="0" tIns="0" rIns="0" bIns="0" rtlCol="0" anchor="ctr"/>
          <a:lstStyle/>
          <a:p>
            <a:pPr marL="0" indent="0">
              <a:buNone/>
            </a:pPr>
            <a:r>
              <a:rPr lang="en-US" sz="1100" dirty="0">
                <a:solidFill>
                  <a:srgbClr val="6B7488"/>
                </a:solidFill>
                <a:latin typeface="Arial" pitchFamily="34" charset="0"/>
                <a:ea typeface="Arial" pitchFamily="34" charset="-122"/>
                <a:cs typeface="Arial" pitchFamily="34" charset="-120"/>
              </a:rPr>
              <a:t>Landing required</a:t>
            </a:r>
            <a:endParaRPr lang="en-US" sz="1100" dirty="0"/>
          </a:p>
        </p:txBody>
      </p:sp>
      <p:sp>
        <p:nvSpPr>
          <p:cNvPr id="17" name="Shape 13"/>
          <p:cNvSpPr/>
          <p:nvPr/>
        </p:nvSpPr>
        <p:spPr>
          <a:xfrm>
            <a:off x="658368" y="3273552"/>
            <a:ext cx="10874959" cy="566928"/>
          </a:xfrm>
          <a:prstGeom prst="roundRect">
            <a:avLst>
              <a:gd name="adj" fmla="val 11290"/>
            </a:avLst>
          </a:prstGeom>
          <a:solidFill>
            <a:srgbClr val="FFFFFF"/>
          </a:solidFill>
          <a:ln w="9525">
            <a:solidFill>
              <a:srgbClr val="DFE4EE"/>
            </a:solidFill>
            <a:prstDash val="solid"/>
          </a:ln>
          <a:effectLst>
            <a:outerShdw blurRad="50800" dist="38100" dir="2700000" algn="tl" rotWithShape="0">
              <a:prstClr val="black">
                <a:alpha val="40000"/>
              </a:prstClr>
            </a:outerShdw>
          </a:effectLst>
        </p:spPr>
        <p:txBody>
          <a:bodyPr/>
          <a:lstStyle/>
          <a:p>
            <a:endParaRPr lang="en-US"/>
          </a:p>
        </p:txBody>
      </p:sp>
      <p:sp>
        <p:nvSpPr>
          <p:cNvPr id="18" name="Text 14"/>
          <p:cNvSpPr/>
          <p:nvPr/>
        </p:nvSpPr>
        <p:spPr>
          <a:xfrm>
            <a:off x="987552" y="3273552"/>
            <a:ext cx="4754880" cy="566928"/>
          </a:xfrm>
          <a:prstGeom prst="rect">
            <a:avLst/>
          </a:prstGeom>
          <a:noFill/>
          <a:ln/>
        </p:spPr>
        <p:txBody>
          <a:bodyPr wrap="square" lIns="0" tIns="0" rIns="0" bIns="0" rtlCol="0" anchor="ctr"/>
          <a:lstStyle/>
          <a:p>
            <a:pPr marL="0" indent="0">
              <a:buNone/>
            </a:pPr>
            <a:r>
              <a:rPr lang="en-US" sz="1400" dirty="0">
                <a:solidFill>
                  <a:srgbClr val="13234C"/>
                </a:solidFill>
                <a:latin typeface="29LT Adir" pitchFamily="34" charset="0"/>
                <a:ea typeface="29LT Adir" pitchFamily="34" charset="-122"/>
                <a:cs typeface="29LT Adir" pitchFamily="34" charset="-120"/>
              </a:rPr>
              <a:t>LIBS, ChemCam class</a:t>
            </a:r>
            <a:endParaRPr lang="en-US" sz="1400" dirty="0"/>
          </a:p>
        </p:txBody>
      </p:sp>
      <p:sp>
        <p:nvSpPr>
          <p:cNvPr id="19" name="Shape 15"/>
          <p:cNvSpPr/>
          <p:nvPr/>
        </p:nvSpPr>
        <p:spPr>
          <a:xfrm>
            <a:off x="5760720" y="3415284"/>
            <a:ext cx="283464" cy="283464"/>
          </a:xfrm>
          <a:prstGeom prst="ellipse">
            <a:avLst/>
          </a:prstGeom>
          <a:solidFill>
            <a:srgbClr val="C0563F"/>
          </a:solidFill>
          <a:ln/>
        </p:spPr>
        <p:txBody>
          <a:bodyPr/>
          <a:lstStyle/>
          <a:p>
            <a:endParaRPr lang="en-US"/>
          </a:p>
        </p:txBody>
      </p:sp>
      <p:sp>
        <p:nvSpPr>
          <p:cNvPr id="20" name="Text 16"/>
          <p:cNvSpPr/>
          <p:nvPr/>
        </p:nvSpPr>
        <p:spPr>
          <a:xfrm>
            <a:off x="5760720" y="3415284"/>
            <a:ext cx="283464" cy="28346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1" name="Text 17"/>
          <p:cNvSpPr/>
          <p:nvPr/>
        </p:nvSpPr>
        <p:spPr>
          <a:xfrm>
            <a:off x="6272784" y="3273552"/>
            <a:ext cx="4937760" cy="566928"/>
          </a:xfrm>
          <a:prstGeom prst="rect">
            <a:avLst/>
          </a:prstGeom>
          <a:noFill/>
          <a:ln/>
        </p:spPr>
        <p:txBody>
          <a:bodyPr wrap="square" lIns="0" tIns="0" rIns="0" bIns="0" rtlCol="0" anchor="ctr"/>
          <a:lstStyle/>
          <a:p>
            <a:pPr marL="0" indent="0">
              <a:buNone/>
            </a:pPr>
            <a:r>
              <a:rPr lang="en-US" sz="1100" dirty="0">
                <a:solidFill>
                  <a:srgbClr val="6B7488"/>
                </a:solidFill>
                <a:latin typeface="Arial" pitchFamily="34" charset="0"/>
                <a:ea typeface="Arial" pitchFamily="34" charset="-122"/>
                <a:cs typeface="Arial" pitchFamily="34" charset="-120"/>
              </a:rPr>
              <a:t>Close-range operation required</a:t>
            </a:r>
            <a:endParaRPr lang="en-US" sz="1100" dirty="0"/>
          </a:p>
        </p:txBody>
      </p:sp>
      <p:sp>
        <p:nvSpPr>
          <p:cNvPr id="22" name="Shape 18"/>
          <p:cNvSpPr/>
          <p:nvPr/>
        </p:nvSpPr>
        <p:spPr>
          <a:xfrm>
            <a:off x="658368" y="3950208"/>
            <a:ext cx="10874959" cy="566928"/>
          </a:xfrm>
          <a:prstGeom prst="roundRect">
            <a:avLst>
              <a:gd name="adj" fmla="val 11290"/>
            </a:avLst>
          </a:prstGeom>
          <a:solidFill>
            <a:srgbClr val="FFFFFF"/>
          </a:solidFill>
          <a:ln w="9525">
            <a:solidFill>
              <a:srgbClr val="DFE4EE"/>
            </a:solidFill>
            <a:prstDash val="solid"/>
          </a:ln>
          <a:effectLst>
            <a:outerShdw blurRad="50800" dist="38100" dir="2700000" algn="tl" rotWithShape="0">
              <a:prstClr val="black">
                <a:alpha val="40000"/>
              </a:prstClr>
            </a:outerShdw>
          </a:effectLst>
        </p:spPr>
        <p:txBody>
          <a:bodyPr/>
          <a:lstStyle/>
          <a:p>
            <a:endParaRPr lang="en-US"/>
          </a:p>
        </p:txBody>
      </p:sp>
      <p:sp>
        <p:nvSpPr>
          <p:cNvPr id="23" name="Text 19"/>
          <p:cNvSpPr/>
          <p:nvPr/>
        </p:nvSpPr>
        <p:spPr>
          <a:xfrm>
            <a:off x="987552" y="3950208"/>
            <a:ext cx="4754880" cy="566928"/>
          </a:xfrm>
          <a:prstGeom prst="rect">
            <a:avLst/>
          </a:prstGeom>
          <a:noFill/>
          <a:ln/>
        </p:spPr>
        <p:txBody>
          <a:bodyPr wrap="square" lIns="0" tIns="0" rIns="0" bIns="0" rtlCol="0" anchor="ctr"/>
          <a:lstStyle/>
          <a:p>
            <a:pPr marL="0" indent="0">
              <a:buNone/>
            </a:pPr>
            <a:r>
              <a:rPr lang="en-US" sz="1400" dirty="0">
                <a:solidFill>
                  <a:srgbClr val="13234C"/>
                </a:solidFill>
                <a:latin typeface="29LT Adir" pitchFamily="34" charset="0"/>
                <a:ea typeface="29LT Adir" pitchFamily="34" charset="-122"/>
                <a:cs typeface="29LT Adir" pitchFamily="34" charset="-120"/>
              </a:rPr>
              <a:t>Neutron Spectrometer</a:t>
            </a:r>
            <a:endParaRPr lang="en-US" sz="1400" dirty="0"/>
          </a:p>
        </p:txBody>
      </p:sp>
      <p:sp>
        <p:nvSpPr>
          <p:cNvPr id="24" name="Shape 20"/>
          <p:cNvSpPr/>
          <p:nvPr/>
        </p:nvSpPr>
        <p:spPr>
          <a:xfrm>
            <a:off x="5760720" y="4091940"/>
            <a:ext cx="283464" cy="283464"/>
          </a:xfrm>
          <a:prstGeom prst="ellipse">
            <a:avLst/>
          </a:prstGeom>
          <a:solidFill>
            <a:srgbClr val="E8A33D"/>
          </a:solidFill>
          <a:ln/>
        </p:spPr>
        <p:txBody>
          <a:bodyPr/>
          <a:lstStyle/>
          <a:p>
            <a:endParaRPr lang="en-US"/>
          </a:p>
        </p:txBody>
      </p:sp>
      <p:sp>
        <p:nvSpPr>
          <p:cNvPr id="25" name="Text 21"/>
          <p:cNvSpPr/>
          <p:nvPr/>
        </p:nvSpPr>
        <p:spPr>
          <a:xfrm>
            <a:off x="5760720" y="4091940"/>
            <a:ext cx="283464" cy="28346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6" name="Text 22"/>
          <p:cNvSpPr/>
          <p:nvPr/>
        </p:nvSpPr>
        <p:spPr>
          <a:xfrm>
            <a:off x="6272784" y="3950208"/>
            <a:ext cx="4937760" cy="566928"/>
          </a:xfrm>
          <a:prstGeom prst="rect">
            <a:avLst/>
          </a:prstGeom>
          <a:noFill/>
          <a:ln/>
        </p:spPr>
        <p:txBody>
          <a:bodyPr wrap="square" lIns="0" tIns="0" rIns="0" bIns="0" rtlCol="0" anchor="ctr"/>
          <a:lstStyle/>
          <a:p>
            <a:pPr marL="0" indent="0">
              <a:buNone/>
            </a:pPr>
            <a:r>
              <a:rPr lang="en-US" sz="1100" dirty="0">
                <a:solidFill>
                  <a:srgbClr val="6B7488"/>
                </a:solidFill>
                <a:latin typeface="Arial" pitchFamily="34" charset="0"/>
                <a:ea typeface="Arial" pitchFamily="34" charset="-122"/>
                <a:cs typeface="Arial" pitchFamily="34" charset="-120"/>
              </a:rPr>
              <a:t>Partial scientific match</a:t>
            </a:r>
            <a:endParaRPr lang="en-US" sz="1100" dirty="0"/>
          </a:p>
        </p:txBody>
      </p:sp>
      <p:sp>
        <p:nvSpPr>
          <p:cNvPr id="27" name="Shape 23"/>
          <p:cNvSpPr/>
          <p:nvPr/>
        </p:nvSpPr>
        <p:spPr>
          <a:xfrm>
            <a:off x="658368" y="4626864"/>
            <a:ext cx="10874959" cy="566928"/>
          </a:xfrm>
          <a:prstGeom prst="roundRect">
            <a:avLst>
              <a:gd name="adj" fmla="val 11290"/>
            </a:avLst>
          </a:prstGeom>
          <a:solidFill>
            <a:srgbClr val="F2F9F5"/>
          </a:solidFill>
          <a:ln w="19050">
            <a:solidFill>
              <a:srgbClr val="2E9E6B"/>
            </a:solidFill>
            <a:prstDash val="solid"/>
          </a:ln>
          <a:effectLst>
            <a:outerShdw blurRad="50800" dist="38100" dir="2700000" algn="tl" rotWithShape="0">
              <a:prstClr val="black">
                <a:alpha val="40000"/>
              </a:prstClr>
            </a:outerShdw>
          </a:effectLst>
        </p:spPr>
        <p:txBody>
          <a:bodyPr/>
          <a:lstStyle/>
          <a:p>
            <a:endParaRPr lang="en-US"/>
          </a:p>
        </p:txBody>
      </p:sp>
      <p:sp>
        <p:nvSpPr>
          <p:cNvPr id="28" name="Text 24"/>
          <p:cNvSpPr/>
          <p:nvPr/>
        </p:nvSpPr>
        <p:spPr>
          <a:xfrm>
            <a:off x="987552" y="4626864"/>
            <a:ext cx="4754880" cy="566928"/>
          </a:xfrm>
          <a:prstGeom prst="rect">
            <a:avLst/>
          </a:prstGeom>
          <a:noFill/>
          <a:ln/>
        </p:spPr>
        <p:txBody>
          <a:bodyPr wrap="square" lIns="0" tIns="0" rIns="0" bIns="0" rtlCol="0" anchor="ctr"/>
          <a:lstStyle/>
          <a:p>
            <a:pPr marL="0" indent="0">
              <a:buNone/>
            </a:pPr>
            <a:r>
              <a:rPr lang="en-US" sz="1500" b="1" dirty="0">
                <a:solidFill>
                  <a:srgbClr val="13234C"/>
                </a:solidFill>
                <a:latin typeface="29LT Adir" pitchFamily="34" charset="0"/>
                <a:ea typeface="29LT Adir" pitchFamily="34" charset="-122"/>
                <a:cs typeface="29LT Adir" pitchFamily="34" charset="-120"/>
              </a:rPr>
              <a:t>Gamma-Ray Spectrometer</a:t>
            </a:r>
            <a:endParaRPr lang="en-US" sz="1500" dirty="0"/>
          </a:p>
        </p:txBody>
      </p:sp>
      <p:sp>
        <p:nvSpPr>
          <p:cNvPr id="29" name="Shape 25"/>
          <p:cNvSpPr/>
          <p:nvPr/>
        </p:nvSpPr>
        <p:spPr>
          <a:xfrm>
            <a:off x="5760720" y="4768596"/>
            <a:ext cx="283464" cy="283464"/>
          </a:xfrm>
          <a:prstGeom prst="ellipse">
            <a:avLst/>
          </a:prstGeom>
          <a:solidFill>
            <a:srgbClr val="2E9E6B"/>
          </a:solidFill>
          <a:ln/>
        </p:spPr>
        <p:txBody>
          <a:bodyPr/>
          <a:lstStyle/>
          <a:p>
            <a:endParaRPr lang="en-US"/>
          </a:p>
        </p:txBody>
      </p:sp>
      <p:sp>
        <p:nvSpPr>
          <p:cNvPr id="30" name="Text 26"/>
          <p:cNvSpPr/>
          <p:nvPr/>
        </p:nvSpPr>
        <p:spPr>
          <a:xfrm>
            <a:off x="5760720" y="4768596"/>
            <a:ext cx="283464" cy="28346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1" name="Text 27"/>
          <p:cNvSpPr/>
          <p:nvPr/>
        </p:nvSpPr>
        <p:spPr>
          <a:xfrm>
            <a:off x="6272784" y="4626864"/>
            <a:ext cx="4937760" cy="566928"/>
          </a:xfrm>
          <a:prstGeom prst="rect">
            <a:avLst/>
          </a:prstGeom>
          <a:noFill/>
          <a:ln/>
        </p:spPr>
        <p:txBody>
          <a:bodyPr wrap="square" lIns="0" tIns="0" rIns="0" bIns="0" rtlCol="0" anchor="ctr"/>
          <a:lstStyle/>
          <a:p>
            <a:pPr marL="0" indent="0">
              <a:buNone/>
            </a:pPr>
            <a:r>
              <a:rPr lang="en-US" sz="1100" b="1" dirty="0">
                <a:solidFill>
                  <a:srgbClr val="1F6B4A"/>
                </a:solidFill>
                <a:latin typeface="Arial" pitchFamily="34" charset="0"/>
                <a:ea typeface="Arial" pitchFamily="34" charset="-122"/>
                <a:cs typeface="Arial" pitchFamily="34" charset="-120"/>
              </a:rPr>
              <a:t>Direct match</a:t>
            </a:r>
            <a:endParaRPr lang="en-US" sz="1100" dirty="0"/>
          </a:p>
        </p:txBody>
      </p:sp>
      <p:sp>
        <p:nvSpPr>
          <p:cNvPr id="32" name="Shape 28"/>
          <p:cNvSpPr/>
          <p:nvPr/>
        </p:nvSpPr>
        <p:spPr>
          <a:xfrm>
            <a:off x="658368" y="5321808"/>
            <a:ext cx="10874959" cy="713232"/>
          </a:xfrm>
          <a:prstGeom prst="roundRect">
            <a:avLst>
              <a:gd name="adj" fmla="val 10256"/>
            </a:avLst>
          </a:prstGeom>
          <a:solidFill>
            <a:srgbClr val="0E1A38"/>
          </a:solidFill>
          <a:ln/>
          <a:effectLst>
            <a:outerShdw blurRad="50800" dist="38100" dir="5400000" algn="t" rotWithShape="0">
              <a:prstClr val="black">
                <a:alpha val="40000"/>
              </a:prstClr>
            </a:outerShdw>
          </a:effectLst>
        </p:spPr>
        <p:txBody>
          <a:bodyPr/>
          <a:lstStyle/>
          <a:p>
            <a:endParaRPr lang="en-US"/>
          </a:p>
        </p:txBody>
      </p:sp>
      <p:sp>
        <p:nvSpPr>
          <p:cNvPr id="33" name="Text 29"/>
          <p:cNvSpPr/>
          <p:nvPr/>
        </p:nvSpPr>
        <p:spPr>
          <a:xfrm>
            <a:off x="658368" y="5321808"/>
            <a:ext cx="10874959" cy="713232"/>
          </a:xfrm>
          <a:prstGeom prst="rect">
            <a:avLst/>
          </a:prstGeom>
          <a:noFill/>
          <a:ln/>
        </p:spPr>
        <p:txBody>
          <a:bodyPr wrap="square" lIns="0" tIns="0" rIns="0" bIns="0" rtlCol="0" anchor="ctr"/>
          <a:lstStyle/>
          <a:p>
            <a:pPr marL="0" indent="0" algn="ctr">
              <a:buNone/>
            </a:pPr>
            <a:r>
              <a:rPr lang="en-US" sz="1400" dirty="0">
                <a:solidFill>
                  <a:srgbClr val="EFF3FA"/>
                </a:solidFill>
                <a:latin typeface="29LT Adir" pitchFamily="34" charset="0"/>
                <a:ea typeface="29LT Adir" pitchFamily="34" charset="-122"/>
                <a:cs typeface="29LT Adir" pitchFamily="34" charset="-120"/>
              </a:rPr>
              <a:t>GRS is the only candidate that directly measures the required observable from the existing mission architecture.</a:t>
            </a:r>
            <a:endParaRPr lang="en-US" sz="1400" dirty="0"/>
          </a:p>
        </p:txBody>
      </p:sp>
      <p:sp>
        <p:nvSpPr>
          <p:cNvPr id="34" name="Text 30"/>
          <p:cNvSpPr/>
          <p:nvPr/>
        </p:nvSpPr>
        <p:spPr>
          <a:xfrm>
            <a:off x="6035040" y="6272784"/>
            <a:ext cx="4846320" cy="256032"/>
          </a:xfrm>
          <a:prstGeom prst="rect">
            <a:avLst/>
          </a:prstGeom>
          <a:noFill/>
          <a:ln/>
        </p:spPr>
        <p:txBody>
          <a:bodyPr wrap="square" lIns="0" tIns="0" rIns="0" bIns="0" rtlCol="0" anchor="ctr"/>
          <a:lstStyle/>
          <a:p>
            <a:pPr marL="0" indent="0" algn="r">
              <a:buNone/>
            </a:pPr>
            <a:r>
              <a:rPr lang="en-US" sz="900" i="1" dirty="0">
                <a:solidFill>
                  <a:srgbClr val="A4ACBC"/>
                </a:solidFill>
                <a:latin typeface="Arial" pitchFamily="34" charset="0"/>
                <a:ea typeface="Arial" pitchFamily="34" charset="-122"/>
                <a:cs typeface="Arial" pitchFamily="34" charset="-120"/>
              </a:rPr>
              <a:t>Full five-criteria assessment in appendix.</a:t>
            </a:r>
            <a:endParaRPr lang="en-US" sz="900" dirty="0"/>
          </a:p>
        </p:txBody>
      </p:sp>
      <p:sp>
        <p:nvSpPr>
          <p:cNvPr id="35" name="Text 31"/>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AAB2C2"/>
                </a:solidFill>
                <a:latin typeface="Arial" pitchFamily="34" charset="0"/>
                <a:ea typeface="Arial" pitchFamily="34" charset="-122"/>
                <a:cs typeface="Arial" pitchFamily="34" charset="-120"/>
              </a:rPr>
              <a:t>10</a:t>
            </a:r>
            <a:endParaRPr lang="en-US" sz="1000" dirty="0"/>
          </a:p>
        </p:txBody>
      </p:sp>
      <p:pic>
        <p:nvPicPr>
          <p:cNvPr id="38" name="Image 1" descr="/home/claude/work/a2/logo_dark.png">
            <a:extLst>
              <a:ext uri="{FF2B5EF4-FFF2-40B4-BE49-F238E27FC236}">
                <a16:creationId xmlns:a16="http://schemas.microsoft.com/office/drawing/2014/main" id="{107DBBCB-F40B-1062-BE54-87F297B9D192}"/>
              </a:ext>
            </a:extLst>
          </p:cNvPr>
          <p:cNvPicPr>
            <a:picLocks noChangeAspect="1"/>
          </p:cNvPicPr>
          <p:nvPr/>
        </p:nvPicPr>
        <p:blipFill>
          <a:blip r:embed="rId5"/>
          <a:stretch>
            <a:fillRect/>
          </a:stretch>
        </p:blipFill>
        <p:spPr>
          <a:xfrm>
            <a:off x="10616340" y="122984"/>
            <a:ext cx="1450538" cy="814736"/>
          </a:xfrm>
          <a:prstGeom prst="rect">
            <a:avLst/>
          </a:prstGeom>
        </p:spPr>
      </p:pic>
      <p:sp>
        <p:nvSpPr>
          <p:cNvPr id="41" name="BJPseudoFooter">
            <a:extLst>
              <a:ext uri="{FF2B5EF4-FFF2-40B4-BE49-F238E27FC236}">
                <a16:creationId xmlns:a16="http://schemas.microsoft.com/office/drawing/2014/main" id="{EE76EE3E-68F8-A858-93A3-650DA0DEBECF}"/>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B16"/>
        </a:solidFill>
        <a:effectLst/>
      </p:bgPr>
    </p:bg>
    <p:spTree>
      <p:nvGrpSpPr>
        <p:cNvPr id="1" name=""/>
        <p:cNvGrpSpPr/>
        <p:nvPr/>
      </p:nvGrpSpPr>
      <p:grpSpPr>
        <a:xfrm>
          <a:off x="0" y="0"/>
          <a:ext cx="0" cy="0"/>
          <a:chOff x="0" y="0"/>
          <a:chExt cx="0" cy="0"/>
        </a:xfrm>
      </p:grpSpPr>
      <p:pic>
        <p:nvPicPr>
          <p:cNvPr id="2" name="Image 0" descr="/home/claude/work/a2/glow_deep.jpg"/>
          <p:cNvPicPr>
            <a:picLocks noChangeAspect="1"/>
          </p:cNvPicPr>
          <p:nvPr/>
        </p:nvPicPr>
        <p:blipFill>
          <a:blip r:embed="rId4"/>
          <a:stretch>
            <a:fillRect/>
          </a:stretch>
        </p:blipFill>
        <p:spPr>
          <a:xfrm>
            <a:off x="0" y="0"/>
            <a:ext cx="12191695" cy="6858000"/>
          </a:xfrm>
          <a:prstGeom prst="rect">
            <a:avLst/>
          </a:prstGeom>
        </p:spPr>
      </p:pic>
      <p:pic>
        <p:nvPicPr>
          <p:cNvPr id="3" name="Image 1" descr="/home/claude/work/a2/orbiter.png"/>
          <p:cNvPicPr>
            <a:picLocks noChangeAspect="1"/>
          </p:cNvPicPr>
          <p:nvPr/>
        </p:nvPicPr>
        <p:blipFill>
          <a:blip r:embed="rId5">
            <a:alphaModFix amt="20000"/>
          </a:blip>
          <a:stretch>
            <a:fillRect/>
          </a:stretch>
        </p:blipFill>
        <p:spPr>
          <a:xfrm>
            <a:off x="8585680" y="732120"/>
            <a:ext cx="3514745" cy="4680527"/>
          </a:xfrm>
          <a:prstGeom prst="rect">
            <a:avLst/>
          </a:prstGeom>
        </p:spPr>
      </p:pic>
      <p:pic>
        <p:nvPicPr>
          <p:cNvPr id="4" name="Image 2" descr="/home/claude/work/a2/logo_white.png"/>
          <p:cNvPicPr>
            <a:picLocks noChangeAspect="1"/>
          </p:cNvPicPr>
          <p:nvPr/>
        </p:nvPicPr>
        <p:blipFill>
          <a:blip r:embed="rId6"/>
          <a:stretch>
            <a:fillRect/>
          </a:stretch>
        </p:blipFill>
        <p:spPr>
          <a:xfrm>
            <a:off x="10806379" y="293641"/>
            <a:ext cx="1133856" cy="478231"/>
          </a:xfrm>
          <a:prstGeom prst="rect">
            <a:avLst/>
          </a:prstGeom>
        </p:spPr>
      </p:pic>
      <p:sp>
        <p:nvSpPr>
          <p:cNvPr id="5" name="Text 0"/>
          <p:cNvSpPr/>
          <p:nvPr/>
        </p:nvSpPr>
        <p:spPr>
          <a:xfrm>
            <a:off x="658368" y="6272784"/>
            <a:ext cx="8595360" cy="274320"/>
          </a:xfrm>
          <a:prstGeom prst="rect">
            <a:avLst/>
          </a:prstGeom>
          <a:noFill/>
          <a:ln/>
        </p:spPr>
        <p:txBody>
          <a:bodyPr wrap="square" lIns="0" tIns="0" rIns="0" bIns="0" rtlCol="0" anchor="ctr"/>
          <a:lstStyle/>
          <a:p>
            <a:pPr marL="0" indent="0" algn="l">
              <a:buNone/>
            </a:pPr>
            <a:r>
              <a:rPr lang="en-US" sz="800" kern="0" spc="150" dirty="0">
                <a:solidFill>
                  <a:srgbClr val="54607C"/>
                </a:solidFill>
                <a:latin typeface="Arial" pitchFamily="34" charset="0"/>
                <a:ea typeface="Arial" pitchFamily="34" charset="-122"/>
                <a:cs typeface="Arial" pitchFamily="34" charset="-120"/>
              </a:rPr>
              <a:t>BASELINE</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OPPORTUNITIES</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SELECTION</a:t>
            </a:r>
            <a:r>
              <a:rPr lang="en-US" sz="800" dirty="0">
                <a:solidFill>
                  <a:srgbClr val="000000"/>
                </a:solidFill>
                <a:latin typeface="Arial" pitchFamily="34" charset="0"/>
                <a:ea typeface="Arial" pitchFamily="34" charset="-122"/>
                <a:cs typeface="Arial" pitchFamily="34" charset="-120"/>
              </a:rPr>
              <a:t>     </a:t>
            </a:r>
            <a:r>
              <a:rPr lang="en-US" sz="800" b="1" kern="0" spc="150" dirty="0">
                <a:solidFill>
                  <a:srgbClr val="E8A33D"/>
                </a:solidFill>
                <a:latin typeface="Arial" pitchFamily="34" charset="0"/>
                <a:ea typeface="Arial" pitchFamily="34" charset="-122"/>
                <a:cs typeface="Arial" pitchFamily="34" charset="-120"/>
              </a:rPr>
              <a:t>RECOMMENDATION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VALUE</a:t>
            </a:r>
            <a:endParaRPr lang="en-US" sz="800" dirty="0"/>
          </a:p>
        </p:txBody>
      </p:sp>
      <p:sp>
        <p:nvSpPr>
          <p:cNvPr id="6" name="Text 1"/>
          <p:cNvSpPr/>
          <p:nvPr/>
        </p:nvSpPr>
        <p:spPr>
          <a:xfrm>
            <a:off x="658368" y="530352"/>
            <a:ext cx="9052560" cy="475488"/>
          </a:xfrm>
          <a:prstGeom prst="rect">
            <a:avLst/>
          </a:prstGeom>
          <a:noFill/>
          <a:ln/>
        </p:spPr>
        <p:txBody>
          <a:bodyPr wrap="square" lIns="0" tIns="0" rIns="0" bIns="0" rtlCol="0" anchor="t"/>
          <a:lstStyle/>
          <a:p>
            <a:pPr marL="0" indent="0">
              <a:buNone/>
            </a:pPr>
            <a:r>
              <a:rPr lang="en-US" sz="2600" b="1" dirty="0">
                <a:solidFill>
                  <a:srgbClr val="9BA7C0"/>
                </a:solidFill>
                <a:latin typeface="29LT Adir" pitchFamily="34" charset="0"/>
                <a:ea typeface="29LT Adir" pitchFamily="34" charset="-122"/>
                <a:cs typeface="29LT Adir" pitchFamily="34" charset="-120"/>
              </a:rPr>
              <a:t>Recommendation</a:t>
            </a:r>
            <a:endParaRPr lang="en-US" sz="2600" dirty="0"/>
          </a:p>
        </p:txBody>
      </p:sp>
      <p:sp>
        <p:nvSpPr>
          <p:cNvPr id="7" name="Text 2"/>
          <p:cNvSpPr/>
          <p:nvPr/>
        </p:nvSpPr>
        <p:spPr>
          <a:xfrm>
            <a:off x="658368" y="1371600"/>
            <a:ext cx="7315200" cy="237744"/>
          </a:xfrm>
          <a:prstGeom prst="rect">
            <a:avLst/>
          </a:prstGeom>
          <a:noFill/>
          <a:ln/>
        </p:spPr>
        <p:txBody>
          <a:bodyPr wrap="square" lIns="0" tIns="0" rIns="0" bIns="0" rtlCol="0" anchor="ctr"/>
          <a:lstStyle/>
          <a:p>
            <a:pPr marL="0" indent="0">
              <a:buNone/>
            </a:pPr>
            <a:r>
              <a:rPr lang="en-US" sz="950" b="1" kern="0" spc="260" dirty="0">
                <a:solidFill>
                  <a:srgbClr val="00B0F0"/>
                </a:solidFill>
                <a:latin typeface="Arial" pitchFamily="34" charset="0"/>
                <a:ea typeface="Arial" pitchFamily="34" charset="-122"/>
                <a:cs typeface="Arial" pitchFamily="34" charset="-120"/>
              </a:rPr>
              <a:t>RECOMMENDED PAYLOAD ENHANCEMENT</a:t>
            </a:r>
            <a:endParaRPr lang="en-US" sz="950" dirty="0">
              <a:solidFill>
                <a:srgbClr val="00B0F0"/>
              </a:solidFill>
            </a:endParaRPr>
          </a:p>
        </p:txBody>
      </p:sp>
      <p:sp>
        <p:nvSpPr>
          <p:cNvPr id="8" name="Text 3"/>
          <p:cNvSpPr/>
          <p:nvPr/>
        </p:nvSpPr>
        <p:spPr>
          <a:xfrm>
            <a:off x="658368" y="1645920"/>
            <a:ext cx="8778240" cy="713232"/>
          </a:xfrm>
          <a:prstGeom prst="rect">
            <a:avLst/>
          </a:prstGeom>
          <a:noFill/>
          <a:ln/>
        </p:spPr>
        <p:txBody>
          <a:bodyPr wrap="square" lIns="0" tIns="0" rIns="0" bIns="0" rtlCol="0" anchor="t"/>
          <a:lstStyle/>
          <a:p>
            <a:pPr marL="0" indent="0">
              <a:buNone/>
            </a:pPr>
            <a:r>
              <a:rPr lang="en-US" sz="3800" b="1" dirty="0">
                <a:solidFill>
                  <a:srgbClr val="FFFFFF"/>
                </a:solidFill>
                <a:latin typeface="29LT Adir" pitchFamily="34" charset="0"/>
                <a:ea typeface="29LT Adir" pitchFamily="34" charset="-122"/>
                <a:cs typeface="29LT Adir" pitchFamily="34" charset="-120"/>
              </a:rPr>
              <a:t>Gamma-Ray Spectrometer</a:t>
            </a:r>
            <a:endParaRPr lang="en-US" sz="3800" dirty="0"/>
          </a:p>
        </p:txBody>
      </p:sp>
      <p:sp>
        <p:nvSpPr>
          <p:cNvPr id="9" name="Shape 4"/>
          <p:cNvSpPr/>
          <p:nvPr/>
        </p:nvSpPr>
        <p:spPr>
          <a:xfrm>
            <a:off x="658368" y="2468880"/>
            <a:ext cx="1737360" cy="9144"/>
          </a:xfrm>
          <a:prstGeom prst="rect">
            <a:avLst/>
          </a:prstGeom>
          <a:solidFill>
            <a:srgbClr val="4A5878"/>
          </a:solidFill>
          <a:ln/>
        </p:spPr>
        <p:txBody>
          <a:bodyPr/>
          <a:lstStyle/>
          <a:p>
            <a:endParaRPr lang="en-US"/>
          </a:p>
        </p:txBody>
      </p:sp>
      <p:sp>
        <p:nvSpPr>
          <p:cNvPr id="10" name="Text 5"/>
          <p:cNvSpPr/>
          <p:nvPr/>
        </p:nvSpPr>
        <p:spPr>
          <a:xfrm>
            <a:off x="658368" y="2560320"/>
            <a:ext cx="5486400" cy="274320"/>
          </a:xfrm>
          <a:prstGeom prst="rect">
            <a:avLst/>
          </a:prstGeom>
          <a:noFill/>
          <a:ln/>
        </p:spPr>
        <p:txBody>
          <a:bodyPr wrap="square" lIns="0" tIns="0" rIns="0" bIns="0" rtlCol="0" anchor="t"/>
          <a:lstStyle/>
          <a:p>
            <a:pPr marL="0" indent="0">
              <a:buNone/>
            </a:pPr>
            <a:r>
              <a:rPr lang="en-US" sz="1300" dirty="0">
                <a:solidFill>
                  <a:srgbClr val="9CBBE6"/>
                </a:solidFill>
                <a:latin typeface="Arial" pitchFamily="34" charset="0"/>
                <a:ea typeface="Arial" pitchFamily="34" charset="-122"/>
                <a:cs typeface="Arial" pitchFamily="34" charset="-120"/>
              </a:rPr>
              <a:t>RAMSES Main Orbiter</a:t>
            </a:r>
            <a:endParaRPr lang="en-US" sz="1300" dirty="0"/>
          </a:p>
        </p:txBody>
      </p:sp>
      <p:sp>
        <p:nvSpPr>
          <p:cNvPr id="11" name="Text 6"/>
          <p:cNvSpPr/>
          <p:nvPr/>
        </p:nvSpPr>
        <p:spPr>
          <a:xfrm>
            <a:off x="658368" y="3035808"/>
            <a:ext cx="2743200" cy="219456"/>
          </a:xfrm>
          <a:prstGeom prst="rect">
            <a:avLst/>
          </a:prstGeom>
          <a:noFill/>
          <a:ln/>
        </p:spPr>
        <p:txBody>
          <a:bodyPr wrap="square" lIns="0" tIns="0" rIns="0" bIns="0" rtlCol="0" anchor="ctr"/>
          <a:lstStyle/>
          <a:p>
            <a:pPr marL="0" indent="0">
              <a:buNone/>
            </a:pPr>
            <a:r>
              <a:rPr lang="en-US" sz="900" b="1" kern="0" spc="240" dirty="0">
                <a:solidFill>
                  <a:srgbClr val="9BA7C0"/>
                </a:solidFill>
                <a:latin typeface="Arial" pitchFamily="34" charset="0"/>
                <a:ea typeface="Arial" pitchFamily="34" charset="-122"/>
                <a:cs typeface="Arial" pitchFamily="34" charset="-120"/>
              </a:rPr>
              <a:t>WHY</a:t>
            </a:r>
            <a:endParaRPr lang="en-US" sz="900" dirty="0"/>
          </a:p>
        </p:txBody>
      </p:sp>
      <p:sp>
        <p:nvSpPr>
          <p:cNvPr id="12" name="Shape 7"/>
          <p:cNvSpPr/>
          <p:nvPr/>
        </p:nvSpPr>
        <p:spPr>
          <a:xfrm>
            <a:off x="658368" y="3328416"/>
            <a:ext cx="2014057" cy="1207008"/>
          </a:xfrm>
          <a:prstGeom prst="roundRect">
            <a:avLst>
              <a:gd name="adj" fmla="val 6061"/>
            </a:avLst>
          </a:prstGeom>
          <a:solidFill>
            <a:srgbClr val="111A2E"/>
          </a:solidFill>
          <a:ln w="9525">
            <a:solidFill>
              <a:srgbClr val="2A3552"/>
            </a:solidFill>
            <a:prstDash val="solid"/>
          </a:ln>
        </p:spPr>
        <p:txBody>
          <a:bodyPr/>
          <a:lstStyle/>
          <a:p>
            <a:endParaRPr lang="en-US"/>
          </a:p>
        </p:txBody>
      </p:sp>
      <p:sp>
        <p:nvSpPr>
          <p:cNvPr id="13" name="Text 8"/>
          <p:cNvSpPr/>
          <p:nvPr/>
        </p:nvSpPr>
        <p:spPr>
          <a:xfrm>
            <a:off x="859536" y="3493008"/>
            <a:ext cx="548640" cy="219456"/>
          </a:xfrm>
          <a:prstGeom prst="rect">
            <a:avLst/>
          </a:prstGeom>
          <a:noFill/>
          <a:ln/>
        </p:spPr>
        <p:txBody>
          <a:bodyPr wrap="square" lIns="0" tIns="0" rIns="0" bIns="0" rtlCol="0" anchor="ctr"/>
          <a:lstStyle/>
          <a:p>
            <a:pPr marL="0" indent="0">
              <a:buNone/>
            </a:pPr>
            <a:r>
              <a:rPr lang="en-US" sz="1000" b="1" kern="0" spc="120" dirty="0">
                <a:solidFill>
                  <a:srgbClr val="00B0F0"/>
                </a:solidFill>
                <a:latin typeface="Arial" pitchFamily="34" charset="0"/>
                <a:ea typeface="Arial" pitchFamily="34" charset="-122"/>
                <a:cs typeface="Arial" pitchFamily="34" charset="-120"/>
              </a:rPr>
              <a:t>01</a:t>
            </a:r>
            <a:endParaRPr lang="en-US" sz="1000" dirty="0">
              <a:solidFill>
                <a:srgbClr val="00B0F0"/>
              </a:solidFill>
            </a:endParaRPr>
          </a:p>
        </p:txBody>
      </p:sp>
      <p:sp>
        <p:nvSpPr>
          <p:cNvPr id="14" name="Text 9"/>
          <p:cNvSpPr/>
          <p:nvPr/>
        </p:nvSpPr>
        <p:spPr>
          <a:xfrm>
            <a:off x="859536" y="3785616"/>
            <a:ext cx="1611721" cy="658368"/>
          </a:xfrm>
          <a:prstGeom prst="rect">
            <a:avLst/>
          </a:prstGeom>
          <a:noFill/>
          <a:ln/>
        </p:spPr>
        <p:txBody>
          <a:bodyPr wrap="square" lIns="0" tIns="0" rIns="0" bIns="0" rtlCol="0" anchor="t"/>
          <a:lstStyle/>
          <a:p>
            <a:pPr marL="0" indent="0">
              <a:lnSpc>
                <a:spcPct val="114000"/>
              </a:lnSpc>
              <a:buNone/>
            </a:pPr>
            <a:r>
              <a:rPr lang="en-US" sz="1100" dirty="0">
                <a:solidFill>
                  <a:srgbClr val="FFFFFF"/>
                </a:solidFill>
                <a:latin typeface="Arial" pitchFamily="34" charset="0"/>
                <a:ea typeface="Arial" pitchFamily="34" charset="-122"/>
                <a:cs typeface="Arial" pitchFamily="34" charset="-120"/>
              </a:rPr>
              <a:t>Independent of reflected light</a:t>
            </a:r>
            <a:endParaRPr lang="en-US" sz="1100" dirty="0"/>
          </a:p>
        </p:txBody>
      </p:sp>
      <p:sp>
        <p:nvSpPr>
          <p:cNvPr id="15" name="Shape 10"/>
          <p:cNvSpPr/>
          <p:nvPr/>
        </p:nvSpPr>
        <p:spPr>
          <a:xfrm>
            <a:off x="2873593" y="3328416"/>
            <a:ext cx="2014057" cy="1207008"/>
          </a:xfrm>
          <a:prstGeom prst="roundRect">
            <a:avLst>
              <a:gd name="adj" fmla="val 6061"/>
            </a:avLst>
          </a:prstGeom>
          <a:solidFill>
            <a:srgbClr val="111A2E"/>
          </a:solidFill>
          <a:ln w="9525">
            <a:solidFill>
              <a:srgbClr val="2A3552"/>
            </a:solidFill>
            <a:prstDash val="solid"/>
          </a:ln>
        </p:spPr>
        <p:txBody>
          <a:bodyPr/>
          <a:lstStyle/>
          <a:p>
            <a:endParaRPr lang="en-US"/>
          </a:p>
        </p:txBody>
      </p:sp>
      <p:sp>
        <p:nvSpPr>
          <p:cNvPr id="16" name="Text 11"/>
          <p:cNvSpPr/>
          <p:nvPr/>
        </p:nvSpPr>
        <p:spPr>
          <a:xfrm>
            <a:off x="3074761" y="3493008"/>
            <a:ext cx="548640" cy="219456"/>
          </a:xfrm>
          <a:prstGeom prst="rect">
            <a:avLst/>
          </a:prstGeom>
          <a:noFill/>
          <a:ln/>
        </p:spPr>
        <p:txBody>
          <a:bodyPr wrap="square" lIns="0" tIns="0" rIns="0" bIns="0" rtlCol="0" anchor="ctr"/>
          <a:lstStyle/>
          <a:p>
            <a:pPr marL="0" indent="0">
              <a:buNone/>
            </a:pPr>
            <a:r>
              <a:rPr lang="en-US" sz="1000" b="1" kern="0" spc="120" dirty="0">
                <a:solidFill>
                  <a:srgbClr val="00B0F0"/>
                </a:solidFill>
                <a:latin typeface="Arial" pitchFamily="34" charset="0"/>
                <a:ea typeface="Arial" pitchFamily="34" charset="-122"/>
                <a:cs typeface="Arial" pitchFamily="34" charset="-120"/>
              </a:rPr>
              <a:t>02</a:t>
            </a:r>
            <a:endParaRPr lang="en-US" sz="1000" dirty="0">
              <a:solidFill>
                <a:srgbClr val="00B0F0"/>
              </a:solidFill>
            </a:endParaRPr>
          </a:p>
        </p:txBody>
      </p:sp>
      <p:sp>
        <p:nvSpPr>
          <p:cNvPr id="17" name="Text 12"/>
          <p:cNvSpPr/>
          <p:nvPr/>
        </p:nvSpPr>
        <p:spPr>
          <a:xfrm>
            <a:off x="3074761" y="3785616"/>
            <a:ext cx="1611721" cy="658368"/>
          </a:xfrm>
          <a:prstGeom prst="rect">
            <a:avLst/>
          </a:prstGeom>
          <a:noFill/>
          <a:ln/>
        </p:spPr>
        <p:txBody>
          <a:bodyPr wrap="square" lIns="0" tIns="0" rIns="0" bIns="0" rtlCol="0" anchor="t"/>
          <a:lstStyle/>
          <a:p>
            <a:pPr marL="0" indent="0">
              <a:lnSpc>
                <a:spcPct val="114000"/>
              </a:lnSpc>
              <a:buNone/>
            </a:pPr>
            <a:r>
              <a:rPr lang="en-US" sz="1100" dirty="0">
                <a:solidFill>
                  <a:srgbClr val="FFFFFF"/>
                </a:solidFill>
                <a:latin typeface="Arial" pitchFamily="34" charset="0"/>
                <a:ea typeface="Arial" pitchFamily="34" charset="-122"/>
                <a:cs typeface="Arial" pitchFamily="34" charset="-120"/>
              </a:rPr>
              <a:t>Measures elemental abundance</a:t>
            </a:r>
            <a:endParaRPr lang="en-US" sz="1100" dirty="0"/>
          </a:p>
        </p:txBody>
      </p:sp>
      <p:sp>
        <p:nvSpPr>
          <p:cNvPr id="18" name="Shape 13"/>
          <p:cNvSpPr/>
          <p:nvPr/>
        </p:nvSpPr>
        <p:spPr>
          <a:xfrm>
            <a:off x="5088819" y="3328416"/>
            <a:ext cx="2014057" cy="1207008"/>
          </a:xfrm>
          <a:prstGeom prst="roundRect">
            <a:avLst>
              <a:gd name="adj" fmla="val 6061"/>
            </a:avLst>
          </a:prstGeom>
          <a:solidFill>
            <a:srgbClr val="111A2E"/>
          </a:solidFill>
          <a:ln w="9525">
            <a:solidFill>
              <a:srgbClr val="2A3552"/>
            </a:solidFill>
            <a:prstDash val="solid"/>
          </a:ln>
        </p:spPr>
        <p:txBody>
          <a:bodyPr/>
          <a:lstStyle/>
          <a:p>
            <a:endParaRPr lang="en-US"/>
          </a:p>
        </p:txBody>
      </p:sp>
      <p:sp>
        <p:nvSpPr>
          <p:cNvPr id="19" name="Text 14"/>
          <p:cNvSpPr/>
          <p:nvPr/>
        </p:nvSpPr>
        <p:spPr>
          <a:xfrm>
            <a:off x="5289987" y="3493008"/>
            <a:ext cx="548640" cy="219456"/>
          </a:xfrm>
          <a:prstGeom prst="rect">
            <a:avLst/>
          </a:prstGeom>
          <a:noFill/>
          <a:ln/>
        </p:spPr>
        <p:txBody>
          <a:bodyPr wrap="square" lIns="0" tIns="0" rIns="0" bIns="0" rtlCol="0" anchor="ctr"/>
          <a:lstStyle/>
          <a:p>
            <a:pPr marL="0" indent="0">
              <a:buNone/>
            </a:pPr>
            <a:r>
              <a:rPr lang="en-US" sz="1000" b="1" kern="0" spc="120" dirty="0">
                <a:solidFill>
                  <a:srgbClr val="00B0F0"/>
                </a:solidFill>
                <a:latin typeface="Arial" pitchFamily="34" charset="0"/>
                <a:ea typeface="Arial" pitchFamily="34" charset="-122"/>
                <a:cs typeface="Arial" pitchFamily="34" charset="-120"/>
              </a:rPr>
              <a:t>03</a:t>
            </a:r>
            <a:endParaRPr lang="en-US" sz="1000" dirty="0">
              <a:solidFill>
                <a:srgbClr val="00B0F0"/>
              </a:solidFill>
            </a:endParaRPr>
          </a:p>
        </p:txBody>
      </p:sp>
      <p:sp>
        <p:nvSpPr>
          <p:cNvPr id="20" name="Text 15"/>
          <p:cNvSpPr/>
          <p:nvPr/>
        </p:nvSpPr>
        <p:spPr>
          <a:xfrm>
            <a:off x="5289987" y="3785616"/>
            <a:ext cx="1611721" cy="658368"/>
          </a:xfrm>
          <a:prstGeom prst="rect">
            <a:avLst/>
          </a:prstGeom>
          <a:noFill/>
          <a:ln/>
        </p:spPr>
        <p:txBody>
          <a:bodyPr wrap="square" lIns="0" tIns="0" rIns="0" bIns="0" rtlCol="0" anchor="t"/>
          <a:lstStyle/>
          <a:p>
            <a:pPr marL="0" indent="0">
              <a:lnSpc>
                <a:spcPct val="114000"/>
              </a:lnSpc>
              <a:buNone/>
            </a:pPr>
            <a:r>
              <a:rPr lang="en-US" sz="1100" dirty="0">
                <a:solidFill>
                  <a:srgbClr val="FFFFFF"/>
                </a:solidFill>
                <a:latin typeface="Arial" pitchFamily="34" charset="0"/>
                <a:ea typeface="Arial" pitchFamily="34" charset="-122"/>
                <a:cs typeface="Arial" pitchFamily="34" charset="-120"/>
              </a:rPr>
              <a:t>Samples below the weathered layer</a:t>
            </a:r>
            <a:endParaRPr lang="en-US" sz="1100" dirty="0"/>
          </a:p>
        </p:txBody>
      </p:sp>
      <p:sp>
        <p:nvSpPr>
          <p:cNvPr id="21" name="Shape 16"/>
          <p:cNvSpPr/>
          <p:nvPr/>
        </p:nvSpPr>
        <p:spPr>
          <a:xfrm>
            <a:off x="7304044" y="3328416"/>
            <a:ext cx="2014057" cy="1207008"/>
          </a:xfrm>
          <a:prstGeom prst="roundRect">
            <a:avLst>
              <a:gd name="adj" fmla="val 6061"/>
            </a:avLst>
          </a:prstGeom>
          <a:solidFill>
            <a:srgbClr val="111A2E"/>
          </a:solidFill>
          <a:ln w="9525">
            <a:solidFill>
              <a:srgbClr val="2A3552"/>
            </a:solidFill>
            <a:prstDash val="solid"/>
          </a:ln>
        </p:spPr>
        <p:txBody>
          <a:bodyPr/>
          <a:lstStyle/>
          <a:p>
            <a:endParaRPr lang="en-US"/>
          </a:p>
        </p:txBody>
      </p:sp>
      <p:sp>
        <p:nvSpPr>
          <p:cNvPr id="22" name="Text 17"/>
          <p:cNvSpPr/>
          <p:nvPr/>
        </p:nvSpPr>
        <p:spPr>
          <a:xfrm>
            <a:off x="7505212" y="3493008"/>
            <a:ext cx="548640" cy="219456"/>
          </a:xfrm>
          <a:prstGeom prst="rect">
            <a:avLst/>
          </a:prstGeom>
          <a:noFill/>
          <a:ln/>
        </p:spPr>
        <p:txBody>
          <a:bodyPr wrap="square" lIns="0" tIns="0" rIns="0" bIns="0" rtlCol="0" anchor="ctr"/>
          <a:lstStyle/>
          <a:p>
            <a:pPr marL="0" indent="0">
              <a:buNone/>
            </a:pPr>
            <a:r>
              <a:rPr lang="en-US" sz="1000" b="1" kern="0" spc="120" dirty="0">
                <a:solidFill>
                  <a:srgbClr val="00B0F0"/>
                </a:solidFill>
                <a:latin typeface="Arial" pitchFamily="34" charset="0"/>
                <a:ea typeface="Arial" pitchFamily="34" charset="-122"/>
                <a:cs typeface="Arial" pitchFamily="34" charset="-120"/>
              </a:rPr>
              <a:t>04</a:t>
            </a:r>
            <a:endParaRPr lang="en-US" sz="1000" dirty="0">
              <a:solidFill>
                <a:srgbClr val="00B0F0"/>
              </a:solidFill>
            </a:endParaRPr>
          </a:p>
        </p:txBody>
      </p:sp>
      <p:sp>
        <p:nvSpPr>
          <p:cNvPr id="23" name="Text 18"/>
          <p:cNvSpPr/>
          <p:nvPr/>
        </p:nvSpPr>
        <p:spPr>
          <a:xfrm>
            <a:off x="7505212" y="3785616"/>
            <a:ext cx="1611721" cy="658368"/>
          </a:xfrm>
          <a:prstGeom prst="rect">
            <a:avLst/>
          </a:prstGeom>
          <a:noFill/>
          <a:ln/>
        </p:spPr>
        <p:txBody>
          <a:bodyPr wrap="square" lIns="0" tIns="0" rIns="0" bIns="0" rtlCol="0" anchor="t"/>
          <a:lstStyle/>
          <a:p>
            <a:pPr marL="0" indent="0">
              <a:lnSpc>
                <a:spcPct val="114000"/>
              </a:lnSpc>
              <a:buNone/>
            </a:pPr>
            <a:r>
              <a:rPr lang="en-US" sz="1100" dirty="0">
                <a:solidFill>
                  <a:srgbClr val="FFFFFF"/>
                </a:solidFill>
                <a:latin typeface="Arial" pitchFamily="34" charset="0"/>
                <a:ea typeface="Arial" pitchFamily="34" charset="-122"/>
                <a:cs typeface="Arial" pitchFamily="34" charset="-120"/>
              </a:rPr>
              <a:t>Strengthens HAMLET's interpretation</a:t>
            </a:r>
            <a:endParaRPr lang="en-US" sz="1100" dirty="0"/>
          </a:p>
        </p:txBody>
      </p:sp>
      <p:sp>
        <p:nvSpPr>
          <p:cNvPr id="24" name="Shape 19"/>
          <p:cNvSpPr/>
          <p:nvPr/>
        </p:nvSpPr>
        <p:spPr>
          <a:xfrm>
            <a:off x="9519270" y="3328416"/>
            <a:ext cx="2014057" cy="1207008"/>
          </a:xfrm>
          <a:prstGeom prst="roundRect">
            <a:avLst>
              <a:gd name="adj" fmla="val 6061"/>
            </a:avLst>
          </a:prstGeom>
          <a:solidFill>
            <a:srgbClr val="111A2E"/>
          </a:solidFill>
          <a:ln w="9525">
            <a:solidFill>
              <a:srgbClr val="2A3552"/>
            </a:solidFill>
            <a:prstDash val="solid"/>
          </a:ln>
        </p:spPr>
        <p:txBody>
          <a:bodyPr/>
          <a:lstStyle/>
          <a:p>
            <a:endParaRPr lang="en-US"/>
          </a:p>
        </p:txBody>
      </p:sp>
      <p:sp>
        <p:nvSpPr>
          <p:cNvPr id="25" name="Text 20"/>
          <p:cNvSpPr/>
          <p:nvPr/>
        </p:nvSpPr>
        <p:spPr>
          <a:xfrm>
            <a:off x="9720438" y="3493008"/>
            <a:ext cx="548640" cy="219456"/>
          </a:xfrm>
          <a:prstGeom prst="rect">
            <a:avLst/>
          </a:prstGeom>
          <a:noFill/>
          <a:ln/>
        </p:spPr>
        <p:txBody>
          <a:bodyPr wrap="square" lIns="0" tIns="0" rIns="0" bIns="0" rtlCol="0" anchor="ctr"/>
          <a:lstStyle/>
          <a:p>
            <a:pPr marL="0" indent="0">
              <a:buNone/>
            </a:pPr>
            <a:r>
              <a:rPr lang="en-US" sz="1000" b="1" kern="0" spc="120" dirty="0">
                <a:solidFill>
                  <a:srgbClr val="00B0F0"/>
                </a:solidFill>
                <a:latin typeface="Arial" pitchFamily="34" charset="0"/>
                <a:ea typeface="Arial" pitchFamily="34" charset="-122"/>
                <a:cs typeface="Arial" pitchFamily="34" charset="-120"/>
              </a:rPr>
              <a:t>05</a:t>
            </a:r>
            <a:endParaRPr lang="en-US" sz="1000" dirty="0">
              <a:solidFill>
                <a:srgbClr val="00B0F0"/>
              </a:solidFill>
            </a:endParaRPr>
          </a:p>
        </p:txBody>
      </p:sp>
      <p:sp>
        <p:nvSpPr>
          <p:cNvPr id="26" name="Text 21"/>
          <p:cNvSpPr/>
          <p:nvPr/>
        </p:nvSpPr>
        <p:spPr>
          <a:xfrm>
            <a:off x="9720438" y="3785616"/>
            <a:ext cx="1611721" cy="658368"/>
          </a:xfrm>
          <a:prstGeom prst="rect">
            <a:avLst/>
          </a:prstGeom>
          <a:noFill/>
          <a:ln/>
        </p:spPr>
        <p:txBody>
          <a:bodyPr wrap="square" lIns="0" tIns="0" rIns="0" bIns="0" rtlCol="0" anchor="t"/>
          <a:lstStyle/>
          <a:p>
            <a:pPr marL="0" indent="0">
              <a:lnSpc>
                <a:spcPct val="114000"/>
              </a:lnSpc>
              <a:buNone/>
            </a:pPr>
            <a:r>
              <a:rPr lang="en-US" sz="1100" dirty="0">
                <a:solidFill>
                  <a:srgbClr val="FFFFFF"/>
                </a:solidFill>
                <a:latin typeface="Arial" pitchFamily="34" charset="0"/>
                <a:ea typeface="Arial" pitchFamily="34" charset="-122"/>
                <a:cs typeface="Arial" pitchFamily="34" charset="-120"/>
              </a:rPr>
              <a:t>Fits the existing mission architecture</a:t>
            </a:r>
            <a:endParaRPr lang="en-US" sz="1100" dirty="0"/>
          </a:p>
        </p:txBody>
      </p:sp>
      <p:sp>
        <p:nvSpPr>
          <p:cNvPr id="27" name="Shape 22"/>
          <p:cNvSpPr/>
          <p:nvPr/>
        </p:nvSpPr>
        <p:spPr>
          <a:xfrm>
            <a:off x="658368" y="4828032"/>
            <a:ext cx="2880360" cy="1060704"/>
          </a:xfrm>
          <a:prstGeom prst="roundRect">
            <a:avLst>
              <a:gd name="adj" fmla="val 6897"/>
            </a:avLst>
          </a:prstGeom>
          <a:solidFill>
            <a:srgbClr val="111A2E"/>
          </a:solidFill>
          <a:ln w="9525">
            <a:solidFill>
              <a:srgbClr val="2A3552"/>
            </a:solidFill>
            <a:prstDash val="solid"/>
          </a:ln>
        </p:spPr>
        <p:txBody>
          <a:bodyPr/>
          <a:lstStyle/>
          <a:p>
            <a:endParaRPr lang="en-US"/>
          </a:p>
        </p:txBody>
      </p:sp>
      <p:sp>
        <p:nvSpPr>
          <p:cNvPr id="28" name="Text 23"/>
          <p:cNvSpPr/>
          <p:nvPr/>
        </p:nvSpPr>
        <p:spPr>
          <a:xfrm>
            <a:off x="658368" y="5047488"/>
            <a:ext cx="2880360" cy="292608"/>
          </a:xfrm>
          <a:prstGeom prst="rect">
            <a:avLst/>
          </a:prstGeom>
          <a:noFill/>
          <a:ln/>
        </p:spPr>
        <p:txBody>
          <a:bodyPr wrap="square" lIns="0" tIns="0" rIns="0" bIns="0" rtlCol="0" anchor="ctr"/>
          <a:lstStyle/>
          <a:p>
            <a:pPr marL="0" indent="0" algn="ctr">
              <a:buNone/>
            </a:pPr>
            <a:r>
              <a:rPr lang="en-US" sz="1700" b="1" dirty="0">
                <a:solidFill>
                  <a:srgbClr val="FFFFFF"/>
                </a:solidFill>
                <a:latin typeface="29LT Adir" pitchFamily="34" charset="0"/>
                <a:ea typeface="29LT Adir" pitchFamily="34" charset="-122"/>
                <a:cs typeface="29LT Adir" pitchFamily="34" charset="-120"/>
              </a:rPr>
              <a:t>HAMLET</a:t>
            </a:r>
            <a:endParaRPr lang="en-US" sz="1700" dirty="0"/>
          </a:p>
        </p:txBody>
      </p:sp>
      <p:sp>
        <p:nvSpPr>
          <p:cNvPr id="29" name="Text 24"/>
          <p:cNvSpPr/>
          <p:nvPr/>
        </p:nvSpPr>
        <p:spPr>
          <a:xfrm>
            <a:off x="658368" y="5394960"/>
            <a:ext cx="2880360" cy="256032"/>
          </a:xfrm>
          <a:prstGeom prst="rect">
            <a:avLst/>
          </a:prstGeom>
          <a:noFill/>
          <a:ln/>
        </p:spPr>
        <p:txBody>
          <a:bodyPr wrap="square" lIns="0" tIns="0" rIns="0" bIns="0" rtlCol="0" anchor="ctr"/>
          <a:lstStyle/>
          <a:p>
            <a:pPr marL="0" indent="0" algn="ctr">
              <a:buNone/>
            </a:pPr>
            <a:r>
              <a:rPr lang="en-US" sz="1050" dirty="0">
                <a:solidFill>
                  <a:srgbClr val="9BA7C0"/>
                </a:solidFill>
                <a:latin typeface="Arial" pitchFamily="34" charset="0"/>
                <a:ea typeface="Arial" pitchFamily="34" charset="-122"/>
                <a:cs typeface="Arial" pitchFamily="34" charset="-120"/>
              </a:rPr>
              <a:t>Mineralogy</a:t>
            </a:r>
            <a:endParaRPr lang="en-US" sz="1050" dirty="0"/>
          </a:p>
        </p:txBody>
      </p:sp>
      <p:sp>
        <p:nvSpPr>
          <p:cNvPr id="30" name="Text 25"/>
          <p:cNvSpPr/>
          <p:nvPr/>
        </p:nvSpPr>
        <p:spPr>
          <a:xfrm>
            <a:off x="3611880" y="4828032"/>
            <a:ext cx="548640" cy="1060704"/>
          </a:xfrm>
          <a:prstGeom prst="rect">
            <a:avLst/>
          </a:prstGeom>
          <a:noFill/>
          <a:ln/>
        </p:spPr>
        <p:txBody>
          <a:bodyPr wrap="square" lIns="0" tIns="0" rIns="0" bIns="0" rtlCol="0" anchor="ctr"/>
          <a:lstStyle/>
          <a:p>
            <a:pPr marL="0" indent="0" algn="ctr">
              <a:buNone/>
            </a:pPr>
            <a:r>
              <a:rPr lang="en-US" sz="2400" b="1" dirty="0">
                <a:solidFill>
                  <a:srgbClr val="00B0F0"/>
                </a:solidFill>
                <a:latin typeface="29LT Adir" pitchFamily="34" charset="0"/>
                <a:ea typeface="29LT Adir" pitchFamily="34" charset="-122"/>
                <a:cs typeface="29LT Adir" pitchFamily="34" charset="-120"/>
              </a:rPr>
              <a:t>+</a:t>
            </a:r>
            <a:endParaRPr lang="en-US" sz="2400" dirty="0">
              <a:solidFill>
                <a:srgbClr val="00B0F0"/>
              </a:solidFill>
            </a:endParaRPr>
          </a:p>
        </p:txBody>
      </p:sp>
      <p:sp>
        <p:nvSpPr>
          <p:cNvPr id="31" name="Shape 26"/>
          <p:cNvSpPr/>
          <p:nvPr/>
        </p:nvSpPr>
        <p:spPr>
          <a:xfrm>
            <a:off x="4206240" y="4828032"/>
            <a:ext cx="2880360" cy="1060704"/>
          </a:xfrm>
          <a:prstGeom prst="roundRect">
            <a:avLst>
              <a:gd name="adj" fmla="val 6897"/>
            </a:avLst>
          </a:prstGeom>
          <a:solidFill>
            <a:srgbClr val="2A2113"/>
          </a:solidFill>
          <a:ln w="19050">
            <a:solidFill>
              <a:schemeClr val="bg1"/>
            </a:solidFill>
            <a:prstDash val="solid"/>
          </a:ln>
        </p:spPr>
        <p:txBody>
          <a:bodyPr/>
          <a:lstStyle/>
          <a:p>
            <a:endParaRPr lang="en-US"/>
          </a:p>
        </p:txBody>
      </p:sp>
      <p:sp>
        <p:nvSpPr>
          <p:cNvPr id="32" name="Text 27"/>
          <p:cNvSpPr/>
          <p:nvPr/>
        </p:nvSpPr>
        <p:spPr>
          <a:xfrm>
            <a:off x="4206240" y="5047488"/>
            <a:ext cx="2880360" cy="292608"/>
          </a:xfrm>
          <a:prstGeom prst="rect">
            <a:avLst/>
          </a:prstGeom>
          <a:noFill/>
          <a:ln/>
        </p:spPr>
        <p:txBody>
          <a:bodyPr wrap="square" lIns="0" tIns="0" rIns="0" bIns="0" rtlCol="0" anchor="ctr"/>
          <a:lstStyle/>
          <a:p>
            <a:pPr marL="0" indent="0" algn="ctr">
              <a:buNone/>
            </a:pPr>
            <a:r>
              <a:rPr lang="en-US" sz="1700" b="1" dirty="0">
                <a:solidFill>
                  <a:srgbClr val="E8A33D"/>
                </a:solidFill>
                <a:latin typeface="29LT Adir" pitchFamily="34" charset="0"/>
                <a:ea typeface="29LT Adir" pitchFamily="34" charset="-122"/>
                <a:cs typeface="29LT Adir" pitchFamily="34" charset="-120"/>
              </a:rPr>
              <a:t>GRS</a:t>
            </a:r>
            <a:endParaRPr lang="en-US" sz="1700" dirty="0"/>
          </a:p>
        </p:txBody>
      </p:sp>
      <p:sp>
        <p:nvSpPr>
          <p:cNvPr id="33" name="Text 28"/>
          <p:cNvSpPr/>
          <p:nvPr/>
        </p:nvSpPr>
        <p:spPr>
          <a:xfrm>
            <a:off x="4206240" y="5394960"/>
            <a:ext cx="2880360" cy="256032"/>
          </a:xfrm>
          <a:prstGeom prst="rect">
            <a:avLst/>
          </a:prstGeom>
          <a:noFill/>
          <a:ln/>
        </p:spPr>
        <p:txBody>
          <a:bodyPr wrap="square" lIns="0" tIns="0" rIns="0" bIns="0" rtlCol="0" anchor="ctr"/>
          <a:lstStyle/>
          <a:p>
            <a:pPr marL="0" indent="0" algn="ctr">
              <a:buNone/>
            </a:pPr>
            <a:r>
              <a:rPr lang="en-US" sz="1050" dirty="0">
                <a:solidFill>
                  <a:srgbClr val="D8BE92"/>
                </a:solidFill>
                <a:latin typeface="Arial" pitchFamily="34" charset="0"/>
                <a:ea typeface="Arial" pitchFamily="34" charset="-122"/>
                <a:cs typeface="Arial" pitchFamily="34" charset="-120"/>
              </a:rPr>
              <a:t>Elements</a:t>
            </a:r>
            <a:endParaRPr lang="en-US" sz="1050" dirty="0"/>
          </a:p>
        </p:txBody>
      </p:sp>
      <p:sp>
        <p:nvSpPr>
          <p:cNvPr id="34" name="Shape 29"/>
          <p:cNvSpPr/>
          <p:nvPr/>
        </p:nvSpPr>
        <p:spPr>
          <a:xfrm>
            <a:off x="7370064" y="5239512"/>
            <a:ext cx="384048" cy="237744"/>
          </a:xfrm>
          <a:prstGeom prst="rightArrow">
            <a:avLst/>
          </a:prstGeom>
          <a:solidFill>
            <a:srgbClr val="6DD9FF"/>
          </a:solidFill>
          <a:ln>
            <a:solidFill>
              <a:srgbClr val="00B0F0"/>
            </a:solidFill>
          </a:ln>
        </p:spPr>
        <p:txBody>
          <a:bodyPr/>
          <a:lstStyle/>
          <a:p>
            <a:endParaRPr lang="en-US"/>
          </a:p>
        </p:txBody>
      </p:sp>
      <p:sp>
        <p:nvSpPr>
          <p:cNvPr id="35" name="Shape 30"/>
          <p:cNvSpPr/>
          <p:nvPr/>
        </p:nvSpPr>
        <p:spPr>
          <a:xfrm>
            <a:off x="8028432" y="4828032"/>
            <a:ext cx="3502152" cy="1060704"/>
          </a:xfrm>
          <a:prstGeom prst="roundRect">
            <a:avLst>
              <a:gd name="adj" fmla="val 6897"/>
            </a:avLst>
          </a:prstGeom>
          <a:solidFill>
            <a:srgbClr val="E8A33D"/>
          </a:solidFill>
          <a:ln>
            <a:solidFill>
              <a:schemeClr val="accent2">
                <a:lumMod val="60000"/>
                <a:lumOff val="40000"/>
              </a:schemeClr>
            </a:solidFill>
          </a:ln>
        </p:spPr>
        <p:txBody>
          <a:bodyPr/>
          <a:lstStyle/>
          <a:p>
            <a:endParaRPr lang="en-US"/>
          </a:p>
        </p:txBody>
      </p:sp>
      <p:sp>
        <p:nvSpPr>
          <p:cNvPr id="36" name="Text 31"/>
          <p:cNvSpPr/>
          <p:nvPr/>
        </p:nvSpPr>
        <p:spPr>
          <a:xfrm>
            <a:off x="8028432" y="4828032"/>
            <a:ext cx="3502152" cy="1060704"/>
          </a:xfrm>
          <a:prstGeom prst="rect">
            <a:avLst/>
          </a:prstGeom>
          <a:noFill/>
          <a:ln/>
        </p:spPr>
        <p:txBody>
          <a:bodyPr wrap="square" lIns="0" tIns="0" rIns="0" bIns="0" rtlCol="0" anchor="ctr"/>
          <a:lstStyle/>
          <a:p>
            <a:pPr marL="0" indent="0" algn="ctr">
              <a:lnSpc>
                <a:spcPct val="105000"/>
              </a:lnSpc>
              <a:buNone/>
            </a:pPr>
            <a:r>
              <a:rPr lang="en-US" sz="1600" b="1" dirty="0">
                <a:solidFill>
                  <a:srgbClr val="20170A"/>
                </a:solidFill>
                <a:latin typeface="29LT Adir" pitchFamily="34" charset="0"/>
                <a:ea typeface="29LT Adir" pitchFamily="34" charset="-122"/>
                <a:cs typeface="29LT Adir" pitchFamily="34" charset="-120"/>
              </a:rPr>
              <a:t>More effecient</a:t>
            </a:r>
            <a:endParaRPr lang="en-US" sz="1600" dirty="0"/>
          </a:p>
          <a:p>
            <a:pPr marL="0" indent="0" algn="ctr">
              <a:lnSpc>
                <a:spcPct val="105000"/>
              </a:lnSpc>
              <a:buNone/>
            </a:pPr>
            <a:r>
              <a:rPr lang="en-US" sz="1600" b="1" dirty="0">
                <a:solidFill>
                  <a:srgbClr val="20170A"/>
                </a:solidFill>
                <a:latin typeface="29LT Adir" pitchFamily="34" charset="0"/>
                <a:ea typeface="29LT Adir" pitchFamily="34" charset="-122"/>
                <a:cs typeface="29LT Adir" pitchFamily="34" charset="-120"/>
              </a:rPr>
              <a:t>composition</a:t>
            </a:r>
            <a:endParaRPr lang="en-US" sz="1600" dirty="0"/>
          </a:p>
        </p:txBody>
      </p:sp>
      <p:sp>
        <p:nvSpPr>
          <p:cNvPr id="37" name="Text 32"/>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54607C"/>
                </a:solidFill>
                <a:latin typeface="Arial" pitchFamily="34" charset="0"/>
                <a:ea typeface="Arial" pitchFamily="34" charset="-122"/>
                <a:cs typeface="Arial" pitchFamily="34" charset="-120"/>
              </a:rPr>
              <a:t>11</a:t>
            </a:r>
            <a:endParaRPr lang="en-US" sz="1000" dirty="0"/>
          </a:p>
        </p:txBody>
      </p:sp>
      <p:sp>
        <p:nvSpPr>
          <p:cNvPr id="41" name="BJPseudoFooter">
            <a:extLst>
              <a:ext uri="{FF2B5EF4-FFF2-40B4-BE49-F238E27FC236}">
                <a16:creationId xmlns:a16="http://schemas.microsoft.com/office/drawing/2014/main" id="{07A0CD9F-7A59-4088-734C-3C2C8C061B0F}"/>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ChangeAspect="1"/>
          </p:cNvPicPr>
          <p:nvPr/>
        </p:nvPicPr>
        <p:blipFill>
          <a:blip r:embed="rId4"/>
          <a:stretch>
            <a:fillRect/>
          </a:stretch>
        </p:blipFill>
        <p:spPr>
          <a:xfrm>
            <a:off x="0" y="0"/>
            <a:ext cx="12191695" cy="6858000"/>
          </a:xfrm>
          <a:prstGeom prst="rect">
            <a:avLst/>
          </a:prstGeom>
        </p:spPr>
      </p:pic>
      <p:sp>
        <p:nvSpPr>
          <p:cNvPr id="4" name="Text 0"/>
          <p:cNvSpPr/>
          <p:nvPr/>
        </p:nvSpPr>
        <p:spPr>
          <a:xfrm>
            <a:off x="658368" y="6272784"/>
            <a:ext cx="8595360" cy="274320"/>
          </a:xfrm>
          <a:prstGeom prst="rect">
            <a:avLst/>
          </a:prstGeom>
          <a:noFill/>
          <a:ln/>
        </p:spPr>
        <p:txBody>
          <a:bodyPr wrap="square" lIns="0" tIns="0" rIns="0" bIns="0" rtlCol="0" anchor="ctr"/>
          <a:lstStyle/>
          <a:p>
            <a:pPr marL="0" indent="0" algn="l">
              <a:buNone/>
            </a:pPr>
            <a:r>
              <a:rPr lang="en-US" sz="800" kern="0" spc="150" dirty="0">
                <a:solidFill>
                  <a:srgbClr val="AAB2C2"/>
                </a:solidFill>
                <a:latin typeface="Arial" pitchFamily="34" charset="0"/>
                <a:ea typeface="Arial" pitchFamily="34" charset="-122"/>
                <a:cs typeface="Arial" pitchFamily="34" charset="-120"/>
              </a:rPr>
              <a:t>BASELINE</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OPPORTUNITIES</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SELECTION</a:t>
            </a:r>
            <a:r>
              <a:rPr lang="en-US" sz="800" dirty="0">
                <a:solidFill>
                  <a:srgbClr val="000000"/>
                </a:solidFill>
                <a:latin typeface="Arial" pitchFamily="34" charset="0"/>
                <a:ea typeface="Arial" pitchFamily="34" charset="-122"/>
                <a:cs typeface="Arial" pitchFamily="34" charset="-120"/>
              </a:rPr>
              <a:t>     </a:t>
            </a:r>
            <a:r>
              <a:rPr lang="en-US" sz="800" b="1" kern="0" spc="150" dirty="0">
                <a:solidFill>
                  <a:srgbClr val="13234C"/>
                </a:solidFill>
                <a:latin typeface="Arial" pitchFamily="34" charset="0"/>
                <a:ea typeface="Arial" pitchFamily="34" charset="-122"/>
                <a:cs typeface="Arial" pitchFamily="34" charset="-120"/>
              </a:rPr>
              <a:t>RECOMMENDATION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AAB2C2"/>
                </a:solidFill>
                <a:latin typeface="Arial" pitchFamily="34" charset="0"/>
                <a:ea typeface="Arial" pitchFamily="34" charset="-122"/>
                <a:cs typeface="Arial" pitchFamily="34" charset="-120"/>
              </a:rPr>
              <a:t>VALUE</a:t>
            </a:r>
            <a:endParaRPr lang="en-US" sz="800" dirty="0"/>
          </a:p>
        </p:txBody>
      </p:sp>
      <p:sp>
        <p:nvSpPr>
          <p:cNvPr id="5" name="Text 1"/>
          <p:cNvSpPr/>
          <p:nvPr/>
        </p:nvSpPr>
        <p:spPr>
          <a:xfrm>
            <a:off x="658368" y="530352"/>
            <a:ext cx="9052560" cy="472966"/>
          </a:xfrm>
          <a:prstGeom prst="rect">
            <a:avLst/>
          </a:prstGeom>
          <a:noFill/>
          <a:ln/>
        </p:spPr>
        <p:txBody>
          <a:bodyPr wrap="square" lIns="0" tIns="0" rIns="0" bIns="0" rtlCol="0" anchor="ctr"/>
          <a:lstStyle/>
          <a:p>
            <a:pPr marL="0" indent="0">
              <a:lnSpc>
                <a:spcPct val="92000"/>
              </a:lnSpc>
              <a:buNone/>
            </a:pPr>
            <a:r>
              <a:rPr lang="en-US" sz="3000" b="1" dirty="0">
                <a:solidFill>
                  <a:srgbClr val="13234C"/>
                </a:solidFill>
                <a:latin typeface="29LT Adir" pitchFamily="34" charset="0"/>
                <a:ea typeface="29LT Adir" pitchFamily="34" charset="-122"/>
                <a:cs typeface="29LT Adir" pitchFamily="34" charset="-120"/>
              </a:rPr>
              <a:t>Implementation Route</a:t>
            </a:r>
            <a:endParaRPr lang="en-US" sz="3000" dirty="0"/>
          </a:p>
        </p:txBody>
      </p:sp>
      <p:sp>
        <p:nvSpPr>
          <p:cNvPr id="6" name="Text 2"/>
          <p:cNvSpPr/>
          <p:nvPr/>
        </p:nvSpPr>
        <p:spPr>
          <a:xfrm>
            <a:off x="658368" y="1058182"/>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A proven implementation route exists</a:t>
            </a:r>
            <a:endParaRPr lang="en-US" sz="1250" dirty="0"/>
          </a:p>
        </p:txBody>
      </p:sp>
      <p:sp>
        <p:nvSpPr>
          <p:cNvPr id="7" name="Shape 3"/>
          <p:cNvSpPr/>
          <p:nvPr/>
        </p:nvSpPr>
        <p:spPr>
          <a:xfrm>
            <a:off x="658368" y="1956816"/>
            <a:ext cx="3063240" cy="1627632"/>
          </a:xfrm>
          <a:prstGeom prst="roundRect">
            <a:avLst>
              <a:gd name="adj" fmla="val 5056"/>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8" name="Text 4"/>
          <p:cNvSpPr/>
          <p:nvPr/>
        </p:nvSpPr>
        <p:spPr>
          <a:xfrm>
            <a:off x="932688" y="2176272"/>
            <a:ext cx="2514600" cy="384048"/>
          </a:xfrm>
          <a:prstGeom prst="rect">
            <a:avLst/>
          </a:prstGeom>
          <a:noFill/>
          <a:ln/>
        </p:spPr>
        <p:txBody>
          <a:bodyPr wrap="square" lIns="0" tIns="0" rIns="0" bIns="0" rtlCol="0" anchor="ctr"/>
          <a:lstStyle/>
          <a:p>
            <a:pPr marL="0" indent="0">
              <a:buNone/>
            </a:pPr>
            <a:r>
              <a:rPr lang="en-US" sz="2200" b="1" dirty="0">
                <a:solidFill>
                  <a:srgbClr val="13234C"/>
                </a:solidFill>
                <a:latin typeface="29LT Adir" pitchFamily="34" charset="0"/>
                <a:ea typeface="29LT Adir" pitchFamily="34" charset="-122"/>
                <a:cs typeface="29LT Adir" pitchFamily="34" charset="-120"/>
              </a:rPr>
              <a:t>APL</a:t>
            </a:r>
            <a:endParaRPr lang="en-US" sz="2200" dirty="0"/>
          </a:p>
        </p:txBody>
      </p:sp>
      <p:sp>
        <p:nvSpPr>
          <p:cNvPr id="9" name="Text 5"/>
          <p:cNvSpPr/>
          <p:nvPr/>
        </p:nvSpPr>
        <p:spPr>
          <a:xfrm>
            <a:off x="932688" y="2578608"/>
            <a:ext cx="2514600" cy="420624"/>
          </a:xfrm>
          <a:prstGeom prst="rect">
            <a:avLst/>
          </a:prstGeom>
          <a:noFill/>
          <a:ln/>
        </p:spPr>
        <p:txBody>
          <a:bodyPr wrap="square" lIns="0" tIns="0" rIns="0" bIns="0" rtlCol="0" anchor="ctr"/>
          <a:lstStyle/>
          <a:p>
            <a:pPr marL="0" indent="0">
              <a:lnSpc>
                <a:spcPct val="110000"/>
              </a:lnSpc>
              <a:buNone/>
            </a:pPr>
            <a:r>
              <a:rPr lang="en-US" sz="900" dirty="0">
                <a:solidFill>
                  <a:srgbClr val="A4ACBC"/>
                </a:solidFill>
                <a:latin typeface="Arial" pitchFamily="34" charset="0"/>
                <a:ea typeface="Arial" pitchFamily="34" charset="-122"/>
                <a:cs typeface="Arial" pitchFamily="34" charset="-120"/>
              </a:rPr>
              <a:t>Johns Hopkins Applied Physics Laboratory</a:t>
            </a:r>
            <a:endParaRPr lang="en-US" sz="900" dirty="0"/>
          </a:p>
        </p:txBody>
      </p:sp>
      <p:sp>
        <p:nvSpPr>
          <p:cNvPr id="10" name="Text 6"/>
          <p:cNvSpPr/>
          <p:nvPr/>
        </p:nvSpPr>
        <p:spPr>
          <a:xfrm>
            <a:off x="932688" y="3054096"/>
            <a:ext cx="2514600" cy="384048"/>
          </a:xfrm>
          <a:prstGeom prst="rect">
            <a:avLst/>
          </a:prstGeom>
          <a:noFill/>
          <a:ln/>
        </p:spPr>
        <p:txBody>
          <a:bodyPr wrap="square" lIns="0" tIns="0" rIns="0" bIns="0" rtlCol="0" anchor="ctr"/>
          <a:lstStyle/>
          <a:p>
            <a:pPr marL="0" indent="0">
              <a:lnSpc>
                <a:spcPct val="110000"/>
              </a:lnSpc>
              <a:buNone/>
            </a:pPr>
            <a:r>
              <a:rPr lang="en-US" sz="1100" dirty="0">
                <a:solidFill>
                  <a:srgbClr val="151B29"/>
                </a:solidFill>
                <a:latin typeface="Arial" pitchFamily="34" charset="0"/>
                <a:ea typeface="Arial" pitchFamily="34" charset="-122"/>
                <a:cs typeface="Arial" pitchFamily="34" charset="-120"/>
              </a:rPr>
              <a:t>Instrument lead &amp; integration</a:t>
            </a:r>
            <a:endParaRPr lang="en-US" sz="1100" dirty="0"/>
          </a:p>
        </p:txBody>
      </p:sp>
      <p:sp>
        <p:nvSpPr>
          <p:cNvPr id="11" name="Shape 7"/>
          <p:cNvSpPr/>
          <p:nvPr/>
        </p:nvSpPr>
        <p:spPr>
          <a:xfrm>
            <a:off x="3950208" y="1956816"/>
            <a:ext cx="3063240" cy="1627632"/>
          </a:xfrm>
          <a:prstGeom prst="roundRect">
            <a:avLst>
              <a:gd name="adj" fmla="val 5056"/>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12" name="Text 8"/>
          <p:cNvSpPr/>
          <p:nvPr/>
        </p:nvSpPr>
        <p:spPr>
          <a:xfrm>
            <a:off x="4224528" y="2176272"/>
            <a:ext cx="2514600" cy="384048"/>
          </a:xfrm>
          <a:prstGeom prst="rect">
            <a:avLst/>
          </a:prstGeom>
          <a:noFill/>
          <a:ln/>
        </p:spPr>
        <p:txBody>
          <a:bodyPr wrap="square" lIns="0" tIns="0" rIns="0" bIns="0" rtlCol="0" anchor="ctr"/>
          <a:lstStyle/>
          <a:p>
            <a:pPr marL="0" indent="0">
              <a:buNone/>
            </a:pPr>
            <a:r>
              <a:rPr lang="en-US" sz="2200" b="1" dirty="0">
                <a:solidFill>
                  <a:srgbClr val="13234C"/>
                </a:solidFill>
                <a:latin typeface="29LT Adir" pitchFamily="34" charset="0"/>
                <a:ea typeface="29LT Adir" pitchFamily="34" charset="-122"/>
                <a:cs typeface="29LT Adir" pitchFamily="34" charset="-120"/>
              </a:rPr>
              <a:t>LLNL</a:t>
            </a:r>
            <a:endParaRPr lang="en-US" sz="2200" dirty="0"/>
          </a:p>
        </p:txBody>
      </p:sp>
      <p:sp>
        <p:nvSpPr>
          <p:cNvPr id="13" name="Text 9"/>
          <p:cNvSpPr/>
          <p:nvPr/>
        </p:nvSpPr>
        <p:spPr>
          <a:xfrm>
            <a:off x="4224528" y="2578608"/>
            <a:ext cx="2514600" cy="420624"/>
          </a:xfrm>
          <a:prstGeom prst="rect">
            <a:avLst/>
          </a:prstGeom>
          <a:noFill/>
          <a:ln/>
        </p:spPr>
        <p:txBody>
          <a:bodyPr wrap="square" lIns="0" tIns="0" rIns="0" bIns="0" rtlCol="0" anchor="ctr"/>
          <a:lstStyle/>
          <a:p>
            <a:pPr marL="0" indent="0">
              <a:lnSpc>
                <a:spcPct val="110000"/>
              </a:lnSpc>
              <a:buNone/>
            </a:pPr>
            <a:r>
              <a:rPr lang="en-US" sz="900" dirty="0">
                <a:solidFill>
                  <a:srgbClr val="A4ACBC"/>
                </a:solidFill>
                <a:latin typeface="Arial" pitchFamily="34" charset="0"/>
                <a:ea typeface="Arial" pitchFamily="34" charset="-122"/>
                <a:cs typeface="Arial" pitchFamily="34" charset="-120"/>
              </a:rPr>
              <a:t>Lawrence Livermore National Laboratory</a:t>
            </a:r>
            <a:endParaRPr lang="en-US" sz="900" dirty="0"/>
          </a:p>
        </p:txBody>
      </p:sp>
      <p:sp>
        <p:nvSpPr>
          <p:cNvPr id="14" name="Text 10"/>
          <p:cNvSpPr/>
          <p:nvPr/>
        </p:nvSpPr>
        <p:spPr>
          <a:xfrm>
            <a:off x="4224528" y="3054096"/>
            <a:ext cx="2514600" cy="384048"/>
          </a:xfrm>
          <a:prstGeom prst="rect">
            <a:avLst/>
          </a:prstGeom>
          <a:noFill/>
          <a:ln/>
        </p:spPr>
        <p:txBody>
          <a:bodyPr wrap="square" lIns="0" tIns="0" rIns="0" bIns="0" rtlCol="0" anchor="ctr"/>
          <a:lstStyle/>
          <a:p>
            <a:pPr marL="0" indent="0">
              <a:lnSpc>
                <a:spcPct val="110000"/>
              </a:lnSpc>
              <a:buNone/>
            </a:pPr>
            <a:r>
              <a:rPr lang="en-US" sz="1100" dirty="0">
                <a:solidFill>
                  <a:srgbClr val="151B29"/>
                </a:solidFill>
                <a:latin typeface="Arial" pitchFamily="34" charset="0"/>
                <a:ea typeface="Arial" pitchFamily="34" charset="-122"/>
                <a:cs typeface="Arial" pitchFamily="34" charset="-120"/>
              </a:rPr>
              <a:t>High-purity germanium detector</a:t>
            </a:r>
            <a:endParaRPr lang="en-US" sz="1100" dirty="0"/>
          </a:p>
        </p:txBody>
      </p:sp>
      <p:sp>
        <p:nvSpPr>
          <p:cNvPr id="15" name="Shape 11"/>
          <p:cNvSpPr/>
          <p:nvPr/>
        </p:nvSpPr>
        <p:spPr>
          <a:xfrm>
            <a:off x="7205472" y="2651760"/>
            <a:ext cx="384048" cy="237744"/>
          </a:xfrm>
          <a:prstGeom prst="rightArrow">
            <a:avLst/>
          </a:prstGeom>
          <a:solidFill>
            <a:srgbClr val="E8A33D"/>
          </a:solidFill>
          <a:ln/>
        </p:spPr>
        <p:txBody>
          <a:bodyPr/>
          <a:lstStyle/>
          <a:p>
            <a:endParaRPr lang="en-US"/>
          </a:p>
        </p:txBody>
      </p:sp>
      <p:sp>
        <p:nvSpPr>
          <p:cNvPr id="16" name="Shape 12"/>
          <p:cNvSpPr/>
          <p:nvPr/>
        </p:nvSpPr>
        <p:spPr>
          <a:xfrm>
            <a:off x="7790688" y="1956816"/>
            <a:ext cx="3739896" cy="1627632"/>
          </a:xfrm>
          <a:prstGeom prst="roundRect">
            <a:avLst>
              <a:gd name="adj" fmla="val 5056"/>
            </a:avLst>
          </a:prstGeom>
          <a:solidFill>
            <a:srgbClr val="0E1A38"/>
          </a:solidFill>
          <a:ln/>
        </p:spPr>
        <p:txBody>
          <a:bodyPr/>
          <a:lstStyle/>
          <a:p>
            <a:endParaRPr lang="en-US"/>
          </a:p>
        </p:txBody>
      </p:sp>
      <p:sp>
        <p:nvSpPr>
          <p:cNvPr id="17" name="Text 13"/>
          <p:cNvSpPr/>
          <p:nvPr/>
        </p:nvSpPr>
        <p:spPr>
          <a:xfrm>
            <a:off x="7790688" y="2340864"/>
            <a:ext cx="3739896" cy="347472"/>
          </a:xfrm>
          <a:prstGeom prst="rect">
            <a:avLst/>
          </a:prstGeom>
          <a:noFill/>
          <a:ln/>
        </p:spPr>
        <p:txBody>
          <a:bodyPr wrap="square" lIns="0" tIns="0" rIns="0" bIns="0" rtlCol="0" anchor="ctr"/>
          <a:lstStyle/>
          <a:p>
            <a:pPr marL="0" indent="0" algn="ctr">
              <a:buNone/>
            </a:pPr>
            <a:r>
              <a:rPr lang="en-US" sz="1900" b="1" dirty="0">
                <a:solidFill>
                  <a:srgbClr val="FFFFFF"/>
                </a:solidFill>
                <a:latin typeface="29LT Adir" pitchFamily="34" charset="0"/>
                <a:ea typeface="29LT Adir" pitchFamily="34" charset="-122"/>
                <a:cs typeface="29LT Adir" pitchFamily="34" charset="-120"/>
              </a:rPr>
              <a:t>Heritage-based GRS</a:t>
            </a:r>
            <a:endParaRPr lang="en-US" sz="1900" dirty="0"/>
          </a:p>
        </p:txBody>
      </p:sp>
      <p:sp>
        <p:nvSpPr>
          <p:cNvPr id="18" name="Text 14"/>
          <p:cNvSpPr/>
          <p:nvPr/>
        </p:nvSpPr>
        <p:spPr>
          <a:xfrm>
            <a:off x="7790688" y="2761488"/>
            <a:ext cx="3739896" cy="548640"/>
          </a:xfrm>
          <a:prstGeom prst="rect">
            <a:avLst/>
          </a:prstGeom>
          <a:noFill/>
          <a:ln/>
        </p:spPr>
        <p:txBody>
          <a:bodyPr wrap="square" lIns="0" tIns="0" rIns="0" bIns="0" rtlCol="0" anchor="ctr"/>
          <a:lstStyle/>
          <a:p>
            <a:pPr marL="0" indent="0" algn="ctr">
              <a:lnSpc>
                <a:spcPct val="116000"/>
              </a:lnSpc>
              <a:buNone/>
            </a:pPr>
            <a:r>
              <a:rPr lang="en-US" sz="1100" dirty="0">
                <a:solidFill>
                  <a:srgbClr val="9CBBE6"/>
                </a:solidFill>
                <a:latin typeface="Arial" pitchFamily="34" charset="0"/>
                <a:ea typeface="Arial" pitchFamily="34" charset="-122"/>
                <a:cs typeface="Arial" pitchFamily="34" charset="-120"/>
              </a:rPr>
              <a:t>A flight spare, engineering model,</a:t>
            </a:r>
            <a:endParaRPr lang="en-US" sz="1100" dirty="0"/>
          </a:p>
          <a:p>
            <a:pPr marL="0" indent="0" algn="ctr">
              <a:lnSpc>
                <a:spcPct val="116000"/>
              </a:lnSpc>
              <a:buNone/>
            </a:pPr>
            <a:r>
              <a:rPr lang="en-US" sz="1100" dirty="0">
                <a:solidFill>
                  <a:srgbClr val="9CBBE6"/>
                </a:solidFill>
                <a:latin typeface="Arial" pitchFamily="34" charset="0"/>
                <a:ea typeface="Arial" pitchFamily="34" charset="-122"/>
                <a:cs typeface="Arial" pitchFamily="34" charset="-120"/>
              </a:rPr>
              <a:t>or repeat of the Psyche design</a:t>
            </a:r>
            <a:endParaRPr lang="en-US" sz="1100" dirty="0"/>
          </a:p>
        </p:txBody>
      </p:sp>
      <p:sp>
        <p:nvSpPr>
          <p:cNvPr id="19" name="Shape 15"/>
          <p:cNvSpPr/>
          <p:nvPr/>
        </p:nvSpPr>
        <p:spPr>
          <a:xfrm>
            <a:off x="658368" y="3803904"/>
            <a:ext cx="10874959" cy="658368"/>
          </a:xfrm>
          <a:prstGeom prst="roundRect">
            <a:avLst>
              <a:gd name="adj" fmla="val 9722"/>
            </a:avLst>
          </a:prstGeom>
          <a:solidFill>
            <a:srgbClr val="FFF8EC"/>
          </a:solidFill>
          <a:ln w="9525">
            <a:solidFill>
              <a:srgbClr val="F0DCB8"/>
            </a:solidFill>
            <a:prstDash val="solid"/>
          </a:ln>
        </p:spPr>
        <p:txBody>
          <a:bodyPr/>
          <a:lstStyle/>
          <a:p>
            <a:endParaRPr lang="en-US"/>
          </a:p>
        </p:txBody>
      </p:sp>
      <p:sp>
        <p:nvSpPr>
          <p:cNvPr id="20" name="Text 16"/>
          <p:cNvSpPr/>
          <p:nvPr/>
        </p:nvSpPr>
        <p:spPr>
          <a:xfrm>
            <a:off x="969264" y="3803904"/>
            <a:ext cx="10253167" cy="658368"/>
          </a:xfrm>
          <a:prstGeom prst="rect">
            <a:avLst/>
          </a:prstGeom>
          <a:noFill/>
          <a:ln/>
        </p:spPr>
        <p:txBody>
          <a:bodyPr wrap="square" lIns="0" tIns="0" rIns="0" bIns="0" rtlCol="0" anchor="ctr"/>
          <a:lstStyle/>
          <a:p>
            <a:pPr marL="0" indent="0">
              <a:buNone/>
            </a:pPr>
            <a:r>
              <a:rPr lang="en-US" sz="1100" b="1" dirty="0">
                <a:solidFill>
                  <a:srgbClr val="8A6316"/>
                </a:solidFill>
                <a:latin typeface="Arial" pitchFamily="34" charset="0"/>
                <a:ea typeface="Arial" pitchFamily="34" charset="-122"/>
                <a:cs typeface="Arial" pitchFamily="34" charset="-120"/>
              </a:rPr>
              <a:t>Precedent:  </a:t>
            </a:r>
            <a:r>
              <a:rPr lang="en-US" sz="1100" b="1" dirty="0">
                <a:solidFill>
                  <a:srgbClr val="13234C"/>
                </a:solidFill>
                <a:latin typeface="Arial" pitchFamily="34" charset="0"/>
                <a:ea typeface="Arial" pitchFamily="34" charset="-122"/>
                <a:cs typeface="Arial" pitchFamily="34" charset="-120"/>
              </a:rPr>
              <a:t>MEGANE  ·  MESSENGER  ·  Psyche</a:t>
            </a:r>
            <a:r>
              <a:rPr lang="en-US" sz="1100" dirty="0">
                <a:solidFill>
                  <a:srgbClr val="151B29"/>
                </a:solidFill>
                <a:latin typeface="Arial" pitchFamily="34" charset="0"/>
                <a:ea typeface="Arial" pitchFamily="34" charset="-122"/>
                <a:cs typeface="Arial" pitchFamily="34" charset="-120"/>
              </a:rPr>
              <a:t>   one agency contributing a gamma-ray spectrometer to another agency's small-body mission.</a:t>
            </a:r>
            <a:endParaRPr lang="en-US" sz="1100" dirty="0"/>
          </a:p>
        </p:txBody>
      </p:sp>
      <p:sp>
        <p:nvSpPr>
          <p:cNvPr id="21" name="Text 17"/>
          <p:cNvSpPr/>
          <p:nvPr/>
        </p:nvSpPr>
        <p:spPr>
          <a:xfrm>
            <a:off x="658368" y="4663440"/>
            <a:ext cx="3657600" cy="237744"/>
          </a:xfrm>
          <a:prstGeom prst="rect">
            <a:avLst/>
          </a:prstGeom>
          <a:noFill/>
          <a:ln/>
        </p:spPr>
        <p:txBody>
          <a:bodyPr wrap="square" lIns="0" tIns="0" rIns="0" bIns="0" rtlCol="0" anchor="ctr"/>
          <a:lstStyle/>
          <a:p>
            <a:pPr marL="0" indent="0">
              <a:buNone/>
            </a:pPr>
            <a:r>
              <a:rPr lang="en-US" sz="950" b="1" kern="0" spc="240" dirty="0">
                <a:solidFill>
                  <a:srgbClr val="E8A33D"/>
                </a:solidFill>
                <a:latin typeface="Arial" pitchFamily="34" charset="0"/>
                <a:ea typeface="Arial" pitchFamily="34" charset="-122"/>
                <a:cs typeface="Arial" pitchFamily="34" charset="-120"/>
              </a:rPr>
              <a:t>WHAT’S NEXT?</a:t>
            </a:r>
            <a:endParaRPr lang="en-US" sz="950" dirty="0"/>
          </a:p>
        </p:txBody>
      </p:sp>
      <p:sp>
        <p:nvSpPr>
          <p:cNvPr id="22" name="Shape 18"/>
          <p:cNvSpPr/>
          <p:nvPr/>
        </p:nvSpPr>
        <p:spPr>
          <a:xfrm>
            <a:off x="658368" y="4974336"/>
            <a:ext cx="3466490" cy="1060704"/>
          </a:xfrm>
          <a:prstGeom prst="roundRect">
            <a:avLst>
              <a:gd name="adj" fmla="val 775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23" name="Shape 19"/>
          <p:cNvSpPr/>
          <p:nvPr/>
        </p:nvSpPr>
        <p:spPr>
          <a:xfrm>
            <a:off x="896112" y="5175504"/>
            <a:ext cx="310896" cy="310896"/>
          </a:xfrm>
          <a:prstGeom prst="ellipse">
            <a:avLst/>
          </a:prstGeom>
          <a:solidFill>
            <a:srgbClr val="13234C"/>
          </a:solidFill>
          <a:ln/>
        </p:spPr>
        <p:txBody>
          <a:bodyPr/>
          <a:lstStyle/>
          <a:p>
            <a:endParaRPr lang="en-US"/>
          </a:p>
        </p:txBody>
      </p:sp>
      <p:sp>
        <p:nvSpPr>
          <p:cNvPr id="24" name="Text 20"/>
          <p:cNvSpPr/>
          <p:nvPr/>
        </p:nvSpPr>
        <p:spPr>
          <a:xfrm>
            <a:off x="896112" y="517550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25" name="Text 21"/>
          <p:cNvSpPr/>
          <p:nvPr/>
        </p:nvSpPr>
        <p:spPr>
          <a:xfrm>
            <a:off x="1298448" y="5138928"/>
            <a:ext cx="2588666" cy="402336"/>
          </a:xfrm>
          <a:prstGeom prst="rect">
            <a:avLst/>
          </a:prstGeom>
          <a:noFill/>
          <a:ln/>
        </p:spPr>
        <p:txBody>
          <a:bodyPr wrap="square" lIns="0" tIns="0" rIns="0" bIns="0" rtlCol="0" anchor="ctr"/>
          <a:lstStyle/>
          <a:p>
            <a:pPr marL="0" indent="0">
              <a:lnSpc>
                <a:spcPct val="95000"/>
              </a:lnSpc>
              <a:buNone/>
            </a:pPr>
            <a:r>
              <a:rPr lang="en-US" sz="1300" b="1" dirty="0">
                <a:solidFill>
                  <a:srgbClr val="13234C"/>
                </a:solidFill>
                <a:latin typeface="29LT Adir" pitchFamily="34" charset="0"/>
                <a:ea typeface="29LT Adir" pitchFamily="34" charset="-122"/>
                <a:cs typeface="29LT Adir" pitchFamily="34" charset="-120"/>
              </a:rPr>
              <a:t>Leadership approval</a:t>
            </a:r>
            <a:endParaRPr lang="en-US" sz="1300" dirty="0"/>
          </a:p>
        </p:txBody>
      </p:sp>
      <p:sp>
        <p:nvSpPr>
          <p:cNvPr id="26" name="Text 22"/>
          <p:cNvSpPr/>
          <p:nvPr/>
        </p:nvSpPr>
        <p:spPr>
          <a:xfrm>
            <a:off x="896112" y="5614416"/>
            <a:ext cx="2991002" cy="365760"/>
          </a:xfrm>
          <a:prstGeom prst="rect">
            <a:avLst/>
          </a:prstGeom>
          <a:noFill/>
          <a:ln/>
        </p:spPr>
        <p:txBody>
          <a:bodyPr wrap="square" lIns="0" tIns="0" rIns="0" bIns="0" rtlCol="0" anchor="t"/>
          <a:lstStyle/>
          <a:p>
            <a:pPr marL="0" indent="0">
              <a:lnSpc>
                <a:spcPct val="110000"/>
              </a:lnSpc>
              <a:buNone/>
            </a:pPr>
            <a:r>
              <a:rPr lang="en-US" sz="950" dirty="0">
                <a:solidFill>
                  <a:srgbClr val="6B7488"/>
                </a:solidFill>
                <a:latin typeface="Arial" pitchFamily="34" charset="0"/>
                <a:ea typeface="Arial" pitchFamily="34" charset="-122"/>
                <a:cs typeface="Arial" pitchFamily="34" charset="-120"/>
              </a:rPr>
              <a:t>Authorise engagement on a payload contribution.</a:t>
            </a:r>
            <a:endParaRPr lang="en-US" sz="950" dirty="0"/>
          </a:p>
        </p:txBody>
      </p:sp>
      <p:sp>
        <p:nvSpPr>
          <p:cNvPr id="27" name="Shape 23"/>
          <p:cNvSpPr/>
          <p:nvPr/>
        </p:nvSpPr>
        <p:spPr>
          <a:xfrm>
            <a:off x="4362602" y="4974336"/>
            <a:ext cx="3466490" cy="1060704"/>
          </a:xfrm>
          <a:prstGeom prst="roundRect">
            <a:avLst>
              <a:gd name="adj" fmla="val 775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28" name="Shape 24"/>
          <p:cNvSpPr/>
          <p:nvPr/>
        </p:nvSpPr>
        <p:spPr>
          <a:xfrm>
            <a:off x="4600346" y="5175504"/>
            <a:ext cx="310896" cy="310896"/>
          </a:xfrm>
          <a:prstGeom prst="ellipse">
            <a:avLst/>
          </a:prstGeom>
          <a:solidFill>
            <a:srgbClr val="13234C"/>
          </a:solidFill>
          <a:ln/>
        </p:spPr>
        <p:txBody>
          <a:bodyPr/>
          <a:lstStyle/>
          <a:p>
            <a:endParaRPr lang="en-US"/>
          </a:p>
        </p:txBody>
      </p:sp>
      <p:sp>
        <p:nvSpPr>
          <p:cNvPr id="29" name="Text 25"/>
          <p:cNvSpPr/>
          <p:nvPr/>
        </p:nvSpPr>
        <p:spPr>
          <a:xfrm>
            <a:off x="4600346" y="517550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30" name="Text 26"/>
          <p:cNvSpPr/>
          <p:nvPr/>
        </p:nvSpPr>
        <p:spPr>
          <a:xfrm>
            <a:off x="5002682" y="5138928"/>
            <a:ext cx="2588666" cy="402336"/>
          </a:xfrm>
          <a:prstGeom prst="rect">
            <a:avLst/>
          </a:prstGeom>
          <a:noFill/>
          <a:ln/>
        </p:spPr>
        <p:txBody>
          <a:bodyPr wrap="square" lIns="0" tIns="0" rIns="0" bIns="0" rtlCol="0" anchor="ctr"/>
          <a:lstStyle/>
          <a:p>
            <a:pPr marL="0" indent="0">
              <a:lnSpc>
                <a:spcPct val="95000"/>
              </a:lnSpc>
              <a:buNone/>
            </a:pPr>
            <a:r>
              <a:rPr lang="en-US" sz="1300" b="1" dirty="0">
                <a:solidFill>
                  <a:srgbClr val="13234C"/>
                </a:solidFill>
                <a:latin typeface="29LT Adir" pitchFamily="34" charset="0"/>
                <a:ea typeface="29LT Adir" pitchFamily="34" charset="-122"/>
                <a:cs typeface="29LT Adir" pitchFamily="34" charset="-120"/>
              </a:rPr>
              <a:t>ESA / JAXA accommodation discussion</a:t>
            </a:r>
            <a:endParaRPr lang="en-US" sz="1300" dirty="0"/>
          </a:p>
        </p:txBody>
      </p:sp>
      <p:sp>
        <p:nvSpPr>
          <p:cNvPr id="31" name="Text 27"/>
          <p:cNvSpPr/>
          <p:nvPr/>
        </p:nvSpPr>
        <p:spPr>
          <a:xfrm>
            <a:off x="4600346" y="5614416"/>
            <a:ext cx="2991002" cy="365760"/>
          </a:xfrm>
          <a:prstGeom prst="rect">
            <a:avLst/>
          </a:prstGeom>
          <a:noFill/>
          <a:ln/>
        </p:spPr>
        <p:txBody>
          <a:bodyPr wrap="square" lIns="0" tIns="0" rIns="0" bIns="0" rtlCol="0" anchor="t"/>
          <a:lstStyle/>
          <a:p>
            <a:pPr marL="0" indent="0">
              <a:lnSpc>
                <a:spcPct val="110000"/>
              </a:lnSpc>
              <a:buNone/>
            </a:pPr>
            <a:r>
              <a:rPr lang="en-US" sz="950" dirty="0">
                <a:solidFill>
                  <a:srgbClr val="6B7488"/>
                </a:solidFill>
                <a:latin typeface="Arial" pitchFamily="34" charset="0"/>
                <a:ea typeface="Arial" pitchFamily="34" charset="-122"/>
                <a:cs typeface="Arial" pitchFamily="34" charset="-120"/>
              </a:rPr>
              <a:t>Confirm the route and the mission-of-opportunity mechanism.</a:t>
            </a:r>
            <a:endParaRPr lang="en-US" sz="950" dirty="0"/>
          </a:p>
        </p:txBody>
      </p:sp>
      <p:sp>
        <p:nvSpPr>
          <p:cNvPr id="32" name="Shape 28"/>
          <p:cNvSpPr/>
          <p:nvPr/>
        </p:nvSpPr>
        <p:spPr>
          <a:xfrm>
            <a:off x="8066837" y="4974336"/>
            <a:ext cx="3466490" cy="1060704"/>
          </a:xfrm>
          <a:prstGeom prst="roundRect">
            <a:avLst>
              <a:gd name="adj" fmla="val 775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33" name="Shape 29"/>
          <p:cNvSpPr/>
          <p:nvPr/>
        </p:nvSpPr>
        <p:spPr>
          <a:xfrm>
            <a:off x="8304581" y="5175504"/>
            <a:ext cx="310896" cy="310896"/>
          </a:xfrm>
          <a:prstGeom prst="ellipse">
            <a:avLst/>
          </a:prstGeom>
          <a:solidFill>
            <a:srgbClr val="13234C"/>
          </a:solidFill>
          <a:ln/>
        </p:spPr>
        <p:txBody>
          <a:bodyPr/>
          <a:lstStyle/>
          <a:p>
            <a:endParaRPr lang="en-US"/>
          </a:p>
        </p:txBody>
      </p:sp>
      <p:sp>
        <p:nvSpPr>
          <p:cNvPr id="34" name="Text 30"/>
          <p:cNvSpPr/>
          <p:nvPr/>
        </p:nvSpPr>
        <p:spPr>
          <a:xfrm>
            <a:off x="8304581" y="5175504"/>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35" name="Text 31"/>
          <p:cNvSpPr/>
          <p:nvPr/>
        </p:nvSpPr>
        <p:spPr>
          <a:xfrm>
            <a:off x="8706917" y="5138928"/>
            <a:ext cx="2588666" cy="402336"/>
          </a:xfrm>
          <a:prstGeom prst="rect">
            <a:avLst/>
          </a:prstGeom>
          <a:noFill/>
          <a:ln/>
        </p:spPr>
        <p:txBody>
          <a:bodyPr wrap="square" lIns="0" tIns="0" rIns="0" bIns="0" rtlCol="0" anchor="ctr"/>
          <a:lstStyle/>
          <a:p>
            <a:pPr marL="0" indent="0">
              <a:lnSpc>
                <a:spcPct val="95000"/>
              </a:lnSpc>
              <a:buNone/>
            </a:pPr>
            <a:r>
              <a:rPr lang="en-US" sz="1300" b="1" dirty="0">
                <a:solidFill>
                  <a:srgbClr val="13234C"/>
                </a:solidFill>
                <a:latin typeface="29LT Adir" pitchFamily="34" charset="0"/>
                <a:ea typeface="29LT Adir" pitchFamily="34" charset="-122"/>
                <a:cs typeface="29LT Adir" pitchFamily="34" charset="-120"/>
              </a:rPr>
              <a:t>APL / LLNL technical engagement</a:t>
            </a:r>
            <a:endParaRPr lang="en-US" sz="1300" dirty="0"/>
          </a:p>
        </p:txBody>
      </p:sp>
      <p:sp>
        <p:nvSpPr>
          <p:cNvPr id="36" name="Text 32"/>
          <p:cNvSpPr/>
          <p:nvPr/>
        </p:nvSpPr>
        <p:spPr>
          <a:xfrm>
            <a:off x="8304581" y="5614416"/>
            <a:ext cx="2991002" cy="365760"/>
          </a:xfrm>
          <a:prstGeom prst="rect">
            <a:avLst/>
          </a:prstGeom>
          <a:noFill/>
          <a:ln/>
        </p:spPr>
        <p:txBody>
          <a:bodyPr wrap="square" lIns="0" tIns="0" rIns="0" bIns="0" rtlCol="0" anchor="t"/>
          <a:lstStyle/>
          <a:p>
            <a:pPr marL="0" indent="0">
              <a:lnSpc>
                <a:spcPct val="110000"/>
              </a:lnSpc>
              <a:buNone/>
            </a:pPr>
            <a:r>
              <a:rPr lang="en-US" sz="950" dirty="0">
                <a:solidFill>
                  <a:srgbClr val="6B7488"/>
                </a:solidFill>
                <a:latin typeface="Arial" pitchFamily="34" charset="0"/>
                <a:ea typeface="Arial" pitchFamily="34" charset="-122"/>
                <a:cs typeface="Arial" pitchFamily="34" charset="-120"/>
              </a:rPr>
              <a:t>Open the first technical exchange.</a:t>
            </a:r>
            <a:endParaRPr lang="en-US" sz="950" dirty="0"/>
          </a:p>
        </p:txBody>
      </p:sp>
      <p:sp>
        <p:nvSpPr>
          <p:cNvPr id="37" name="Text 33"/>
          <p:cNvSpPr/>
          <p:nvPr/>
        </p:nvSpPr>
        <p:spPr>
          <a:xfrm>
            <a:off x="4846320" y="6272784"/>
            <a:ext cx="6035040" cy="256032"/>
          </a:xfrm>
          <a:prstGeom prst="rect">
            <a:avLst/>
          </a:prstGeom>
          <a:noFill/>
          <a:ln/>
        </p:spPr>
        <p:txBody>
          <a:bodyPr wrap="square" lIns="0" tIns="0" rIns="0" bIns="0" rtlCol="0" anchor="ctr"/>
          <a:lstStyle/>
          <a:p>
            <a:pPr marL="0" indent="0" algn="r">
              <a:buNone/>
            </a:pPr>
            <a:r>
              <a:rPr lang="en-US" sz="900" i="1" dirty="0">
                <a:solidFill>
                  <a:srgbClr val="A4ACBC"/>
                </a:solidFill>
                <a:latin typeface="Arial" pitchFamily="34" charset="0"/>
                <a:ea typeface="Arial" pitchFamily="34" charset="-122"/>
                <a:cs typeface="Arial" pitchFamily="34" charset="-120"/>
              </a:rPr>
              <a:t>Accommodation detail, open technical items and export-control considerations in appendix.</a:t>
            </a:r>
            <a:endParaRPr lang="en-US" sz="900" dirty="0"/>
          </a:p>
        </p:txBody>
      </p:sp>
      <p:sp>
        <p:nvSpPr>
          <p:cNvPr id="38" name="Text 34"/>
          <p:cNvSpPr/>
          <p:nvPr/>
        </p:nvSpPr>
        <p:spPr>
          <a:xfrm>
            <a:off x="10881360" y="6272784"/>
            <a:ext cx="694944" cy="274320"/>
          </a:xfrm>
          <a:prstGeom prst="rect">
            <a:avLst/>
          </a:prstGeom>
          <a:noFill/>
          <a:ln/>
        </p:spPr>
        <p:txBody>
          <a:bodyPr wrap="square" lIns="0" tIns="0" rIns="0" bIns="0" rtlCol="0" anchor="ctr"/>
          <a:lstStyle/>
          <a:p>
            <a:pPr marL="0" indent="0" algn="r">
              <a:buNone/>
            </a:pPr>
            <a:r>
              <a:rPr lang="en-US" sz="1000" dirty="0">
                <a:solidFill>
                  <a:srgbClr val="AAB2C2"/>
                </a:solidFill>
                <a:latin typeface="Arial" pitchFamily="34" charset="0"/>
                <a:ea typeface="Arial" pitchFamily="34" charset="-122"/>
                <a:cs typeface="Arial" pitchFamily="34" charset="-120"/>
              </a:rPr>
              <a:t>12</a:t>
            </a:r>
            <a:endParaRPr lang="en-US" sz="1000" dirty="0"/>
          </a:p>
        </p:txBody>
      </p:sp>
      <p:pic>
        <p:nvPicPr>
          <p:cNvPr id="41" name="Image 1" descr="/home/claude/work/a2/logo_dark.png">
            <a:extLst>
              <a:ext uri="{FF2B5EF4-FFF2-40B4-BE49-F238E27FC236}">
                <a16:creationId xmlns:a16="http://schemas.microsoft.com/office/drawing/2014/main" id="{1FFE8CD3-CE09-3D14-0068-2830CE8DAD8F}"/>
              </a:ext>
            </a:extLst>
          </p:cNvPr>
          <p:cNvPicPr>
            <a:picLocks noChangeAspect="1"/>
          </p:cNvPicPr>
          <p:nvPr/>
        </p:nvPicPr>
        <p:blipFill>
          <a:blip r:embed="rId5"/>
          <a:stretch>
            <a:fillRect/>
          </a:stretch>
        </p:blipFill>
        <p:spPr>
          <a:xfrm>
            <a:off x="10616340" y="122984"/>
            <a:ext cx="1450538" cy="814736"/>
          </a:xfrm>
          <a:prstGeom prst="rect">
            <a:avLst/>
          </a:prstGeom>
        </p:spPr>
      </p:pic>
      <p:sp>
        <p:nvSpPr>
          <p:cNvPr id="44" name="BJPseudoFooter">
            <a:extLst>
              <a:ext uri="{FF2B5EF4-FFF2-40B4-BE49-F238E27FC236}">
                <a16:creationId xmlns:a16="http://schemas.microsoft.com/office/drawing/2014/main" id="{EB6624D9-41AF-A4E4-8EF4-579F280EA95B}"/>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B16"/>
        </a:solidFill>
        <a:effectLst/>
      </p:bgPr>
    </p:bg>
    <p:spTree>
      <p:nvGrpSpPr>
        <p:cNvPr id="1" name=""/>
        <p:cNvGrpSpPr/>
        <p:nvPr/>
      </p:nvGrpSpPr>
      <p:grpSpPr>
        <a:xfrm>
          <a:off x="0" y="0"/>
          <a:ext cx="0" cy="0"/>
          <a:chOff x="0" y="0"/>
          <a:chExt cx="0" cy="0"/>
        </a:xfrm>
      </p:grpSpPr>
      <p:pic>
        <p:nvPicPr>
          <p:cNvPr id="2" name="Image 0" descr="/home/claude/work/a2/glow_deep.jpg"/>
          <p:cNvPicPr>
            <a:picLocks noChangeAspect="1"/>
          </p:cNvPicPr>
          <p:nvPr/>
        </p:nvPicPr>
        <p:blipFill>
          <a:blip r:embed="rId4"/>
          <a:stretch>
            <a:fillRect/>
          </a:stretch>
        </p:blipFill>
        <p:spPr>
          <a:xfrm>
            <a:off x="0" y="0"/>
            <a:ext cx="12191695" cy="6858000"/>
          </a:xfrm>
          <a:prstGeom prst="rect">
            <a:avLst/>
          </a:prstGeom>
        </p:spPr>
      </p:pic>
      <p:pic>
        <p:nvPicPr>
          <p:cNvPr id="3" name="Image 1" descr="/home/claude/work/a2/earth_left.png"/>
          <p:cNvPicPr>
            <a:picLocks noChangeAspect="1"/>
          </p:cNvPicPr>
          <p:nvPr/>
        </p:nvPicPr>
        <p:blipFill>
          <a:blip r:embed="rId5"/>
          <a:stretch>
            <a:fillRect/>
          </a:stretch>
        </p:blipFill>
        <p:spPr>
          <a:xfrm>
            <a:off x="6912864" y="68997"/>
            <a:ext cx="5242255" cy="4544568"/>
          </a:xfrm>
          <a:prstGeom prst="rect">
            <a:avLst/>
          </a:prstGeom>
        </p:spPr>
      </p:pic>
      <p:pic>
        <p:nvPicPr>
          <p:cNvPr id="4" name="Image 2" descr="/home/claude/work/a2/logo_white.png"/>
          <p:cNvPicPr>
            <a:picLocks noChangeAspect="1"/>
          </p:cNvPicPr>
          <p:nvPr/>
        </p:nvPicPr>
        <p:blipFill>
          <a:blip r:embed="rId6"/>
          <a:stretch>
            <a:fillRect/>
          </a:stretch>
        </p:blipFill>
        <p:spPr>
          <a:xfrm>
            <a:off x="10788577" y="329184"/>
            <a:ext cx="1133856" cy="478231"/>
          </a:xfrm>
          <a:prstGeom prst="rect">
            <a:avLst/>
          </a:prstGeom>
        </p:spPr>
      </p:pic>
      <p:sp>
        <p:nvSpPr>
          <p:cNvPr id="5" name="Text 0"/>
          <p:cNvSpPr/>
          <p:nvPr/>
        </p:nvSpPr>
        <p:spPr>
          <a:xfrm>
            <a:off x="658368" y="6272784"/>
            <a:ext cx="8595360" cy="274320"/>
          </a:xfrm>
          <a:prstGeom prst="rect">
            <a:avLst/>
          </a:prstGeom>
          <a:noFill/>
          <a:ln/>
        </p:spPr>
        <p:txBody>
          <a:bodyPr wrap="square" lIns="0" tIns="0" rIns="0" bIns="0" rtlCol="0" anchor="ctr"/>
          <a:lstStyle/>
          <a:p>
            <a:pPr marL="0" indent="0" algn="l">
              <a:buNone/>
            </a:pPr>
            <a:r>
              <a:rPr lang="en-US" sz="800" kern="0" spc="150" dirty="0">
                <a:solidFill>
                  <a:srgbClr val="54607C"/>
                </a:solidFill>
                <a:latin typeface="Arial" pitchFamily="34" charset="0"/>
                <a:ea typeface="Arial" pitchFamily="34" charset="-122"/>
                <a:cs typeface="Arial" pitchFamily="34" charset="-120"/>
              </a:rPr>
              <a:t>BASELINE</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OPPORTUNITIES</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SELECTION</a:t>
            </a:r>
            <a:r>
              <a:rPr lang="en-US" sz="800" dirty="0">
                <a:solidFill>
                  <a:srgbClr val="000000"/>
                </a:solidFill>
                <a:latin typeface="Arial" pitchFamily="34" charset="0"/>
                <a:ea typeface="Arial" pitchFamily="34" charset="-122"/>
                <a:cs typeface="Arial" pitchFamily="34" charset="-120"/>
              </a:rPr>
              <a:t>     </a:t>
            </a:r>
            <a:r>
              <a:rPr lang="en-US" sz="800" kern="0" spc="150" dirty="0">
                <a:solidFill>
                  <a:srgbClr val="54607C"/>
                </a:solidFill>
                <a:latin typeface="Arial" pitchFamily="34" charset="0"/>
                <a:ea typeface="Arial" pitchFamily="34" charset="-122"/>
                <a:cs typeface="Arial" pitchFamily="34" charset="-120"/>
              </a:rPr>
              <a:t>RECOMMENDATION</a:t>
            </a:r>
            <a:r>
              <a:rPr lang="en-US" sz="800" dirty="0">
                <a:solidFill>
                  <a:srgbClr val="000000"/>
                </a:solidFill>
                <a:latin typeface="Arial" pitchFamily="34" charset="0"/>
                <a:ea typeface="Arial" pitchFamily="34" charset="-122"/>
                <a:cs typeface="Arial" pitchFamily="34" charset="-120"/>
              </a:rPr>
              <a:t>     </a:t>
            </a:r>
            <a:r>
              <a:rPr lang="en-US" sz="800" b="1" kern="0" spc="150" dirty="0">
                <a:solidFill>
                  <a:srgbClr val="E8A33D"/>
                </a:solidFill>
                <a:latin typeface="Arial" pitchFamily="34" charset="0"/>
                <a:ea typeface="Arial" pitchFamily="34" charset="-122"/>
                <a:cs typeface="Arial" pitchFamily="34" charset="-120"/>
              </a:rPr>
              <a:t>VALUE</a:t>
            </a:r>
            <a:endParaRPr lang="en-US" sz="800" dirty="0"/>
          </a:p>
        </p:txBody>
      </p:sp>
      <p:sp>
        <p:nvSpPr>
          <p:cNvPr id="6" name="Text 1"/>
          <p:cNvSpPr/>
          <p:nvPr/>
        </p:nvSpPr>
        <p:spPr>
          <a:xfrm>
            <a:off x="658368" y="1298448"/>
            <a:ext cx="6766560" cy="914400"/>
          </a:xfrm>
          <a:prstGeom prst="rect">
            <a:avLst/>
          </a:prstGeom>
          <a:noFill/>
          <a:ln/>
        </p:spPr>
        <p:txBody>
          <a:bodyPr wrap="square" lIns="0" tIns="0" rIns="0" bIns="0" rtlCol="0" anchor="ctr"/>
          <a:lstStyle/>
          <a:p>
            <a:pPr marL="0" indent="0">
              <a:lnSpc>
                <a:spcPct val="95000"/>
              </a:lnSpc>
              <a:buNone/>
            </a:pPr>
            <a:r>
              <a:rPr lang="en-US" sz="3600" b="1" dirty="0">
                <a:solidFill>
                  <a:srgbClr val="FFFFFF"/>
                </a:solidFill>
                <a:latin typeface="29LT Adir" pitchFamily="34" charset="0"/>
                <a:ea typeface="29LT Adir" pitchFamily="34" charset="-122"/>
                <a:cs typeface="29LT Adir" pitchFamily="34" charset="-120"/>
              </a:rPr>
              <a:t>Why This Matters to SSA</a:t>
            </a:r>
            <a:endParaRPr lang="en-US" sz="3600" dirty="0"/>
          </a:p>
        </p:txBody>
      </p:sp>
      <p:sp>
        <p:nvSpPr>
          <p:cNvPr id="7" name="Shape 2"/>
          <p:cNvSpPr/>
          <p:nvPr/>
        </p:nvSpPr>
        <p:spPr>
          <a:xfrm>
            <a:off x="658368" y="2395728"/>
            <a:ext cx="1737360" cy="9144"/>
          </a:xfrm>
          <a:prstGeom prst="rect">
            <a:avLst/>
          </a:prstGeom>
          <a:solidFill>
            <a:srgbClr val="4A5878"/>
          </a:solidFill>
          <a:ln/>
        </p:spPr>
        <p:txBody>
          <a:bodyPr/>
          <a:lstStyle/>
          <a:p>
            <a:endParaRPr lang="en-US"/>
          </a:p>
        </p:txBody>
      </p:sp>
      <p:sp>
        <p:nvSpPr>
          <p:cNvPr id="8" name="Text 3"/>
          <p:cNvSpPr/>
          <p:nvPr/>
        </p:nvSpPr>
        <p:spPr>
          <a:xfrm>
            <a:off x="658368" y="2688336"/>
            <a:ext cx="502920" cy="256032"/>
          </a:xfrm>
          <a:prstGeom prst="rect">
            <a:avLst/>
          </a:prstGeom>
          <a:noFill/>
          <a:ln/>
        </p:spPr>
        <p:txBody>
          <a:bodyPr wrap="square" lIns="0" tIns="0" rIns="0" bIns="0" rtlCol="0" anchor="ctr"/>
          <a:lstStyle/>
          <a:p>
            <a:pPr marL="0" indent="0">
              <a:buNone/>
            </a:pPr>
            <a:r>
              <a:rPr lang="en-US" sz="1150" b="1" kern="0" spc="120" dirty="0">
                <a:solidFill>
                  <a:srgbClr val="00B0F0"/>
                </a:solidFill>
                <a:latin typeface="Arial" pitchFamily="34" charset="0"/>
                <a:ea typeface="Arial" pitchFamily="34" charset="-122"/>
                <a:cs typeface="Arial" pitchFamily="34" charset="-120"/>
              </a:rPr>
              <a:t>01</a:t>
            </a:r>
            <a:endParaRPr lang="en-US" sz="1150" dirty="0">
              <a:solidFill>
                <a:srgbClr val="00B0F0"/>
              </a:solidFill>
            </a:endParaRPr>
          </a:p>
        </p:txBody>
      </p:sp>
      <p:sp>
        <p:nvSpPr>
          <p:cNvPr id="9" name="Text 4"/>
          <p:cNvSpPr/>
          <p:nvPr/>
        </p:nvSpPr>
        <p:spPr>
          <a:xfrm>
            <a:off x="1207008" y="2651760"/>
            <a:ext cx="5120640" cy="292608"/>
          </a:xfrm>
          <a:prstGeom prst="rect">
            <a:avLst/>
          </a:prstGeom>
          <a:noFill/>
          <a:ln/>
        </p:spPr>
        <p:txBody>
          <a:bodyPr wrap="square" lIns="0" tIns="0" rIns="0" bIns="0" rtlCol="0" anchor="ctr"/>
          <a:lstStyle/>
          <a:p>
            <a:pPr marL="0" indent="0">
              <a:buNone/>
            </a:pPr>
            <a:r>
              <a:rPr lang="en-US" sz="1700" b="1" dirty="0">
                <a:solidFill>
                  <a:srgbClr val="FFFFFF"/>
                </a:solidFill>
                <a:latin typeface="29LT Adir" pitchFamily="34" charset="0"/>
                <a:ea typeface="29LT Adir" pitchFamily="34" charset="-122"/>
                <a:cs typeface="29LT Adir" pitchFamily="34" charset="-120"/>
              </a:rPr>
              <a:t>Scientific</a:t>
            </a:r>
            <a:endParaRPr lang="en-US" sz="1700" dirty="0"/>
          </a:p>
        </p:txBody>
      </p:sp>
      <p:sp>
        <p:nvSpPr>
          <p:cNvPr id="10" name="Text 5"/>
          <p:cNvSpPr/>
          <p:nvPr/>
        </p:nvSpPr>
        <p:spPr>
          <a:xfrm>
            <a:off x="1207008" y="2980944"/>
            <a:ext cx="5394960" cy="329184"/>
          </a:xfrm>
          <a:prstGeom prst="rect">
            <a:avLst/>
          </a:prstGeom>
          <a:noFill/>
          <a:ln/>
        </p:spPr>
        <p:txBody>
          <a:bodyPr wrap="square" lIns="0" tIns="0" rIns="0" bIns="0" rtlCol="0" anchor="ctr"/>
          <a:lstStyle/>
          <a:p>
            <a:pPr marL="0" indent="0">
              <a:buNone/>
            </a:pPr>
            <a:r>
              <a:rPr lang="en-US" sz="1100" dirty="0">
                <a:solidFill>
                  <a:srgbClr val="9BA7C0"/>
                </a:solidFill>
                <a:latin typeface="Arial" pitchFamily="34" charset="0"/>
                <a:ea typeface="Arial" pitchFamily="34" charset="-122"/>
                <a:cs typeface="Arial" pitchFamily="34" charset="-120"/>
              </a:rPr>
              <a:t>Adds a dataset RAMSES cannot generate independently.</a:t>
            </a:r>
            <a:endParaRPr lang="en-US" sz="1100" dirty="0"/>
          </a:p>
        </p:txBody>
      </p:sp>
      <p:sp>
        <p:nvSpPr>
          <p:cNvPr id="11" name="Shape 6"/>
          <p:cNvSpPr/>
          <p:nvPr/>
        </p:nvSpPr>
        <p:spPr>
          <a:xfrm>
            <a:off x="658368" y="3401568"/>
            <a:ext cx="5943600" cy="9144"/>
          </a:xfrm>
          <a:prstGeom prst="rect">
            <a:avLst/>
          </a:prstGeom>
          <a:solidFill>
            <a:srgbClr val="212C48"/>
          </a:solidFill>
          <a:ln/>
        </p:spPr>
        <p:txBody>
          <a:bodyPr/>
          <a:lstStyle/>
          <a:p>
            <a:endParaRPr lang="en-US"/>
          </a:p>
        </p:txBody>
      </p:sp>
      <p:sp>
        <p:nvSpPr>
          <p:cNvPr id="12" name="Text 7"/>
          <p:cNvSpPr/>
          <p:nvPr/>
        </p:nvSpPr>
        <p:spPr>
          <a:xfrm>
            <a:off x="658368" y="3547872"/>
            <a:ext cx="502920" cy="256032"/>
          </a:xfrm>
          <a:prstGeom prst="rect">
            <a:avLst/>
          </a:prstGeom>
          <a:noFill/>
          <a:ln/>
        </p:spPr>
        <p:txBody>
          <a:bodyPr wrap="square" lIns="0" tIns="0" rIns="0" bIns="0" rtlCol="0" anchor="ctr"/>
          <a:lstStyle/>
          <a:p>
            <a:pPr marL="0" indent="0">
              <a:buNone/>
            </a:pPr>
            <a:r>
              <a:rPr lang="en-US" sz="1150" b="1" kern="0" spc="120" dirty="0">
                <a:solidFill>
                  <a:srgbClr val="00B0F0"/>
                </a:solidFill>
                <a:latin typeface="Arial" pitchFamily="34" charset="0"/>
                <a:ea typeface="Arial" pitchFamily="34" charset="-122"/>
                <a:cs typeface="Arial" pitchFamily="34" charset="-120"/>
              </a:rPr>
              <a:t>02</a:t>
            </a:r>
            <a:endParaRPr lang="en-US" sz="1150" dirty="0">
              <a:solidFill>
                <a:srgbClr val="00B0F0"/>
              </a:solidFill>
            </a:endParaRPr>
          </a:p>
        </p:txBody>
      </p:sp>
      <p:sp>
        <p:nvSpPr>
          <p:cNvPr id="13" name="Text 8"/>
          <p:cNvSpPr/>
          <p:nvPr/>
        </p:nvSpPr>
        <p:spPr>
          <a:xfrm>
            <a:off x="1207008" y="3511296"/>
            <a:ext cx="5120640" cy="292608"/>
          </a:xfrm>
          <a:prstGeom prst="rect">
            <a:avLst/>
          </a:prstGeom>
          <a:noFill/>
          <a:ln/>
        </p:spPr>
        <p:txBody>
          <a:bodyPr wrap="square" lIns="0" tIns="0" rIns="0" bIns="0" rtlCol="0" anchor="ctr"/>
          <a:lstStyle/>
          <a:p>
            <a:pPr marL="0" indent="0">
              <a:buNone/>
            </a:pPr>
            <a:r>
              <a:rPr lang="en-US" sz="1700" b="1" dirty="0">
                <a:solidFill>
                  <a:srgbClr val="FFFFFF"/>
                </a:solidFill>
                <a:latin typeface="29LT Adir" pitchFamily="34" charset="0"/>
                <a:ea typeface="29LT Adir" pitchFamily="34" charset="-122"/>
                <a:cs typeface="29LT Adir" pitchFamily="34" charset="-120"/>
              </a:rPr>
              <a:t>Strategic</a:t>
            </a:r>
            <a:endParaRPr lang="en-US" sz="1700" dirty="0"/>
          </a:p>
        </p:txBody>
      </p:sp>
      <p:sp>
        <p:nvSpPr>
          <p:cNvPr id="14" name="Text 9"/>
          <p:cNvSpPr/>
          <p:nvPr/>
        </p:nvSpPr>
        <p:spPr>
          <a:xfrm>
            <a:off x="1207008" y="3840480"/>
            <a:ext cx="5394960" cy="329184"/>
          </a:xfrm>
          <a:prstGeom prst="rect">
            <a:avLst/>
          </a:prstGeom>
          <a:noFill/>
          <a:ln/>
        </p:spPr>
        <p:txBody>
          <a:bodyPr wrap="square" lIns="0" tIns="0" rIns="0" bIns="0" rtlCol="0" anchor="ctr"/>
          <a:lstStyle/>
          <a:p>
            <a:pPr marL="0" indent="0">
              <a:buNone/>
            </a:pPr>
            <a:r>
              <a:rPr lang="en-US" sz="1100" dirty="0">
                <a:solidFill>
                  <a:srgbClr val="9BA7C0"/>
                </a:solidFill>
                <a:latin typeface="Arial" pitchFamily="34" charset="0"/>
                <a:ea typeface="Arial" pitchFamily="34" charset="-122"/>
                <a:cs typeface="Arial" pitchFamily="34" charset="-120"/>
              </a:rPr>
              <a:t>Moves SSA from observer to contributor on a flagship mission.</a:t>
            </a:r>
            <a:endParaRPr lang="en-US" sz="1100" dirty="0"/>
          </a:p>
        </p:txBody>
      </p:sp>
      <p:sp>
        <p:nvSpPr>
          <p:cNvPr id="15" name="Shape 10"/>
          <p:cNvSpPr/>
          <p:nvPr/>
        </p:nvSpPr>
        <p:spPr>
          <a:xfrm>
            <a:off x="658368" y="4261104"/>
            <a:ext cx="5943600" cy="9144"/>
          </a:xfrm>
          <a:prstGeom prst="rect">
            <a:avLst/>
          </a:prstGeom>
          <a:solidFill>
            <a:srgbClr val="212C48"/>
          </a:solidFill>
          <a:ln/>
        </p:spPr>
        <p:txBody>
          <a:bodyPr/>
          <a:lstStyle/>
          <a:p>
            <a:endParaRPr lang="en-US"/>
          </a:p>
        </p:txBody>
      </p:sp>
      <p:sp>
        <p:nvSpPr>
          <p:cNvPr id="16" name="Text 11"/>
          <p:cNvSpPr/>
          <p:nvPr/>
        </p:nvSpPr>
        <p:spPr>
          <a:xfrm>
            <a:off x="658368" y="4407408"/>
            <a:ext cx="502920" cy="256032"/>
          </a:xfrm>
          <a:prstGeom prst="rect">
            <a:avLst/>
          </a:prstGeom>
          <a:noFill/>
          <a:ln/>
        </p:spPr>
        <p:txBody>
          <a:bodyPr wrap="square" lIns="0" tIns="0" rIns="0" bIns="0" rtlCol="0" anchor="ctr"/>
          <a:lstStyle/>
          <a:p>
            <a:pPr marL="0" indent="0">
              <a:buNone/>
            </a:pPr>
            <a:r>
              <a:rPr lang="en-US" sz="1150" b="1" kern="0" spc="120" dirty="0">
                <a:solidFill>
                  <a:srgbClr val="00B0F0"/>
                </a:solidFill>
                <a:latin typeface="Arial" pitchFamily="34" charset="0"/>
                <a:ea typeface="Arial" pitchFamily="34" charset="-122"/>
                <a:cs typeface="Arial" pitchFamily="34" charset="-120"/>
              </a:rPr>
              <a:t>03</a:t>
            </a:r>
            <a:endParaRPr lang="en-US" sz="1150" dirty="0">
              <a:solidFill>
                <a:srgbClr val="00B0F0"/>
              </a:solidFill>
            </a:endParaRPr>
          </a:p>
        </p:txBody>
      </p:sp>
      <p:sp>
        <p:nvSpPr>
          <p:cNvPr id="17" name="Text 12"/>
          <p:cNvSpPr/>
          <p:nvPr/>
        </p:nvSpPr>
        <p:spPr>
          <a:xfrm>
            <a:off x="1207008" y="4370832"/>
            <a:ext cx="5120640" cy="292608"/>
          </a:xfrm>
          <a:prstGeom prst="rect">
            <a:avLst/>
          </a:prstGeom>
          <a:noFill/>
          <a:ln/>
        </p:spPr>
        <p:txBody>
          <a:bodyPr wrap="square" lIns="0" tIns="0" rIns="0" bIns="0" rtlCol="0" anchor="ctr"/>
          <a:lstStyle/>
          <a:p>
            <a:pPr marL="0" indent="0">
              <a:buNone/>
            </a:pPr>
            <a:r>
              <a:rPr lang="en-US" sz="1700" b="1" dirty="0">
                <a:solidFill>
                  <a:srgbClr val="FFFFFF"/>
                </a:solidFill>
                <a:latin typeface="29LT Adir" pitchFamily="34" charset="0"/>
                <a:ea typeface="29LT Adir" pitchFamily="34" charset="-122"/>
                <a:cs typeface="29LT Adir" pitchFamily="34" charset="-120"/>
              </a:rPr>
              <a:t>Programmatic</a:t>
            </a:r>
            <a:endParaRPr lang="en-US" sz="1700" dirty="0"/>
          </a:p>
        </p:txBody>
      </p:sp>
      <p:sp>
        <p:nvSpPr>
          <p:cNvPr id="18" name="Text 13"/>
          <p:cNvSpPr/>
          <p:nvPr/>
        </p:nvSpPr>
        <p:spPr>
          <a:xfrm>
            <a:off x="1207008" y="4700016"/>
            <a:ext cx="5394960" cy="329184"/>
          </a:xfrm>
          <a:prstGeom prst="rect">
            <a:avLst/>
          </a:prstGeom>
          <a:noFill/>
          <a:ln/>
        </p:spPr>
        <p:txBody>
          <a:bodyPr wrap="square" lIns="0" tIns="0" rIns="0" bIns="0" rtlCol="0" anchor="ctr"/>
          <a:lstStyle/>
          <a:p>
            <a:pPr marL="0" indent="0">
              <a:buNone/>
            </a:pPr>
            <a:r>
              <a:rPr lang="en-US" sz="1100" dirty="0">
                <a:solidFill>
                  <a:srgbClr val="9BA7C0"/>
                </a:solidFill>
                <a:latin typeface="Arial" pitchFamily="34" charset="0"/>
                <a:ea typeface="Arial" pitchFamily="34" charset="-122"/>
                <a:cs typeface="Arial" pitchFamily="34" charset="-120"/>
              </a:rPr>
              <a:t>Uses a proven instrument and a proven partnership model.</a:t>
            </a:r>
            <a:endParaRPr lang="en-US" sz="1100" dirty="0"/>
          </a:p>
        </p:txBody>
      </p:sp>
      <p:sp>
        <p:nvSpPr>
          <p:cNvPr id="19" name="Shape 14"/>
          <p:cNvSpPr/>
          <p:nvPr/>
        </p:nvSpPr>
        <p:spPr>
          <a:xfrm>
            <a:off x="658368" y="5120640"/>
            <a:ext cx="5943600" cy="9144"/>
          </a:xfrm>
          <a:prstGeom prst="rect">
            <a:avLst/>
          </a:prstGeom>
          <a:solidFill>
            <a:srgbClr val="212C48"/>
          </a:solidFill>
          <a:ln/>
        </p:spPr>
        <p:txBody>
          <a:bodyPr/>
          <a:lstStyle/>
          <a:p>
            <a:endParaRPr lang="en-US"/>
          </a:p>
        </p:txBody>
      </p:sp>
      <p:sp>
        <p:nvSpPr>
          <p:cNvPr id="20" name="Text 15"/>
          <p:cNvSpPr/>
          <p:nvPr/>
        </p:nvSpPr>
        <p:spPr>
          <a:xfrm>
            <a:off x="658368" y="5266944"/>
            <a:ext cx="502920" cy="256032"/>
          </a:xfrm>
          <a:prstGeom prst="rect">
            <a:avLst/>
          </a:prstGeom>
          <a:noFill/>
          <a:ln/>
        </p:spPr>
        <p:txBody>
          <a:bodyPr wrap="square" lIns="0" tIns="0" rIns="0" bIns="0" rtlCol="0" anchor="ctr"/>
          <a:lstStyle/>
          <a:p>
            <a:pPr marL="0" indent="0">
              <a:buNone/>
            </a:pPr>
            <a:r>
              <a:rPr lang="en-US" sz="1150" b="1" kern="0" spc="120" dirty="0">
                <a:solidFill>
                  <a:srgbClr val="00B0F0"/>
                </a:solidFill>
                <a:latin typeface="Arial" pitchFamily="34" charset="0"/>
                <a:ea typeface="Arial" pitchFamily="34" charset="-122"/>
                <a:cs typeface="Arial" pitchFamily="34" charset="-120"/>
              </a:rPr>
              <a:t>04</a:t>
            </a:r>
            <a:endParaRPr lang="en-US" sz="1150" dirty="0">
              <a:solidFill>
                <a:srgbClr val="00B0F0"/>
              </a:solidFill>
            </a:endParaRPr>
          </a:p>
        </p:txBody>
      </p:sp>
      <p:sp>
        <p:nvSpPr>
          <p:cNvPr id="21" name="Text 16"/>
          <p:cNvSpPr/>
          <p:nvPr/>
        </p:nvSpPr>
        <p:spPr>
          <a:xfrm>
            <a:off x="1207008" y="5230368"/>
            <a:ext cx="5120640" cy="292608"/>
          </a:xfrm>
          <a:prstGeom prst="rect">
            <a:avLst/>
          </a:prstGeom>
          <a:noFill/>
          <a:ln/>
        </p:spPr>
        <p:txBody>
          <a:bodyPr wrap="square" lIns="0" tIns="0" rIns="0" bIns="0" rtlCol="0" anchor="ctr"/>
          <a:lstStyle/>
          <a:p>
            <a:pPr marL="0" indent="0">
              <a:buNone/>
            </a:pPr>
            <a:r>
              <a:rPr lang="en-US" sz="1700" b="1" dirty="0">
                <a:solidFill>
                  <a:srgbClr val="FFFFFF"/>
                </a:solidFill>
                <a:latin typeface="29LT Adir" pitchFamily="34" charset="0"/>
                <a:ea typeface="29LT Adir" pitchFamily="34" charset="-122"/>
                <a:cs typeface="29LT Adir" pitchFamily="34" charset="-120"/>
              </a:rPr>
              <a:t>Actionable</a:t>
            </a:r>
            <a:endParaRPr lang="en-US" sz="1700" dirty="0"/>
          </a:p>
        </p:txBody>
      </p:sp>
      <p:sp>
        <p:nvSpPr>
          <p:cNvPr id="22" name="Text 17"/>
          <p:cNvSpPr/>
          <p:nvPr/>
        </p:nvSpPr>
        <p:spPr>
          <a:xfrm>
            <a:off x="1207008" y="5559552"/>
            <a:ext cx="5394960" cy="329184"/>
          </a:xfrm>
          <a:prstGeom prst="rect">
            <a:avLst/>
          </a:prstGeom>
          <a:noFill/>
          <a:ln/>
        </p:spPr>
        <p:txBody>
          <a:bodyPr wrap="square" lIns="0" tIns="0" rIns="0" bIns="0" rtlCol="0" anchor="ctr"/>
          <a:lstStyle/>
          <a:p>
            <a:pPr marL="0" indent="0">
              <a:buNone/>
            </a:pPr>
            <a:r>
              <a:rPr lang="en-US" sz="1100" dirty="0">
                <a:solidFill>
                  <a:srgbClr val="9BA7C0"/>
                </a:solidFill>
                <a:latin typeface="Arial" pitchFamily="34" charset="0"/>
                <a:ea typeface="Arial" pitchFamily="34" charset="-122"/>
                <a:cs typeface="Arial" pitchFamily="34" charset="-120"/>
              </a:rPr>
              <a:t>A credible acquisition route exists now.</a:t>
            </a:r>
            <a:endParaRPr lang="en-US" sz="1100" dirty="0"/>
          </a:p>
        </p:txBody>
      </p:sp>
      <p:sp>
        <p:nvSpPr>
          <p:cNvPr id="26" name="BJPseudoFooter">
            <a:extLst>
              <a:ext uri="{FF2B5EF4-FFF2-40B4-BE49-F238E27FC236}">
                <a16:creationId xmlns:a16="http://schemas.microsoft.com/office/drawing/2014/main" id="{0554835A-79D3-036B-E6BA-8D718E31FCF5}"/>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B16"/>
        </a:solidFill>
        <a:effectLst/>
      </p:bgPr>
    </p:bg>
    <p:spTree>
      <p:nvGrpSpPr>
        <p:cNvPr id="1" name=""/>
        <p:cNvGrpSpPr/>
        <p:nvPr/>
      </p:nvGrpSpPr>
      <p:grpSpPr>
        <a:xfrm>
          <a:off x="0" y="0"/>
          <a:ext cx="0" cy="0"/>
          <a:chOff x="0" y="0"/>
          <a:chExt cx="0" cy="0"/>
        </a:xfrm>
      </p:grpSpPr>
      <p:pic>
        <p:nvPicPr>
          <p:cNvPr id="2" name="Image 0" descr="/home/claude/work/a2/close_bg.jpg"/>
          <p:cNvPicPr>
            <a:picLocks noChangeAspect="1"/>
          </p:cNvPicPr>
          <p:nvPr/>
        </p:nvPicPr>
        <p:blipFill>
          <a:blip r:embed="rId4"/>
          <a:stretch>
            <a:fillRect/>
          </a:stretch>
        </p:blipFill>
        <p:spPr>
          <a:xfrm>
            <a:off x="0" y="0"/>
            <a:ext cx="12191695" cy="6858000"/>
          </a:xfrm>
          <a:prstGeom prst="rect">
            <a:avLst/>
          </a:prstGeom>
        </p:spPr>
      </p:pic>
      <p:sp>
        <p:nvSpPr>
          <p:cNvPr id="4" name="Text 0"/>
          <p:cNvSpPr/>
          <p:nvPr/>
        </p:nvSpPr>
        <p:spPr>
          <a:xfrm>
            <a:off x="1005840" y="2834640"/>
            <a:ext cx="7863840" cy="1097280"/>
          </a:xfrm>
          <a:prstGeom prst="rect">
            <a:avLst/>
          </a:prstGeom>
          <a:noFill/>
          <a:ln/>
        </p:spPr>
        <p:txBody>
          <a:bodyPr wrap="square" lIns="0" tIns="0" rIns="0" bIns="0" rtlCol="0" anchor="ctr"/>
          <a:lstStyle/>
          <a:p>
            <a:pPr marL="0" indent="0">
              <a:buNone/>
            </a:pPr>
            <a:r>
              <a:rPr lang="en-US" sz="5400" b="1" dirty="0">
                <a:solidFill>
                  <a:srgbClr val="FFFFFF"/>
                </a:solidFill>
                <a:latin typeface="29LT Adir" pitchFamily="34" charset="0"/>
                <a:ea typeface="29LT Adir" pitchFamily="34" charset="-122"/>
                <a:cs typeface="29LT Adir" pitchFamily="34" charset="-120"/>
              </a:rPr>
              <a:t>Thank you!</a:t>
            </a:r>
            <a:endParaRPr lang="en-US" sz="5400" dirty="0"/>
          </a:p>
        </p:txBody>
      </p:sp>
      <p:sp>
        <p:nvSpPr>
          <p:cNvPr id="5" name="Shape 1"/>
          <p:cNvSpPr/>
          <p:nvPr/>
        </p:nvSpPr>
        <p:spPr>
          <a:xfrm>
            <a:off x="1051560" y="4041648"/>
            <a:ext cx="1920240" cy="9144"/>
          </a:xfrm>
          <a:prstGeom prst="rect">
            <a:avLst/>
          </a:prstGeom>
          <a:solidFill>
            <a:srgbClr val="6A5330"/>
          </a:solidFill>
          <a:ln/>
        </p:spPr>
        <p:txBody>
          <a:bodyPr/>
          <a:lstStyle/>
          <a:p>
            <a:endParaRPr lang="en-US"/>
          </a:p>
        </p:txBody>
      </p:sp>
      <p:pic>
        <p:nvPicPr>
          <p:cNvPr id="8" name="Image 2" descr="/home/claude/work/a2/logo_white.png">
            <a:extLst>
              <a:ext uri="{FF2B5EF4-FFF2-40B4-BE49-F238E27FC236}">
                <a16:creationId xmlns:a16="http://schemas.microsoft.com/office/drawing/2014/main" id="{34A4D18C-6244-BA14-0AFC-95A272473EE1}"/>
              </a:ext>
            </a:extLst>
          </p:cNvPr>
          <p:cNvPicPr>
            <a:picLocks noChangeAspect="1"/>
          </p:cNvPicPr>
          <p:nvPr/>
        </p:nvPicPr>
        <p:blipFill>
          <a:blip r:embed="rId5"/>
          <a:stretch>
            <a:fillRect/>
          </a:stretch>
        </p:blipFill>
        <p:spPr>
          <a:xfrm>
            <a:off x="10788577" y="329184"/>
            <a:ext cx="1133856" cy="478231"/>
          </a:xfrm>
          <a:prstGeom prst="rect">
            <a:avLst/>
          </a:prstGeom>
        </p:spPr>
      </p:pic>
      <p:sp>
        <p:nvSpPr>
          <p:cNvPr id="11" name="BJPseudoFooter">
            <a:extLst>
              <a:ext uri="{FF2B5EF4-FFF2-40B4-BE49-F238E27FC236}">
                <a16:creationId xmlns:a16="http://schemas.microsoft.com/office/drawing/2014/main" id="{2ACB41A8-4CD3-DEA5-7F04-A997ED8F86E5}"/>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ChangeAspect="1"/>
          </p:cNvPicPr>
          <p:nvPr/>
        </p:nvPicPr>
        <p:blipFill>
          <a:blip r:embed="rId4"/>
          <a:stretch>
            <a:fillRect/>
          </a:stretch>
        </p:blipFill>
        <p:spPr>
          <a:xfrm>
            <a:off x="0" y="0"/>
            <a:ext cx="12191695" cy="6858000"/>
          </a:xfrm>
          <a:prstGeom prst="rect">
            <a:avLst/>
          </a:prstGeom>
        </p:spPr>
      </p:pic>
      <p:sp>
        <p:nvSpPr>
          <p:cNvPr id="4" name="Text 0"/>
          <p:cNvSpPr/>
          <p:nvPr/>
        </p:nvSpPr>
        <p:spPr>
          <a:xfrm>
            <a:off x="658368" y="530352"/>
            <a:ext cx="9052560" cy="219456"/>
          </a:xfrm>
          <a:prstGeom prst="rect">
            <a:avLst/>
          </a:prstGeom>
          <a:noFill/>
          <a:ln/>
        </p:spPr>
        <p:txBody>
          <a:bodyPr wrap="square" lIns="0" tIns="0" rIns="0" bIns="0" rtlCol="0" anchor="ctr"/>
          <a:lstStyle/>
          <a:p>
            <a:pPr marL="0" indent="0">
              <a:buNone/>
            </a:pPr>
            <a:r>
              <a:rPr lang="en-US" sz="950" b="1" kern="0" spc="240" dirty="0">
                <a:solidFill>
                  <a:srgbClr val="E8A33D"/>
                </a:solidFill>
                <a:latin typeface="Arial" pitchFamily="34" charset="0"/>
                <a:ea typeface="Arial" pitchFamily="34" charset="-122"/>
                <a:cs typeface="Arial" pitchFamily="34" charset="-120"/>
              </a:rPr>
              <a:t>APPENDIX</a:t>
            </a:r>
            <a:endParaRPr lang="en-US" sz="950" dirty="0"/>
          </a:p>
        </p:txBody>
      </p:sp>
      <p:sp>
        <p:nvSpPr>
          <p:cNvPr id="5" name="Text 1"/>
          <p:cNvSpPr/>
          <p:nvPr/>
        </p:nvSpPr>
        <p:spPr>
          <a:xfrm>
            <a:off x="658368" y="795528"/>
            <a:ext cx="9052560" cy="409903"/>
          </a:xfrm>
          <a:prstGeom prst="rect">
            <a:avLst/>
          </a:prstGeom>
          <a:noFill/>
          <a:ln/>
        </p:spPr>
        <p:txBody>
          <a:bodyPr wrap="square" lIns="0" tIns="0" rIns="0" bIns="0" rtlCol="0" anchor="ctr"/>
          <a:lstStyle/>
          <a:p>
            <a:pPr marL="0" indent="0">
              <a:lnSpc>
                <a:spcPct val="92000"/>
              </a:lnSpc>
              <a:buNone/>
            </a:pPr>
            <a:r>
              <a:rPr lang="en-US" sz="2600" b="1" dirty="0">
                <a:solidFill>
                  <a:srgbClr val="13234C"/>
                </a:solidFill>
                <a:latin typeface="29LT Adir" pitchFamily="34" charset="0"/>
                <a:ea typeface="29LT Adir" pitchFamily="34" charset="-122"/>
                <a:cs typeface="29LT Adir" pitchFamily="34" charset="-120"/>
              </a:rPr>
              <a:t>Candidate Trade Study — Full Assessment</a:t>
            </a:r>
            <a:endParaRPr lang="en-US" sz="2600" dirty="0"/>
          </a:p>
        </p:txBody>
      </p:sp>
      <p:sp>
        <p:nvSpPr>
          <p:cNvPr id="6" name="Text 2"/>
          <p:cNvSpPr/>
          <p:nvPr/>
        </p:nvSpPr>
        <p:spPr>
          <a:xfrm>
            <a:off x="658368" y="1260295"/>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Architecture is a screening criterion, not a differentiator. A candidate is scored only until the criterion that removes it.</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 y="2139696"/>
          <a:ext cx="10829239" cy="1865376"/>
        </p:xfrm>
        <a:graphic>
          <a:graphicData uri="http://schemas.openxmlformats.org/drawingml/2006/table">
            <a:tbl>
              <a:tblPr/>
              <a:tblGrid>
                <a:gridCol w="24231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1874520">
                  <a:extLst>
                    <a:ext uri="{9D8B030D-6E8A-4147-A177-3AD203B41FA5}">
                      <a16:colId xmlns:a16="http://schemas.microsoft.com/office/drawing/2014/main" val="20004"/>
                    </a:ext>
                  </a:extLst>
                </a:gridCol>
                <a:gridCol w="1548079">
                  <a:extLst>
                    <a:ext uri="{9D8B030D-6E8A-4147-A177-3AD203B41FA5}">
                      <a16:colId xmlns:a16="http://schemas.microsoft.com/office/drawing/2014/main" val="20005"/>
                    </a:ext>
                  </a:extLst>
                </a:gridCol>
              </a:tblGrid>
              <a:tr h="310896">
                <a:tc>
                  <a:txBody>
                    <a:bodyPr/>
                    <a:lstStyle/>
                    <a:p>
                      <a:pPr marL="0" indent="0">
                        <a:buNone/>
                      </a:pPr>
                      <a:r>
                        <a:rPr lang="en-US" sz="1000" b="1" dirty="0">
                          <a:solidFill>
                            <a:srgbClr val="FFFFFF"/>
                          </a:solidFill>
                          <a:latin typeface="Arial" pitchFamily="34" charset="0"/>
                          <a:ea typeface="Arial" pitchFamily="34" charset="-122"/>
                          <a:cs typeface="Arial" pitchFamily="34" charset="-120"/>
                        </a:rPr>
                        <a:t>Candidate</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Architecture</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Scientific complementarity</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TRL</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Operational complexity</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Power</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extLst>
                  <a:ext uri="{0D108BD9-81ED-4DB2-BD59-A6C34878D82A}">
                    <a16:rowId xmlns:a16="http://schemas.microsoft.com/office/drawing/2014/main" val="10000"/>
                  </a:ext>
                </a:extLst>
              </a:tr>
              <a:tr h="310896">
                <a:tc>
                  <a:txBody>
                    <a:bodyPr/>
                    <a:lstStyle/>
                    <a:p>
                      <a:pPr marL="0" indent="0">
                        <a:buNone/>
                      </a:pPr>
                      <a:r>
                        <a:rPr lang="en-US" sz="1000" b="1" dirty="0">
                          <a:solidFill>
                            <a:srgbClr val="1F6B4A"/>
                          </a:solidFill>
                          <a:latin typeface="Arial" pitchFamily="34" charset="0"/>
                          <a:ea typeface="Arial" pitchFamily="34" charset="-122"/>
                          <a:cs typeface="Arial" pitchFamily="34" charset="-120"/>
                        </a:rPr>
                        <a:t>Gamma-Ray Spectrometer</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2F9F5"/>
                    </a:solidFill>
                  </a:tcPr>
                </a:tc>
                <a:tc>
                  <a:txBody>
                    <a:bodyPr/>
                    <a:lstStyle/>
                    <a:p>
                      <a:pPr marL="0" indent="0">
                        <a:buNone/>
                      </a:pPr>
                      <a:r>
                        <a:rPr lang="en-US" sz="1000" dirty="0">
                          <a:solidFill>
                            <a:srgbClr val="1F6B4A"/>
                          </a:solidFill>
                          <a:latin typeface="Arial" pitchFamily="34" charset="0"/>
                          <a:ea typeface="Arial" pitchFamily="34" charset="-122"/>
                          <a:cs typeface="Arial" pitchFamily="34" charset="-120"/>
                        </a:rPr>
                        <a:t>Fits orbiter</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2F9F5"/>
                    </a:solidFill>
                  </a:tcPr>
                </a:tc>
                <a:tc>
                  <a:txBody>
                    <a:bodyPr/>
                    <a:lstStyle/>
                    <a:p>
                      <a:pPr marL="0" indent="0">
                        <a:buNone/>
                      </a:pPr>
                      <a:r>
                        <a:rPr lang="en-US" sz="1000" dirty="0">
                          <a:solidFill>
                            <a:srgbClr val="1F6B4A"/>
                          </a:solidFill>
                          <a:latin typeface="Arial" pitchFamily="34" charset="0"/>
                          <a:ea typeface="Arial" pitchFamily="34" charset="-122"/>
                          <a:cs typeface="Arial" pitchFamily="34" charset="-120"/>
                        </a:rPr>
                        <a:t>Complements</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2F9F5"/>
                    </a:solidFill>
                  </a:tcPr>
                </a:tc>
                <a:tc>
                  <a:txBody>
                    <a:bodyPr/>
                    <a:lstStyle/>
                    <a:p>
                      <a:pPr marL="0" indent="0">
                        <a:buNone/>
                      </a:pPr>
                      <a:r>
                        <a:rPr lang="en-US" sz="1000" dirty="0">
                          <a:solidFill>
                            <a:srgbClr val="1F6B4A"/>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2F9F5"/>
                    </a:solidFill>
                  </a:tcPr>
                </a:tc>
                <a:tc>
                  <a:txBody>
                    <a:bodyPr/>
                    <a:lstStyle/>
                    <a:p>
                      <a:pPr marL="0" indent="0">
                        <a:buNone/>
                      </a:pPr>
                      <a:r>
                        <a:rPr lang="en-US" sz="1000" dirty="0">
                          <a:solidFill>
                            <a:srgbClr val="1F6B4A"/>
                          </a:solidFill>
                          <a:latin typeface="Arial" pitchFamily="34" charset="0"/>
                          <a:ea typeface="Arial" pitchFamily="34" charset="-122"/>
                          <a:cs typeface="Arial" pitchFamily="34" charset="-120"/>
                        </a:rPr>
                        <a:t>Low</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2F9F5"/>
                    </a:solidFill>
                  </a:tcPr>
                </a:tc>
                <a:tc>
                  <a:txBody>
                    <a:bodyPr/>
                    <a:lstStyle/>
                    <a:p>
                      <a:pPr marL="0" indent="0">
                        <a:buNone/>
                      </a:pPr>
                      <a:r>
                        <a:rPr lang="en-US" sz="1000" dirty="0">
                          <a:solidFill>
                            <a:srgbClr val="1F6B4A"/>
                          </a:solidFill>
                          <a:latin typeface="Arial" pitchFamily="34" charset="0"/>
                          <a:ea typeface="Arial" pitchFamily="34" charset="-122"/>
                          <a:cs typeface="Arial" pitchFamily="34" charset="-120"/>
                        </a:rPr>
                        <a:t>Modest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2F9F5"/>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51B29"/>
                          </a:solidFill>
                          <a:latin typeface="Arial" pitchFamily="34" charset="0"/>
                          <a:ea typeface="Arial" pitchFamily="34" charset="-122"/>
                          <a:cs typeface="Arial" pitchFamily="34" charset="-120"/>
                        </a:rPr>
                        <a:t>Neutron Spectrometer</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Fits orbiter</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Partial</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Low</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Modest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51B29"/>
                          </a:solidFill>
                          <a:latin typeface="Arial" pitchFamily="34" charset="0"/>
                          <a:ea typeface="Arial" pitchFamily="34" charset="-122"/>
                          <a:cs typeface="Arial" pitchFamily="34" charset="-120"/>
                        </a:rPr>
                        <a:t>Mössbauer Spectrometer</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Requires lander</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151B29"/>
                          </a:solidFill>
                          <a:latin typeface="Arial" pitchFamily="34" charset="0"/>
                          <a:ea typeface="Arial" pitchFamily="34" charset="-122"/>
                          <a:cs typeface="Arial" pitchFamily="34" charset="-120"/>
                        </a:rPr>
                        <a:t>MicrOmega Microscope</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Requires lander</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00" dirty="0">
                          <a:solidFill>
                            <a:srgbClr val="151B29"/>
                          </a:solidFill>
                          <a:latin typeface="Arial" pitchFamily="34" charset="0"/>
                          <a:ea typeface="Arial" pitchFamily="34" charset="-122"/>
                          <a:cs typeface="Arial" pitchFamily="34" charset="-120"/>
                        </a:rPr>
                        <a:t>LIBS, ChemCam class</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Requires close range</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1000" dirty="0">
                          <a:solidFill>
                            <a:srgbClr val="151B29"/>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extLst>
                  <a:ext uri="{0D108BD9-81ED-4DB2-BD59-A6C34878D82A}">
                    <a16:rowId xmlns:a16="http://schemas.microsoft.com/office/drawing/2014/main" val="10005"/>
                  </a:ext>
                </a:extLst>
              </a:tr>
            </a:tbl>
          </a:graphicData>
        </a:graphic>
      </p:graphicFrame>
      <p:sp>
        <p:nvSpPr>
          <p:cNvPr id="8" name="Shape 3"/>
          <p:cNvSpPr/>
          <p:nvPr/>
        </p:nvSpPr>
        <p:spPr>
          <a:xfrm>
            <a:off x="658368" y="4206240"/>
            <a:ext cx="3466490" cy="1883664"/>
          </a:xfrm>
          <a:prstGeom prst="roundRect">
            <a:avLst>
              <a:gd name="adj" fmla="val 436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9" name="Text 4"/>
          <p:cNvSpPr/>
          <p:nvPr/>
        </p:nvSpPr>
        <p:spPr>
          <a:xfrm>
            <a:off x="914400" y="4425696"/>
            <a:ext cx="2954426" cy="457200"/>
          </a:xfrm>
          <a:prstGeom prst="rect">
            <a:avLst/>
          </a:prstGeom>
          <a:noFill/>
          <a:ln/>
        </p:spPr>
        <p:txBody>
          <a:bodyPr wrap="square" lIns="0" tIns="0" rIns="0" bIns="0" rtlCol="0" anchor="ctr"/>
          <a:lstStyle/>
          <a:p>
            <a:pPr marL="0" indent="0">
              <a:lnSpc>
                <a:spcPct val="96000"/>
              </a:lnSpc>
              <a:buNone/>
            </a:pPr>
            <a:r>
              <a:rPr lang="en-US" sz="1300" b="1" dirty="0">
                <a:solidFill>
                  <a:srgbClr val="13234C"/>
                </a:solidFill>
                <a:latin typeface="29LT Adir" pitchFamily="34" charset="0"/>
                <a:ea typeface="29LT Adir" pitchFamily="34" charset="-122"/>
                <a:cs typeface="29LT Adir" pitchFamily="34" charset="-120"/>
              </a:rPr>
              <a:t>Incompatible with an orbiter-only contribution</a:t>
            </a:r>
            <a:endParaRPr lang="en-US" sz="1300" dirty="0"/>
          </a:p>
        </p:txBody>
      </p:sp>
      <p:sp>
        <p:nvSpPr>
          <p:cNvPr id="10" name="Text 5"/>
          <p:cNvSpPr/>
          <p:nvPr/>
        </p:nvSpPr>
        <p:spPr>
          <a:xfrm>
            <a:off x="914400" y="4956048"/>
            <a:ext cx="2954426" cy="969264"/>
          </a:xfrm>
          <a:prstGeom prst="rect">
            <a:avLst/>
          </a:prstGeom>
          <a:noFill/>
          <a:ln/>
        </p:spPr>
        <p:txBody>
          <a:bodyPr wrap="square" lIns="0" tIns="0" rIns="0" bIns="0" rtlCol="0" anchor="t"/>
          <a:lstStyle/>
          <a:p>
            <a:pPr marL="0" indent="0">
              <a:lnSpc>
                <a:spcPct val="114000"/>
              </a:lnSpc>
              <a:buNone/>
            </a:pPr>
            <a:r>
              <a:rPr lang="en-US" sz="950" dirty="0">
                <a:solidFill>
                  <a:srgbClr val="6B7488"/>
                </a:solidFill>
                <a:latin typeface="Arial" pitchFamily="34" charset="0"/>
                <a:ea typeface="Arial" pitchFamily="34" charset="-122"/>
                <a:cs typeface="Arial" pitchFamily="34" charset="-120"/>
              </a:rPr>
              <a:t>Mössbauer and MicrOmega are contact instruments requiring a landed platform; LIBS is close-range and requires high pointing precision. Establishing that sub-surface observation does not require a landing removed the premise beneath all three.</a:t>
            </a:r>
            <a:endParaRPr lang="en-US" sz="950" dirty="0"/>
          </a:p>
        </p:txBody>
      </p:sp>
      <p:sp>
        <p:nvSpPr>
          <p:cNvPr id="11" name="Shape 6"/>
          <p:cNvSpPr/>
          <p:nvPr/>
        </p:nvSpPr>
        <p:spPr>
          <a:xfrm>
            <a:off x="4362602" y="4206240"/>
            <a:ext cx="3466490" cy="1883664"/>
          </a:xfrm>
          <a:prstGeom prst="roundRect">
            <a:avLst>
              <a:gd name="adj" fmla="val 436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12" name="Text 7"/>
          <p:cNvSpPr/>
          <p:nvPr/>
        </p:nvSpPr>
        <p:spPr>
          <a:xfrm>
            <a:off x="4618634" y="4425696"/>
            <a:ext cx="2954426" cy="457200"/>
          </a:xfrm>
          <a:prstGeom prst="rect">
            <a:avLst/>
          </a:prstGeom>
          <a:noFill/>
          <a:ln/>
        </p:spPr>
        <p:txBody>
          <a:bodyPr wrap="square" lIns="0" tIns="0" rIns="0" bIns="0" rtlCol="0" anchor="ctr"/>
          <a:lstStyle/>
          <a:p>
            <a:pPr marL="0" indent="0">
              <a:lnSpc>
                <a:spcPct val="96000"/>
              </a:lnSpc>
              <a:buNone/>
            </a:pPr>
            <a:r>
              <a:rPr lang="en-US" sz="1300" b="1" dirty="0">
                <a:solidFill>
                  <a:srgbClr val="13234C"/>
                </a:solidFill>
                <a:latin typeface="29LT Adir" pitchFamily="34" charset="0"/>
                <a:ea typeface="29LT Adir" pitchFamily="34" charset="-122"/>
                <a:cs typeface="29LT Adir" pitchFamily="34" charset="-120"/>
              </a:rPr>
              <a:t>Separated on scientific complementarity</a:t>
            </a:r>
            <a:endParaRPr lang="en-US" sz="1300" dirty="0"/>
          </a:p>
        </p:txBody>
      </p:sp>
      <p:sp>
        <p:nvSpPr>
          <p:cNvPr id="13" name="Text 8"/>
          <p:cNvSpPr/>
          <p:nvPr/>
        </p:nvSpPr>
        <p:spPr>
          <a:xfrm>
            <a:off x="4618634" y="4956048"/>
            <a:ext cx="2954426" cy="969264"/>
          </a:xfrm>
          <a:prstGeom prst="rect">
            <a:avLst/>
          </a:prstGeom>
          <a:noFill/>
          <a:ln/>
        </p:spPr>
        <p:txBody>
          <a:bodyPr wrap="square" lIns="0" tIns="0" rIns="0" bIns="0" rtlCol="0" anchor="t"/>
          <a:lstStyle/>
          <a:p>
            <a:pPr marL="0" indent="0">
              <a:lnSpc>
                <a:spcPct val="114000"/>
              </a:lnSpc>
              <a:buNone/>
            </a:pPr>
            <a:r>
              <a:rPr lang="en-US" sz="950" dirty="0">
                <a:solidFill>
                  <a:srgbClr val="6B7488"/>
                </a:solidFill>
                <a:latin typeface="Arial" pitchFamily="34" charset="0"/>
                <a:ea typeface="Arial" pitchFamily="34" charset="-122"/>
                <a:cs typeface="Arial" pitchFamily="34" charset="-120"/>
              </a:rPr>
              <a:t>Neutron spectroscopy primarily constrains hydrogen and volatile abundance, which does not enter the mineralogical inversion. Resolving this gap requires multi-element ratios such as Mg/Si and Fe/Si.</a:t>
            </a:r>
            <a:endParaRPr lang="en-US" sz="950" dirty="0"/>
          </a:p>
        </p:txBody>
      </p:sp>
      <p:sp>
        <p:nvSpPr>
          <p:cNvPr id="14" name="Shape 9"/>
          <p:cNvSpPr/>
          <p:nvPr/>
        </p:nvSpPr>
        <p:spPr>
          <a:xfrm>
            <a:off x="8066837" y="4206240"/>
            <a:ext cx="3466490" cy="1883664"/>
          </a:xfrm>
          <a:prstGeom prst="roundRect">
            <a:avLst>
              <a:gd name="adj" fmla="val 436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15" name="Text 10"/>
          <p:cNvSpPr/>
          <p:nvPr/>
        </p:nvSpPr>
        <p:spPr>
          <a:xfrm>
            <a:off x="8322869" y="4425696"/>
            <a:ext cx="2954426" cy="457200"/>
          </a:xfrm>
          <a:prstGeom prst="rect">
            <a:avLst/>
          </a:prstGeom>
          <a:noFill/>
          <a:ln/>
        </p:spPr>
        <p:txBody>
          <a:bodyPr wrap="square" lIns="0" tIns="0" rIns="0" bIns="0" rtlCol="0" anchor="ctr"/>
          <a:lstStyle/>
          <a:p>
            <a:pPr marL="0" indent="0">
              <a:lnSpc>
                <a:spcPct val="96000"/>
              </a:lnSpc>
              <a:buNone/>
            </a:pPr>
            <a:r>
              <a:rPr lang="en-US" sz="1300" b="1" dirty="0">
                <a:solidFill>
                  <a:srgbClr val="13234C"/>
                </a:solidFill>
                <a:latin typeface="29LT Adir" pitchFamily="34" charset="0"/>
                <a:ea typeface="29LT Adir" pitchFamily="34" charset="-122"/>
                <a:cs typeface="29LT Adir" pitchFamily="34" charset="-120"/>
              </a:rPr>
              <a:t>The wrong quantity, well accessed</a:t>
            </a:r>
            <a:endParaRPr lang="en-US" sz="1300" dirty="0"/>
          </a:p>
        </p:txBody>
      </p:sp>
      <p:sp>
        <p:nvSpPr>
          <p:cNvPr id="16" name="Text 11"/>
          <p:cNvSpPr/>
          <p:nvPr/>
        </p:nvSpPr>
        <p:spPr>
          <a:xfrm>
            <a:off x="8322869" y="4956048"/>
            <a:ext cx="2954426" cy="969264"/>
          </a:xfrm>
          <a:prstGeom prst="rect">
            <a:avLst/>
          </a:prstGeom>
          <a:noFill/>
          <a:ln/>
        </p:spPr>
        <p:txBody>
          <a:bodyPr wrap="square" lIns="0" tIns="0" rIns="0" bIns="0" rtlCol="0" anchor="t"/>
          <a:lstStyle/>
          <a:p>
            <a:pPr marL="0" indent="0">
              <a:lnSpc>
                <a:spcPct val="114000"/>
              </a:lnSpc>
              <a:buNone/>
            </a:pPr>
            <a:r>
              <a:rPr lang="en-US" sz="950" dirty="0">
                <a:solidFill>
                  <a:srgbClr val="6B7488"/>
                </a:solidFill>
                <a:latin typeface="Arial" pitchFamily="34" charset="0"/>
                <a:ea typeface="Arial" pitchFamily="34" charset="-122"/>
                <a:cs typeface="Arial" pitchFamily="34" charset="-120"/>
              </a:rPr>
              <a:t>LIBS solves access better than any other candidate and still returns the wrong quantity. Bulk elemental abundance barely moves under weathering, so profiling elements through the rind would most likely return no difference.</a:t>
            </a:r>
            <a:endParaRPr lang="en-US" sz="950" dirty="0"/>
          </a:p>
        </p:txBody>
      </p:sp>
      <p:pic>
        <p:nvPicPr>
          <p:cNvPr id="19" name="Image 1" descr="/home/claude/work/a2/logo_dark.png">
            <a:extLst>
              <a:ext uri="{FF2B5EF4-FFF2-40B4-BE49-F238E27FC236}">
                <a16:creationId xmlns:a16="http://schemas.microsoft.com/office/drawing/2014/main" id="{078051FC-5741-5D92-6AD0-E19D42D78E3B}"/>
              </a:ext>
            </a:extLst>
          </p:cNvPr>
          <p:cNvPicPr>
            <a:picLocks noChangeAspect="1"/>
          </p:cNvPicPr>
          <p:nvPr/>
        </p:nvPicPr>
        <p:blipFill>
          <a:blip r:embed="rId5"/>
          <a:stretch>
            <a:fillRect/>
          </a:stretch>
        </p:blipFill>
        <p:spPr>
          <a:xfrm>
            <a:off x="10616340" y="122984"/>
            <a:ext cx="1450538" cy="814736"/>
          </a:xfrm>
          <a:prstGeom prst="rect">
            <a:avLst/>
          </a:prstGeom>
        </p:spPr>
      </p:pic>
      <p:sp>
        <p:nvSpPr>
          <p:cNvPr id="22" name="BJPseudoFooter">
            <a:extLst>
              <a:ext uri="{FF2B5EF4-FFF2-40B4-BE49-F238E27FC236}">
                <a16:creationId xmlns:a16="http://schemas.microsoft.com/office/drawing/2014/main" id="{80F36321-724B-0E8C-71BB-969074C9FBEB}"/>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ChangeAspect="1"/>
          </p:cNvPicPr>
          <p:nvPr/>
        </p:nvPicPr>
        <p:blipFill>
          <a:blip r:embed="rId4"/>
          <a:stretch>
            <a:fillRect/>
          </a:stretch>
        </p:blipFill>
        <p:spPr>
          <a:xfrm>
            <a:off x="0" y="0"/>
            <a:ext cx="12191695" cy="6858000"/>
          </a:xfrm>
          <a:prstGeom prst="rect">
            <a:avLst/>
          </a:prstGeom>
        </p:spPr>
      </p:pic>
      <p:sp>
        <p:nvSpPr>
          <p:cNvPr id="4" name="Text 0"/>
          <p:cNvSpPr/>
          <p:nvPr/>
        </p:nvSpPr>
        <p:spPr>
          <a:xfrm>
            <a:off x="658368" y="530352"/>
            <a:ext cx="9052560" cy="219456"/>
          </a:xfrm>
          <a:prstGeom prst="rect">
            <a:avLst/>
          </a:prstGeom>
          <a:noFill/>
          <a:ln/>
        </p:spPr>
        <p:txBody>
          <a:bodyPr wrap="square" lIns="0" tIns="0" rIns="0" bIns="0" rtlCol="0" anchor="ctr"/>
          <a:lstStyle/>
          <a:p>
            <a:pPr marL="0" indent="0">
              <a:buNone/>
            </a:pPr>
            <a:r>
              <a:rPr lang="en-US" sz="950" b="1" kern="0" spc="240" dirty="0">
                <a:solidFill>
                  <a:srgbClr val="E8A33D"/>
                </a:solidFill>
                <a:latin typeface="Arial" pitchFamily="34" charset="0"/>
                <a:ea typeface="Arial" pitchFamily="34" charset="-122"/>
                <a:cs typeface="Arial" pitchFamily="34" charset="-120"/>
              </a:rPr>
              <a:t>APPENDIX</a:t>
            </a:r>
            <a:endParaRPr lang="en-US" sz="950" dirty="0"/>
          </a:p>
        </p:txBody>
      </p:sp>
      <p:sp>
        <p:nvSpPr>
          <p:cNvPr id="5" name="Text 1"/>
          <p:cNvSpPr/>
          <p:nvPr/>
        </p:nvSpPr>
        <p:spPr>
          <a:xfrm>
            <a:off x="658368" y="795528"/>
            <a:ext cx="9052560" cy="409903"/>
          </a:xfrm>
          <a:prstGeom prst="rect">
            <a:avLst/>
          </a:prstGeom>
          <a:noFill/>
          <a:ln/>
        </p:spPr>
        <p:txBody>
          <a:bodyPr wrap="square" lIns="0" tIns="0" rIns="0" bIns="0" rtlCol="0" anchor="ctr"/>
          <a:lstStyle/>
          <a:p>
            <a:pPr marL="0" indent="0">
              <a:lnSpc>
                <a:spcPct val="92000"/>
              </a:lnSpc>
              <a:buNone/>
            </a:pPr>
            <a:r>
              <a:rPr lang="en-US" sz="2600" b="1" dirty="0">
                <a:solidFill>
                  <a:srgbClr val="13234C"/>
                </a:solidFill>
                <a:latin typeface="29LT Adir" pitchFamily="34" charset="0"/>
                <a:ea typeface="29LT Adir" pitchFamily="34" charset="-122"/>
                <a:cs typeface="29LT Adir" pitchFamily="34" charset="-120"/>
              </a:rPr>
              <a:t>Accommodation &amp; Open Technical Items</a:t>
            </a:r>
            <a:endParaRPr lang="en-US" sz="2600" dirty="0"/>
          </a:p>
        </p:txBody>
      </p:sp>
      <p:sp>
        <p:nvSpPr>
          <p:cNvPr id="6" name="Text 2"/>
          <p:cNvSpPr/>
          <p:nvPr/>
        </p:nvSpPr>
        <p:spPr>
          <a:xfrm>
            <a:off x="658368" y="1260295"/>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Detail supporting the recommendation and the first technical exchange.</a:t>
            </a:r>
            <a:endParaRPr lang="en-US" sz="1250" dirty="0"/>
          </a:p>
        </p:txBody>
      </p:sp>
      <p:sp>
        <p:nvSpPr>
          <p:cNvPr id="7" name="Shape 3"/>
          <p:cNvSpPr/>
          <p:nvPr/>
        </p:nvSpPr>
        <p:spPr>
          <a:xfrm>
            <a:off x="658368" y="2084832"/>
            <a:ext cx="3466490" cy="1883664"/>
          </a:xfrm>
          <a:prstGeom prst="roundRect">
            <a:avLst>
              <a:gd name="adj" fmla="val 436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8" name="Text 4"/>
          <p:cNvSpPr/>
          <p:nvPr/>
        </p:nvSpPr>
        <p:spPr>
          <a:xfrm>
            <a:off x="914400" y="2286000"/>
            <a:ext cx="2954426" cy="420624"/>
          </a:xfrm>
          <a:prstGeom prst="rect">
            <a:avLst/>
          </a:prstGeom>
          <a:noFill/>
          <a:ln/>
        </p:spPr>
        <p:txBody>
          <a:bodyPr wrap="square" lIns="0" tIns="0" rIns="0" bIns="0" rtlCol="0" anchor="ctr"/>
          <a:lstStyle/>
          <a:p>
            <a:pPr marL="0" indent="0">
              <a:lnSpc>
                <a:spcPct val="96000"/>
              </a:lnSpc>
              <a:buNone/>
            </a:pPr>
            <a:r>
              <a:rPr lang="en-US" sz="1300" b="1" dirty="0">
                <a:solidFill>
                  <a:srgbClr val="13234C"/>
                </a:solidFill>
                <a:latin typeface="29LT Adir" pitchFamily="34" charset="0"/>
                <a:ea typeface="29LT Adir" pitchFamily="34" charset="-122"/>
                <a:cs typeface="29LT Adir" pitchFamily="34" charset="-120"/>
              </a:rPr>
              <a:t>Platform: main orbiter, not Farinella</a:t>
            </a:r>
            <a:endParaRPr lang="en-US" sz="1300" dirty="0"/>
          </a:p>
        </p:txBody>
      </p:sp>
      <p:sp>
        <p:nvSpPr>
          <p:cNvPr id="9" name="Text 5"/>
          <p:cNvSpPr/>
          <p:nvPr/>
        </p:nvSpPr>
        <p:spPr>
          <a:xfrm>
            <a:off x="914400" y="2816352"/>
            <a:ext cx="2954426" cy="1005840"/>
          </a:xfrm>
          <a:prstGeom prst="rect">
            <a:avLst/>
          </a:prstGeom>
          <a:noFill/>
          <a:ln/>
        </p:spPr>
        <p:txBody>
          <a:bodyPr wrap="square" lIns="0" tIns="0" rIns="0" bIns="0" rtlCol="0" anchor="t"/>
          <a:lstStyle/>
          <a:p>
            <a:pPr marL="0" indent="0">
              <a:lnSpc>
                <a:spcPct val="114000"/>
              </a:lnSpc>
              <a:buNone/>
            </a:pPr>
            <a:r>
              <a:rPr lang="en-US" sz="900" dirty="0">
                <a:solidFill>
                  <a:srgbClr val="6B7488"/>
                </a:solidFill>
                <a:latin typeface="Arial" pitchFamily="34" charset="0"/>
                <a:ea typeface="Arial" pitchFamily="34" charset="-122"/>
                <a:cs typeface="Arial" pitchFamily="34" charset="-120"/>
              </a:rPr>
              <a:t>The cooled germanium sensor exceeds what a 6U-XL CubeSat carries in mass and standing power, and the measurement needs an accumulation window of months. It also belongs beside HAMLET: a shared platform means shared observation geometry and coverage, which is what permits one map to be subtracted from the other.</a:t>
            </a:r>
            <a:endParaRPr lang="en-US" sz="900" dirty="0"/>
          </a:p>
        </p:txBody>
      </p:sp>
      <p:sp>
        <p:nvSpPr>
          <p:cNvPr id="10" name="Shape 6"/>
          <p:cNvSpPr/>
          <p:nvPr/>
        </p:nvSpPr>
        <p:spPr>
          <a:xfrm>
            <a:off x="4362602" y="2084832"/>
            <a:ext cx="3466490" cy="1883664"/>
          </a:xfrm>
          <a:prstGeom prst="roundRect">
            <a:avLst>
              <a:gd name="adj" fmla="val 436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11" name="Text 7"/>
          <p:cNvSpPr/>
          <p:nvPr/>
        </p:nvSpPr>
        <p:spPr>
          <a:xfrm>
            <a:off x="4618634" y="2286000"/>
            <a:ext cx="2954426" cy="420624"/>
          </a:xfrm>
          <a:prstGeom prst="rect">
            <a:avLst/>
          </a:prstGeom>
          <a:noFill/>
          <a:ln/>
        </p:spPr>
        <p:txBody>
          <a:bodyPr wrap="square" lIns="0" tIns="0" rIns="0" bIns="0" rtlCol="0" anchor="ctr"/>
          <a:lstStyle/>
          <a:p>
            <a:pPr marL="0" indent="0">
              <a:lnSpc>
                <a:spcPct val="96000"/>
              </a:lnSpc>
              <a:buNone/>
            </a:pPr>
            <a:r>
              <a:rPr lang="en-US" sz="1300" b="1" dirty="0">
                <a:solidFill>
                  <a:srgbClr val="13234C"/>
                </a:solidFill>
                <a:latin typeface="29LT Adir" pitchFamily="34" charset="0"/>
                <a:ea typeface="29LT Adir" pitchFamily="34" charset="-122"/>
                <a:cs typeface="29LT Adir" pitchFamily="34" charset="-120"/>
              </a:rPr>
              <a:t>Spatial resolution</a:t>
            </a:r>
            <a:endParaRPr lang="en-US" sz="1300" dirty="0"/>
          </a:p>
        </p:txBody>
      </p:sp>
      <p:sp>
        <p:nvSpPr>
          <p:cNvPr id="12" name="Text 8"/>
          <p:cNvSpPr/>
          <p:nvPr/>
        </p:nvSpPr>
        <p:spPr>
          <a:xfrm>
            <a:off x="4618634" y="2816352"/>
            <a:ext cx="2954426" cy="1005840"/>
          </a:xfrm>
          <a:prstGeom prst="rect">
            <a:avLst/>
          </a:prstGeom>
          <a:noFill/>
          <a:ln/>
        </p:spPr>
        <p:txBody>
          <a:bodyPr wrap="square" lIns="0" tIns="0" rIns="0" bIns="0" rtlCol="0" anchor="t"/>
          <a:lstStyle/>
          <a:p>
            <a:pPr marL="0" indent="0">
              <a:lnSpc>
                <a:spcPct val="114000"/>
              </a:lnSpc>
              <a:buNone/>
            </a:pPr>
            <a:r>
              <a:rPr lang="en-US" sz="900" dirty="0">
                <a:solidFill>
                  <a:srgbClr val="6B7488"/>
                </a:solidFill>
                <a:latin typeface="Arial" pitchFamily="34" charset="0"/>
                <a:ea typeface="Arial" pitchFamily="34" charset="-122"/>
                <a:cs typeface="Arial" pitchFamily="34" charset="-120"/>
              </a:rPr>
              <a:t>Reads a broad patch, tens to hundreds of metres. The mission already maps in detail; this supplies the calibrated value that map is read against.</a:t>
            </a:r>
            <a:endParaRPr lang="en-US" sz="900" dirty="0"/>
          </a:p>
        </p:txBody>
      </p:sp>
      <p:sp>
        <p:nvSpPr>
          <p:cNvPr id="13" name="Shape 9"/>
          <p:cNvSpPr/>
          <p:nvPr/>
        </p:nvSpPr>
        <p:spPr>
          <a:xfrm>
            <a:off x="8066837" y="2084832"/>
            <a:ext cx="3466490" cy="1883664"/>
          </a:xfrm>
          <a:prstGeom prst="roundRect">
            <a:avLst>
              <a:gd name="adj" fmla="val 4369"/>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14" name="Text 10"/>
          <p:cNvSpPr/>
          <p:nvPr/>
        </p:nvSpPr>
        <p:spPr>
          <a:xfrm>
            <a:off x="8322869" y="2286000"/>
            <a:ext cx="2954426" cy="420624"/>
          </a:xfrm>
          <a:prstGeom prst="rect">
            <a:avLst/>
          </a:prstGeom>
          <a:noFill/>
          <a:ln/>
        </p:spPr>
        <p:txBody>
          <a:bodyPr wrap="square" lIns="0" tIns="0" rIns="0" bIns="0" rtlCol="0" anchor="ctr"/>
          <a:lstStyle/>
          <a:p>
            <a:pPr marL="0" indent="0">
              <a:lnSpc>
                <a:spcPct val="96000"/>
              </a:lnSpc>
              <a:buNone/>
            </a:pPr>
            <a:r>
              <a:rPr lang="en-US" sz="1300" b="1" dirty="0">
                <a:solidFill>
                  <a:srgbClr val="13234C"/>
                </a:solidFill>
                <a:latin typeface="29LT Adir" pitchFamily="34" charset="0"/>
                <a:ea typeface="29LT Adir" pitchFamily="34" charset="-122"/>
                <a:cs typeface="29LT Adir" pitchFamily="34" charset="-120"/>
              </a:rPr>
              <a:t>Integration time</a:t>
            </a:r>
            <a:endParaRPr lang="en-US" sz="1300" dirty="0"/>
          </a:p>
        </p:txBody>
      </p:sp>
      <p:sp>
        <p:nvSpPr>
          <p:cNvPr id="15" name="Text 11"/>
          <p:cNvSpPr/>
          <p:nvPr/>
        </p:nvSpPr>
        <p:spPr>
          <a:xfrm>
            <a:off x="8322869" y="2816352"/>
            <a:ext cx="2954426" cy="1005840"/>
          </a:xfrm>
          <a:prstGeom prst="rect">
            <a:avLst/>
          </a:prstGeom>
          <a:noFill/>
          <a:ln/>
        </p:spPr>
        <p:txBody>
          <a:bodyPr wrap="square" lIns="0" tIns="0" rIns="0" bIns="0" rtlCol="0" anchor="t"/>
          <a:lstStyle/>
          <a:p>
            <a:pPr marL="0" indent="0">
              <a:lnSpc>
                <a:spcPct val="114000"/>
              </a:lnSpc>
              <a:buNone/>
            </a:pPr>
            <a:r>
              <a:rPr lang="en-US" sz="900" dirty="0">
                <a:solidFill>
                  <a:srgbClr val="6B7488"/>
                </a:solidFill>
                <a:latin typeface="Arial" pitchFamily="34" charset="0"/>
                <a:ea typeface="Arial" pitchFamily="34" charset="-122"/>
                <a:cs typeface="Arial" pitchFamily="34" charset="-120"/>
              </a:rPr>
              <a:t>Gamma emission is faint, so precision accumulates over hours and days. The instrument is passive — no laser, no mechanism, no pointing — and gathers while the spacecraft works.</a:t>
            </a:r>
            <a:endParaRPr lang="en-US" sz="900" dirty="0"/>
          </a:p>
        </p:txBody>
      </p:sp>
      <p:sp>
        <p:nvSpPr>
          <p:cNvPr id="16" name="Text 12"/>
          <p:cNvSpPr/>
          <p:nvPr/>
        </p:nvSpPr>
        <p:spPr>
          <a:xfrm>
            <a:off x="658368" y="4187952"/>
            <a:ext cx="6400800" cy="219456"/>
          </a:xfrm>
          <a:prstGeom prst="rect">
            <a:avLst/>
          </a:prstGeom>
          <a:noFill/>
          <a:ln/>
        </p:spPr>
        <p:txBody>
          <a:bodyPr wrap="square" lIns="0" tIns="0" rIns="0" bIns="0" rtlCol="0" anchor="ctr"/>
          <a:lstStyle/>
          <a:p>
            <a:pPr marL="0" indent="0">
              <a:buNone/>
            </a:pPr>
            <a:r>
              <a:rPr lang="en-US" sz="900" b="1" kern="0" spc="200" dirty="0">
                <a:solidFill>
                  <a:srgbClr val="6B7488"/>
                </a:solidFill>
                <a:latin typeface="Arial" pitchFamily="34" charset="0"/>
                <a:ea typeface="Arial" pitchFamily="34" charset="-122"/>
                <a:cs typeface="Arial" pitchFamily="34" charset="-120"/>
              </a:rPr>
              <a:t>PARTNERSHIP — GAMMA-RAY SPECTROMETERS BUILT</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 y="4462272"/>
          <a:ext cx="6720840" cy="1049528"/>
        </p:xfrm>
        <a:graphic>
          <a:graphicData uri="http://schemas.openxmlformats.org/drawingml/2006/table">
            <a:tbl>
              <a:tblPr/>
              <a:tblGrid>
                <a:gridCol w="1874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29184">
                <a:tc>
                  <a:txBody>
                    <a:bodyPr/>
                    <a:lstStyle/>
                    <a:p>
                      <a:pPr marL="0" indent="0">
                        <a:buNone/>
                      </a:pPr>
                      <a:r>
                        <a:rPr lang="en-US" sz="950" b="1" dirty="0">
                          <a:solidFill>
                            <a:srgbClr val="FFFFFF"/>
                          </a:solidFill>
                          <a:latin typeface="Arial" pitchFamily="34" charset="0"/>
                          <a:ea typeface="Arial" pitchFamily="34" charset="-122"/>
                          <a:cs typeface="Arial" pitchFamily="34" charset="-120"/>
                        </a:rPr>
                        <a:t>Laboratory</a:t>
                      </a:r>
                      <a:endParaRPr lang="en-US" sz="95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Role</a:t>
                      </a:r>
                      <a:endParaRPr lang="en-US" sz="95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Instruments built</a:t>
                      </a:r>
                      <a:endParaRPr lang="en-US" sz="95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extLst>
                  <a:ext uri="{0D108BD9-81ED-4DB2-BD59-A6C34878D82A}">
                    <a16:rowId xmlns:a16="http://schemas.microsoft.com/office/drawing/2014/main" val="10000"/>
                  </a:ext>
                </a:extLst>
              </a:tr>
              <a:tr h="329184">
                <a:tc>
                  <a:txBody>
                    <a:bodyPr/>
                    <a:lstStyle/>
                    <a:p>
                      <a:pPr marL="0" indent="0">
                        <a:buNone/>
                      </a:pPr>
                      <a:r>
                        <a:rPr lang="en-US" sz="950" b="1" dirty="0">
                          <a:solidFill>
                            <a:srgbClr val="151B29"/>
                          </a:solidFill>
                          <a:latin typeface="Arial" pitchFamily="34" charset="0"/>
                          <a:ea typeface="Arial" pitchFamily="34" charset="-122"/>
                          <a:cs typeface="Arial" pitchFamily="34" charset="-120"/>
                        </a:rPr>
                        <a:t>Johns Hopkins APL</a:t>
                      </a:r>
                      <a:endParaRPr lang="en-US" sz="95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950" dirty="0">
                          <a:solidFill>
                            <a:srgbClr val="151B29"/>
                          </a:solidFill>
                          <a:latin typeface="Arial" pitchFamily="34" charset="0"/>
                          <a:ea typeface="Arial" pitchFamily="34" charset="-122"/>
                          <a:cs typeface="Arial" pitchFamily="34" charset="-120"/>
                        </a:rPr>
                        <a:t>Instrument lead and integrator</a:t>
                      </a:r>
                      <a:endParaRPr lang="en-US" sz="95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950" dirty="0">
                          <a:solidFill>
                            <a:srgbClr val="151B29"/>
                          </a:solidFill>
                          <a:latin typeface="Arial" pitchFamily="34" charset="0"/>
                          <a:ea typeface="Arial" pitchFamily="34" charset="-122"/>
                          <a:cs typeface="Arial" pitchFamily="34" charset="-120"/>
                        </a:rPr>
                        <a:t>NEAR Shoemaker, MESSENGER, MEGANE, Psyche, Dragonfly</a:t>
                      </a:r>
                      <a:endParaRPr lang="en-US" sz="95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50" b="1" dirty="0">
                          <a:solidFill>
                            <a:srgbClr val="151B29"/>
                          </a:solidFill>
                          <a:latin typeface="Arial" pitchFamily="34" charset="0"/>
                          <a:ea typeface="Arial" pitchFamily="34" charset="-122"/>
                          <a:cs typeface="Arial" pitchFamily="34" charset="-120"/>
                        </a:rPr>
                        <a:t>Lawrence Livermore NL</a:t>
                      </a:r>
                      <a:endParaRPr lang="en-US" sz="95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950" dirty="0">
                          <a:solidFill>
                            <a:srgbClr val="151B29"/>
                          </a:solidFill>
                          <a:latin typeface="Arial" pitchFamily="34" charset="0"/>
                          <a:ea typeface="Arial" pitchFamily="34" charset="-122"/>
                          <a:cs typeface="Arial" pitchFamily="34" charset="-120"/>
                        </a:rPr>
                        <a:t>High-purity germanium sensor</a:t>
                      </a:r>
                      <a:endParaRPr lang="en-US" sz="95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950" dirty="0">
                          <a:solidFill>
                            <a:srgbClr val="151B29"/>
                          </a:solidFill>
                          <a:latin typeface="Arial" pitchFamily="34" charset="0"/>
                          <a:ea typeface="Arial" pitchFamily="34" charset="-122"/>
                          <a:cs typeface="Arial" pitchFamily="34" charset="-120"/>
                        </a:rPr>
                        <a:t>MESSENGER, MEGANE, Psyche</a:t>
                      </a:r>
                      <a:endParaRPr lang="en-US" sz="95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bl>
          </a:graphicData>
        </a:graphic>
      </p:graphicFrame>
      <p:sp>
        <p:nvSpPr>
          <p:cNvPr id="17" name="Text 13"/>
          <p:cNvSpPr/>
          <p:nvPr/>
        </p:nvSpPr>
        <p:spPr>
          <a:xfrm>
            <a:off x="7699248" y="4187952"/>
            <a:ext cx="3840480" cy="219456"/>
          </a:xfrm>
          <a:prstGeom prst="rect">
            <a:avLst/>
          </a:prstGeom>
          <a:noFill/>
          <a:ln/>
        </p:spPr>
        <p:txBody>
          <a:bodyPr wrap="square" lIns="0" tIns="0" rIns="0" bIns="0" rtlCol="0" anchor="ctr"/>
          <a:lstStyle/>
          <a:p>
            <a:pPr marL="0" indent="0">
              <a:buNone/>
            </a:pPr>
            <a:r>
              <a:rPr lang="en-US" sz="900" b="1" kern="0" spc="200" dirty="0">
                <a:solidFill>
                  <a:srgbClr val="6B7488"/>
                </a:solidFill>
                <a:latin typeface="Arial" pitchFamily="34" charset="0"/>
                <a:ea typeface="Arial" pitchFamily="34" charset="-122"/>
                <a:cs typeface="Arial" pitchFamily="34" charset="-120"/>
              </a:rPr>
              <a:t>OPEN FOR THE FIRST TECHNICAL EXCHANGE</a:t>
            </a:r>
            <a:endParaRPr lang="en-US" sz="900" dirty="0"/>
          </a:p>
        </p:txBody>
      </p:sp>
      <p:sp>
        <p:nvSpPr>
          <p:cNvPr id="19" name="Shape 14"/>
          <p:cNvSpPr/>
          <p:nvPr/>
        </p:nvSpPr>
        <p:spPr>
          <a:xfrm>
            <a:off x="7699248" y="4462272"/>
            <a:ext cx="3831336" cy="1645920"/>
          </a:xfrm>
          <a:prstGeom prst="roundRect">
            <a:avLst>
              <a:gd name="adj" fmla="val 5000"/>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20" name="Shape 15"/>
          <p:cNvSpPr/>
          <p:nvPr/>
        </p:nvSpPr>
        <p:spPr>
          <a:xfrm>
            <a:off x="7955280" y="4704588"/>
            <a:ext cx="64008" cy="64008"/>
          </a:xfrm>
          <a:prstGeom prst="ellipse">
            <a:avLst/>
          </a:prstGeom>
          <a:solidFill>
            <a:srgbClr val="E8A33D"/>
          </a:solidFill>
          <a:ln/>
        </p:spPr>
        <p:txBody>
          <a:bodyPr/>
          <a:lstStyle/>
          <a:p>
            <a:endParaRPr lang="en-US"/>
          </a:p>
        </p:txBody>
      </p:sp>
      <p:sp>
        <p:nvSpPr>
          <p:cNvPr id="21" name="Text 16"/>
          <p:cNvSpPr/>
          <p:nvPr/>
        </p:nvSpPr>
        <p:spPr>
          <a:xfrm>
            <a:off x="8156448" y="4599432"/>
            <a:ext cx="3200400" cy="512064"/>
          </a:xfrm>
          <a:prstGeom prst="rect">
            <a:avLst/>
          </a:prstGeom>
          <a:noFill/>
          <a:ln/>
        </p:spPr>
        <p:txBody>
          <a:bodyPr wrap="square" lIns="0" tIns="0" rIns="0" bIns="0" rtlCol="0" anchor="t"/>
          <a:lstStyle/>
          <a:p>
            <a:pPr marL="0" indent="0">
              <a:lnSpc>
                <a:spcPct val="114000"/>
              </a:lnSpc>
              <a:buNone/>
            </a:pPr>
            <a:r>
              <a:rPr lang="en-US" sz="900" dirty="0">
                <a:solidFill>
                  <a:srgbClr val="151B29"/>
                </a:solidFill>
                <a:latin typeface="Arial" pitchFamily="34" charset="0"/>
                <a:ea typeface="Arial" pitchFamily="34" charset="-122"/>
                <a:cs typeface="Arial" pitchFamily="34" charset="-120"/>
              </a:rPr>
              <a:t>Footprint achievable at the planned operating altitude.</a:t>
            </a:r>
            <a:endParaRPr lang="en-US" sz="900" dirty="0"/>
          </a:p>
        </p:txBody>
      </p:sp>
      <p:sp>
        <p:nvSpPr>
          <p:cNvPr id="22" name="Shape 17"/>
          <p:cNvSpPr/>
          <p:nvPr/>
        </p:nvSpPr>
        <p:spPr>
          <a:xfrm>
            <a:off x="7955280" y="5106924"/>
            <a:ext cx="64008" cy="64008"/>
          </a:xfrm>
          <a:prstGeom prst="ellipse">
            <a:avLst/>
          </a:prstGeom>
          <a:solidFill>
            <a:srgbClr val="E8A33D"/>
          </a:solidFill>
          <a:ln/>
        </p:spPr>
        <p:txBody>
          <a:bodyPr/>
          <a:lstStyle/>
          <a:p>
            <a:endParaRPr lang="en-US"/>
          </a:p>
        </p:txBody>
      </p:sp>
      <p:sp>
        <p:nvSpPr>
          <p:cNvPr id="23" name="Text 18"/>
          <p:cNvSpPr/>
          <p:nvPr/>
        </p:nvSpPr>
        <p:spPr>
          <a:xfrm>
            <a:off x="8156448" y="5001768"/>
            <a:ext cx="3200400" cy="512064"/>
          </a:xfrm>
          <a:prstGeom prst="rect">
            <a:avLst/>
          </a:prstGeom>
          <a:noFill/>
          <a:ln/>
        </p:spPr>
        <p:txBody>
          <a:bodyPr wrap="square" lIns="0" tIns="0" rIns="0" bIns="0" rtlCol="0" anchor="t"/>
          <a:lstStyle/>
          <a:p>
            <a:pPr marL="0" indent="0">
              <a:lnSpc>
                <a:spcPct val="114000"/>
              </a:lnSpc>
              <a:buNone/>
            </a:pPr>
            <a:r>
              <a:rPr lang="en-US" sz="900" dirty="0">
                <a:solidFill>
                  <a:srgbClr val="151B29"/>
                </a:solidFill>
                <a:latin typeface="Arial" pitchFamily="34" charset="0"/>
                <a:ea typeface="Arial" pitchFamily="34" charset="-122"/>
                <a:cs typeface="Arial" pitchFamily="34" charset="-120"/>
              </a:rPr>
              <a:t>Boom against body mounting — spacecraft materials generate the same background the instrument measures.</a:t>
            </a:r>
            <a:endParaRPr lang="en-US" sz="900" dirty="0"/>
          </a:p>
        </p:txBody>
      </p:sp>
      <p:sp>
        <p:nvSpPr>
          <p:cNvPr id="24" name="Shape 19"/>
          <p:cNvSpPr/>
          <p:nvPr/>
        </p:nvSpPr>
        <p:spPr>
          <a:xfrm>
            <a:off x="7955280" y="5637276"/>
            <a:ext cx="64008" cy="64008"/>
          </a:xfrm>
          <a:prstGeom prst="ellipse">
            <a:avLst/>
          </a:prstGeom>
          <a:solidFill>
            <a:srgbClr val="E8A33D"/>
          </a:solidFill>
          <a:ln/>
        </p:spPr>
        <p:txBody>
          <a:bodyPr/>
          <a:lstStyle/>
          <a:p>
            <a:endParaRPr lang="en-US"/>
          </a:p>
        </p:txBody>
      </p:sp>
      <p:sp>
        <p:nvSpPr>
          <p:cNvPr id="25" name="Text 20"/>
          <p:cNvSpPr/>
          <p:nvPr/>
        </p:nvSpPr>
        <p:spPr>
          <a:xfrm>
            <a:off x="8156448" y="5532120"/>
            <a:ext cx="3200400" cy="512064"/>
          </a:xfrm>
          <a:prstGeom prst="rect">
            <a:avLst/>
          </a:prstGeom>
          <a:noFill/>
          <a:ln/>
        </p:spPr>
        <p:txBody>
          <a:bodyPr wrap="square" lIns="0" tIns="0" rIns="0" bIns="0" rtlCol="0" anchor="t"/>
          <a:lstStyle/>
          <a:p>
            <a:pPr marL="0" indent="0">
              <a:lnSpc>
                <a:spcPct val="114000"/>
              </a:lnSpc>
              <a:buNone/>
            </a:pPr>
            <a:r>
              <a:rPr lang="en-US" sz="900" dirty="0">
                <a:solidFill>
                  <a:srgbClr val="151B29"/>
                </a:solidFill>
                <a:latin typeface="Arial" pitchFamily="34" charset="0"/>
                <a:ea typeface="Arial" pitchFamily="34" charset="-122"/>
                <a:cs typeface="Arial" pitchFamily="34" charset="-120"/>
              </a:rPr>
              <a:t>Export control and technology transfer: both laboratories are United States national laboratories.</a:t>
            </a:r>
            <a:endParaRPr lang="en-US" sz="900" dirty="0"/>
          </a:p>
        </p:txBody>
      </p:sp>
      <p:pic>
        <p:nvPicPr>
          <p:cNvPr id="28" name="Image 1" descr="/home/claude/work/a2/logo_dark.png">
            <a:extLst>
              <a:ext uri="{FF2B5EF4-FFF2-40B4-BE49-F238E27FC236}">
                <a16:creationId xmlns:a16="http://schemas.microsoft.com/office/drawing/2014/main" id="{E886F984-67BC-4108-97AA-4239459CAB77}"/>
              </a:ext>
            </a:extLst>
          </p:cNvPr>
          <p:cNvPicPr>
            <a:picLocks noChangeAspect="1"/>
          </p:cNvPicPr>
          <p:nvPr/>
        </p:nvPicPr>
        <p:blipFill>
          <a:blip r:embed="rId5"/>
          <a:stretch>
            <a:fillRect/>
          </a:stretch>
        </p:blipFill>
        <p:spPr>
          <a:xfrm>
            <a:off x="10616340" y="122984"/>
            <a:ext cx="1450538" cy="814736"/>
          </a:xfrm>
          <a:prstGeom prst="rect">
            <a:avLst/>
          </a:prstGeom>
        </p:spPr>
      </p:pic>
      <p:sp>
        <p:nvSpPr>
          <p:cNvPr id="31" name="BJPseudoFooter">
            <a:extLst>
              <a:ext uri="{FF2B5EF4-FFF2-40B4-BE49-F238E27FC236}">
                <a16:creationId xmlns:a16="http://schemas.microsoft.com/office/drawing/2014/main" id="{972A2355-2765-8935-94F9-8D20851D7D63}"/>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bg>
      <p:bgPr>
        <a:solidFill>
          <a:srgbClr val="F7F8FB"/>
        </a:solidFill>
        <a:effectLst/>
      </p:bgPr>
    </p:bg>
    <p:spTree>
      <p:nvGrpSpPr>
        <p:cNvPr id="1" name=""/>
        <p:cNvGrpSpPr/>
        <p:nvPr/>
      </p:nvGrpSpPr>
      <p:grpSpPr>
        <a:xfrm>
          <a:off x="0" y="0"/>
          <a:ext cx="0" cy="0"/>
          <a:chOff x="0" y="0"/>
          <a:chExt cx="0" cy="0"/>
        </a:xfrm>
      </p:grpSpPr>
      <p:pic>
        <p:nvPicPr>
          <p:cNvPr id="2" name="Image 0" descr="/home/claude/work/a2/light_wash.jpg"/>
          <p:cNvPicPr>
            <a:picLocks noChangeAspect="1"/>
          </p:cNvPicPr>
          <p:nvPr/>
        </p:nvPicPr>
        <p:blipFill>
          <a:blip r:embed="rId4"/>
          <a:stretch>
            <a:fillRect/>
          </a:stretch>
        </p:blipFill>
        <p:spPr>
          <a:xfrm>
            <a:off x="0" y="0"/>
            <a:ext cx="12191695" cy="6858000"/>
          </a:xfrm>
          <a:prstGeom prst="rect">
            <a:avLst/>
          </a:prstGeom>
        </p:spPr>
      </p:pic>
      <p:sp>
        <p:nvSpPr>
          <p:cNvPr id="4" name="Text 0"/>
          <p:cNvSpPr/>
          <p:nvPr/>
        </p:nvSpPr>
        <p:spPr>
          <a:xfrm>
            <a:off x="658368" y="530352"/>
            <a:ext cx="9052560" cy="219456"/>
          </a:xfrm>
          <a:prstGeom prst="rect">
            <a:avLst/>
          </a:prstGeom>
          <a:noFill/>
          <a:ln/>
        </p:spPr>
        <p:txBody>
          <a:bodyPr wrap="square" lIns="0" tIns="0" rIns="0" bIns="0" rtlCol="0" anchor="ctr"/>
          <a:lstStyle/>
          <a:p>
            <a:pPr marL="0" indent="0">
              <a:buNone/>
            </a:pPr>
            <a:r>
              <a:rPr lang="en-US" sz="950" b="1" kern="0" spc="240" dirty="0">
                <a:solidFill>
                  <a:srgbClr val="E8A33D"/>
                </a:solidFill>
                <a:latin typeface="Arial" pitchFamily="34" charset="0"/>
                <a:ea typeface="Arial" pitchFamily="34" charset="-122"/>
                <a:cs typeface="Arial" pitchFamily="34" charset="-120"/>
              </a:rPr>
              <a:t>APPENDIX</a:t>
            </a:r>
            <a:endParaRPr lang="en-US" sz="950" dirty="0"/>
          </a:p>
        </p:txBody>
      </p:sp>
      <p:sp>
        <p:nvSpPr>
          <p:cNvPr id="5" name="Text 1"/>
          <p:cNvSpPr/>
          <p:nvPr/>
        </p:nvSpPr>
        <p:spPr>
          <a:xfrm>
            <a:off x="658368" y="795528"/>
            <a:ext cx="9052560" cy="409903"/>
          </a:xfrm>
          <a:prstGeom prst="rect">
            <a:avLst/>
          </a:prstGeom>
          <a:noFill/>
          <a:ln/>
        </p:spPr>
        <p:txBody>
          <a:bodyPr wrap="square" lIns="0" tIns="0" rIns="0" bIns="0" rtlCol="0" anchor="ctr"/>
          <a:lstStyle/>
          <a:p>
            <a:pPr marL="0" indent="0">
              <a:lnSpc>
                <a:spcPct val="92000"/>
              </a:lnSpc>
              <a:buNone/>
            </a:pPr>
            <a:r>
              <a:rPr lang="en-US" sz="2600" b="1" dirty="0">
                <a:solidFill>
                  <a:srgbClr val="13234C"/>
                </a:solidFill>
                <a:latin typeface="29LT Adir" pitchFamily="34" charset="0"/>
                <a:ea typeface="29LT Adir" pitchFamily="34" charset="-122"/>
                <a:cs typeface="29LT Adir" pitchFamily="34" charset="-120"/>
              </a:rPr>
              <a:t>Opportunity Register — Evidence</a:t>
            </a:r>
            <a:endParaRPr lang="en-US" sz="2600" dirty="0"/>
          </a:p>
        </p:txBody>
      </p:sp>
      <p:sp>
        <p:nvSpPr>
          <p:cNvPr id="6" name="Text 2"/>
          <p:cNvSpPr/>
          <p:nvPr/>
        </p:nvSpPr>
        <p:spPr>
          <a:xfrm>
            <a:off x="658368" y="1260295"/>
            <a:ext cx="9052560" cy="329184"/>
          </a:xfrm>
          <a:prstGeom prst="rect">
            <a:avLst/>
          </a:prstGeom>
          <a:noFill/>
          <a:ln/>
        </p:spPr>
        <p:txBody>
          <a:bodyPr wrap="square" lIns="0" tIns="0" rIns="0" bIns="0" rtlCol="0" anchor="t"/>
          <a:lstStyle/>
          <a:p>
            <a:pPr marL="0" indent="0">
              <a:buNone/>
            </a:pPr>
            <a:r>
              <a:rPr lang="en-US" sz="1250" dirty="0">
                <a:solidFill>
                  <a:srgbClr val="6B7488"/>
                </a:solidFill>
                <a:latin typeface="Arial" pitchFamily="34" charset="0"/>
                <a:ea typeface="Arial" pitchFamily="34" charset="-122"/>
                <a:cs typeface="Arial" pitchFamily="34" charset="-120"/>
              </a:rPr>
              <a:t>Why no confirmed instrument meets each registered opportunity.</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8368" y="2011680"/>
          <a:ext cx="10874959" cy="2103120"/>
        </p:xfrm>
        <a:graphic>
          <a:graphicData uri="http://schemas.openxmlformats.org/drawingml/2006/table">
            <a:tbl>
              <a:tblPr/>
              <a:tblGrid>
                <a:gridCol w="7772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gridCol w="2188159">
                  <a:extLst>
                    <a:ext uri="{9D8B030D-6E8A-4147-A177-3AD203B41FA5}">
                      <a16:colId xmlns:a16="http://schemas.microsoft.com/office/drawing/2014/main" val="20003"/>
                    </a:ext>
                  </a:extLst>
                </a:gridCol>
              </a:tblGrid>
              <a:tr h="420624">
                <a:tc>
                  <a:txBody>
                    <a:bodyPr/>
                    <a:lstStyle/>
                    <a:p>
                      <a:pPr marL="0" indent="0">
                        <a:buNone/>
                      </a:pPr>
                      <a:r>
                        <a:rPr lang="en-US" sz="1000" b="1" dirty="0">
                          <a:solidFill>
                            <a:srgbClr val="FFFFFF"/>
                          </a:solidFill>
                          <a:latin typeface="Arial" pitchFamily="34" charset="0"/>
                          <a:ea typeface="Arial" pitchFamily="34" charset="-122"/>
                          <a:cs typeface="Arial" pitchFamily="34" charset="-120"/>
                        </a:rPr>
                        <a:t>ID</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Opportunity</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Why no confirmed instrument meets it</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Outcome</a:t>
                      </a:r>
                      <a:endParaRPr lang="en-US" sz="10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13234C"/>
                    </a:solidFill>
                  </a:tcPr>
                </a:tc>
                <a:extLst>
                  <a:ext uri="{0D108BD9-81ED-4DB2-BD59-A6C34878D82A}">
                    <a16:rowId xmlns:a16="http://schemas.microsoft.com/office/drawing/2014/main" val="10000"/>
                  </a:ext>
                </a:extLst>
              </a:tr>
              <a:tr h="420624">
                <a:tc>
                  <a:txBody>
                    <a:bodyPr/>
                    <a:lstStyle/>
                    <a:p>
                      <a:pPr marL="0" indent="0">
                        <a:buNone/>
                      </a:pPr>
                      <a:r>
                        <a:rPr lang="en-US" sz="900" b="1" dirty="0">
                          <a:solidFill>
                            <a:srgbClr val="151B29"/>
                          </a:solidFill>
                          <a:latin typeface="Arial" pitchFamily="34" charset="0"/>
                          <a:ea typeface="Arial" pitchFamily="34" charset="-122"/>
                          <a:cs typeface="Arial" pitchFamily="34" charset="-120"/>
                        </a:rPr>
                        <a:t>GAP-1</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Hydration state</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HAMLET's range ends at 1500 nm. The diagnostic OH and water bands near 2.0 and 3.0 µm fall outside it, and no other instrument covers that region.</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Removed — strategist / scientist</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900" b="1" dirty="0">
                          <a:solidFill>
                            <a:srgbClr val="151B29"/>
                          </a:solidFill>
                          <a:latin typeface="Arial" pitchFamily="34" charset="0"/>
                          <a:ea typeface="Arial" pitchFamily="34" charset="-122"/>
                          <a:cs typeface="Arial" pitchFamily="34" charset="-120"/>
                        </a:rPr>
                        <a:t>GAP-2</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8EC"/>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Weathering-corrected composition</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8EC"/>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All compositional instruments observe only the space-weathered surface layer. No independent reference exists against which the correction can be established.</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8EC"/>
                    </a:solidFill>
                  </a:tcPr>
                </a:tc>
                <a:tc>
                  <a:txBody>
                    <a:bodyPr/>
                    <a:lstStyle/>
                    <a:p>
                      <a:pPr marL="0" indent="0">
                        <a:buNone/>
                      </a:pPr>
                      <a:r>
                        <a:rPr lang="en-US" sz="900" b="1" dirty="0">
                          <a:solidFill>
                            <a:srgbClr val="A8791F"/>
                          </a:solidFill>
                          <a:latin typeface="Arial" pitchFamily="34" charset="0"/>
                          <a:ea typeface="Arial" pitchFamily="34" charset="-122"/>
                          <a:cs typeface="Arial" pitchFamily="34" charset="-120"/>
                        </a:rPr>
                        <a:t>SELECTED</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8EC"/>
                    </a:solidFill>
                  </a:tcPr>
                </a:tc>
                <a:extLst>
                  <a:ext uri="{0D108BD9-81ED-4DB2-BD59-A6C34878D82A}">
                    <a16:rowId xmlns:a16="http://schemas.microsoft.com/office/drawing/2014/main" val="10002"/>
                  </a:ext>
                </a:extLst>
              </a:tr>
              <a:tr h="420624">
                <a:tc>
                  <a:txBody>
                    <a:bodyPr/>
                    <a:lstStyle/>
                    <a:p>
                      <a:pPr marL="0" indent="0">
                        <a:buNone/>
                      </a:pPr>
                      <a:r>
                        <a:rPr lang="en-US" sz="900" b="1" dirty="0">
                          <a:solidFill>
                            <a:srgbClr val="151B29"/>
                          </a:solidFill>
                          <a:latin typeface="Arial" pitchFamily="34" charset="0"/>
                          <a:ea typeface="Arial" pitchFamily="34" charset="-122"/>
                          <a:cs typeface="Arial" pitchFamily="34" charset="-120"/>
                        </a:rPr>
                        <a:t>GAP-3</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Regolith grain-size distribution</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Only TIRI bears on grain size, through thermal inertia, which is a proxy. Under the study's proxy rule a proxy does not close a requirement.</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Removed — overlap test</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900" b="1" dirty="0">
                          <a:solidFill>
                            <a:srgbClr val="151B29"/>
                          </a:solidFill>
                          <a:latin typeface="Arial" pitchFamily="34" charset="0"/>
                          <a:ea typeface="Arial" pitchFamily="34" charset="-122"/>
                          <a:cs typeface="Arial" pitchFamily="34" charset="-120"/>
                        </a:rPr>
                        <a:t>GAP-4</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Free Fe–Ni metallic phase fraction</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MARIE and HAMLET each give indirect indications of metal content, but neither separates free metallic iron from iron bound in silicates or oxides.</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tc>
                  <a:txBody>
                    <a:bodyPr/>
                    <a:lstStyle/>
                    <a:p>
                      <a:pPr marL="0" indent="0">
                        <a:buNone/>
                      </a:pPr>
                      <a:r>
                        <a:rPr lang="en-US" sz="900" dirty="0">
                          <a:solidFill>
                            <a:srgbClr val="151B29"/>
                          </a:solidFill>
                          <a:latin typeface="Arial" pitchFamily="34" charset="0"/>
                          <a:ea typeface="Arial" pitchFamily="34" charset="-122"/>
                          <a:cs typeface="Arial" pitchFamily="34" charset="-120"/>
                        </a:rPr>
                        <a:t>Removed — strategist / scientist</a:t>
                      </a:r>
                      <a:endParaRPr lang="en-US" sz="900" dirty="0">
                        <a:latin typeface="Arial" charset="0"/>
                        <a:ea typeface="Arial" charset="0"/>
                        <a:cs typeface="Arial" charset="0"/>
                      </a:endParaRPr>
                    </a:p>
                  </a:txBody>
                  <a:tcPr marL="101600" marR="101600" marT="50800" marB="50800" anchor="ctr">
                    <a:lnL w="9525" cap="flat" cmpd="sng" algn="ctr">
                      <a:solidFill>
                        <a:srgbClr val="E2E6EF"/>
                      </a:solidFill>
                      <a:prstDash val="solid"/>
                      <a:round/>
                      <a:headEnd type="none" w="med" len="med"/>
                      <a:tailEnd type="none" w="med" len="med"/>
                    </a:lnL>
                    <a:lnR w="9525" cap="flat" cmpd="sng" algn="ctr">
                      <a:solidFill>
                        <a:srgbClr val="E2E6EF"/>
                      </a:solidFill>
                      <a:prstDash val="solid"/>
                      <a:round/>
                      <a:headEnd type="none" w="med" len="med"/>
                      <a:tailEnd type="none" w="med" len="med"/>
                    </a:lnR>
                    <a:lnT w="9525" cap="flat" cmpd="sng" algn="ctr">
                      <a:solidFill>
                        <a:srgbClr val="E2E6EF"/>
                      </a:solidFill>
                      <a:prstDash val="solid"/>
                      <a:round/>
                      <a:headEnd type="none" w="med" len="med"/>
                      <a:tailEnd type="none" w="med" len="med"/>
                    </a:lnT>
                    <a:lnB w="9525" cap="flat" cmpd="sng" algn="ctr">
                      <a:solidFill>
                        <a:srgbClr val="E2E6EF"/>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bl>
          </a:graphicData>
        </a:graphic>
      </p:graphicFrame>
      <p:sp>
        <p:nvSpPr>
          <p:cNvPr id="8" name="Text 3"/>
          <p:cNvSpPr/>
          <p:nvPr/>
        </p:nvSpPr>
        <p:spPr>
          <a:xfrm>
            <a:off x="658368" y="4700016"/>
            <a:ext cx="6400800" cy="219456"/>
          </a:xfrm>
          <a:prstGeom prst="rect">
            <a:avLst/>
          </a:prstGeom>
          <a:noFill/>
          <a:ln/>
        </p:spPr>
        <p:txBody>
          <a:bodyPr wrap="square" lIns="0" tIns="0" rIns="0" bIns="0" rtlCol="0" anchor="ctr"/>
          <a:lstStyle/>
          <a:p>
            <a:pPr marL="0" indent="0">
              <a:buNone/>
            </a:pPr>
            <a:r>
              <a:rPr lang="en-US" sz="900" b="1" kern="0" spc="200" dirty="0">
                <a:solidFill>
                  <a:srgbClr val="6B7488"/>
                </a:solidFill>
                <a:latin typeface="Arial" pitchFamily="34" charset="0"/>
                <a:ea typeface="Arial" pitchFamily="34" charset="-122"/>
                <a:cs typeface="Arial" pitchFamily="34" charset="-120"/>
              </a:rPr>
              <a:t>OVERLAP CHECK AGAINST THE CONFIRMED PAYLOAD</a:t>
            </a:r>
            <a:endParaRPr lang="en-US" sz="900" dirty="0"/>
          </a:p>
        </p:txBody>
      </p:sp>
      <p:sp>
        <p:nvSpPr>
          <p:cNvPr id="9" name="Shape 4"/>
          <p:cNvSpPr/>
          <p:nvPr/>
        </p:nvSpPr>
        <p:spPr>
          <a:xfrm>
            <a:off x="658368" y="4992624"/>
            <a:ext cx="2540432" cy="1042416"/>
          </a:xfrm>
          <a:prstGeom prst="roundRect">
            <a:avLst>
              <a:gd name="adj" fmla="val 7895"/>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10" name="Text 5"/>
          <p:cNvSpPr/>
          <p:nvPr/>
        </p:nvSpPr>
        <p:spPr>
          <a:xfrm>
            <a:off x="877824" y="5138928"/>
            <a:ext cx="2101520" cy="237744"/>
          </a:xfrm>
          <a:prstGeom prst="rect">
            <a:avLst/>
          </a:prstGeom>
          <a:noFill/>
          <a:ln/>
        </p:spPr>
        <p:txBody>
          <a:bodyPr wrap="square" lIns="0" tIns="0" rIns="0" bIns="0" rtlCol="0" anchor="ctr"/>
          <a:lstStyle/>
          <a:p>
            <a:pPr marL="0" indent="0">
              <a:buNone/>
            </a:pPr>
            <a:r>
              <a:rPr lang="en-US" sz="1200" b="1" dirty="0">
                <a:solidFill>
                  <a:srgbClr val="13234C"/>
                </a:solidFill>
                <a:latin typeface="29LT Adir" pitchFamily="34" charset="0"/>
                <a:ea typeface="29LT Adir" pitchFamily="34" charset="-122"/>
                <a:cs typeface="29LT Adir" pitchFamily="34" charset="-120"/>
              </a:rPr>
              <a:t>HAMLET</a:t>
            </a:r>
            <a:endParaRPr lang="en-US" sz="1200" dirty="0"/>
          </a:p>
        </p:txBody>
      </p:sp>
      <p:sp>
        <p:nvSpPr>
          <p:cNvPr id="11" name="Text 6"/>
          <p:cNvSpPr/>
          <p:nvPr/>
        </p:nvSpPr>
        <p:spPr>
          <a:xfrm>
            <a:off x="877824" y="5413248"/>
            <a:ext cx="2101520" cy="530352"/>
          </a:xfrm>
          <a:prstGeom prst="rect">
            <a:avLst/>
          </a:prstGeom>
          <a:noFill/>
          <a:ln/>
        </p:spPr>
        <p:txBody>
          <a:bodyPr wrap="square" lIns="0" tIns="0" rIns="0" bIns="0" rtlCol="0" anchor="t"/>
          <a:lstStyle/>
          <a:p>
            <a:pPr marL="0" indent="0">
              <a:lnSpc>
                <a:spcPct val="112000"/>
              </a:lnSpc>
              <a:buNone/>
            </a:pPr>
            <a:r>
              <a:rPr lang="en-US" sz="850" dirty="0">
                <a:solidFill>
                  <a:srgbClr val="6B7488"/>
                </a:solidFill>
                <a:latin typeface="Arial" pitchFamily="34" charset="0"/>
                <a:ea typeface="Arial" pitchFamily="34" charset="-122"/>
                <a:cs typeface="Arial" pitchFamily="34" charset="-120"/>
              </a:rPr>
              <a:t>Closed inference, maturity map derived from the spectrum it would correct</a:t>
            </a:r>
            <a:endParaRPr lang="en-US" sz="850" dirty="0"/>
          </a:p>
        </p:txBody>
      </p:sp>
      <p:sp>
        <p:nvSpPr>
          <p:cNvPr id="12" name="Shape 7"/>
          <p:cNvSpPr/>
          <p:nvPr/>
        </p:nvSpPr>
        <p:spPr>
          <a:xfrm>
            <a:off x="3436544" y="4992624"/>
            <a:ext cx="2540432" cy="1042416"/>
          </a:xfrm>
          <a:prstGeom prst="roundRect">
            <a:avLst>
              <a:gd name="adj" fmla="val 7895"/>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13" name="Text 8"/>
          <p:cNvSpPr/>
          <p:nvPr/>
        </p:nvSpPr>
        <p:spPr>
          <a:xfrm>
            <a:off x="3656000" y="5138928"/>
            <a:ext cx="2101520" cy="237744"/>
          </a:xfrm>
          <a:prstGeom prst="rect">
            <a:avLst/>
          </a:prstGeom>
          <a:noFill/>
          <a:ln/>
        </p:spPr>
        <p:txBody>
          <a:bodyPr wrap="square" lIns="0" tIns="0" rIns="0" bIns="0" rtlCol="0" anchor="ctr"/>
          <a:lstStyle/>
          <a:p>
            <a:pPr marL="0" indent="0">
              <a:buNone/>
            </a:pPr>
            <a:r>
              <a:rPr lang="en-US" sz="1200" b="1" dirty="0">
                <a:solidFill>
                  <a:srgbClr val="13234C"/>
                </a:solidFill>
                <a:latin typeface="29LT Adir" pitchFamily="34" charset="0"/>
                <a:ea typeface="29LT Adir" pitchFamily="34" charset="-122"/>
                <a:cs typeface="29LT Adir" pitchFamily="34" charset="-120"/>
              </a:rPr>
              <a:t>TIRI</a:t>
            </a:r>
            <a:endParaRPr lang="en-US" sz="1200" dirty="0"/>
          </a:p>
        </p:txBody>
      </p:sp>
      <p:sp>
        <p:nvSpPr>
          <p:cNvPr id="14" name="Text 9"/>
          <p:cNvSpPr/>
          <p:nvPr/>
        </p:nvSpPr>
        <p:spPr>
          <a:xfrm>
            <a:off x="3656000" y="5413248"/>
            <a:ext cx="2101520" cy="530352"/>
          </a:xfrm>
          <a:prstGeom prst="rect">
            <a:avLst/>
          </a:prstGeom>
          <a:noFill/>
          <a:ln/>
        </p:spPr>
        <p:txBody>
          <a:bodyPr wrap="square" lIns="0" tIns="0" rIns="0" bIns="0" rtlCol="0" anchor="t"/>
          <a:lstStyle/>
          <a:p>
            <a:pPr marL="0" indent="0">
              <a:lnSpc>
                <a:spcPct val="112000"/>
              </a:lnSpc>
              <a:buNone/>
            </a:pPr>
            <a:r>
              <a:rPr lang="en-US" sz="850" dirty="0">
                <a:solidFill>
                  <a:srgbClr val="6B7488"/>
                </a:solidFill>
                <a:latin typeface="Arial" pitchFamily="34" charset="0"/>
                <a:ea typeface="Arial" pitchFamily="34" charset="-122"/>
                <a:cs typeface="Arial" pitchFamily="34" charset="-120"/>
              </a:rPr>
              <a:t>Useful, supplies grain size, so this study need not measure it</a:t>
            </a:r>
            <a:endParaRPr lang="en-US" sz="850" dirty="0"/>
          </a:p>
        </p:txBody>
      </p:sp>
      <p:sp>
        <p:nvSpPr>
          <p:cNvPr id="15" name="Shape 10"/>
          <p:cNvSpPr/>
          <p:nvPr/>
        </p:nvSpPr>
        <p:spPr>
          <a:xfrm>
            <a:off x="6214720" y="4992624"/>
            <a:ext cx="2540432" cy="1042416"/>
          </a:xfrm>
          <a:prstGeom prst="roundRect">
            <a:avLst>
              <a:gd name="adj" fmla="val 7895"/>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16" name="Text 11"/>
          <p:cNvSpPr/>
          <p:nvPr/>
        </p:nvSpPr>
        <p:spPr>
          <a:xfrm>
            <a:off x="6434176" y="5138928"/>
            <a:ext cx="2101520" cy="237744"/>
          </a:xfrm>
          <a:prstGeom prst="rect">
            <a:avLst/>
          </a:prstGeom>
          <a:noFill/>
          <a:ln/>
        </p:spPr>
        <p:txBody>
          <a:bodyPr wrap="square" lIns="0" tIns="0" rIns="0" bIns="0" rtlCol="0" anchor="ctr"/>
          <a:lstStyle/>
          <a:p>
            <a:pPr marL="0" indent="0">
              <a:buNone/>
            </a:pPr>
            <a:r>
              <a:rPr lang="en-US" sz="1200" b="1" dirty="0">
                <a:solidFill>
                  <a:srgbClr val="13234C"/>
                </a:solidFill>
                <a:latin typeface="29LT Adir" pitchFamily="34" charset="0"/>
                <a:ea typeface="29LT Adir" pitchFamily="34" charset="-122"/>
                <a:cs typeface="29LT Adir" pitchFamily="34" charset="-120"/>
              </a:rPr>
              <a:t>Radar</a:t>
            </a:r>
            <a:endParaRPr lang="en-US" sz="1200" dirty="0"/>
          </a:p>
        </p:txBody>
      </p:sp>
      <p:sp>
        <p:nvSpPr>
          <p:cNvPr id="17" name="Text 12"/>
          <p:cNvSpPr/>
          <p:nvPr/>
        </p:nvSpPr>
        <p:spPr>
          <a:xfrm>
            <a:off x="6434176" y="5413248"/>
            <a:ext cx="2101520" cy="530352"/>
          </a:xfrm>
          <a:prstGeom prst="rect">
            <a:avLst/>
          </a:prstGeom>
          <a:noFill/>
          <a:ln/>
        </p:spPr>
        <p:txBody>
          <a:bodyPr wrap="square" lIns="0" tIns="0" rIns="0" bIns="0" rtlCol="0" anchor="t"/>
          <a:lstStyle/>
          <a:p>
            <a:pPr marL="0" indent="0">
              <a:lnSpc>
                <a:spcPct val="112000"/>
              </a:lnSpc>
              <a:buNone/>
            </a:pPr>
            <a:r>
              <a:rPr lang="en-US" sz="850" dirty="0">
                <a:solidFill>
                  <a:srgbClr val="6B7488"/>
                </a:solidFill>
                <a:latin typeface="Arial" pitchFamily="34" charset="0"/>
                <a:ea typeface="Arial" pitchFamily="34" charset="-122"/>
                <a:cs typeface="Arial" pitchFamily="34" charset="-120"/>
              </a:rPr>
              <a:t>Unrelated, dielectric measurement is blind to nanophase iron</a:t>
            </a:r>
            <a:endParaRPr lang="en-US" sz="850" dirty="0"/>
          </a:p>
        </p:txBody>
      </p:sp>
      <p:sp>
        <p:nvSpPr>
          <p:cNvPr id="18" name="Shape 13"/>
          <p:cNvSpPr/>
          <p:nvPr/>
        </p:nvSpPr>
        <p:spPr>
          <a:xfrm>
            <a:off x="8992895" y="4992624"/>
            <a:ext cx="2540432" cy="1042416"/>
          </a:xfrm>
          <a:prstGeom prst="roundRect">
            <a:avLst>
              <a:gd name="adj" fmla="val 7895"/>
            </a:avLst>
          </a:prstGeom>
          <a:solidFill>
            <a:srgbClr val="FFFFFF"/>
          </a:solidFill>
          <a:ln w="9525">
            <a:solidFill>
              <a:srgbClr val="DFE4EE"/>
            </a:solidFill>
            <a:prstDash val="solid"/>
          </a:ln>
          <a:effectLst>
            <a:outerShdw blurRad="127000" dist="25400" dir="5400000" algn="bl" rotWithShape="0">
              <a:srgbClr val="0B1226">
                <a:alpha val="10000"/>
              </a:srgbClr>
            </a:outerShdw>
          </a:effectLst>
        </p:spPr>
        <p:txBody>
          <a:bodyPr/>
          <a:lstStyle/>
          <a:p>
            <a:endParaRPr lang="en-US"/>
          </a:p>
        </p:txBody>
      </p:sp>
      <p:sp>
        <p:nvSpPr>
          <p:cNvPr id="7" name="Text 14"/>
          <p:cNvSpPr/>
          <p:nvPr/>
        </p:nvSpPr>
        <p:spPr>
          <a:xfrm>
            <a:off x="9212351" y="5138928"/>
            <a:ext cx="2101520" cy="237744"/>
          </a:xfrm>
          <a:prstGeom prst="rect">
            <a:avLst/>
          </a:prstGeom>
          <a:noFill/>
          <a:ln/>
        </p:spPr>
        <p:txBody>
          <a:bodyPr wrap="square" lIns="0" tIns="0" rIns="0" bIns="0" rtlCol="0" anchor="ctr"/>
          <a:lstStyle/>
          <a:p>
            <a:pPr marL="0" indent="0">
              <a:buNone/>
            </a:pPr>
            <a:r>
              <a:rPr lang="en-US" sz="1200" b="1" dirty="0">
                <a:solidFill>
                  <a:srgbClr val="13234C"/>
                </a:solidFill>
                <a:latin typeface="29LT Adir" pitchFamily="34" charset="0"/>
                <a:ea typeface="29LT Adir" pitchFamily="34" charset="-122"/>
                <a:cs typeface="29LT Adir" pitchFamily="34" charset="-120"/>
              </a:rPr>
              <a:t>CHANCES / AFC</a:t>
            </a:r>
            <a:endParaRPr lang="en-US" sz="1200" dirty="0"/>
          </a:p>
        </p:txBody>
      </p:sp>
      <p:sp>
        <p:nvSpPr>
          <p:cNvPr id="20" name="Text 15"/>
          <p:cNvSpPr/>
          <p:nvPr/>
        </p:nvSpPr>
        <p:spPr>
          <a:xfrm>
            <a:off x="9212351" y="5413248"/>
            <a:ext cx="2101520" cy="530352"/>
          </a:xfrm>
          <a:prstGeom prst="rect">
            <a:avLst/>
          </a:prstGeom>
          <a:noFill/>
          <a:ln/>
        </p:spPr>
        <p:txBody>
          <a:bodyPr wrap="square" lIns="0" tIns="0" rIns="0" bIns="0" rtlCol="0" anchor="t"/>
          <a:lstStyle/>
          <a:p>
            <a:pPr marL="0" indent="0">
              <a:lnSpc>
                <a:spcPct val="112000"/>
              </a:lnSpc>
              <a:buNone/>
            </a:pPr>
            <a:r>
              <a:rPr lang="en-US" sz="850" dirty="0">
                <a:solidFill>
                  <a:srgbClr val="6B7488"/>
                </a:solidFill>
                <a:latin typeface="Arial" pitchFamily="34" charset="0"/>
                <a:ea typeface="Arial" pitchFamily="34" charset="-122"/>
                <a:cs typeface="Arial" pitchFamily="34" charset="-120"/>
              </a:rPr>
              <a:t>No overlap, locates where fresh material may be, never quantifies it</a:t>
            </a:r>
            <a:endParaRPr lang="en-US" sz="850" dirty="0"/>
          </a:p>
        </p:txBody>
      </p:sp>
      <p:pic>
        <p:nvPicPr>
          <p:cNvPr id="23" name="Image 1" descr="/home/claude/work/a2/logo_dark.png">
            <a:extLst>
              <a:ext uri="{FF2B5EF4-FFF2-40B4-BE49-F238E27FC236}">
                <a16:creationId xmlns:a16="http://schemas.microsoft.com/office/drawing/2014/main" id="{C8E775B6-7AED-1440-27F8-0D3E08C3365A}"/>
              </a:ext>
            </a:extLst>
          </p:cNvPr>
          <p:cNvPicPr>
            <a:picLocks noChangeAspect="1"/>
          </p:cNvPicPr>
          <p:nvPr/>
        </p:nvPicPr>
        <p:blipFill>
          <a:blip r:embed="rId5"/>
          <a:stretch>
            <a:fillRect/>
          </a:stretch>
        </p:blipFill>
        <p:spPr>
          <a:xfrm>
            <a:off x="10616340" y="122984"/>
            <a:ext cx="1450538" cy="814736"/>
          </a:xfrm>
          <a:prstGeom prst="rect">
            <a:avLst/>
          </a:prstGeom>
        </p:spPr>
      </p:pic>
      <p:sp>
        <p:nvSpPr>
          <p:cNvPr id="26" name="BJPseudoFooter">
            <a:extLst>
              <a:ext uri="{FF2B5EF4-FFF2-40B4-BE49-F238E27FC236}">
                <a16:creationId xmlns:a16="http://schemas.microsoft.com/office/drawing/2014/main" id="{3F73042C-77C9-12D5-5BA1-54C8252015F5}"/>
              </a:ext>
            </a:extLst>
          </p:cNvPr>
          <p:cNvSpPr txBox="1"/>
          <p:nvPr>
            <p:custDataLst>
              <p:tags r:id="rId1"/>
            </p:custDataLst>
          </p:nvPr>
        </p:nvSpPr>
        <p:spPr>
          <a:xfrm>
            <a:off x="5626159" y="6581001"/>
            <a:ext cx="939681" cy="276999"/>
          </a:xfrm>
          <a:prstGeom prst="rect">
            <a:avLst/>
          </a:prstGeom>
          <a:noFill/>
        </p:spPr>
        <p:txBody>
          <a:bodyPr vert="horz" wrap="none" rtlCol="0">
            <a:spAutoFit/>
          </a:bodyPr>
          <a:lstStyle/>
          <a:p>
            <a:pPr algn="ctr"/>
            <a:r>
              <a:rPr lang="en-US" sz="1200">
                <a:solidFill>
                  <a:srgbClr val="000000"/>
                </a:solidFill>
              </a:rPr>
              <a:t>   </a:t>
            </a:r>
            <a:r>
              <a:rPr lang="en-US" sz="1200">
                <a:solidFill>
                  <a:srgbClr val="339966"/>
                </a:solidFill>
              </a:rPr>
              <a:t>Public</a:t>
            </a:r>
            <a:r>
              <a:rPr lang="en-US" sz="1200">
                <a:solidFill>
                  <a:srgbClr val="000000"/>
                </a:solidFill>
              </a:rPr>
              <a:t>   </a:t>
            </a:r>
            <a:r>
              <a:rPr lang="ar-SA" sz="1200">
                <a:solidFill>
                  <a:srgbClr val="339966"/>
                </a:solidFill>
              </a:rPr>
              <a:t>عام</a:t>
            </a:r>
            <a:endParaRPr lang="en-US" sz="1200">
              <a:solidFill>
                <a:srgbClr val="339966"/>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   Public   عام"/>
  <p:tag name="BJHEADERFOOTERTEXTMARKING" val="   Public   عام"/>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WrappedLabelHistory xmlns:xsd="http://www.w3.org/2001/XMLSchema" xmlns:xsi="http://www.w3.org/2001/XMLSchema-instance" xmlns="http://www.boldonjames.com/2016/02/Classifier/internal/wrappedLabelHistory">
  <Value>PD94bWwgdmVyc2lvbj0iMS4wIiBlbmNvZGluZz0idXMtYXNjaWkiPz48bGFiZWxIaXN0b3J5IHhtbG5zOnhzZD0iaHR0cDovL3d3dy53My5vcmcvMjAwMS9YTUxTY2hlbWEiIHhtbG5zOnhzaT0iaHR0cDovL3d3dy53My5vcmcvMjAwMS9YTUxTY2hlbWEtaW5zdGFuY2UiIHhtbG5zPSJodHRwOi8vd3d3LmJvbGRvbmphbWVzLmNvbS8yMDE2LzAyL0NsYXNzaWZpZXIvaW50ZXJuYWwvbGFiZWxIaXN0b3J5Ij48aXRlbT48c2lzbCBzaXNsVmVyc2lvbj0iMCIgcG9saWN5PSI4YjljYjhiZi0yZDk0LTQ2MjItOTg4Yi05M2IyMGY2YmU4OTQiIG9yaWdpbj0idXNlclNlbGVjdGVkIj48ZWxlbWVudCB1aWQ9ImZkY2QzODkxLTliMTEtNGQwZS1hNDY3LWY2MTYxZDlhNGQzYyIgdmFsdWU9IiIgeG1sbnM9Imh0dHA6Ly93d3cuYm9sZG9uamFtZXMuY29tLzIwMDgvMDEvc2llL2ludGVybmFsL2xhYmVsIiAvPjwvc2lzbD48VXNlck5hbWU+U1NDXHF1YXlkaGlibjwvVXNlck5hbWU+PERhdGVUaW1lPjgvMTcvMjAyNiAxOjUzOjE4IFBNPC9EYXRlVGltZT48TGFiZWxTdHJpbmc+UHVibGljIDwvTGFiZWxTdHJpbmc+PC9pdGVtPjwvbGFiZWxIaXN0b3J5Pg==</Value>
</WrappedLabelHistory>
</file>

<file path=customXml/item2.xml><?xml version="1.0" encoding="utf-8"?>
<sisl xmlns:xsd="http://www.w3.org/2001/XMLSchema" xmlns:xsi="http://www.w3.org/2001/XMLSchema-instance" xmlns="http://www.boldonjames.com/2008/01/sie/internal/label" sislVersion="0" policy="8b9cb8bf-2d94-4622-988b-93b20f6be894" origin="userSelected">
  <element uid="fdcd3891-9b11-4d0e-a467-f6161d9a4d3c" value=""/>
</sisl>
</file>

<file path=customXml/itemProps1.xml><?xml version="1.0" encoding="utf-8"?>
<ds:datastoreItem xmlns:ds="http://schemas.openxmlformats.org/officeDocument/2006/customXml" ds:itemID="{B38BB3D0-04AC-49A6-BED4-6632D84FF125}">
  <ds:schemaRefs>
    <ds:schemaRef ds:uri="http://www.w3.org/2001/XMLSchema"/>
    <ds:schemaRef ds:uri="http://www.boldonjames.com/2016/02/Classifier/internal/wrappedLabelHistory"/>
  </ds:schemaRefs>
</ds:datastoreItem>
</file>

<file path=customXml/itemProps2.xml><?xml version="1.0" encoding="utf-8"?>
<ds:datastoreItem xmlns:ds="http://schemas.openxmlformats.org/officeDocument/2006/customXml" ds:itemID="{8B7DE22A-BC7B-48FA-9131-C8F485D0CF09}">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otalTime>739</TotalTime>
  <Words>2005</Words>
  <Application>Microsoft Office PowerPoint</Application>
  <PresentationFormat>Widescreen</PresentationFormat>
  <Paragraphs>407</Paragraphs>
  <Slides>18</Slides>
  <Notes>18</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29LT Adir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Gap Assessment and Payload Recommendation for Asteroid (99942) Apophis</dc:title>
  <dc:subject>PptxGenJS Presentation</dc:subject>
  <dc:creator>Noora AlQuaydhib</dc:creator>
  <cp:keywords>Public </cp:keywords>
  <cp:lastModifiedBy>نوره القعيضب ID 444200904</cp:lastModifiedBy>
  <cp:revision>3</cp:revision>
  <dcterms:created xsi:type="dcterms:W3CDTF">2026-08-17T12:46:02Z</dcterms:created>
  <dcterms:modified xsi:type="dcterms:W3CDTF">2026-08-19T06:11:41Z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78891aa3-99e7-44cb-83a1-8d730824c89c</vt:lpwstr>
  </property>
  <property fmtid="{D5CDD505-2E9C-101B-9397-08002B2CF9AE}" pid="3" name="bjClsUserRVM">
    <vt:lpwstr>[]</vt:lpwstr>
  </property>
  <property fmtid="{D5CDD505-2E9C-101B-9397-08002B2CF9AE}" pid="4" name="bjSaver">
    <vt:lpwstr>RoS5091pzVkqbevZHv0gwGNV2OYvI6N/</vt:lpwstr>
  </property>
  <property fmtid="{D5CDD505-2E9C-101B-9397-08002B2CF9AE}" pid="5" name="bjDocumentLabelXML">
    <vt:lpwstr>&lt;?xml version="1.0" encoding="us-ascii"?&gt;&lt;sisl xmlns:xsd="http://www.w3.org/2001/XMLSchema" xmlns:xsi="http://www.w3.org/2001/XMLSchema-instance" sislVersion="0" policy="8b9cb8bf-2d94-4622-988b-93b20f6be894" origin="userSelected" xmlns="http://www.boldonj</vt:lpwstr>
  </property>
  <property fmtid="{D5CDD505-2E9C-101B-9397-08002B2CF9AE}" pid="6" name="bjDocumentLabelXML-0">
    <vt:lpwstr>ames.com/2008/01/sie/internal/label"&gt;&lt;element uid="fdcd3891-9b11-4d0e-a467-f6161d9a4d3c" value="" /&gt;&lt;/sisl&gt;</vt:lpwstr>
  </property>
  <property fmtid="{D5CDD505-2E9C-101B-9397-08002B2CF9AE}" pid="7" name="bjDocumentSecurityLabel">
    <vt:lpwstr>Public </vt:lpwstr>
  </property>
  <property fmtid="{D5CDD505-2E9C-101B-9397-08002B2CF9AE}" pid="8" name="bjSlideMasterFooterText">
    <vt:lpwstr>   Public   عام</vt:lpwstr>
  </property>
  <property fmtid="{D5CDD505-2E9C-101B-9397-08002B2CF9AE}" pid="9" name="bjLabelHistoryID">
    <vt:lpwstr>{B38BB3D0-04AC-49A6-BED4-6632D84FF125}</vt:lpwstr>
  </property>
</Properties>
</file>