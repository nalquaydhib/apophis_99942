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3"/>
  </p:sldMasterIdLst>
  <p:notesMasterIdLst>
    <p:notesMasterId r:id="rId21"/>
  </p:notesMasterIdLst>
  <p:sldIdLst>
    <p:sldId id="256" r:id="rId4"/>
    <p:sldId id="272" r:id="rId5"/>
    <p:sldId id="257" r:id="rId6"/>
    <p:sldId id="258" r:id="rId7"/>
    <p:sldId id="260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BFF"/>
    <a:srgbClr val="6DD9FF"/>
    <a:srgbClr val="F0CCED"/>
    <a:srgbClr val="FDFFEF"/>
    <a:srgbClr val="2CCE30"/>
    <a:srgbClr val="D9F7DA"/>
    <a:srgbClr val="DA83E1"/>
    <a:srgbClr val="2E9E6B"/>
    <a:srgbClr val="E4E4E4"/>
    <a:srgbClr val="FF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18019F-0D7F-44A6-9491-1058076FFA4A}">
  <a:tblStyle styleId="{3F18019F-0D7F-44A6-9491-1058076FFA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1" autoAdjust="0"/>
    <p:restoredTop sz="95033" autoAdjust="0"/>
  </p:normalViewPr>
  <p:slideViewPr>
    <p:cSldViewPr snapToGrid="0">
      <p:cViewPr>
        <p:scale>
          <a:sx n="82" d="100"/>
          <a:sy n="82" d="100"/>
        </p:scale>
        <p:origin x="7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>
          <a:extLst>
            <a:ext uri="{FF2B5EF4-FFF2-40B4-BE49-F238E27FC236}">
              <a16:creationId xmlns:a16="http://schemas.microsoft.com/office/drawing/2014/main" id="{FAE9C2AB-8E36-DCDE-667C-6A14EFDC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>
            <a:extLst>
              <a:ext uri="{FF2B5EF4-FFF2-40B4-BE49-F238E27FC236}">
                <a16:creationId xmlns:a16="http://schemas.microsoft.com/office/drawing/2014/main" id="{B28C7B14-E32C-8CEF-FB7C-74CA30B716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9;p1:notes">
            <a:extLst>
              <a:ext uri="{FF2B5EF4-FFF2-40B4-BE49-F238E27FC236}">
                <a16:creationId xmlns:a16="http://schemas.microsoft.com/office/drawing/2014/main" id="{345BF3B8-F2F9-F45E-CF41-2FBFAE974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>
            <a:extLst>
              <a:ext uri="{FF2B5EF4-FFF2-40B4-BE49-F238E27FC236}">
                <a16:creationId xmlns:a16="http://schemas.microsoft.com/office/drawing/2014/main" id="{DA5003E8-681A-B08B-F935-43709185A0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514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8" name="Google Shape;33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5" name="Google Shape;36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9" name="Google Shape;41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1" name="Google Shape;45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3" name="Google Shape;48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3" name="Google Shape;52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5" name="Google Shape;565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" name="Google Shape;608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5" name="Google Shape;635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.jpg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microsoft.com/office/2007/relationships/hdphoto" Target="../media/hdphoto2.wdp"/><Relationship Id="rId15" Type="http://schemas.openxmlformats.org/officeDocument/2006/relationships/image" Target="../media/image15.jpg"/><Relationship Id="rId10" Type="http://schemas.openxmlformats.org/officeDocument/2006/relationships/image" Target="../media/image10.jpg"/><Relationship Id="rId4" Type="http://schemas.openxmlformats.org/officeDocument/2006/relationships/image" Target="../media/image5.pn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microsoft.com/office/2007/relationships/hdphoto" Target="../media/hdphoto2.wdp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2.png"/><Relationship Id="rId5" Type="http://schemas.openxmlformats.org/officeDocument/2006/relationships/image" Target="../media/image30.png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descr="/home/claude/work/a2/hero_title.jpg"/>
          <p:cNvPicPr preferRelativeResize="0"/>
          <p:nvPr/>
        </p:nvPicPr>
        <p:blipFill rotWithShape="1">
          <a:blip r:embed="rId4">
            <a:alphaModFix amt="7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868680" y="3902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Courier New"/>
              <a:buNone/>
            </a:pPr>
            <a:r>
              <a:rPr lang="en-US" sz="1600" dirty="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EXPLORATION TECHNOLOGY </a:t>
            </a:r>
            <a:r>
              <a:rPr lang="en-US" sz="1600" i="0" u="none" strike="noStrike" cap="none" dirty="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| JUNE - AUGUST 2026</a:t>
            </a:r>
            <a:endParaRPr sz="1600" i="0" u="none" strike="noStrike" cap="none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68680" y="4268360"/>
            <a:ext cx="9718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Noora AlQuaydhib </a:t>
            </a:r>
            <a:r>
              <a:rPr lang="en-US" sz="3800" i="0" u="none" strike="noStrike" cap="none" dirty="0">
                <a:solidFill>
                  <a:srgbClr val="EFFB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Summer Training Summary</a:t>
            </a:r>
            <a:endParaRPr sz="3800" i="0" u="none" strike="noStrike" cap="none" dirty="0">
              <a:solidFill>
                <a:srgbClr val="EFFBFF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pic>
        <p:nvPicPr>
          <p:cNvPr id="18" name="Google Shape;18;p3" descr="/home/claude/work/a2/logo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53104" y="452014"/>
            <a:ext cx="1520245" cy="6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3;p6">
            <a:extLst>
              <a:ext uri="{FF2B5EF4-FFF2-40B4-BE49-F238E27FC236}">
                <a16:creationId xmlns:a16="http://schemas.microsoft.com/office/drawing/2014/main" id="{E58DCBC9-8569-731E-AEA2-CF66C13AE6B4}"/>
              </a:ext>
            </a:extLst>
          </p:cNvPr>
          <p:cNvSpPr/>
          <p:nvPr/>
        </p:nvSpPr>
        <p:spPr>
          <a:xfrm>
            <a:off x="10881360" y="620166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>
              <a:buClr>
                <a:srgbClr val="79839A"/>
              </a:buClr>
              <a:buSzPts val="1000"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01</a:t>
            </a:r>
            <a:endParaRPr lang="en-US" sz="10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1" name="BJPseudoFooter">
            <a:extLst>
              <a:ext uri="{FF2B5EF4-FFF2-40B4-BE49-F238E27FC236}">
                <a16:creationId xmlns:a16="http://schemas.microsoft.com/office/drawing/2014/main" id="{48EDB708-AC82-CE48-C767-6533AEBFF0B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>
          <a:extLst>
            <a:ext uri="{FF2B5EF4-FFF2-40B4-BE49-F238E27FC236}">
              <a16:creationId xmlns:a16="http://schemas.microsoft.com/office/drawing/2014/main" id="{667C4F4B-20D8-D609-4F76-6BC9DC1E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ASA Redirected Its Asteroid Mission To This Menacing Object Near Earth">
            <a:extLst>
              <a:ext uri="{FF2B5EF4-FFF2-40B4-BE49-F238E27FC236}">
                <a16:creationId xmlns:a16="http://schemas.microsoft.com/office/drawing/2014/main" id="{8BB34880-0DBD-5C47-DAD2-43D088CC40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5351" r="-1578"/>
          <a:stretch>
            <a:fillRect/>
          </a:stretch>
        </p:blipFill>
        <p:spPr>
          <a:xfrm>
            <a:off x="3867" y="23368"/>
            <a:ext cx="12188133" cy="6811264"/>
          </a:xfrm>
          <a:prstGeom prst="rect">
            <a:avLst/>
          </a:prstGeom>
        </p:spPr>
      </p:pic>
      <p:sp>
        <p:nvSpPr>
          <p:cNvPr id="13" name="Google Shape;13;p3">
            <a:extLst>
              <a:ext uri="{FF2B5EF4-FFF2-40B4-BE49-F238E27FC236}">
                <a16:creationId xmlns:a16="http://schemas.microsoft.com/office/drawing/2014/main" id="{10CDB38F-3AE5-11F3-29E2-33377DFCCD3C}"/>
              </a:ext>
            </a:extLst>
          </p:cNvPr>
          <p:cNvSpPr/>
          <p:nvPr/>
        </p:nvSpPr>
        <p:spPr>
          <a:xfrm>
            <a:off x="868680" y="7225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0B0F0"/>
              </a:buClr>
              <a:buSzPts val="1200"/>
            </a:pPr>
            <a:r>
              <a:rPr lang="en-US" dirty="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SUMMER TRAINING | FULL SCOPE</a:t>
            </a:r>
            <a:endParaRPr i="0" u="none" strike="noStrike" cap="none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86A797F2-0284-A998-08C1-7D12A1D63AD4}"/>
              </a:ext>
            </a:extLst>
          </p:cNvPr>
          <p:cNvSpPr/>
          <p:nvPr/>
        </p:nvSpPr>
        <p:spPr>
          <a:xfrm>
            <a:off x="868680" y="956200"/>
            <a:ext cx="128473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-US" sz="4500" b="1" dirty="0">
                <a:solidFill>
                  <a:srgbClr val="FFFFFF"/>
                </a:solidFill>
                <a:latin typeface="29LT Adir" panose="00000506000000000000" pitchFamily="50" charset="-78"/>
                <a:ea typeface="Calibri"/>
                <a:cs typeface="29LT Adir" panose="00000506000000000000" pitchFamily="50" charset="-78"/>
              </a:rPr>
              <a:t>Summer Training Journey </a:t>
            </a:r>
            <a:endParaRPr sz="4500" b="0" i="0" u="none" strike="noStrike" cap="none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24686F5F-2A55-A9BF-6A35-CA8F4B8FF75F}"/>
              </a:ext>
            </a:extLst>
          </p:cNvPr>
          <p:cNvSpPr/>
          <p:nvPr/>
        </p:nvSpPr>
        <p:spPr>
          <a:xfrm>
            <a:off x="868680" y="4888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Arial"/>
              <a:buNone/>
            </a:pPr>
            <a:endParaRPr sz="1450" b="0" i="0" u="none" strike="noStrike" cap="none" dirty="0">
              <a:solidFill>
                <a:schemeClr val="lt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522C7B6D-D873-4CFE-7312-1BE38A776361}"/>
              </a:ext>
            </a:extLst>
          </p:cNvPr>
          <p:cNvSpPr/>
          <p:nvPr/>
        </p:nvSpPr>
        <p:spPr>
          <a:xfrm>
            <a:off x="868680" y="5912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200" dirty="0">
              <a:solidFill>
                <a:schemeClr val="lt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pic>
        <p:nvPicPr>
          <p:cNvPr id="18" name="Google Shape;18;p3" descr="/home/claude/work/a2/logo_white.png">
            <a:extLst>
              <a:ext uri="{FF2B5EF4-FFF2-40B4-BE49-F238E27FC236}">
                <a16:creationId xmlns:a16="http://schemas.microsoft.com/office/drawing/2014/main" id="{ED5BECF6-BAC6-1F26-855F-B31D4BBF965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53104" y="452014"/>
            <a:ext cx="1520245" cy="641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3FE0A3-3993-9FD5-A5D6-7E0E1EB71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588522"/>
              </p:ext>
            </p:extLst>
          </p:nvPr>
        </p:nvGraphicFramePr>
        <p:xfrm>
          <a:off x="838200" y="2144920"/>
          <a:ext cx="10210800" cy="3592884"/>
        </p:xfrm>
        <a:graphic>
          <a:graphicData uri="http://schemas.openxmlformats.org/drawingml/2006/table">
            <a:tbl>
              <a:tblPr/>
              <a:tblGrid>
                <a:gridCol w="386080">
                  <a:extLst>
                    <a:ext uri="{9D8B030D-6E8A-4147-A177-3AD203B41FA5}">
                      <a16:colId xmlns:a16="http://schemas.microsoft.com/office/drawing/2014/main" val="1365114153"/>
                    </a:ext>
                  </a:extLst>
                </a:gridCol>
                <a:gridCol w="3423920">
                  <a:extLst>
                    <a:ext uri="{9D8B030D-6E8A-4147-A177-3AD203B41FA5}">
                      <a16:colId xmlns:a16="http://schemas.microsoft.com/office/drawing/2014/main" val="3465945015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83253588"/>
                    </a:ext>
                  </a:extLst>
                </a:gridCol>
              </a:tblGrid>
              <a:tr h="456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FDFFEF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FDFFEF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FDFFEF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Key 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536756"/>
                  </a:ext>
                </a:extLst>
              </a:tr>
              <a:tr h="16638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RAMSES Mission</a:t>
                      </a:r>
                      <a:r>
                        <a:rPr lang="en-US" b="0" dirty="0">
                          <a:solidFill>
                            <a:srgbClr val="6DD9FF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EFFBFF"/>
                          </a:solidFill>
                          <a:effectLst/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★</a:t>
                      </a:r>
                      <a:endParaRPr lang="en-US" b="0" dirty="0">
                        <a:solidFill>
                          <a:srgbClr val="EFFBFF"/>
                        </a:solidFill>
                        <a:latin typeface="29LT Adir" panose="00000506000000000000" pitchFamily="50" charset="-78"/>
                        <a:cs typeface="29LT Adir" panose="00000506000000000000" pitchFamily="50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Identified and evaluated scientific knowledge gaps </a:t>
                      </a: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Prioritized a single knowledge gap </a:t>
                      </a: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Derived the required observable and evaluated candidate instruments</a:t>
                      </a: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Recommended the payload and investigated its instrumental heritage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82559"/>
                  </a:ext>
                </a:extLst>
              </a:tr>
              <a:tr h="14730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Artemis IV &amp; V Mission — NEO Survey in HEO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 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Defined the </a:t>
                      </a:r>
                      <a:r>
                        <a:rPr lang="en-US" b="0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scientific questions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for NEO surveying in HEO</a:t>
                      </a: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Derived the corresponding </a:t>
                      </a:r>
                      <a:r>
                        <a:rPr lang="en-US" b="0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scientific objectives </a:t>
                      </a: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Developed </a:t>
                      </a:r>
                      <a:r>
                        <a:rPr lang="en-US" b="0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objective-to-payload traceability </a:t>
                      </a: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• </a:t>
                      </a:r>
                      <a:r>
                        <a:rPr lang="en-US" dirty="0">
                          <a:latin typeface="29LT Adir" panose="00000506000000000000" pitchFamily="50" charset="-78"/>
                          <a:cs typeface="29LT Adir" panose="00000506000000000000" pitchFamily="50" charset="-78"/>
                        </a:rPr>
                        <a:t>  Progressed toward defining the required payload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008551"/>
                  </a:ext>
                </a:extLst>
              </a:tr>
            </a:tbl>
          </a:graphicData>
        </a:graphic>
      </p:graphicFrame>
      <p:sp>
        <p:nvSpPr>
          <p:cNvPr id="8" name="Google Shape;153;p6">
            <a:extLst>
              <a:ext uri="{FF2B5EF4-FFF2-40B4-BE49-F238E27FC236}">
                <a16:creationId xmlns:a16="http://schemas.microsoft.com/office/drawing/2014/main" id="{2E9F0958-B5CE-3143-51C5-06EEA45F6FC9}"/>
              </a:ext>
            </a:extLst>
          </p:cNvPr>
          <p:cNvSpPr/>
          <p:nvPr/>
        </p:nvSpPr>
        <p:spPr>
          <a:xfrm>
            <a:off x="10881360" y="621182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>
              <a:buClr>
                <a:srgbClr val="79839A"/>
              </a:buClr>
              <a:buSzPts val="1000"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02</a:t>
            </a:r>
            <a:endParaRPr lang="en-US" sz="10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20" name="BJPseudoFooter">
            <a:extLst>
              <a:ext uri="{FF2B5EF4-FFF2-40B4-BE49-F238E27FC236}">
                <a16:creationId xmlns:a16="http://schemas.microsoft.com/office/drawing/2014/main" id="{464DA133-2B15-C10F-DBBE-8333180E74A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2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97928BB-4292-CA37-4E45-C4C079B496F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3107" t="-1" b="4987"/>
          <a:stretch>
            <a:fillRect/>
          </a:stretch>
        </p:blipFill>
        <p:spPr>
          <a:xfrm>
            <a:off x="0" y="0"/>
            <a:ext cx="6969760" cy="6794040"/>
          </a:xfrm>
          <a:prstGeom prst="rect">
            <a:avLst/>
          </a:prstGeom>
        </p:spPr>
      </p:pic>
      <p:sp>
        <p:nvSpPr>
          <p:cNvPr id="27" name="Google Shape;27;p4"/>
          <p:cNvSpPr/>
          <p:nvPr/>
        </p:nvSpPr>
        <p:spPr>
          <a:xfrm>
            <a:off x="5308203" y="1795277"/>
            <a:ext cx="640080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Context 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308203" y="2551823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Courier New"/>
              <a:buNone/>
            </a:pPr>
            <a:r>
              <a:rPr lang="en-US" sz="1800" b="1">
                <a:solidFill>
                  <a:srgbClr val="00B0F0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01</a:t>
            </a:r>
            <a:endParaRPr sz="1800">
              <a:solidFill>
                <a:srgbClr val="00B0F0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29" name="Google Shape;29;p4"/>
          <p:cNvSpPr>
            <a:spLocks/>
          </p:cNvSpPr>
          <p:nvPr/>
        </p:nvSpPr>
        <p:spPr>
          <a:xfrm>
            <a:off x="5811123" y="2513871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Event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811123" y="2788191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DC5D5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BDC5D5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On 13 April 2029. Apophis passes within ~32,000 km away from earth, closer than geostationary satellites, visible to the naked eye.</a:t>
            </a:r>
            <a:endParaRPr sz="1400" dirty="0">
              <a:solidFill>
                <a:srgbClr val="BDC5D5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308203" y="3428271"/>
            <a:ext cx="5852160" cy="9144"/>
          </a:xfrm>
          <a:prstGeom prst="rect">
            <a:avLst/>
          </a:prstGeom>
          <a:solidFill>
            <a:srgbClr val="1E27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308203" y="3521087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Courier New"/>
              <a:buNone/>
            </a:pPr>
            <a:r>
              <a:rPr lang="en-US" sz="1800" b="1">
                <a:solidFill>
                  <a:srgbClr val="00B0F0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02</a:t>
            </a:r>
            <a:endParaRPr sz="1800">
              <a:solidFill>
                <a:srgbClr val="00B0F0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811123" y="34717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RAMSES Mission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811123" y="3757455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DC5D5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BDC5D5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An international collaboration between ESA and JAXA. Currently under development and planned to launch in spring 2028, to arrive to Apophis in February 2029.</a:t>
            </a:r>
            <a:endParaRPr sz="1400" dirty="0">
              <a:solidFill>
                <a:srgbClr val="BDC5D5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308203" y="4549343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Courier New"/>
              <a:buNone/>
            </a:pPr>
            <a:r>
              <a:rPr lang="en-US" sz="1800" b="1" dirty="0">
                <a:solidFill>
                  <a:srgbClr val="00B0F0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03</a:t>
            </a:r>
            <a:endParaRPr sz="1800" dirty="0">
              <a:solidFill>
                <a:srgbClr val="00B0F0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811123" y="4726719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rgbClr val="BDC5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308203" y="4512848"/>
            <a:ext cx="5852160" cy="9144"/>
          </a:xfrm>
          <a:prstGeom prst="rect">
            <a:avLst/>
          </a:prstGeom>
          <a:solidFill>
            <a:srgbClr val="1E274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308203" y="47316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800">
              <a:solidFill>
                <a:srgbClr val="00B0F0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811123" y="454658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Goal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811123" y="4820913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DC5D5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BDC5D5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An SSA recommended payload converts observer status into participant status on a joint</a:t>
            </a:r>
            <a:r>
              <a:rPr lang="en-US" dirty="0">
                <a:solidFill>
                  <a:srgbClr val="BDC5D5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 </a:t>
            </a:r>
            <a:r>
              <a:rPr lang="en-US" sz="1400" dirty="0">
                <a:solidFill>
                  <a:srgbClr val="BDC5D5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ESA–JAXA mission.</a:t>
            </a:r>
            <a:endParaRPr sz="1400" dirty="0">
              <a:solidFill>
                <a:srgbClr val="BDC5D5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4607C"/>
              </a:buClr>
              <a:buSzPts val="1000"/>
              <a:buFont typeface="Arial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3;p6">
            <a:extLst>
              <a:ext uri="{FF2B5EF4-FFF2-40B4-BE49-F238E27FC236}">
                <a16:creationId xmlns:a16="http://schemas.microsoft.com/office/drawing/2014/main" id="{DF61C485-1D97-0AD6-682C-53812B80FC5C}"/>
              </a:ext>
            </a:extLst>
          </p:cNvPr>
          <p:cNvSpPr/>
          <p:nvPr/>
        </p:nvSpPr>
        <p:spPr>
          <a:xfrm>
            <a:off x="10881360" y="621182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>
              <a:buClr>
                <a:srgbClr val="79839A"/>
              </a:buClr>
              <a:buSzPts val="1000"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03</a:t>
            </a:r>
            <a:endParaRPr lang="en-US" sz="10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pic>
        <p:nvPicPr>
          <p:cNvPr id="15" name="Google Shape;18;p3" descr="/home/claude/work/a2/logo_white.png">
            <a:extLst>
              <a:ext uri="{FF2B5EF4-FFF2-40B4-BE49-F238E27FC236}">
                <a16:creationId xmlns:a16="http://schemas.microsoft.com/office/drawing/2014/main" id="{17BEBE32-9A47-46B9-9C85-E61FF1E1C2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53104" y="452014"/>
            <a:ext cx="1520245" cy="6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BJPseudoFooter">
            <a:extLst>
              <a:ext uri="{FF2B5EF4-FFF2-40B4-BE49-F238E27FC236}">
                <a16:creationId xmlns:a16="http://schemas.microsoft.com/office/drawing/2014/main" id="{ACA07CB5-B1D9-FF6C-AA89-13423604077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5" descr="/home/claude/work/a2/light_wash.jpg">
            <a:extLst>
              <a:ext uri="{FF2B5EF4-FFF2-40B4-BE49-F238E27FC236}">
                <a16:creationId xmlns:a16="http://schemas.microsoft.com/office/drawing/2014/main" id="{34BDA7EF-11A6-DE60-1BB9-5580214FA472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05" y="1267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5337048" y="1794186"/>
            <a:ext cx="6569202" cy="3321549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Study Objective &amp; Scope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609344" y="1066017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The second phase of a two-part study. The first selected the mission; this one determines the contribution.</a:t>
            </a:r>
            <a:endParaRPr sz="16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58368" y="1512949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Courier New"/>
              <a:buNone/>
            </a:pPr>
            <a:r>
              <a:rPr lang="en-US" sz="1000" b="1" dirty="0">
                <a:solidFill>
                  <a:srgbClr val="4C5468"/>
                </a:solidFill>
                <a:latin typeface="Courier New"/>
                <a:ea typeface="Courier New"/>
                <a:cs typeface="Courier New"/>
                <a:sym typeface="Courier New"/>
              </a:rPr>
              <a:t>WHERE THIS STUDY SITS</a:t>
            </a:r>
            <a:endParaRPr sz="1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50926" y="1842133"/>
            <a:ext cx="3988689" cy="1326829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 cap="flat" cmpd="sng">
            <a:solidFill>
              <a:srgbClr val="C4CFE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22351" y="2061589"/>
            <a:ext cx="39410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Courier New"/>
              <a:buNone/>
            </a:pPr>
            <a:r>
              <a:rPr lang="en-US" sz="1000" b="1">
                <a:solidFill>
                  <a:srgbClr val="4C5468"/>
                </a:solidFill>
                <a:latin typeface="Courier New"/>
                <a:ea typeface="Courier New"/>
                <a:cs typeface="Courier New"/>
                <a:sym typeface="Courier New"/>
              </a:rPr>
              <a:t>PHASE 1 — COMPLETED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31876" y="2299333"/>
            <a:ext cx="3941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Asteroid Mission Study</a:t>
            </a: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79501" y="2701669"/>
            <a:ext cx="39410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11 missions benchmarked  → 2 prioritized → RAMSES selected.</a:t>
            </a:r>
            <a:endParaRPr sz="12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363724" y="3433189"/>
            <a:ext cx="201168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8B3C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16638" y="3817237"/>
            <a:ext cx="3988688" cy="129849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93776" y="4036693"/>
            <a:ext cx="39410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ourier New"/>
              <a:buNone/>
            </a:pPr>
            <a:r>
              <a:rPr lang="en-US" sz="1000" b="1" dirty="0">
                <a:solidFill>
                  <a:srgbClr val="D979D2"/>
                </a:solidFill>
                <a:latin typeface="Courier New"/>
                <a:ea typeface="Courier New"/>
                <a:cs typeface="Courier New"/>
                <a:sym typeface="Courier New"/>
              </a:rPr>
              <a:t>PHASE 2 — THIS STUDY</a:t>
            </a:r>
            <a:endParaRPr sz="1000" dirty="0">
              <a:solidFill>
                <a:srgbClr val="D979D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93776" y="4274437"/>
            <a:ext cx="39410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Payload Study</a:t>
            </a: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3776" y="4676773"/>
            <a:ext cx="39410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400"/>
              <a:buFont typeface="Arial"/>
              <a:buNone/>
            </a:pPr>
            <a:r>
              <a:rPr lang="en-US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What payload to put on the mission?</a:t>
            </a:r>
            <a:endParaRPr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585769" y="2098331"/>
            <a:ext cx="6077340" cy="19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000"/>
              <a:buFont typeface="Arial"/>
              <a:buNone/>
            </a:pPr>
            <a:r>
              <a:rPr lang="en-US" sz="1200" b="1" dirty="0">
                <a:solidFill>
                  <a:srgbClr val="D979D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OBJECTIVE</a:t>
            </a:r>
            <a:endParaRPr sz="1200" dirty="0">
              <a:solidFill>
                <a:srgbClr val="D979D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623560" y="2334327"/>
            <a:ext cx="6077340" cy="924676"/>
          </a:xfrm>
          <a:prstGeom prst="roundRect">
            <a:avLst>
              <a:gd name="adj" fmla="val 5000"/>
            </a:avLst>
          </a:prstGeom>
          <a:solidFill>
            <a:srgbClr val="EFFBFF"/>
          </a:solidFill>
          <a:ln>
            <a:solidFill>
              <a:srgbClr val="00B0F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34455" y="2461869"/>
            <a:ext cx="5436629" cy="695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7ECF7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rgbClr val="00206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Identify the knowledge gap where an additional payload would most increase the scientific return of RAMSES</a:t>
            </a:r>
            <a:endParaRPr sz="1600" dirty="0">
              <a:solidFill>
                <a:srgbClr val="002060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582979" y="3597650"/>
            <a:ext cx="6077340" cy="19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000"/>
              <a:buFont typeface="Arial"/>
              <a:buNone/>
            </a:pPr>
            <a:r>
              <a:rPr lang="en-US" sz="1200" b="1" dirty="0">
                <a:solidFill>
                  <a:srgbClr val="D979D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SCOPE</a:t>
            </a:r>
            <a:endParaRPr sz="1000" dirty="0">
              <a:solidFill>
                <a:srgbClr val="D979D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pic>
        <p:nvPicPr>
          <p:cNvPr id="67" name="Google Shape;67;p5" descr="/home/claude/work/a2/logo_dark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16340" y="122984"/>
            <a:ext cx="1450538" cy="8147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5"/>
          <p:cNvCxnSpPr>
            <a:cxnSpLocks/>
            <a:stCxn id="72" idx="4"/>
          </p:cNvCxnSpPr>
          <p:nvPr/>
        </p:nvCxnSpPr>
        <p:spPr>
          <a:xfrm flipV="1">
            <a:off x="4522130" y="1928343"/>
            <a:ext cx="820498" cy="2660814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</p:cxnSp>
      <p:cxnSp>
        <p:nvCxnSpPr>
          <p:cNvPr id="69" name="Google Shape;69;p5"/>
          <p:cNvCxnSpPr>
            <a:cxnSpLocks/>
            <a:stCxn id="70" idx="4"/>
          </p:cNvCxnSpPr>
          <p:nvPr/>
        </p:nvCxnSpPr>
        <p:spPr>
          <a:xfrm>
            <a:off x="4519252" y="4580428"/>
            <a:ext cx="908093" cy="510186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</p:cxnSp>
      <p:cxnSp>
        <p:nvCxnSpPr>
          <p:cNvPr id="71" name="Google Shape;71;p5"/>
          <p:cNvCxnSpPr>
            <a:cxnSpLocks/>
          </p:cNvCxnSpPr>
          <p:nvPr/>
        </p:nvCxnSpPr>
        <p:spPr>
          <a:xfrm flipH="1" flipV="1">
            <a:off x="5314886" y="2029460"/>
            <a:ext cx="7375" cy="3000299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" name="Google Shape;72;p5"/>
          <p:cNvSpPr/>
          <p:nvPr/>
        </p:nvSpPr>
        <p:spPr>
          <a:xfrm rot="503822" flipH="1">
            <a:off x="4709506" y="2036671"/>
            <a:ext cx="792926" cy="2624449"/>
          </a:xfrm>
          <a:prstGeom prst="triangle">
            <a:avLst>
              <a:gd name="adj" fmla="val 50000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 rot="-10572091">
            <a:off x="4510053" y="4604838"/>
            <a:ext cx="745333" cy="252991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 rot="-10436494">
            <a:off x="5076489" y="4701369"/>
            <a:ext cx="185457" cy="243695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 rot="1882426" flipH="1">
            <a:off x="5051934" y="4729442"/>
            <a:ext cx="199932" cy="18350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>
            <a:cxnSpLocks/>
          </p:cNvCxnSpPr>
          <p:nvPr/>
        </p:nvCxnSpPr>
        <p:spPr>
          <a:xfrm flipV="1">
            <a:off x="5298946" y="2029460"/>
            <a:ext cx="8261" cy="2976872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6" name="Google Shape;76;p5"/>
          <p:cNvCxnSpPr>
            <a:cxnSpLocks/>
          </p:cNvCxnSpPr>
          <p:nvPr/>
        </p:nvCxnSpPr>
        <p:spPr>
          <a:xfrm flipV="1">
            <a:off x="5318250" y="1968567"/>
            <a:ext cx="13335" cy="3051099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" name="Google Shape;77;p5"/>
          <p:cNvCxnSpPr>
            <a:cxnSpLocks/>
          </p:cNvCxnSpPr>
          <p:nvPr/>
        </p:nvCxnSpPr>
        <p:spPr>
          <a:xfrm flipV="1">
            <a:off x="5326103" y="1982748"/>
            <a:ext cx="2515" cy="229631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5"/>
          <p:cNvSpPr/>
          <p:nvPr/>
        </p:nvSpPr>
        <p:spPr>
          <a:xfrm rot="1408918" flipH="1">
            <a:off x="5211111" y="4847777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 rot="1408918" flipH="1">
            <a:off x="5175395" y="4842355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 rot="1408918" flipH="1">
            <a:off x="5184104" y="4736121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 rot="1408918" flipH="1">
            <a:off x="5190767" y="4656561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 rot="1408918" flipH="1">
            <a:off x="5197430" y="4577001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 rot="1408918" flipH="1">
            <a:off x="5204093" y="4497441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 rot="1408918" flipH="1">
            <a:off x="5210756" y="4417881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 rot="1408918" flipH="1">
            <a:off x="5217419" y="4338321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 rot="1408918" flipH="1">
            <a:off x="5224082" y="4258761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5"/>
          <p:cNvCxnSpPr>
            <a:cxnSpLocks/>
          </p:cNvCxnSpPr>
          <p:nvPr/>
        </p:nvCxnSpPr>
        <p:spPr>
          <a:xfrm flipV="1">
            <a:off x="5278515" y="2043430"/>
            <a:ext cx="29981" cy="2873717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5"/>
          <p:cNvSpPr/>
          <p:nvPr/>
        </p:nvSpPr>
        <p:spPr>
          <a:xfrm>
            <a:off x="1178560" y="5406573"/>
            <a:ext cx="10192524" cy="725408"/>
          </a:xfrm>
          <a:prstGeom prst="roundRect">
            <a:avLst>
              <a:gd name="adj" fmla="val 7843"/>
            </a:avLst>
          </a:prstGeom>
          <a:solidFill>
            <a:srgbClr val="101E42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177540" y="5494244"/>
            <a:ext cx="5394960" cy="256032"/>
          </a:xfrm>
          <a:prstGeom prst="rect">
            <a:avLst/>
          </a:prstGeom>
          <a:solidFill>
            <a:srgbClr val="101E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F8E8F7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The question is no longer whether to participate</a:t>
            </a:r>
            <a:endParaRPr sz="1800" dirty="0">
              <a:solidFill>
                <a:srgbClr val="F8E8F7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273940" y="5821656"/>
            <a:ext cx="10022709" cy="161395"/>
          </a:xfrm>
          <a:prstGeom prst="rect">
            <a:avLst/>
          </a:prstGeom>
          <a:solidFill>
            <a:srgbClr val="101E4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chemeClr val="lt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Phase 1 settled the mission. What remains is to put a specific contribution on the table while the build phase can still accommodate it.</a:t>
            </a:r>
            <a:endParaRPr sz="1100" dirty="0">
              <a:solidFill>
                <a:schemeClr val="lt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8" name="Google Shape;63;p5">
            <a:extLst>
              <a:ext uri="{FF2B5EF4-FFF2-40B4-BE49-F238E27FC236}">
                <a16:creationId xmlns:a16="http://schemas.microsoft.com/office/drawing/2014/main" id="{400A7180-5FC0-C0AC-5100-ED4066559791}"/>
              </a:ext>
            </a:extLst>
          </p:cNvPr>
          <p:cNvSpPr/>
          <p:nvPr/>
        </p:nvSpPr>
        <p:spPr>
          <a:xfrm>
            <a:off x="5601711" y="3814226"/>
            <a:ext cx="6077340" cy="978395"/>
          </a:xfrm>
          <a:prstGeom prst="roundRect">
            <a:avLst>
              <a:gd name="adj" fmla="val 5000"/>
            </a:avLst>
          </a:prstGeom>
          <a:solidFill>
            <a:srgbClr val="EFFBFF"/>
          </a:solidFill>
          <a:ln>
            <a:solidFill>
              <a:srgbClr val="00B0F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828545-5A76-E14B-F754-4433A5FC2630}"/>
              </a:ext>
            </a:extLst>
          </p:cNvPr>
          <p:cNvSpPr txBox="1"/>
          <p:nvPr/>
        </p:nvSpPr>
        <p:spPr>
          <a:xfrm>
            <a:off x="5769350" y="3904695"/>
            <a:ext cx="58148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002060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Assess the RAMSES baseline → identify a scientific gap → select one priority contribution → evaluate candidate payloads → define the engagement route</a:t>
            </a:r>
          </a:p>
        </p:txBody>
      </p:sp>
      <p:sp>
        <p:nvSpPr>
          <p:cNvPr id="10" name="Google Shape;78;p5">
            <a:extLst>
              <a:ext uri="{FF2B5EF4-FFF2-40B4-BE49-F238E27FC236}">
                <a16:creationId xmlns:a16="http://schemas.microsoft.com/office/drawing/2014/main" id="{908C88B3-D6BC-A988-B3A3-3A82B534E66F}"/>
              </a:ext>
            </a:extLst>
          </p:cNvPr>
          <p:cNvSpPr/>
          <p:nvPr/>
        </p:nvSpPr>
        <p:spPr>
          <a:xfrm rot="1408918" flipH="1">
            <a:off x="5276028" y="4958542"/>
            <a:ext cx="47110" cy="45719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87;p5">
            <a:extLst>
              <a:ext uri="{FF2B5EF4-FFF2-40B4-BE49-F238E27FC236}">
                <a16:creationId xmlns:a16="http://schemas.microsoft.com/office/drawing/2014/main" id="{F1D8BEC3-CB96-6482-ED39-F2953D3267BF}"/>
              </a:ext>
            </a:extLst>
          </p:cNvPr>
          <p:cNvCxnSpPr>
            <a:cxnSpLocks/>
            <a:stCxn id="10" idx="2"/>
          </p:cNvCxnSpPr>
          <p:nvPr/>
        </p:nvCxnSpPr>
        <p:spPr>
          <a:xfrm flipV="1">
            <a:off x="5312079" y="2174907"/>
            <a:ext cx="6714" cy="2836847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4" name="Google Shape;70;p5">
            <a:extLst>
              <a:ext uri="{FF2B5EF4-FFF2-40B4-BE49-F238E27FC236}">
                <a16:creationId xmlns:a16="http://schemas.microsoft.com/office/drawing/2014/main" id="{2974B4B7-F36F-A9D0-7583-8C37DC33E353}"/>
              </a:ext>
            </a:extLst>
          </p:cNvPr>
          <p:cNvSpPr/>
          <p:nvPr/>
        </p:nvSpPr>
        <p:spPr>
          <a:xfrm rot="12088843">
            <a:off x="4568656" y="4612821"/>
            <a:ext cx="735933" cy="221438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79;p5">
            <a:extLst>
              <a:ext uri="{FF2B5EF4-FFF2-40B4-BE49-F238E27FC236}">
                <a16:creationId xmlns:a16="http://schemas.microsoft.com/office/drawing/2014/main" id="{0BEE0CCB-430E-F936-8956-E0CC3B627E28}"/>
              </a:ext>
            </a:extLst>
          </p:cNvPr>
          <p:cNvSpPr/>
          <p:nvPr/>
        </p:nvSpPr>
        <p:spPr>
          <a:xfrm rot="1408918" flipH="1">
            <a:off x="5210755" y="4783279"/>
            <a:ext cx="118542" cy="131376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87;p5">
            <a:extLst>
              <a:ext uri="{FF2B5EF4-FFF2-40B4-BE49-F238E27FC236}">
                <a16:creationId xmlns:a16="http://schemas.microsoft.com/office/drawing/2014/main" id="{0671EE37-A0E2-2D70-1122-ABD64B2EA922}"/>
              </a:ext>
            </a:extLst>
          </p:cNvPr>
          <p:cNvCxnSpPr>
            <a:cxnSpLocks/>
          </p:cNvCxnSpPr>
          <p:nvPr/>
        </p:nvCxnSpPr>
        <p:spPr>
          <a:xfrm flipV="1">
            <a:off x="5282927" y="2091867"/>
            <a:ext cx="6714" cy="2836847"/>
          </a:xfrm>
          <a:prstGeom prst="straightConnector1">
            <a:avLst/>
          </a:prstGeom>
          <a:noFill/>
          <a:ln w="19050" cap="flat" cmpd="sng">
            <a:solidFill>
              <a:srgbClr val="00B0F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" name="Google Shape;79;p5">
            <a:extLst>
              <a:ext uri="{FF2B5EF4-FFF2-40B4-BE49-F238E27FC236}">
                <a16:creationId xmlns:a16="http://schemas.microsoft.com/office/drawing/2014/main" id="{C1800FEA-8317-F149-FCF1-55B85C3B8AF9}"/>
              </a:ext>
            </a:extLst>
          </p:cNvPr>
          <p:cNvSpPr/>
          <p:nvPr/>
        </p:nvSpPr>
        <p:spPr>
          <a:xfrm rot="1408918" flipH="1">
            <a:off x="5250001" y="4968335"/>
            <a:ext cx="118542" cy="45719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79;p5">
            <a:extLst>
              <a:ext uri="{FF2B5EF4-FFF2-40B4-BE49-F238E27FC236}">
                <a16:creationId xmlns:a16="http://schemas.microsoft.com/office/drawing/2014/main" id="{0FF8EA51-17F8-97E0-7591-549FB3DA49E5}"/>
              </a:ext>
            </a:extLst>
          </p:cNvPr>
          <p:cNvSpPr/>
          <p:nvPr/>
        </p:nvSpPr>
        <p:spPr>
          <a:xfrm rot="18654983" flipH="1" flipV="1">
            <a:off x="5334085" y="5013490"/>
            <a:ext cx="45719" cy="45719"/>
          </a:xfrm>
          <a:prstGeom prst="triangle">
            <a:avLst>
              <a:gd name="adj" fmla="val 26491"/>
            </a:avLst>
          </a:prstGeom>
          <a:solidFill>
            <a:srgbClr val="18B5F0"/>
          </a:solidFill>
          <a:ln w="12700" cap="flat" cmpd="sng">
            <a:solidFill>
              <a:srgbClr val="18B5F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EBC2B6-468D-D8DF-E73C-BCACD22A8A6B}"/>
              </a:ext>
            </a:extLst>
          </p:cNvPr>
          <p:cNvSpPr txBox="1"/>
          <p:nvPr/>
        </p:nvSpPr>
        <p:spPr>
          <a:xfrm>
            <a:off x="532240" y="634738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ourier New"/>
              <a:buNone/>
            </a:pPr>
            <a:r>
              <a:rPr lang="en-US" sz="800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lang="en-US"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" name="Google Shape;153;p6">
            <a:extLst>
              <a:ext uri="{FF2B5EF4-FFF2-40B4-BE49-F238E27FC236}">
                <a16:creationId xmlns:a16="http://schemas.microsoft.com/office/drawing/2014/main" id="{E7B1BD44-D499-D503-4D7A-68A8DC299EFB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>
              <a:buClr>
                <a:srgbClr val="79839A"/>
              </a:buClr>
              <a:buSzPts val="1000"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04</a:t>
            </a:r>
            <a:endParaRPr lang="en-US" sz="10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93" name="BJPseudoFooter">
            <a:extLst>
              <a:ext uri="{FF2B5EF4-FFF2-40B4-BE49-F238E27FC236}">
                <a16:creationId xmlns:a16="http://schemas.microsoft.com/office/drawing/2014/main" id="{0BCC7B43-A5C9-48DC-B912-5B410C41EEA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8;p5" descr="/home/claude/work/a2/light_wash.jpg">
            <a:extLst>
              <a:ext uri="{FF2B5EF4-FFF2-40B4-BE49-F238E27FC236}">
                <a16:creationId xmlns:a16="http://schemas.microsoft.com/office/drawing/2014/main" id="{672503EA-9A79-BAD4-6B06-7595EDE9C8C2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829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375264" y="3396145"/>
            <a:ext cx="11441472" cy="2413490"/>
          </a:xfrm>
          <a:prstGeom prst="roundRect">
            <a:avLst>
              <a:gd name="adj" fmla="val 5056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Methodology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58368" y="105818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00206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 structured analysis narrowed four knowledge gaps to one payload</a:t>
            </a:r>
            <a:endParaRPr sz="1400" dirty="0">
              <a:solidFill>
                <a:srgbClr val="002060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58368" y="1631696"/>
            <a:ext cx="1867753" cy="1627632"/>
          </a:xfrm>
          <a:prstGeom prst="roundRect">
            <a:avLst>
              <a:gd name="adj" fmla="val 5056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841248" y="1792160"/>
            <a:ext cx="150199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50"/>
              <a:buFont typeface="Arial"/>
              <a:buNone/>
            </a:pP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RAMSES baseline</a:t>
            </a:r>
            <a:endParaRPr sz="16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841247" y="2203475"/>
            <a:ext cx="1501993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Studied the mission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objectives</a:t>
            </a: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,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platforms</a:t>
            </a: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and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payloads</a:t>
            </a:r>
            <a:endParaRPr sz="1200" b="1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590129" y="2344928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910169" y="1631696"/>
            <a:ext cx="1867753" cy="1627632"/>
          </a:xfrm>
          <a:prstGeom prst="roundRect">
            <a:avLst>
              <a:gd name="adj" fmla="val 5056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887867" y="1797500"/>
            <a:ext cx="195268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50"/>
              <a:buFont typeface="Arial"/>
              <a:buNone/>
            </a:pP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Mission Measurements</a:t>
            </a:r>
            <a:endParaRPr sz="16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029041" y="2070608"/>
            <a:ext cx="162406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Broke the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4 mission objectives</a:t>
            </a: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into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19 scientific measurements</a:t>
            </a: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, mapped the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19 measurements </a:t>
            </a: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into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the 12 instruments</a:t>
            </a: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of the mission</a:t>
            </a:r>
            <a:endParaRPr sz="12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841931" y="2344928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161971" y="1631696"/>
            <a:ext cx="1867753" cy="1627632"/>
          </a:xfrm>
          <a:prstGeom prst="roundRect">
            <a:avLst>
              <a:gd name="adj" fmla="val 5056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344851" y="1851152"/>
            <a:ext cx="150199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50"/>
              <a:buFont typeface="Arial"/>
              <a:buNone/>
            </a:pPr>
            <a:r>
              <a:rPr lang="en-US" sz="160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Knowledge gaps</a:t>
            </a:r>
            <a:endParaRPr sz="16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322804" y="2135354"/>
            <a:ext cx="158804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Determined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4 knowledge gaps</a:t>
            </a: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by identifying the non measured measurements and </a:t>
            </a:r>
            <a:r>
              <a:rPr lang="en-US" sz="12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prioritized 1 knowledge gap</a:t>
            </a:r>
            <a:endParaRPr sz="1200" b="1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093732" y="2344928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413772" y="1631696"/>
            <a:ext cx="1867753" cy="1627632"/>
          </a:xfrm>
          <a:prstGeom prst="roundRect">
            <a:avLst>
              <a:gd name="adj" fmla="val 5056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596652" y="1851152"/>
            <a:ext cx="150199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50"/>
              <a:buFont typeface="Arial"/>
              <a:buNone/>
            </a:pP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Payload trad</a:t>
            </a: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e-off</a:t>
            </a:r>
            <a:endParaRPr sz="16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571938" y="2203475"/>
            <a:ext cx="1588049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Identified multiple </a:t>
            </a:r>
            <a:r>
              <a:rPr lang="en-US" sz="1200" b="1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instruments</a:t>
            </a:r>
            <a:r>
              <a:rPr lang="en-US" sz="12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that can </a:t>
            </a:r>
            <a:r>
              <a:rPr lang="en-US" sz="1200" b="1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measure</a:t>
            </a:r>
            <a:r>
              <a:rPr lang="en-US" sz="12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the </a:t>
            </a:r>
            <a:r>
              <a:rPr lang="en-US" sz="1200" b="1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knowledge gap</a:t>
            </a:r>
            <a:endParaRPr sz="1200" b="1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345534" y="2344928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665574" y="1631696"/>
            <a:ext cx="1867753" cy="1627632"/>
          </a:xfrm>
          <a:prstGeom prst="roundRect">
            <a:avLst>
              <a:gd name="adj" fmla="val 5056"/>
            </a:avLst>
          </a:prstGeom>
          <a:solidFill>
            <a:srgbClr val="13234C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9848454" y="2198624"/>
            <a:ext cx="150199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600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One recommended payload</a:t>
            </a:r>
            <a:endParaRPr sz="16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06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pic>
        <p:nvPicPr>
          <p:cNvPr id="185" name="Google Shape;185;p7" descr="/home/claude/work/a2/logo_dark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16340" y="122984"/>
            <a:ext cx="1450538" cy="814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 descr="Image.png"/>
          <p:cNvPicPr preferRelativeResize="0"/>
          <p:nvPr/>
        </p:nvPicPr>
        <p:blipFill rotWithShape="1">
          <a:blip r:embed="rId7">
            <a:alphaModFix/>
          </a:blip>
          <a:srcRect l="1620" r="1494"/>
          <a:stretch/>
        </p:blipFill>
        <p:spPr>
          <a:xfrm>
            <a:off x="9768651" y="3584032"/>
            <a:ext cx="1640721" cy="188817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87" name="Google Shape;187;p7" descr="Image.png"/>
          <p:cNvPicPr preferRelativeResize="0"/>
          <p:nvPr/>
        </p:nvPicPr>
        <p:blipFill rotWithShape="1">
          <a:blip r:embed="rId8">
            <a:alphaModFix/>
          </a:blip>
          <a:srcRect l="1809" t="3286" r="1300"/>
          <a:stretch/>
        </p:blipFill>
        <p:spPr>
          <a:xfrm>
            <a:off x="9914938" y="4252433"/>
            <a:ext cx="1706019" cy="13884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88" name="Google Shape;188;p7"/>
          <p:cNvPicPr preferRelativeResize="0"/>
          <p:nvPr/>
        </p:nvPicPr>
        <p:blipFill rotWithShape="1">
          <a:blip r:embed="rId9">
            <a:alphaModFix/>
          </a:blip>
          <a:srcRect l="5940" r="3509"/>
          <a:stretch/>
        </p:blipFill>
        <p:spPr>
          <a:xfrm>
            <a:off x="3202193" y="3701169"/>
            <a:ext cx="1557913" cy="17892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89" name="Google Shape;189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5167" y="3576319"/>
            <a:ext cx="1561921" cy="163049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90" name="Google Shape;190;p7"/>
          <p:cNvPicPr preferRelativeResize="0"/>
          <p:nvPr/>
        </p:nvPicPr>
        <p:blipFill rotWithShape="1">
          <a:blip r:embed="rId11">
            <a:alphaModFix/>
          </a:blip>
          <a:srcRect l="2885" r="3167"/>
          <a:stretch/>
        </p:blipFill>
        <p:spPr>
          <a:xfrm>
            <a:off x="3107112" y="4035767"/>
            <a:ext cx="1512841" cy="165150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91" name="Google Shape;191;p7"/>
          <p:cNvSpPr/>
          <p:nvPr/>
        </p:nvSpPr>
        <p:spPr>
          <a:xfrm>
            <a:off x="2595048" y="4653205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917059" y="4625771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4054" y="3749244"/>
            <a:ext cx="1552352" cy="180792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32240" y="4130700"/>
            <a:ext cx="1350560" cy="149961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95" name="Google Shape;195;p7"/>
          <p:cNvSpPr/>
          <p:nvPr/>
        </p:nvSpPr>
        <p:spPr>
          <a:xfrm>
            <a:off x="7105436" y="4625771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9438683" y="4653205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70866" y="3630976"/>
            <a:ext cx="1446747" cy="179428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98" name="Google Shape;198;p7"/>
          <p:cNvPicPr preferRelativeResize="0"/>
          <p:nvPr/>
        </p:nvPicPr>
        <p:blipFill rotWithShape="1">
          <a:blip r:embed="rId15">
            <a:alphaModFix/>
          </a:blip>
          <a:srcRect l="2307" t="1793" r="3800"/>
          <a:stretch/>
        </p:blipFill>
        <p:spPr>
          <a:xfrm>
            <a:off x="5610184" y="3961825"/>
            <a:ext cx="1387094" cy="162687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16">
            <a:alphaModFix/>
          </a:blip>
          <a:srcRect l="3171" t="2419" r="2666"/>
          <a:stretch/>
        </p:blipFill>
        <p:spPr>
          <a:xfrm>
            <a:off x="7506317" y="3714120"/>
            <a:ext cx="1759517" cy="114740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17">
            <a:alphaModFix/>
          </a:blip>
          <a:srcRect l="3373" r="4049"/>
          <a:stretch/>
        </p:blipFill>
        <p:spPr>
          <a:xfrm>
            <a:off x="7621214" y="4220879"/>
            <a:ext cx="1686807" cy="110877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4658DF-F85A-F978-F0DB-59EDB7C0EDCF}"/>
              </a:ext>
            </a:extLst>
          </p:cNvPr>
          <p:cNvSpPr txBox="1"/>
          <p:nvPr/>
        </p:nvSpPr>
        <p:spPr>
          <a:xfrm>
            <a:off x="532240" y="634738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ourier New"/>
              <a:buNone/>
            </a:pPr>
            <a:r>
              <a:rPr lang="en-US" sz="800" b="1" dirty="0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lang="en-US"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BJPseudoFooter">
            <a:extLst>
              <a:ext uri="{FF2B5EF4-FFF2-40B4-BE49-F238E27FC236}">
                <a16:creationId xmlns:a16="http://schemas.microsoft.com/office/drawing/2014/main" id="{5646E44E-5097-EA9D-ED7B-A17789C40A9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422;p12" descr="/home/claude/work/a2/glow_amber.jpg">
            <a:extLst>
              <a:ext uri="{FF2B5EF4-FFF2-40B4-BE49-F238E27FC236}">
                <a16:creationId xmlns:a16="http://schemas.microsoft.com/office/drawing/2014/main" id="{E6970238-AD5E-47F6-337B-B457A4C5A1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6" descr="/home/claude/work/a2/light_wash.jpg"/>
          <p:cNvPicPr preferRelativeResize="0"/>
          <p:nvPr/>
        </p:nvPicPr>
        <p:blipFill rotWithShape="1"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2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658368" y="4913376"/>
            <a:ext cx="3490874" cy="985502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9050" cap="flat" cmpd="sng">
            <a:solidFill>
              <a:srgbClr val="6DD9F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6" name="Google Shape;145;p6">
            <a:extLst>
              <a:ext uri="{FF2B5EF4-FFF2-40B4-BE49-F238E27FC236}">
                <a16:creationId xmlns:a16="http://schemas.microsoft.com/office/drawing/2014/main" id="{031E03CD-B311-944E-85C5-139159280565}"/>
              </a:ext>
            </a:extLst>
          </p:cNvPr>
          <p:cNvSpPr/>
          <p:nvPr/>
        </p:nvSpPr>
        <p:spPr>
          <a:xfrm>
            <a:off x="833120" y="5307488"/>
            <a:ext cx="1200790" cy="256032"/>
          </a:xfrm>
          <a:prstGeom prst="roundRect">
            <a:avLst>
              <a:gd name="adj" fmla="val 17857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RAMSES Mission Overview</a:t>
            </a:r>
            <a:endParaRPr sz="30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58368" y="105818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EFFB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Rapid Apophis Mission for Space Safety , joint ESA–JAXA planetary defense mission.</a:t>
            </a:r>
            <a:endParaRPr sz="1400" dirty="0">
              <a:solidFill>
                <a:srgbClr val="EFFBFF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58368" y="1664208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900"/>
              <a:buFont typeface="Arial"/>
              <a:buNone/>
            </a:pPr>
            <a:r>
              <a:rPr lang="en-US" sz="1200" b="1" dirty="0">
                <a:solidFill>
                  <a:srgbClr val="EFFB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TARGET &amp; TIMELINE</a:t>
            </a:r>
            <a:endParaRPr sz="1200" dirty="0">
              <a:solidFill>
                <a:srgbClr val="EFFBF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58368" y="1975104"/>
            <a:ext cx="4617720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950976" y="21579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Designation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231136" y="21579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050"/>
              <a:buFont typeface="Arial"/>
              <a:buNone/>
            </a:pPr>
            <a:r>
              <a:rPr lang="en-US" sz="1200" dirty="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Asteroid (99942) Apophis</a:t>
            </a:r>
            <a:endParaRPr sz="12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50976" y="2459736"/>
            <a:ext cx="4032504" cy="9144"/>
          </a:xfrm>
          <a:prstGeom prst="rect">
            <a:avLst/>
          </a:prstGeom>
          <a:solidFill>
            <a:srgbClr val="D3DB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50976" y="251917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Arial"/>
              <a:buNone/>
            </a:pPr>
            <a:r>
              <a:rPr lang="en-US" sz="11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Size</a:t>
            </a:r>
            <a:endParaRPr sz="11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231136" y="25191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050"/>
              <a:buFont typeface="Arial"/>
              <a:buNone/>
            </a:pPr>
            <a:r>
              <a:rPr lang="en-US" sz="120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~375 m across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50976" y="2820924"/>
            <a:ext cx="4032504" cy="9144"/>
          </a:xfrm>
          <a:prstGeom prst="rect">
            <a:avLst/>
          </a:prstGeom>
          <a:solidFill>
            <a:srgbClr val="D3DB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50976" y="28803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Taxonomy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231136" y="2880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050"/>
              <a:buFont typeface="Arial"/>
              <a:buNone/>
            </a:pPr>
            <a:r>
              <a:rPr lang="en-US" sz="1200" dirty="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Sq type, LL chondrite analogue</a:t>
            </a:r>
            <a:endParaRPr sz="12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50976" y="3182112"/>
            <a:ext cx="4032504" cy="9144"/>
          </a:xfrm>
          <a:prstGeom prst="rect">
            <a:avLst/>
          </a:prstGeom>
          <a:solidFill>
            <a:srgbClr val="D3DB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50976" y="324154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Arial"/>
              <a:buNone/>
            </a:pPr>
            <a:r>
              <a:rPr lang="en-US" sz="11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Launch</a:t>
            </a:r>
            <a:endParaRPr sz="11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231136" y="32415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Spring 2028, H3 Rocket, Tanegashima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50976" y="3543300"/>
            <a:ext cx="4032504" cy="9144"/>
          </a:xfrm>
          <a:prstGeom prst="rect">
            <a:avLst/>
          </a:prstGeom>
          <a:solidFill>
            <a:srgbClr val="D3DB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50976" y="360273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Arial"/>
              <a:buNone/>
            </a:pPr>
            <a:r>
              <a:rPr lang="en-US" sz="11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Arrival</a:t>
            </a:r>
            <a:endParaRPr sz="11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231136" y="36027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050"/>
              <a:buFont typeface="Arial"/>
              <a:buNone/>
            </a:pPr>
            <a:r>
              <a:rPr lang="en-US" sz="120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February 2029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50976" y="3904488"/>
            <a:ext cx="4032504" cy="9144"/>
          </a:xfrm>
          <a:prstGeom prst="rect">
            <a:avLst/>
          </a:prstGeom>
          <a:solidFill>
            <a:srgbClr val="D3DB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50976" y="39639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000"/>
              <a:buFont typeface="Arial"/>
              <a:buNone/>
            </a:pPr>
            <a:r>
              <a:rPr lang="en-US" sz="11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Close flyby</a:t>
            </a:r>
            <a:endParaRPr sz="11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231136" y="39639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050"/>
              <a:buFont typeface="Arial"/>
              <a:buNone/>
            </a:pPr>
            <a:r>
              <a:rPr lang="en-US" sz="120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13 April 2029, ~32,000 km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715000" y="1664208"/>
            <a:ext cx="5806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120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715000" y="1975104"/>
            <a:ext cx="5806440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989320" y="2194560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989320" y="21945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100" b="1" dirty="0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O1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09944" y="2157984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50"/>
              <a:buFont typeface="Arial"/>
              <a:buNone/>
            </a:pPr>
            <a:r>
              <a:rPr lang="en-US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Shape, orbit and rotation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409944" y="23865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50"/>
              <a:buFont typeface="Arial"/>
              <a:buNone/>
            </a:pPr>
            <a:r>
              <a:rPr lang="en-US" sz="105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Before-and-after survey of shape, surface, orbit, rotation and orientation.</a:t>
            </a:r>
            <a:endParaRPr sz="105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989320" y="2743200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989320" y="2743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100" b="1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O2</a:t>
            </a:r>
            <a:endParaRPr sz="11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409944" y="2706624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50"/>
              <a:buFont typeface="Arial"/>
              <a:buNone/>
            </a:pPr>
            <a:r>
              <a:rPr lang="en-US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Composition and interior</a:t>
            </a:r>
            <a:endParaRPr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409944" y="293522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50"/>
              <a:buFont typeface="Arial"/>
              <a:buNone/>
            </a:pPr>
            <a:r>
              <a:rPr lang="en-US" sz="105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Composition, interior structure, cohesion, mass, density and porosity.</a:t>
            </a:r>
            <a:endParaRPr sz="105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989320" y="3291840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989320" y="32918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100" b="1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O3</a:t>
            </a:r>
            <a:endParaRPr sz="11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409944" y="3255264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50"/>
              <a:buFont typeface="Arial"/>
              <a:buNone/>
            </a:pPr>
            <a:r>
              <a:rPr lang="en-US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Tidal response</a:t>
            </a:r>
            <a:endParaRPr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09944" y="348386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50"/>
              <a:buFont typeface="Arial"/>
              <a:buNone/>
            </a:pPr>
            <a:r>
              <a:rPr lang="en-US" sz="105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How the asteroid responds to Earth's tidal forces.</a:t>
            </a:r>
            <a:endParaRPr sz="105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989320" y="3840480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989320" y="38404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100" b="1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O4</a:t>
            </a:r>
            <a:endParaRPr sz="11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409944" y="3803904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50"/>
              <a:buFont typeface="Arial"/>
              <a:buNone/>
            </a:pPr>
            <a:r>
              <a:rPr lang="en-US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Solar System science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409944" y="403250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50"/>
              <a:buFont typeface="Arial"/>
              <a:buNone/>
            </a:pPr>
            <a:r>
              <a:rPr lang="en-US" sz="105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Insight into the formation and evolution of the Solar System.</a:t>
            </a:r>
            <a:endParaRPr sz="105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58368" y="455371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50"/>
              <a:buFont typeface="Arial"/>
              <a:buNone/>
            </a:pPr>
            <a:r>
              <a:rPr lang="en-US" sz="1200" b="1" dirty="0">
                <a:solidFill>
                  <a:srgbClr val="EFFB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Mission architecture:</a:t>
            </a:r>
            <a:endParaRPr sz="1200" b="1" dirty="0">
              <a:solidFill>
                <a:srgbClr val="EFFBF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14400" y="5047488"/>
            <a:ext cx="297881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Main Orbiter</a:t>
            </a:r>
            <a:endParaRPr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35462" y="530748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800"/>
              <a:buFont typeface="Arial"/>
              <a:buNone/>
            </a:pPr>
            <a:r>
              <a:rPr lang="en-US" sz="1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6</a:t>
            </a:r>
            <a:r>
              <a:rPr lang="en-US" sz="1000" dirty="0">
                <a:solidFill>
                  <a:srgbClr val="00000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  </a:t>
            </a:r>
            <a:r>
              <a:rPr lang="en-US" sz="1000" dirty="0">
                <a:solidFill>
                  <a:srgbClr val="00206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INSTRUMENTS</a:t>
            </a:r>
            <a:endParaRPr sz="1000" dirty="0">
              <a:solidFill>
                <a:srgbClr val="002060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14400" y="5642864"/>
            <a:ext cx="297881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AFC (×2)  ·  CHANCES  ·  HAMLET  ·  TIRI  ·  RSE  ·  RPS</a:t>
            </a:r>
            <a:endParaRPr sz="1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350410" y="4913376"/>
            <a:ext cx="3490874" cy="985502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9050" cap="flat" cmpd="sng">
            <a:solidFill>
              <a:srgbClr val="6DD9F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606442" y="5047488"/>
            <a:ext cx="297881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Farinella: orbiter CubeSat</a:t>
            </a:r>
            <a:endParaRPr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25162" y="5307609"/>
            <a:ext cx="1200790" cy="256032"/>
          </a:xfrm>
          <a:prstGeom prst="roundRect">
            <a:avLst>
              <a:gd name="adj" fmla="val 17857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525162" y="5315174"/>
            <a:ext cx="120079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800"/>
              <a:buFont typeface="Arial"/>
              <a:buNone/>
            </a:pPr>
            <a:r>
              <a:rPr lang="en-US" sz="1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3</a:t>
            </a:r>
            <a:r>
              <a:rPr lang="en-US" sz="1000" dirty="0">
                <a:solidFill>
                  <a:srgbClr val="00000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  </a:t>
            </a:r>
            <a:r>
              <a:rPr lang="en-US" sz="1000" dirty="0">
                <a:solidFill>
                  <a:srgbClr val="00206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INSTRUMENTS</a:t>
            </a:r>
            <a:endParaRPr sz="1000" dirty="0">
              <a:solidFill>
                <a:srgbClr val="002060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606442" y="5642864"/>
            <a:ext cx="297881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00"/>
              <a:buFont typeface="Arial"/>
              <a:buNone/>
            </a:pPr>
            <a:r>
              <a:rPr lang="en-US" sz="10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HORUS  ·  Low-frequency radar  ·  VISTA</a:t>
            </a:r>
            <a:endParaRPr sz="1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042453" y="4913376"/>
            <a:ext cx="3490874" cy="985502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9050" cap="flat" cmpd="sng">
            <a:solidFill>
              <a:srgbClr val="6DD9F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298485" y="5047488"/>
            <a:ext cx="297881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Don Quijote: lander CubeSat</a:t>
            </a:r>
            <a:endParaRPr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298485" y="5642864"/>
            <a:ext cx="297881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SIA  ·  Gravimeter  ·  MARIE</a:t>
            </a:r>
            <a:endParaRPr sz="1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r">
              <a:buClr>
                <a:srgbClr val="79839A"/>
              </a:buClr>
              <a:buSzPts val="1000"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05</a:t>
            </a:r>
            <a:endParaRPr lang="en-US" sz="10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5715000" y="1647144"/>
            <a:ext cx="609382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900"/>
              <a:buFont typeface="Arial"/>
              <a:buNone/>
            </a:pPr>
            <a:r>
              <a:rPr lang="en-US" sz="1200" b="1" dirty="0">
                <a:solidFill>
                  <a:srgbClr val="EFFB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MISSION PUBLISHED OBJECTIVES</a:t>
            </a:r>
            <a:endParaRPr sz="1200" dirty="0">
              <a:solidFill>
                <a:srgbClr val="EFFBF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7" name="Google Shape;145;p6">
            <a:extLst>
              <a:ext uri="{FF2B5EF4-FFF2-40B4-BE49-F238E27FC236}">
                <a16:creationId xmlns:a16="http://schemas.microsoft.com/office/drawing/2014/main" id="{976A9949-61F0-AF6A-137C-E38FBE8A57FF}"/>
              </a:ext>
            </a:extLst>
          </p:cNvPr>
          <p:cNvSpPr/>
          <p:nvPr/>
        </p:nvSpPr>
        <p:spPr>
          <a:xfrm>
            <a:off x="8229867" y="5310380"/>
            <a:ext cx="1200790" cy="256032"/>
          </a:xfrm>
          <a:prstGeom prst="roundRect">
            <a:avLst>
              <a:gd name="adj" fmla="val 17857"/>
            </a:avLst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8" name="Google Shape;146;p6">
            <a:extLst>
              <a:ext uri="{FF2B5EF4-FFF2-40B4-BE49-F238E27FC236}">
                <a16:creationId xmlns:a16="http://schemas.microsoft.com/office/drawing/2014/main" id="{01FF3636-9DBC-C901-80B7-D58481387D06}"/>
              </a:ext>
            </a:extLst>
          </p:cNvPr>
          <p:cNvSpPr/>
          <p:nvPr/>
        </p:nvSpPr>
        <p:spPr>
          <a:xfrm>
            <a:off x="8229867" y="5317945"/>
            <a:ext cx="120079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800"/>
              <a:buFont typeface="Arial"/>
              <a:buNone/>
            </a:pPr>
            <a:r>
              <a:rPr lang="en-US" sz="1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3</a:t>
            </a:r>
            <a:r>
              <a:rPr lang="en-US" sz="1000" dirty="0">
                <a:solidFill>
                  <a:srgbClr val="00000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  </a:t>
            </a:r>
            <a:r>
              <a:rPr lang="en-US" sz="1000" dirty="0">
                <a:solidFill>
                  <a:srgbClr val="00206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INSTRUMENTS</a:t>
            </a:r>
            <a:endParaRPr sz="1000" dirty="0">
              <a:solidFill>
                <a:srgbClr val="002060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7BC54-B98D-F2BA-61AF-C30BF3BB41E7}"/>
              </a:ext>
            </a:extLst>
          </p:cNvPr>
          <p:cNvSpPr txBox="1"/>
          <p:nvPr/>
        </p:nvSpPr>
        <p:spPr>
          <a:xfrm>
            <a:off x="532240" y="634738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ourier New"/>
              <a:buNone/>
            </a:pPr>
            <a:r>
              <a:rPr lang="en-US" sz="800" b="1" dirty="0">
                <a:solidFill>
                  <a:srgbClr val="F0CCED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EFFBFF"/>
                </a:solidFill>
                <a:latin typeface="Courier New"/>
                <a:ea typeface="Courier New"/>
                <a:cs typeface="Courier New"/>
                <a:sym typeface="Courier New"/>
              </a:rPr>
              <a:t>     KNOWLEDGE GAPS     SELECTION     RECOMMENDATION     VALUE</a:t>
            </a:r>
          </a:p>
        </p:txBody>
      </p:sp>
      <p:pic>
        <p:nvPicPr>
          <p:cNvPr id="14" name="Google Shape;243;p8" descr="/home/claude/work/a2/logo_white.png">
            <a:extLst>
              <a:ext uri="{FF2B5EF4-FFF2-40B4-BE49-F238E27FC236}">
                <a16:creationId xmlns:a16="http://schemas.microsoft.com/office/drawing/2014/main" id="{EFA4A427-E178-2F98-3394-C455D1B4857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97385" y="310896"/>
            <a:ext cx="1133856" cy="47823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BJPseudoFooter">
            <a:extLst>
              <a:ext uri="{FF2B5EF4-FFF2-40B4-BE49-F238E27FC236}">
                <a16:creationId xmlns:a16="http://schemas.microsoft.com/office/drawing/2014/main" id="{4094521D-C264-062E-9236-842C3CD08C0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8" descr="ESA - First CubeSat joins ESA's Ramses mission to asteroid Apophis"/>
          <p:cNvPicPr preferRelativeResize="0"/>
          <p:nvPr/>
        </p:nvPicPr>
        <p:blipFill rotWithShape="1">
          <a:blip r:embed="rId4">
            <a:alphaModFix amt="68000"/>
          </a:blip>
          <a:srcRect/>
          <a:stretch/>
        </p:blipFill>
        <p:spPr>
          <a:xfrm>
            <a:off x="1" y="10160"/>
            <a:ext cx="121919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8" descr="/home/claude/work/a2/glow_blue.jpg"/>
          <p:cNvPicPr preferRelativeResize="0"/>
          <p:nvPr/>
        </p:nvPicPr>
        <p:blipFill rotWithShape="1">
          <a:blip r:embed="rId5">
            <a:alphaModFix amt="61000"/>
          </a:blip>
          <a:srcRect/>
          <a:stretch/>
        </p:blipFill>
        <p:spPr>
          <a:xfrm>
            <a:off x="-1" y="5186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 descr="/home/claude/work/a2/asteroid_left.png"/>
          <p:cNvPicPr preferRelativeResize="0"/>
          <p:nvPr/>
        </p:nvPicPr>
        <p:blipFill rotWithShape="1">
          <a:blip r:embed="rId6">
            <a:alphaModFix amt="62000"/>
          </a:blip>
          <a:srcRect t="20589"/>
          <a:stretch/>
        </p:blipFill>
        <p:spPr>
          <a:xfrm>
            <a:off x="8229600" y="4670435"/>
            <a:ext cx="3962095" cy="303306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What RAMSES Measures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58368" y="105818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A7C0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Confirmed payload by platform</a:t>
            </a:r>
            <a:endParaRPr sz="1400" dirty="0">
              <a:solidFill>
                <a:schemeClr val="tx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58368" y="2103120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Courier New"/>
              <a:buNone/>
            </a:pPr>
            <a:r>
              <a:rPr lang="en-US" sz="14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Main Orbiter</a:t>
            </a:r>
            <a:endParaRPr sz="14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58368" y="2450592"/>
            <a:ext cx="3466490" cy="9144"/>
          </a:xfrm>
          <a:prstGeom prst="rect">
            <a:avLst/>
          </a:prstGeom>
          <a:solidFill>
            <a:srgbClr val="2C3A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58368" y="2651760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AFC (×2)</a:t>
            </a:r>
            <a:endParaRPr b="1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58368" y="2852928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Wide-field navigation imaging and shape mapping</a:t>
            </a:r>
            <a:endParaRPr sz="1200" dirty="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58368" y="3218688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CHANCES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58368" y="3488939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High-resolution color imaging of surface change</a:t>
            </a: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58368" y="3785616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HAMLET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58368" y="4062148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Composition and space weathering, 650–1500 nm</a:t>
            </a: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58368" y="4352544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TIRI</a:t>
            </a:r>
            <a:endParaRPr sz="1200"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58368" y="4612747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Surface temperature, thermal inertia, grain size</a:t>
            </a: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58368" y="4919472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RSE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58368" y="5179675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Radio tracking; gravity, spin state and tidal response</a:t>
            </a: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58368" y="5486400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RPS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58368" y="5730274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Ion and electron energy near the spacecraft</a:t>
            </a: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362602" y="2103120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Courier New"/>
              <a:buNone/>
            </a:pPr>
            <a:r>
              <a:rPr lang="en-US" sz="14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Farinella · Orbiter CubeSat</a:t>
            </a:r>
            <a:endParaRPr sz="14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362602" y="2450592"/>
            <a:ext cx="3466490" cy="9144"/>
          </a:xfrm>
          <a:prstGeom prst="rect">
            <a:avLst/>
          </a:prstGeom>
          <a:solidFill>
            <a:srgbClr val="2C3A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362602" y="2651760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HORUS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362602" y="2972169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Close-range imaging beyond orbiter resolution</a:t>
            </a:r>
            <a:endParaRPr sz="1200" dirty="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dirty="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 dirty="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362602" y="3218688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Radar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362602" y="3518077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Interior structure via dielectric sounding</a:t>
            </a:r>
            <a:endParaRPr sz="1200" dirty="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dirty="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 dirty="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362602" y="3785616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VISTA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362602" y="4106025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Volatile and organic content of captured dust</a:t>
            </a: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066837" y="2103120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Courier New"/>
              <a:buNone/>
            </a:pPr>
            <a:r>
              <a:rPr lang="en-US" sz="14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Don Quijote · Lander CubeSat</a:t>
            </a:r>
            <a:endParaRPr sz="14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8066837" y="2450592"/>
            <a:ext cx="3466490" cy="9144"/>
          </a:xfrm>
          <a:prstGeom prst="rect">
            <a:avLst/>
          </a:prstGeom>
          <a:solidFill>
            <a:srgbClr val="2C3A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8066837" y="2651760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SIA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066837" y="2962121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Seismic response to tidal stress and cracking</a:t>
            </a:r>
            <a:endParaRPr sz="1200" dirty="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dirty="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 dirty="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8066837" y="3218688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Gravimeter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8066837" y="3539097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Local density from gravitational acceleration</a:t>
            </a: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066837" y="3785616"/>
            <a:ext cx="346649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MARIE</a:t>
            </a:r>
            <a:endParaRPr b="1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066837" y="4106025"/>
            <a:ext cx="34664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Magnetic response during the Earth flyby</a:t>
            </a: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8D99B4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</a:br>
            <a:endParaRPr sz="1200">
              <a:solidFill>
                <a:srgbClr val="8D99B4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pic>
        <p:nvPicPr>
          <p:cNvPr id="243" name="Google Shape;243;p8" descr="/home/claude/work/a2/logo_whi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97385" y="310896"/>
            <a:ext cx="1133856" cy="47823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658368" y="6322986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ourier New"/>
              <a:buNone/>
            </a:pPr>
            <a:r>
              <a:rPr lang="en-US" sz="800" b="1" dirty="0">
                <a:solidFill>
                  <a:srgbClr val="F0CCED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05206" y="2727198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07911" y="3299879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10616" y="3852464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13321" y="4425145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16026" y="5017922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18731" y="5550411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225670" y="2744958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214178" y="3301376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202686" y="3857794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916149" y="2727198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7908936" y="3315438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901723" y="3873534"/>
            <a:ext cx="68580" cy="68580"/>
          </a:xfrm>
          <a:prstGeom prst="ellipse">
            <a:avLst/>
          </a:prstGeom>
          <a:solidFill>
            <a:srgbClr val="6DD9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4;p7">
            <a:extLst>
              <a:ext uri="{FF2B5EF4-FFF2-40B4-BE49-F238E27FC236}">
                <a16:creationId xmlns:a16="http://schemas.microsoft.com/office/drawing/2014/main" id="{3536D178-FCDC-6365-93C9-F92D20AAC6BC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07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9" name="BJPseudoFooter">
            <a:extLst>
              <a:ext uri="{FF2B5EF4-FFF2-40B4-BE49-F238E27FC236}">
                <a16:creationId xmlns:a16="http://schemas.microsoft.com/office/drawing/2014/main" id="{227F976C-2F62-DE8E-4BC8-F77A2EF55D0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5" descr="/home/claude/work/a2/light_wash.jpg">
            <a:extLst>
              <a:ext uri="{FF2B5EF4-FFF2-40B4-BE49-F238E27FC236}">
                <a16:creationId xmlns:a16="http://schemas.microsoft.com/office/drawing/2014/main" id="{CD532143-DE6A-FBEB-5636-6DBA12F6F5F6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501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658368" y="530352"/>
            <a:ext cx="9052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What the Mission Must Measure</a:t>
            </a: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58368" y="1057961"/>
            <a:ext cx="96926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The four objectives were </a:t>
            </a:r>
            <a:r>
              <a:rPr lang="en-US" sz="14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decomposed into 19 measurements</a:t>
            </a:r>
            <a:r>
              <a:rPr lang="en-US" sz="14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. </a:t>
            </a:r>
            <a:r>
              <a:rPr lang="en-US" sz="14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</a:t>
            </a:r>
            <a:r>
              <a:rPr lang="en-US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hose 15 </a:t>
            </a:r>
            <a:r>
              <a:rPr lang="en-US" sz="1400" b="1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are already measured by the confirmed payloads</a:t>
            </a: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58368" y="1554480"/>
            <a:ext cx="10872216" cy="786384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967232" y="1828800"/>
            <a:ext cx="237744" cy="237744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967232" y="182880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10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1</a:t>
            </a:r>
            <a:endParaRPr sz="24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296416" y="1682496"/>
            <a:ext cx="198653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2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Read the objectives</a:t>
            </a: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296416" y="1965960"/>
            <a:ext cx="19865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5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ESA's four published aims,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380486" y="1828800"/>
            <a:ext cx="237744" cy="237744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380486" y="182880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709670" y="1682496"/>
            <a:ext cx="198653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2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Split into raw demands</a:t>
            </a: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3709670" y="1965960"/>
            <a:ext cx="2388870" cy="20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5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one question per demand, no instrument named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250940" y="1828800"/>
            <a:ext cx="237744" cy="237744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250940" y="182880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580124" y="1682496"/>
            <a:ext cx="198653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2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Write the requirement</a:t>
            </a:r>
            <a:endParaRPr sz="24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580124" y="1965960"/>
            <a:ext cx="23888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5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purpose, observable, threshold, boundary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9121394" y="1828800"/>
            <a:ext cx="237744" cy="237744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9121394" y="182880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9450578" y="1682496"/>
            <a:ext cx="198653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2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Classify the type</a:t>
            </a:r>
            <a:endParaRPr sz="24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9450578" y="1965960"/>
            <a:ext cx="198653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5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direct, differential, or derived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58368" y="2542032"/>
            <a:ext cx="3465576" cy="274320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914400" y="2779776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914400" y="27797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O1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316736" y="2761488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00"/>
              <a:buFont typeface="Arial"/>
              <a:buNone/>
            </a:pPr>
            <a:r>
              <a:rPr lang="en-US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Shape, orbit and rotation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914400" y="3547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M1.1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499616" y="354787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Shape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914400" y="38221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M1.2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499616" y="382219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Surface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914400" y="40965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M1.3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499616" y="409651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Orbit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914400" y="43708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M1.4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1499616" y="437083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Rotation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914400" y="46451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M1.5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1499616" y="464515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Orientation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361688" y="2542032"/>
            <a:ext cx="3465576" cy="274320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617720" y="2779776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617720" y="27797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O2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020056" y="2761488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00"/>
              <a:buFont typeface="Arial"/>
              <a:buNone/>
            </a:pPr>
            <a:r>
              <a:rPr lang="en-US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Composition and interior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617720" y="3200400"/>
            <a:ext cx="1481328" cy="237744"/>
          </a:xfrm>
          <a:prstGeom prst="roundRect">
            <a:avLst>
              <a:gd name="adj" fmla="val 20000"/>
            </a:avLst>
          </a:prstGeom>
          <a:solidFill>
            <a:srgbClr val="F8E8F7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617720" y="3210232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800"/>
              <a:buFont typeface="Arial"/>
              <a:buNone/>
            </a:pPr>
            <a:r>
              <a:rPr lang="en-US" sz="1000" b="1" dirty="0">
                <a:solidFill>
                  <a:srgbClr val="13234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6</a:t>
            </a:r>
            <a:r>
              <a:rPr lang="en-US" sz="1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</a:t>
            </a:r>
            <a:r>
              <a:rPr lang="en-US" sz="1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MEASUREMENTS</a:t>
            </a:r>
            <a:endParaRPr sz="1000" b="1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617720" y="3547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M2.1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202936" y="354787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Elemental composition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617720" y="38221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M2.2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202936" y="382219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Mineral composition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617720" y="40965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M2.3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202936" y="409651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Interior structure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617720" y="43708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M2.4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202936" y="437083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Cohesion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617720" y="46451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M2.5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202936" y="464515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Mass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617720" y="49194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M2.6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202936" y="491947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Density and porosity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065008" y="2542032"/>
            <a:ext cx="3465576" cy="274320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321040" y="2779776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321040" y="27797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1200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O3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723376" y="2761488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300"/>
              <a:buFont typeface="Arial"/>
              <a:buNone/>
            </a:pPr>
            <a:r>
              <a:rPr lang="en-US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Tidal response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321040" y="3200400"/>
            <a:ext cx="1481328" cy="237744"/>
          </a:xfrm>
          <a:prstGeom prst="roundRect">
            <a:avLst>
              <a:gd name="adj" fmla="val 20000"/>
            </a:avLst>
          </a:prstGeom>
          <a:solidFill>
            <a:srgbClr val="F8E8F7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321040" y="3200400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800"/>
              <a:buFont typeface="Arial"/>
              <a:buNone/>
            </a:pPr>
            <a:r>
              <a:rPr lang="en-US" sz="1000" b="1" dirty="0">
                <a:solidFill>
                  <a:srgbClr val="13234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4</a:t>
            </a:r>
            <a:r>
              <a:rPr lang="en-US" sz="1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   </a:t>
            </a:r>
            <a:r>
              <a:rPr lang="en-US" sz="1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MEASUREMENTS</a:t>
            </a:r>
            <a:endParaRPr sz="1000" b="1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8321040" y="3547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M3.1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906256" y="354787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Deformation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8321040" y="382219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M3.2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8906256" y="382219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Surface activity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8321040" y="40965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M3.3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8906256" y="409651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Spin-state change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321040" y="43708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900" b="1" dirty="0">
                <a:solidFill>
                  <a:srgbClr val="79839A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M3.4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8906256" y="4370832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050"/>
              <a:buFont typeface="Arial"/>
              <a:buNone/>
            </a:pPr>
            <a:r>
              <a:rPr lang="en-US" sz="11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Deflection relevance</a:t>
            </a:r>
            <a:endParaRPr sz="20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658368" y="5486400"/>
            <a:ext cx="10872216" cy="548640"/>
          </a:xfrm>
          <a:prstGeom prst="roundRect">
            <a:avLst>
              <a:gd name="adj" fmla="val 6000"/>
            </a:avLst>
          </a:prstGeom>
          <a:solidFill>
            <a:srgbClr val="13234C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027361" y="5495452"/>
            <a:ext cx="8099863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15 of the 19 measurements are already covered by the mission. The four that are not measured are the knowledge gaps.</a:t>
            </a:r>
            <a:endParaRPr sz="2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35" name="Google Shape;335;p9" descr="/home/claude/work/a2/logo_dark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16340" y="122984"/>
            <a:ext cx="1450538" cy="8147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01;p9">
            <a:extLst>
              <a:ext uri="{FF2B5EF4-FFF2-40B4-BE49-F238E27FC236}">
                <a16:creationId xmlns:a16="http://schemas.microsoft.com/office/drawing/2014/main" id="{D3906619-2C55-D6A7-3CCE-1F3426DA8C09}"/>
              </a:ext>
            </a:extLst>
          </p:cNvPr>
          <p:cNvSpPr/>
          <p:nvPr/>
        </p:nvSpPr>
        <p:spPr>
          <a:xfrm>
            <a:off x="914400" y="3197352"/>
            <a:ext cx="1481328" cy="237744"/>
          </a:xfrm>
          <a:prstGeom prst="roundRect">
            <a:avLst>
              <a:gd name="adj" fmla="val 20000"/>
            </a:avLst>
          </a:prstGeom>
          <a:solidFill>
            <a:srgbClr val="F8E8F7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3234C"/>
              </a:buClr>
              <a:buSzPts val="800"/>
            </a:pPr>
            <a:r>
              <a:rPr lang="en-US" sz="1000" b="1" dirty="0">
                <a:solidFill>
                  <a:srgbClr val="1323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MEASUREMENTS</a:t>
            </a:r>
            <a:endParaRPr lang="en-US" sz="1000" b="1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7" name="Google Shape;184;p7">
            <a:extLst>
              <a:ext uri="{FF2B5EF4-FFF2-40B4-BE49-F238E27FC236}">
                <a16:creationId xmlns:a16="http://schemas.microsoft.com/office/drawing/2014/main" id="{616CF36F-B1AB-A876-DE3F-15D8AA8AA352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08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3" name="BJPseudoFooter">
            <a:extLst>
              <a:ext uri="{FF2B5EF4-FFF2-40B4-BE49-F238E27FC236}">
                <a16:creationId xmlns:a16="http://schemas.microsoft.com/office/drawing/2014/main" id="{A840484C-E882-488A-2ED1-894AFBC5755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8;p5" descr="/home/claude/work/a2/light_wash.jpg">
            <a:extLst>
              <a:ext uri="{FF2B5EF4-FFF2-40B4-BE49-F238E27FC236}">
                <a16:creationId xmlns:a16="http://schemas.microsoft.com/office/drawing/2014/main" id="{911EC9DF-50AA-F499-920F-9C7AD707F57D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501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"/>
          <p:cNvSpPr/>
          <p:nvPr/>
        </p:nvSpPr>
        <p:spPr>
          <a:xfrm>
            <a:off x="3463976" y="2121408"/>
            <a:ext cx="2567864" cy="2781332"/>
          </a:xfrm>
          <a:prstGeom prst="roundRect">
            <a:avLst>
              <a:gd name="adj" fmla="val 4455"/>
            </a:avLst>
          </a:prstGeom>
          <a:solidFill>
            <a:schemeClr val="bg2">
              <a:lumMod val="50000"/>
            </a:schemeClr>
          </a:solidFill>
          <a:ln w="9525" cap="flat" cmpd="sng">
            <a:solidFill>
              <a:srgbClr val="C4CFE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>
                <a:solidFill>
                  <a:srgbClr val="13234C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Four Knowledge Gaps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58368" y="105818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Measurement openings the mission never set out to address, registered only where no confirmed instrument meets them.</a:t>
            </a:r>
            <a:endParaRPr sz="14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38047" y="2121407"/>
            <a:ext cx="2636901" cy="2781333"/>
          </a:xfrm>
          <a:prstGeom prst="roundRect">
            <a:avLst>
              <a:gd name="adj" fmla="val 4455"/>
            </a:avLst>
          </a:prstGeom>
          <a:solidFill>
            <a:schemeClr val="bg2">
              <a:lumMod val="50000"/>
            </a:schemeClr>
          </a:solidFill>
          <a:ln w="9525" cap="flat" cmpd="sng">
            <a:solidFill>
              <a:srgbClr val="C4CFE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896112" y="2292652"/>
            <a:ext cx="2092376" cy="21945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Courier New"/>
              <a:buNone/>
            </a:pPr>
            <a:r>
              <a:rPr lang="en-US" sz="1200" b="1" dirty="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GAP-1</a:t>
            </a:r>
            <a:endParaRPr sz="1200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896112" y="2743200"/>
            <a:ext cx="2092376" cy="104241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7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Hydration state</a:t>
            </a:r>
            <a:endParaRPr sz="20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665144" y="2292652"/>
            <a:ext cx="2092376" cy="21945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6F8C"/>
              </a:buClr>
              <a:buSzPts val="1200"/>
              <a:buFont typeface="Courier New"/>
              <a:buNone/>
            </a:pPr>
            <a:r>
              <a:rPr lang="en-US" sz="1200" b="1" dirty="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GAP-2</a:t>
            </a:r>
            <a:endParaRPr sz="1200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196432" y="2121408"/>
            <a:ext cx="2567864" cy="2781332"/>
          </a:xfrm>
          <a:prstGeom prst="roundRect">
            <a:avLst>
              <a:gd name="adj" fmla="val 4455"/>
            </a:avLst>
          </a:prstGeom>
          <a:solidFill>
            <a:schemeClr val="bg2">
              <a:lumMod val="50000"/>
            </a:schemeClr>
          </a:solidFill>
          <a:ln w="9525" cap="flat" cmpd="sng">
            <a:solidFill>
              <a:srgbClr val="C4CFE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434176" y="2292652"/>
            <a:ext cx="2092376" cy="21945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GAP-3</a:t>
            </a:r>
            <a:endParaRPr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434176" y="2651760"/>
            <a:ext cx="2092376" cy="113385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7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Regolith grain-size distribution</a:t>
            </a:r>
            <a:endParaRPr sz="20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8965463" y="2121408"/>
            <a:ext cx="2567864" cy="2781332"/>
          </a:xfrm>
          <a:prstGeom prst="roundRect">
            <a:avLst>
              <a:gd name="adj" fmla="val 4455"/>
            </a:avLst>
          </a:prstGeom>
          <a:solidFill>
            <a:schemeClr val="bg2">
              <a:lumMod val="50000"/>
            </a:schemeClr>
          </a:solidFill>
          <a:ln w="9525" cap="flat" cmpd="sng">
            <a:solidFill>
              <a:srgbClr val="C4CFE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9203207" y="2292652"/>
            <a:ext cx="2092376" cy="21945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GAP-4</a:t>
            </a:r>
            <a:endParaRPr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203207" y="2651760"/>
            <a:ext cx="2092376" cy="113385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7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Free Fe–Ni metallic phase fraction</a:t>
            </a:r>
            <a:endParaRPr sz="20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pic>
        <p:nvPicPr>
          <p:cNvPr id="356" name="Google Shape;356;p10" descr="/home/claude/work/a2/logo_dark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16340" y="122984"/>
            <a:ext cx="1450538" cy="81473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0"/>
          <p:cNvSpPr/>
          <p:nvPr/>
        </p:nvSpPr>
        <p:spPr>
          <a:xfrm>
            <a:off x="3609929" y="2601885"/>
            <a:ext cx="2165879" cy="104241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Weathering-corrected composition</a:t>
            </a:r>
            <a:endParaRPr sz="20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" name="Google Shape;388;p11">
            <a:extLst>
              <a:ext uri="{FF2B5EF4-FFF2-40B4-BE49-F238E27FC236}">
                <a16:creationId xmlns:a16="http://schemas.microsoft.com/office/drawing/2014/main" id="{0989C55A-815B-A6DB-C1FD-32837FAB0F8F}"/>
              </a:ext>
            </a:extLst>
          </p:cNvPr>
          <p:cNvSpPr/>
          <p:nvPr/>
        </p:nvSpPr>
        <p:spPr>
          <a:xfrm>
            <a:off x="714049" y="3231912"/>
            <a:ext cx="24714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dirty="0">
                <a:solidFill>
                  <a:srgbClr val="EFFBFF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The abundance and mineralogical binding of surface water and hydroxyl remain uncertain, limiting our ability to determine whether the body experienced aqueous alteration and to assess its volatile-resource potential.</a:t>
            </a:r>
          </a:p>
        </p:txBody>
      </p:sp>
      <p:sp>
        <p:nvSpPr>
          <p:cNvPr id="6" name="Google Shape;388;p11">
            <a:extLst>
              <a:ext uri="{FF2B5EF4-FFF2-40B4-BE49-F238E27FC236}">
                <a16:creationId xmlns:a16="http://schemas.microsoft.com/office/drawing/2014/main" id="{4294DDF8-E436-3E07-9624-2D08DE4C4418}"/>
              </a:ext>
            </a:extLst>
          </p:cNvPr>
          <p:cNvSpPr/>
          <p:nvPr/>
        </p:nvSpPr>
        <p:spPr>
          <a:xfrm>
            <a:off x="3533013" y="3317088"/>
            <a:ext cx="2425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dirty="0">
                <a:solidFill>
                  <a:srgbClr val="EFFBFF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What the regolith is made of beneath the surface layer altered by space weathering. An independent composition measurement is needed to distinguish the underlying composition from weathering effects.</a:t>
            </a:r>
          </a:p>
        </p:txBody>
      </p:sp>
      <p:sp>
        <p:nvSpPr>
          <p:cNvPr id="7" name="Google Shape;388;p11">
            <a:extLst>
              <a:ext uri="{FF2B5EF4-FFF2-40B4-BE49-F238E27FC236}">
                <a16:creationId xmlns:a16="http://schemas.microsoft.com/office/drawing/2014/main" id="{5E313E17-324C-7181-6EFF-B9E5C22B6CEC}"/>
              </a:ext>
            </a:extLst>
          </p:cNvPr>
          <p:cNvSpPr/>
          <p:nvPr/>
        </p:nvSpPr>
        <p:spPr>
          <a:xfrm>
            <a:off x="6397424" y="3424952"/>
            <a:ext cx="216587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dirty="0">
                <a:solidFill>
                  <a:srgbClr val="EFFBFF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How the loose surface material divides across particle sizes, from dust to boulders. It governs how regolith responds to disturbance and whether it can be processed.</a:t>
            </a:r>
          </a:p>
        </p:txBody>
      </p:sp>
      <p:sp>
        <p:nvSpPr>
          <p:cNvPr id="8" name="Google Shape;388;p11">
            <a:extLst>
              <a:ext uri="{FF2B5EF4-FFF2-40B4-BE49-F238E27FC236}">
                <a16:creationId xmlns:a16="http://schemas.microsoft.com/office/drawing/2014/main" id="{68B0FF78-78A5-2A84-7B4C-38AB97ADF194}"/>
              </a:ext>
            </a:extLst>
          </p:cNvPr>
          <p:cNvSpPr/>
          <p:nvPr/>
        </p:nvSpPr>
        <p:spPr>
          <a:xfrm>
            <a:off x="9149512" y="3405504"/>
            <a:ext cx="216587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dirty="0">
                <a:solidFill>
                  <a:srgbClr val="EFFBFF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How much of the iron is free metal rather than bound inside silicates. Only the free fraction separates magnetically, so it carries the metal-resource case.</a:t>
            </a:r>
          </a:p>
        </p:txBody>
      </p:sp>
      <p:sp>
        <p:nvSpPr>
          <p:cNvPr id="4" name="Google Shape;184;p7">
            <a:extLst>
              <a:ext uri="{FF2B5EF4-FFF2-40B4-BE49-F238E27FC236}">
                <a16:creationId xmlns:a16="http://schemas.microsoft.com/office/drawing/2014/main" id="{FF9523D4-B0BD-7E3F-C11D-FC60B4D7A470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09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" name="BJPseudoFooter">
            <a:extLst>
              <a:ext uri="{FF2B5EF4-FFF2-40B4-BE49-F238E27FC236}">
                <a16:creationId xmlns:a16="http://schemas.microsoft.com/office/drawing/2014/main" id="{89E2D84B-54F5-79CF-902B-0440756531E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5" descr="/home/claude/work/a2/light_wash.jpg">
            <a:extLst>
              <a:ext uri="{FF2B5EF4-FFF2-40B4-BE49-F238E27FC236}">
                <a16:creationId xmlns:a16="http://schemas.microsoft.com/office/drawing/2014/main" id="{85AAF999-AF90-5798-9795-2A9D101B1A5B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1"/>
          <p:cNvSpPr/>
          <p:nvPr/>
        </p:nvSpPr>
        <p:spPr>
          <a:xfrm>
            <a:off x="704088" y="1417320"/>
            <a:ext cx="5317236" cy="1206742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960120" y="1655064"/>
            <a:ext cx="329184" cy="329184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960120" y="165506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1</a:t>
            </a: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1380744" y="1636776"/>
            <a:ext cx="43845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Scientific value</a:t>
            </a: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960119" y="2019702"/>
            <a:ext cx="4992811" cy="323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Does the gap provide a scientifically unique measurement that cannot be reliably inferred from existing knowledge?</a:t>
            </a:r>
          </a:p>
        </p:txBody>
      </p:sp>
      <p:sp>
        <p:nvSpPr>
          <p:cNvPr id="375" name="Google Shape;375;p11"/>
          <p:cNvSpPr/>
          <p:nvPr/>
        </p:nvSpPr>
        <p:spPr>
          <a:xfrm>
            <a:off x="960120" y="2385462"/>
            <a:ext cx="48051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44A34"/>
              </a:buClr>
              <a:buSzPts val="1200"/>
              <a:buFont typeface="Courier New"/>
              <a:buNone/>
            </a:pPr>
            <a:endParaRPr sz="1800" b="1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259068" y="1417320"/>
            <a:ext cx="5317236" cy="1206742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515100" y="1655064"/>
            <a:ext cx="329184" cy="329184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6515100" y="165506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2</a:t>
            </a: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935724" y="1636776"/>
            <a:ext cx="43845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Mission compatibility</a:t>
            </a:r>
            <a:endParaRPr sz="1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6515099" y="2019702"/>
            <a:ext cx="4992811" cy="323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Can the measurement be performed from the existing orbiter without duplicating the confirmed payload?</a:t>
            </a:r>
          </a:p>
        </p:txBody>
      </p:sp>
      <p:sp>
        <p:nvSpPr>
          <p:cNvPr id="383" name="Google Shape;383;p11"/>
          <p:cNvSpPr/>
          <p:nvPr/>
        </p:nvSpPr>
        <p:spPr>
          <a:xfrm>
            <a:off x="722376" y="2788654"/>
            <a:ext cx="2569464" cy="2441714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960120" y="2931939"/>
            <a:ext cx="2093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200"/>
              <a:buFont typeface="Courier New"/>
              <a:buNone/>
            </a:pPr>
            <a:r>
              <a:rPr lang="en-US" sz="1200" b="1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GAP-1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960120" y="3160802"/>
            <a:ext cx="2093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00"/>
              <a:buFont typeface="Arial"/>
              <a:buNone/>
            </a:pP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Hydration state</a:t>
            </a:r>
            <a:endParaRPr sz="24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94144" y="3709442"/>
            <a:ext cx="2218944" cy="237744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894144" y="3709442"/>
            <a:ext cx="2218944" cy="2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A44A34"/>
              </a:buClr>
              <a:buSzPts val="800"/>
            </a:pPr>
            <a:r>
              <a:rPr lang="en-US" sz="800" b="1" dirty="0">
                <a:solidFill>
                  <a:srgbClr val="A44A34"/>
                </a:solidFill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DISQUALIFIED · SCIENTIFIC VALUE</a:t>
            </a:r>
            <a:endParaRPr sz="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859535" y="4100772"/>
            <a:ext cx="22704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950"/>
              <a:buFont typeface="Arial"/>
              <a:buNone/>
            </a:pPr>
            <a:r>
              <a:rPr lang="en-US" sz="11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Apophis is an LL analogue, and LL chondrites are dry. The likely result is an upper limit, which confirms the taxonomy instead of testing it.</a:t>
            </a:r>
            <a:endParaRPr sz="1100" dirty="0">
              <a:solidFill>
                <a:schemeClr val="bg2">
                  <a:lumMod val="75000"/>
                </a:schemeClr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3529584" y="2788654"/>
            <a:ext cx="2569464" cy="2441714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25400" cap="flat" cmpd="sng">
            <a:solidFill>
              <a:srgbClr val="2E9E6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3767328" y="2931939"/>
            <a:ext cx="2093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GAP-2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3759262" y="3169680"/>
            <a:ext cx="2162561" cy="484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00"/>
              <a:buFont typeface="Arial"/>
              <a:buNone/>
            </a:pP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Weathering-corrected composition</a:t>
            </a:r>
            <a:endParaRPr sz="24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3767328" y="3709442"/>
            <a:ext cx="2093976" cy="237744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3767328" y="3709442"/>
            <a:ext cx="20939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800"/>
              <a:buFont typeface="Courier New"/>
              <a:buNone/>
            </a:pPr>
            <a:r>
              <a:rPr lang="en-US" sz="800" b="1" dirty="0">
                <a:solidFill>
                  <a:srgbClr val="1F6B4A"/>
                </a:solidFill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RECOMMENDED</a:t>
            </a:r>
            <a:endParaRPr sz="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3611635" y="4109916"/>
            <a:ext cx="239491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11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RAMSES has no independent measurement of the unweathered composition. The result cannot be inferred from taxonomy, and the 2029 encounter may provide a unique opportunity to observe changes in surface maturity.</a:t>
            </a:r>
          </a:p>
        </p:txBody>
      </p:sp>
      <p:sp>
        <p:nvSpPr>
          <p:cNvPr id="395" name="Google Shape;395;p11"/>
          <p:cNvSpPr/>
          <p:nvPr/>
        </p:nvSpPr>
        <p:spPr>
          <a:xfrm>
            <a:off x="6263640" y="2788654"/>
            <a:ext cx="2569464" cy="2441714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501384" y="2931939"/>
            <a:ext cx="2093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GAP-3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6403059" y="3160802"/>
            <a:ext cx="2351384" cy="43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00"/>
              <a:buFont typeface="Arial"/>
              <a:buNone/>
            </a:pP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Regolith grain-size distribution</a:t>
            </a:r>
            <a:endParaRPr sz="24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6400799" y="4100772"/>
            <a:ext cx="22704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11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TIRI estimates grain size through thermal inertia but does not directly measure the grain-size distribution. Direct measurement requires contact with the regolith, which is not compatible with an orbiter payload.</a:t>
            </a:r>
          </a:p>
        </p:txBody>
      </p:sp>
      <p:sp>
        <p:nvSpPr>
          <p:cNvPr id="401" name="Google Shape;401;p11"/>
          <p:cNvSpPr/>
          <p:nvPr/>
        </p:nvSpPr>
        <p:spPr>
          <a:xfrm>
            <a:off x="9025128" y="2788654"/>
            <a:ext cx="2569464" cy="2441714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9262872" y="2931939"/>
            <a:ext cx="209397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GAP-4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9233376" y="3160802"/>
            <a:ext cx="20939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200"/>
              <a:buFont typeface="Arial"/>
              <a:buNone/>
            </a:pPr>
            <a:r>
              <a:rPr lang="en-US" sz="1600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Free Fe-Ni phase fraction</a:t>
            </a:r>
            <a:endParaRPr sz="24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9125711" y="4100772"/>
            <a:ext cx="234562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11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For an LL-chondrite analogue, the expected free-metal fraction is low and largely constrained by the known meteorite class. The measurement would therefore provide limited new information and is not unique to the Apophis encounter.</a:t>
            </a:r>
          </a:p>
        </p:txBody>
      </p:sp>
      <p:sp>
        <p:nvSpPr>
          <p:cNvPr id="407" name="Google Shape;407;p11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>
                <a:solidFill>
                  <a:srgbClr val="13234C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Priority Selection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658368" y="105818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Two criteria. A knowledge gap must </a:t>
            </a:r>
            <a:r>
              <a:rPr lang="en-US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verify</a:t>
            </a:r>
            <a:r>
              <a:rPr lang="en-US" sz="14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 both to be carried forward.</a:t>
            </a:r>
            <a:endParaRPr sz="14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658368" y="5340096"/>
            <a:ext cx="10874959" cy="768096"/>
          </a:xfrm>
          <a:prstGeom prst="roundRect">
            <a:avLst>
              <a:gd name="adj" fmla="val 8182"/>
            </a:avLst>
          </a:prstGeom>
          <a:solidFill>
            <a:srgbClr val="0E1A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1078992" y="5406783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ourier New"/>
              <a:buNone/>
            </a:pPr>
            <a:r>
              <a:rPr lang="en-US" sz="1000" b="1" dirty="0">
                <a:solidFill>
                  <a:srgbClr val="EEC4EB"/>
                </a:solidFill>
                <a:latin typeface="Courier New"/>
                <a:ea typeface="Courier New"/>
                <a:cs typeface="Courier New"/>
                <a:sym typeface="Courier New"/>
              </a:rPr>
              <a:t>ONE PRIORITY</a:t>
            </a:r>
            <a:endParaRPr sz="1000" dirty="0">
              <a:solidFill>
                <a:srgbClr val="EEC4E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1078992" y="5589112"/>
            <a:ext cx="67665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Weathering-corrected composition</a:t>
            </a:r>
            <a:endParaRPr sz="21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pic>
        <p:nvPicPr>
          <p:cNvPr id="416" name="Google Shape;416;p11" descr="/home/claude/work/a2/logo_dark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16340" y="122984"/>
            <a:ext cx="1450538" cy="8147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86;p11">
            <a:extLst>
              <a:ext uri="{FF2B5EF4-FFF2-40B4-BE49-F238E27FC236}">
                <a16:creationId xmlns:a16="http://schemas.microsoft.com/office/drawing/2014/main" id="{E9BF165D-A33C-E3BC-DD3F-D520BD173DDF}"/>
              </a:ext>
            </a:extLst>
          </p:cNvPr>
          <p:cNvSpPr/>
          <p:nvPr/>
        </p:nvSpPr>
        <p:spPr>
          <a:xfrm>
            <a:off x="9212906" y="3662575"/>
            <a:ext cx="2218944" cy="237744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6" name="Google Shape;387;p11">
            <a:extLst>
              <a:ext uri="{FF2B5EF4-FFF2-40B4-BE49-F238E27FC236}">
                <a16:creationId xmlns:a16="http://schemas.microsoft.com/office/drawing/2014/main" id="{81FB385E-90C5-D76B-77D0-22A2E25AE207}"/>
              </a:ext>
            </a:extLst>
          </p:cNvPr>
          <p:cNvSpPr/>
          <p:nvPr/>
        </p:nvSpPr>
        <p:spPr>
          <a:xfrm>
            <a:off x="9212906" y="3662575"/>
            <a:ext cx="2218944" cy="2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A44A34"/>
              </a:buClr>
              <a:buSzPts val="800"/>
            </a:pPr>
            <a:r>
              <a:rPr lang="en-US" sz="800" b="1" dirty="0">
                <a:solidFill>
                  <a:srgbClr val="A44A34"/>
                </a:solidFill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DISQUALIFIED · SCIENTIFIC VALUE</a:t>
            </a:r>
            <a:endParaRPr sz="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0" name="Google Shape;386;p11">
            <a:extLst>
              <a:ext uri="{FF2B5EF4-FFF2-40B4-BE49-F238E27FC236}">
                <a16:creationId xmlns:a16="http://schemas.microsoft.com/office/drawing/2014/main" id="{4AC59A87-4BF5-A05C-F13F-65F2B6FFF2EA}"/>
              </a:ext>
            </a:extLst>
          </p:cNvPr>
          <p:cNvSpPr/>
          <p:nvPr/>
        </p:nvSpPr>
        <p:spPr>
          <a:xfrm>
            <a:off x="6481802" y="3657660"/>
            <a:ext cx="2218944" cy="237744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1" name="Google Shape;387;p11">
            <a:extLst>
              <a:ext uri="{FF2B5EF4-FFF2-40B4-BE49-F238E27FC236}">
                <a16:creationId xmlns:a16="http://schemas.microsoft.com/office/drawing/2014/main" id="{53999120-021C-D188-3E1A-D4124702AB75}"/>
              </a:ext>
            </a:extLst>
          </p:cNvPr>
          <p:cNvSpPr/>
          <p:nvPr/>
        </p:nvSpPr>
        <p:spPr>
          <a:xfrm>
            <a:off x="6481802" y="3657660"/>
            <a:ext cx="2218944" cy="28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A44A34"/>
              </a:buClr>
              <a:buSzPts val="800"/>
            </a:pPr>
            <a:r>
              <a:rPr lang="en-US" sz="800" b="1" dirty="0">
                <a:solidFill>
                  <a:srgbClr val="A44A34"/>
                </a:solidFill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DISQUALIFIED · MISSION COMPABILITY</a:t>
            </a:r>
            <a:endParaRPr sz="1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3" name="Google Shape;184;p7">
            <a:extLst>
              <a:ext uri="{FF2B5EF4-FFF2-40B4-BE49-F238E27FC236}">
                <a16:creationId xmlns:a16="http://schemas.microsoft.com/office/drawing/2014/main" id="{2268F1A0-98F3-2980-AB39-CE9B71D84B2C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10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9" name="BJPseudoFooter">
            <a:extLst>
              <a:ext uri="{FF2B5EF4-FFF2-40B4-BE49-F238E27FC236}">
                <a16:creationId xmlns:a16="http://schemas.microsoft.com/office/drawing/2014/main" id="{3EDEC4ED-E18F-E842-B70A-B43A035FF88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12" descr="/home/claude/work/a2/glow_amber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2" descr="/home/claude/work/a2/logo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01600" y="329184"/>
            <a:ext cx="1133856" cy="47823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2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07C"/>
              </a:buClr>
              <a:buSzPts val="800"/>
              <a:buFont typeface="Courier New"/>
              <a:buNone/>
            </a:pP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 dirty="0">
                <a:solidFill>
                  <a:srgbClr val="F0CCED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The Scientific Problem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658368" y="1960008"/>
            <a:ext cx="2362124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31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804672" y="2069192"/>
            <a:ext cx="20695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200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Fresh surface composition</a:t>
            </a:r>
            <a:b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dirty="0">
              <a:solidFill>
                <a:schemeClr val="bg2">
                  <a:lumMod val="20000"/>
                  <a:lumOff val="80000"/>
                </a:schemeClr>
              </a:solidFill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3130220" y="2316624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3495980" y="1960008"/>
            <a:ext cx="2362124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31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3642284" y="2069192"/>
            <a:ext cx="20695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200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 weathering alters the surface</a:t>
            </a:r>
            <a:b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dirty="0">
              <a:solidFill>
                <a:schemeClr val="bg2">
                  <a:lumMod val="20000"/>
                  <a:lumOff val="80000"/>
                </a:schemeClr>
              </a:solidFill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967832" y="2316624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333592" y="1960008"/>
            <a:ext cx="2362124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31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6479896" y="2069192"/>
            <a:ext cx="20695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200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Observed optical spectrum is altered</a:t>
            </a:r>
            <a:b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dirty="0">
              <a:solidFill>
                <a:schemeClr val="bg2">
                  <a:lumMod val="20000"/>
                  <a:lumOff val="80000"/>
                </a:schemeClr>
              </a:solidFill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8805443" y="2316624"/>
            <a:ext cx="256032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9171203" y="1960008"/>
            <a:ext cx="2362124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905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9317507" y="1960008"/>
            <a:ext cx="206951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D9FF"/>
              </a:buClr>
              <a:buSzPts val="1400"/>
              <a:buFont typeface="Courier New"/>
              <a:buNone/>
            </a:pPr>
            <a:r>
              <a:rPr lang="en-US" sz="1400">
                <a:solidFill>
                  <a:srgbClr val="6DD9FF"/>
                </a:solidFill>
                <a:latin typeface="Courier New"/>
                <a:ea typeface="Courier New"/>
                <a:cs typeface="Courier New"/>
                <a:sym typeface="Courier New"/>
              </a:rPr>
              <a:t>Biased mineralogical interpretation</a:t>
            </a:r>
            <a:endParaRPr sz="1400">
              <a:solidFill>
                <a:srgbClr val="6DD9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58368" y="3310128"/>
            <a:ext cx="10874959" cy="1091566"/>
          </a:xfrm>
          <a:prstGeom prst="roundRect">
            <a:avLst>
              <a:gd name="adj" fmla="val 6716"/>
            </a:avLst>
          </a:prstGeom>
          <a:solidFill>
            <a:srgbClr val="13233F"/>
          </a:solidFill>
          <a:ln>
            <a:solidFill>
              <a:srgbClr val="00B0F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1133856" y="3474720"/>
            <a:ext cx="8686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BBE6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00B0F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RAMSES can measure the weathered spectrum,</a:t>
            </a:r>
            <a:endParaRPr sz="1600" dirty="0">
              <a:solidFill>
                <a:srgbClr val="00B0F0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133856" y="3736728"/>
            <a:ext cx="96926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 but it has no independent measurement of the underlying elemental composition needed to correct it.</a:t>
            </a:r>
          </a:p>
        </p:txBody>
      </p:sp>
      <p:sp>
        <p:nvSpPr>
          <p:cNvPr id="441" name="Google Shape;441;p12"/>
          <p:cNvSpPr/>
          <p:nvPr/>
        </p:nvSpPr>
        <p:spPr>
          <a:xfrm>
            <a:off x="658368" y="4773168"/>
            <a:ext cx="5245456" cy="1188720"/>
          </a:xfrm>
          <a:prstGeom prst="roundRect">
            <a:avLst>
              <a:gd name="adj" fmla="val 6154"/>
            </a:avLst>
          </a:prstGeom>
          <a:solidFill>
            <a:srgbClr val="111A2E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932688" y="4937760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600" dirty="0">
                <a:solidFill>
                  <a:srgbClr val="6DD9FF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No independent compositional reference.</a:t>
            </a:r>
          </a:p>
        </p:txBody>
      </p:sp>
      <p:sp>
        <p:nvSpPr>
          <p:cNvPr id="443" name="Google Shape;443;p12"/>
          <p:cNvSpPr/>
          <p:nvPr/>
        </p:nvSpPr>
        <p:spPr>
          <a:xfrm>
            <a:off x="932688" y="5248656"/>
            <a:ext cx="46968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100" dirty="0">
                <a:solidFill>
                  <a:schemeClr val="bg2">
                    <a:lumMod val="20000"/>
                    <a:lumOff val="80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HAMLET derives mineralogical information from the same weathered spectrum affected by space weathering. Without an independent elemental measurement, the correction cannot be independently validated.</a:t>
            </a:r>
          </a:p>
        </p:txBody>
      </p:sp>
      <p:sp>
        <p:nvSpPr>
          <p:cNvPr id="444" name="Google Shape;444;p12"/>
          <p:cNvSpPr/>
          <p:nvPr/>
        </p:nvSpPr>
        <p:spPr>
          <a:xfrm>
            <a:off x="6287872" y="4773168"/>
            <a:ext cx="5245456" cy="1188720"/>
          </a:xfrm>
          <a:prstGeom prst="roundRect">
            <a:avLst>
              <a:gd name="adj" fmla="val 6154"/>
            </a:avLst>
          </a:prstGeom>
          <a:solidFill>
            <a:srgbClr val="111A2E"/>
          </a:solidFill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562192" y="4937760"/>
            <a:ext cx="46968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DD9FF"/>
              </a:buClr>
              <a:buSzPts val="1600"/>
            </a:pPr>
            <a:r>
              <a:rPr lang="en-US" sz="1600" dirty="0">
                <a:solidFill>
                  <a:srgbClr val="6DD9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Why </a:t>
            </a:r>
            <a:r>
              <a:rPr lang="en-US" sz="1600" dirty="0">
                <a:solidFill>
                  <a:srgbClr val="6DD9FF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Apophis makes this important</a:t>
            </a:r>
            <a:endParaRPr sz="1600" dirty="0">
              <a:solidFill>
                <a:srgbClr val="6DD9FF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562192" y="5248656"/>
            <a:ext cx="4696816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100" dirty="0">
                <a:solidFill>
                  <a:schemeClr val="bg2">
                    <a:lumMod val="20000"/>
                    <a:lumOff val="80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Apophis is an Sq-type asteroid with a partially refreshed surface. The 2029 Earth encounter may alter the surface maturity, creating a rare opportunity to observe how space weathering changes the measured spectrum.</a:t>
            </a:r>
          </a:p>
        </p:txBody>
      </p:sp>
      <p:sp>
        <p:nvSpPr>
          <p:cNvPr id="2" name="Google Shape;426;p12">
            <a:extLst>
              <a:ext uri="{FF2B5EF4-FFF2-40B4-BE49-F238E27FC236}">
                <a16:creationId xmlns:a16="http://schemas.microsoft.com/office/drawing/2014/main" id="{B1A0F4D6-0138-7F23-0392-1E3D046D730E}"/>
              </a:ext>
            </a:extLst>
          </p:cNvPr>
          <p:cNvSpPr/>
          <p:nvPr/>
        </p:nvSpPr>
        <p:spPr>
          <a:xfrm>
            <a:off x="810768" y="1036846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None/>
            </a:pPr>
            <a:r>
              <a:rPr lang="en-US" sz="1600" dirty="0">
                <a:solidFill>
                  <a:schemeClr val="bg2">
                    <a:lumMod val="20000"/>
                    <a:lumOff val="80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Space weathering alters the surface spectrum without changing the asteroid's bulk composition.</a:t>
            </a:r>
          </a:p>
        </p:txBody>
      </p:sp>
      <p:sp>
        <p:nvSpPr>
          <p:cNvPr id="4" name="Google Shape;184;p7">
            <a:extLst>
              <a:ext uri="{FF2B5EF4-FFF2-40B4-BE49-F238E27FC236}">
                <a16:creationId xmlns:a16="http://schemas.microsoft.com/office/drawing/2014/main" id="{7859D77B-C816-44D1-BB1B-1B5AAD8254AF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11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2" name="BJPseudoFooter">
            <a:extLst>
              <a:ext uri="{FF2B5EF4-FFF2-40B4-BE49-F238E27FC236}">
                <a16:creationId xmlns:a16="http://schemas.microsoft.com/office/drawing/2014/main" id="{950B31CD-F28F-1F6F-DEAC-37B2F5C7BB4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22;p12" descr="/home/claude/work/a2/glow_amber.jpg">
            <a:extLst>
              <a:ext uri="{FF2B5EF4-FFF2-40B4-BE49-F238E27FC236}">
                <a16:creationId xmlns:a16="http://schemas.microsoft.com/office/drawing/2014/main" id="{46FDCC87-6F1A-F16E-05E0-7054256F78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3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 dirty="0">
                <a:solidFill>
                  <a:srgbClr val="F0CCED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The Required Observable</a:t>
            </a:r>
            <a:endParaRPr sz="30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658368" y="105818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What measurement would fill the gap?</a:t>
            </a:r>
            <a:endParaRPr sz="1400" dirty="0">
              <a:solidFill>
                <a:schemeClr val="tx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658368" y="1938528"/>
            <a:ext cx="10874959" cy="1078992"/>
          </a:xfrm>
          <a:prstGeom prst="roundRect">
            <a:avLst>
              <a:gd name="adj" fmla="val 7627"/>
            </a:avLst>
          </a:prstGeom>
          <a:solidFill>
            <a:srgbClr val="0E1A38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658368" y="2103120"/>
            <a:ext cx="108749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Subsurface elemental abundance</a:t>
            </a:r>
            <a:endParaRPr sz="26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658368" y="2552506"/>
            <a:ext cx="108749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A3C4"/>
              </a:buClr>
              <a:buSzPts val="1200"/>
              <a:buFont typeface="Courier New"/>
              <a:buNone/>
            </a:pP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of regolith beneath the weathered surface</a:t>
            </a:r>
            <a:endParaRPr sz="1200" dirty="0">
              <a:solidFill>
                <a:srgbClr val="00B0F0"/>
              </a:solidFill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2307130" y="3328948"/>
            <a:ext cx="3466490" cy="157276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 cap="flat" cmpd="sng">
            <a:solidFill>
              <a:srgbClr val="C4CF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2581450" y="3584980"/>
            <a:ext cx="347472" cy="347472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2581450" y="35849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1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2869441" y="3576102"/>
            <a:ext cx="249722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Orbital</a:t>
            </a:r>
            <a:endParaRPr sz="16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2599737" y="4012440"/>
            <a:ext cx="3008467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16000"/>
              </a:lnSpc>
              <a:buClr>
                <a:srgbClr val="4C5468"/>
              </a:buClr>
              <a:buSzPts val="1200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The measurement will be observed from the orbit, since a single landing-site measurement cannot represent the entire asteroid surface.</a:t>
            </a:r>
            <a:endParaRPr sz="1200" dirty="0">
              <a:solidFill>
                <a:schemeClr val="bg2">
                  <a:lumMod val="75000"/>
                </a:schemeClr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658368" y="5285232"/>
            <a:ext cx="10874959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510"/>
              </a:buClr>
              <a:buSzPts val="1450"/>
              <a:buFont typeface="Arial"/>
              <a:buNone/>
            </a:pP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423;p12" descr="/home/claude/work/a2/logo_white.png">
            <a:extLst>
              <a:ext uri="{FF2B5EF4-FFF2-40B4-BE49-F238E27FC236}">
                <a16:creationId xmlns:a16="http://schemas.microsoft.com/office/drawing/2014/main" id="{2E25F5CB-48A4-B0DF-8E8A-5DB5DC995AA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01600" y="329184"/>
            <a:ext cx="1133856" cy="4782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66;p13">
            <a:extLst>
              <a:ext uri="{FF2B5EF4-FFF2-40B4-BE49-F238E27FC236}">
                <a16:creationId xmlns:a16="http://schemas.microsoft.com/office/drawing/2014/main" id="{31C964EC-6026-FBC9-B99A-04887AC24AA3}"/>
              </a:ext>
            </a:extLst>
          </p:cNvPr>
          <p:cNvSpPr/>
          <p:nvPr/>
        </p:nvSpPr>
        <p:spPr>
          <a:xfrm>
            <a:off x="6179050" y="3328948"/>
            <a:ext cx="3466490" cy="157276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 cap="flat" cmpd="sng">
            <a:solidFill>
              <a:srgbClr val="C4CF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67;p13">
            <a:extLst>
              <a:ext uri="{FF2B5EF4-FFF2-40B4-BE49-F238E27FC236}">
                <a16:creationId xmlns:a16="http://schemas.microsoft.com/office/drawing/2014/main" id="{74A547AA-5E35-8E2D-916F-66C654E375A9}"/>
              </a:ext>
            </a:extLst>
          </p:cNvPr>
          <p:cNvSpPr/>
          <p:nvPr/>
        </p:nvSpPr>
        <p:spPr>
          <a:xfrm>
            <a:off x="6453370" y="3584980"/>
            <a:ext cx="347472" cy="347472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6" name="Google Shape;468;p13">
            <a:extLst>
              <a:ext uri="{FF2B5EF4-FFF2-40B4-BE49-F238E27FC236}">
                <a16:creationId xmlns:a16="http://schemas.microsoft.com/office/drawing/2014/main" id="{35047021-9504-A8CC-C4DB-2A8498A9C744}"/>
              </a:ext>
            </a:extLst>
          </p:cNvPr>
          <p:cNvSpPr/>
          <p:nvPr/>
        </p:nvSpPr>
        <p:spPr>
          <a:xfrm>
            <a:off x="6453370" y="35849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2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7" name="Google Shape;469;p13">
            <a:extLst>
              <a:ext uri="{FF2B5EF4-FFF2-40B4-BE49-F238E27FC236}">
                <a16:creationId xmlns:a16="http://schemas.microsoft.com/office/drawing/2014/main" id="{845A4DD7-3DC0-7A23-CC69-48425A340FBF}"/>
              </a:ext>
            </a:extLst>
          </p:cNvPr>
          <p:cNvSpPr/>
          <p:nvPr/>
        </p:nvSpPr>
        <p:spPr>
          <a:xfrm>
            <a:off x="6892282" y="3566692"/>
            <a:ext cx="249722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Below the weathered surface</a:t>
            </a:r>
            <a:endParaRPr sz="16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8" name="Google Shape;470;p13">
            <a:extLst>
              <a:ext uri="{FF2B5EF4-FFF2-40B4-BE49-F238E27FC236}">
                <a16:creationId xmlns:a16="http://schemas.microsoft.com/office/drawing/2014/main" id="{167D1345-8276-6715-A436-9C1E3CDC9FED}"/>
              </a:ext>
            </a:extLst>
          </p:cNvPr>
          <p:cNvSpPr/>
          <p:nvPr/>
        </p:nvSpPr>
        <p:spPr>
          <a:xfrm>
            <a:off x="6471658" y="4012440"/>
            <a:ext cx="291785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Must sense below the space-weathered layer so the reference reflects underlying composition rather than the altered surface.</a:t>
            </a:r>
          </a:p>
        </p:txBody>
      </p:sp>
      <p:sp>
        <p:nvSpPr>
          <p:cNvPr id="10" name="Google Shape;184;p7">
            <a:extLst>
              <a:ext uri="{FF2B5EF4-FFF2-40B4-BE49-F238E27FC236}">
                <a16:creationId xmlns:a16="http://schemas.microsoft.com/office/drawing/2014/main" id="{FEE9CDA1-30FB-FC6D-8B4A-030366128AC6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12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6" name="BJPseudoFooter">
            <a:extLst>
              <a:ext uri="{FF2B5EF4-FFF2-40B4-BE49-F238E27FC236}">
                <a16:creationId xmlns:a16="http://schemas.microsoft.com/office/drawing/2014/main" id="{9C5AA263-A6EC-D712-A658-7D79CB2ED8F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495;p14">
            <a:extLst>
              <a:ext uri="{FF2B5EF4-FFF2-40B4-BE49-F238E27FC236}">
                <a16:creationId xmlns:a16="http://schemas.microsoft.com/office/drawing/2014/main" id="{C0150AA9-ED6A-0002-D34C-DFF2187FC98C}"/>
              </a:ext>
            </a:extLst>
          </p:cNvPr>
          <p:cNvSpPr/>
          <p:nvPr/>
        </p:nvSpPr>
        <p:spPr>
          <a:xfrm>
            <a:off x="440076" y="3840397"/>
            <a:ext cx="1925824" cy="2294613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495;p14">
            <a:extLst>
              <a:ext uri="{FF2B5EF4-FFF2-40B4-BE49-F238E27FC236}">
                <a16:creationId xmlns:a16="http://schemas.microsoft.com/office/drawing/2014/main" id="{B57D78A6-850A-12A2-B06D-235A8586EC87}"/>
              </a:ext>
            </a:extLst>
          </p:cNvPr>
          <p:cNvSpPr/>
          <p:nvPr/>
        </p:nvSpPr>
        <p:spPr>
          <a:xfrm>
            <a:off x="2737509" y="3843684"/>
            <a:ext cx="1925824" cy="2291326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495;p14">
            <a:extLst>
              <a:ext uri="{FF2B5EF4-FFF2-40B4-BE49-F238E27FC236}">
                <a16:creationId xmlns:a16="http://schemas.microsoft.com/office/drawing/2014/main" id="{BF495BBD-E6E9-5487-B4E0-FD1CD7A5D7D6}"/>
              </a:ext>
            </a:extLst>
          </p:cNvPr>
          <p:cNvSpPr/>
          <p:nvPr/>
        </p:nvSpPr>
        <p:spPr>
          <a:xfrm>
            <a:off x="9858972" y="3849003"/>
            <a:ext cx="1925824" cy="2291325"/>
          </a:xfrm>
          <a:prstGeom prst="roundRect">
            <a:avLst>
              <a:gd name="adj" fmla="val 11290"/>
            </a:avLst>
          </a:prstGeom>
          <a:solidFill>
            <a:schemeClr val="tx1"/>
          </a:solidFill>
          <a:ln w="19050" cap="flat" cmpd="sng">
            <a:solidFill>
              <a:srgbClr val="2E9E6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495;p14">
            <a:extLst>
              <a:ext uri="{FF2B5EF4-FFF2-40B4-BE49-F238E27FC236}">
                <a16:creationId xmlns:a16="http://schemas.microsoft.com/office/drawing/2014/main" id="{0D2B353D-EA00-27F2-0841-24EFEB72A07C}"/>
              </a:ext>
            </a:extLst>
          </p:cNvPr>
          <p:cNvSpPr/>
          <p:nvPr/>
        </p:nvSpPr>
        <p:spPr>
          <a:xfrm>
            <a:off x="7526250" y="3863566"/>
            <a:ext cx="1925824" cy="2268979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95;p14">
            <a:extLst>
              <a:ext uri="{FF2B5EF4-FFF2-40B4-BE49-F238E27FC236}">
                <a16:creationId xmlns:a16="http://schemas.microsoft.com/office/drawing/2014/main" id="{FB33271F-C664-087D-0A1F-B088DBBE33CC}"/>
              </a:ext>
            </a:extLst>
          </p:cNvPr>
          <p:cNvSpPr/>
          <p:nvPr/>
        </p:nvSpPr>
        <p:spPr>
          <a:xfrm>
            <a:off x="5130017" y="3855626"/>
            <a:ext cx="1925824" cy="2268979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95;p14">
            <a:extLst>
              <a:ext uri="{FF2B5EF4-FFF2-40B4-BE49-F238E27FC236}">
                <a16:creationId xmlns:a16="http://schemas.microsoft.com/office/drawing/2014/main" id="{B20D443C-FCD2-1879-7F8A-C86A47470DA1}"/>
              </a:ext>
            </a:extLst>
          </p:cNvPr>
          <p:cNvSpPr/>
          <p:nvPr/>
        </p:nvSpPr>
        <p:spPr>
          <a:xfrm>
            <a:off x="5185024" y="1666479"/>
            <a:ext cx="1852245" cy="1712562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95;p14">
            <a:extLst>
              <a:ext uri="{FF2B5EF4-FFF2-40B4-BE49-F238E27FC236}">
                <a16:creationId xmlns:a16="http://schemas.microsoft.com/office/drawing/2014/main" id="{02407B1E-E086-0B13-EA92-454F1A671AA8}"/>
              </a:ext>
            </a:extLst>
          </p:cNvPr>
          <p:cNvSpPr/>
          <p:nvPr/>
        </p:nvSpPr>
        <p:spPr>
          <a:xfrm>
            <a:off x="7547428" y="1646600"/>
            <a:ext cx="1852245" cy="1720891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95;p14">
            <a:extLst>
              <a:ext uri="{FF2B5EF4-FFF2-40B4-BE49-F238E27FC236}">
                <a16:creationId xmlns:a16="http://schemas.microsoft.com/office/drawing/2014/main" id="{50C26D47-9543-A01B-A862-C3A5667B6A66}"/>
              </a:ext>
            </a:extLst>
          </p:cNvPr>
          <p:cNvSpPr/>
          <p:nvPr/>
        </p:nvSpPr>
        <p:spPr>
          <a:xfrm>
            <a:off x="455434" y="1627468"/>
            <a:ext cx="1852245" cy="1709385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 dirty="0">
                <a:solidFill>
                  <a:srgbClr val="F0CCED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Candidate Payload Assessment</a:t>
            </a:r>
            <a:endParaRPr sz="30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658368" y="1058182"/>
            <a:ext cx="9052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4C5468"/>
              </a:buClr>
              <a:buSzPts val="1400"/>
            </a:pPr>
            <a:r>
              <a:rPr lang="en-US" sz="1400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5 candidate payloads, sc</a:t>
            </a:r>
            <a:r>
              <a:rPr lang="en-US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reened against the required observable and the orbital compatibility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endParaRPr sz="1400" dirty="0">
              <a:solidFill>
                <a:schemeClr val="tx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595898" y="1697607"/>
            <a:ext cx="1577178" cy="403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Mössbauer Spectrometer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7544488" y="1733428"/>
            <a:ext cx="1852245" cy="403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LIBS, ChemCam class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7" name="Google Shape;495;p14">
            <a:extLst>
              <a:ext uri="{FF2B5EF4-FFF2-40B4-BE49-F238E27FC236}">
                <a16:creationId xmlns:a16="http://schemas.microsoft.com/office/drawing/2014/main" id="{AD8F5EDC-F625-1152-CCBD-C62090CF6A9F}"/>
              </a:ext>
            </a:extLst>
          </p:cNvPr>
          <p:cNvSpPr/>
          <p:nvPr/>
        </p:nvSpPr>
        <p:spPr>
          <a:xfrm>
            <a:off x="2819023" y="1636660"/>
            <a:ext cx="1852245" cy="1712563"/>
          </a:xfrm>
          <a:prstGeom prst="roundRect">
            <a:avLst>
              <a:gd name="adj" fmla="val 11290"/>
            </a:avLst>
          </a:prstGeom>
          <a:solidFill>
            <a:srgbClr val="EFFBFF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2976341" y="1733320"/>
            <a:ext cx="1548134" cy="36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MicrOmega Microscope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10" name="Google Shape;495;p14">
            <a:extLst>
              <a:ext uri="{FF2B5EF4-FFF2-40B4-BE49-F238E27FC236}">
                <a16:creationId xmlns:a16="http://schemas.microsoft.com/office/drawing/2014/main" id="{4B90F04B-8E4D-8D84-D2A9-191199861454}"/>
              </a:ext>
            </a:extLst>
          </p:cNvPr>
          <p:cNvSpPr/>
          <p:nvPr/>
        </p:nvSpPr>
        <p:spPr>
          <a:xfrm>
            <a:off x="9862235" y="1630276"/>
            <a:ext cx="1852245" cy="1717662"/>
          </a:xfrm>
          <a:prstGeom prst="roundRect">
            <a:avLst>
              <a:gd name="adj" fmla="val 11290"/>
            </a:avLst>
          </a:prstGeom>
          <a:solidFill>
            <a:schemeClr val="tx1"/>
          </a:solidFill>
          <a:ln w="19050" cap="flat" cmpd="sng">
            <a:solidFill>
              <a:srgbClr val="2E9E6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5151193" y="1733826"/>
            <a:ext cx="1925824" cy="403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Neutron Spectrometer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9865175" y="1679718"/>
            <a:ext cx="1852245" cy="403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500"/>
              <a:buFont typeface="Arial"/>
              <a:buNone/>
            </a:pPr>
            <a:r>
              <a:rPr lang="en-US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Gamma-Ray Spectrometer</a:t>
            </a:r>
            <a:endParaRPr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pic>
        <p:nvPicPr>
          <p:cNvPr id="11" name="Picture 10" descr="Documents &amp; Software | Mössbauer spectrometers">
            <a:extLst>
              <a:ext uri="{FF2B5EF4-FFF2-40B4-BE49-F238E27FC236}">
                <a16:creationId xmlns:a16="http://schemas.microsoft.com/office/drawing/2014/main" id="{FC948995-40D7-C7C9-9486-62B967213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8414" y="2011516"/>
            <a:ext cx="1661473" cy="11055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74B923-073B-8940-2C16-4D6E358196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41189" y="2243928"/>
            <a:ext cx="1736869" cy="1283291"/>
          </a:xfrm>
          <a:prstGeom prst="rect">
            <a:avLst/>
          </a:prstGeom>
        </p:spPr>
      </p:pic>
      <p:pic>
        <p:nvPicPr>
          <p:cNvPr id="20" name="Picture 19" descr="Lockheed Martin Delivers Neutron Spectrometer to Help Space Mission Find  Water on Moon | Lockheed Martin">
            <a:extLst>
              <a:ext uri="{FF2B5EF4-FFF2-40B4-BE49-F238E27FC236}">
                <a16:creationId xmlns:a16="http://schemas.microsoft.com/office/drawing/2014/main" id="{5EC49333-7BD8-2964-69BF-54B0A9494E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204214" y="2212920"/>
            <a:ext cx="1852245" cy="1041888"/>
          </a:xfrm>
          <a:prstGeom prst="rect">
            <a:avLst/>
          </a:prstGeom>
        </p:spPr>
      </p:pic>
      <p:sp>
        <p:nvSpPr>
          <p:cNvPr id="30" name="Google Shape;429;p12">
            <a:extLst>
              <a:ext uri="{FF2B5EF4-FFF2-40B4-BE49-F238E27FC236}">
                <a16:creationId xmlns:a16="http://schemas.microsoft.com/office/drawing/2014/main" id="{E62AAC67-A4DC-1BA9-1C2D-70EE3DC90632}"/>
              </a:ext>
            </a:extLst>
          </p:cNvPr>
          <p:cNvSpPr/>
          <p:nvPr/>
        </p:nvSpPr>
        <p:spPr>
          <a:xfrm rot="5400000">
            <a:off x="8368142" y="3561762"/>
            <a:ext cx="259364" cy="1732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" name="Google Shape;491;p14">
            <a:extLst>
              <a:ext uri="{FF2B5EF4-FFF2-40B4-BE49-F238E27FC236}">
                <a16:creationId xmlns:a16="http://schemas.microsoft.com/office/drawing/2014/main" id="{B8A8EC72-7032-DC4B-6938-00B237F5024F}"/>
              </a:ext>
            </a:extLst>
          </p:cNvPr>
          <p:cNvSpPr/>
          <p:nvPr/>
        </p:nvSpPr>
        <p:spPr>
          <a:xfrm>
            <a:off x="2866007" y="4010390"/>
            <a:ext cx="1689933" cy="1402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Measures: grain-scale mineralogy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Depth: Surface / grain-scale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Strength: detailed mineral identification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Limitation: requires contact with sampled material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Architecture: Not compatible </a:t>
            </a:r>
          </a:p>
        </p:txBody>
      </p:sp>
      <p:sp>
        <p:nvSpPr>
          <p:cNvPr id="34" name="Google Shape;491;p14">
            <a:extLst>
              <a:ext uri="{FF2B5EF4-FFF2-40B4-BE49-F238E27FC236}">
                <a16:creationId xmlns:a16="http://schemas.microsoft.com/office/drawing/2014/main" id="{A4F9368A-B01C-2287-292A-749EF219E005}"/>
              </a:ext>
            </a:extLst>
          </p:cNvPr>
          <p:cNvSpPr/>
          <p:nvPr/>
        </p:nvSpPr>
        <p:spPr>
          <a:xfrm>
            <a:off x="5200360" y="3963544"/>
            <a:ext cx="1791410" cy="1700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Measures: hydrogen / neutron moderation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Depth: bulk / subsurface sensitivity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Strength: independent of reflected light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Limitation: does not provide the required multi-element ratios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Architecture: Orbiter-compatible </a:t>
            </a:r>
          </a:p>
        </p:txBody>
      </p:sp>
      <p:sp>
        <p:nvSpPr>
          <p:cNvPr id="35" name="Google Shape;491;p14">
            <a:extLst>
              <a:ext uri="{FF2B5EF4-FFF2-40B4-BE49-F238E27FC236}">
                <a16:creationId xmlns:a16="http://schemas.microsoft.com/office/drawing/2014/main" id="{F2B0A579-D22B-229B-C39E-221652286013}"/>
              </a:ext>
            </a:extLst>
          </p:cNvPr>
          <p:cNvSpPr/>
          <p:nvPr/>
        </p:nvSpPr>
        <p:spPr>
          <a:xfrm>
            <a:off x="7613022" y="4219379"/>
            <a:ext cx="1783711" cy="122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Measures: elemental composition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Depth: Sub-mm to ~1 mm, depending on material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Strength: depth-resolved surface analysis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Limitation: close-range / high-pointing-precision operation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Architecture: Not compatible </a:t>
            </a:r>
          </a:p>
        </p:txBody>
      </p:sp>
      <p:sp>
        <p:nvSpPr>
          <p:cNvPr id="36" name="Google Shape;491;p14">
            <a:extLst>
              <a:ext uri="{FF2B5EF4-FFF2-40B4-BE49-F238E27FC236}">
                <a16:creationId xmlns:a16="http://schemas.microsoft.com/office/drawing/2014/main" id="{FCF9D5C1-856B-BE9A-D1C5-AA4101440B66}"/>
              </a:ext>
            </a:extLst>
          </p:cNvPr>
          <p:cNvSpPr/>
          <p:nvPr/>
        </p:nvSpPr>
        <p:spPr>
          <a:xfrm>
            <a:off x="10093589" y="4349055"/>
            <a:ext cx="1510147" cy="94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Measures: elemental abundance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Depth: tens of cm scale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Strength: independent of reflected light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Architecture: Orbiter-compatible</a:t>
            </a:r>
          </a:p>
        </p:txBody>
      </p:sp>
      <p:sp>
        <p:nvSpPr>
          <p:cNvPr id="37" name="Google Shape;491;p14">
            <a:extLst>
              <a:ext uri="{FF2B5EF4-FFF2-40B4-BE49-F238E27FC236}">
                <a16:creationId xmlns:a16="http://schemas.microsoft.com/office/drawing/2014/main" id="{A61AE8FF-1EA4-C7CC-81BF-77849093EB5D}"/>
              </a:ext>
            </a:extLst>
          </p:cNvPr>
          <p:cNvSpPr/>
          <p:nvPr/>
        </p:nvSpPr>
        <p:spPr>
          <a:xfrm>
            <a:off x="533004" y="4056110"/>
            <a:ext cx="1750690" cy="144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Measures: Fe oxidation state / Fe-bearing phases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Depth: ~0.2–3 mm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Strength: direct iron-phase information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Limitation: requires surface contact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29LT Adir" panose="00000506000000000000" pitchFamily="50" charset="-78"/>
                <a:cs typeface="29LT Adir" panose="00000506000000000000" pitchFamily="50" charset="-78"/>
              </a:rPr>
              <a:t>Architecture: Not compatible </a:t>
            </a:r>
          </a:p>
        </p:txBody>
      </p:sp>
      <p:pic>
        <p:nvPicPr>
          <p:cNvPr id="41" name="Google Shape;423;p12" descr="/home/claude/work/a2/logo_white.png">
            <a:extLst>
              <a:ext uri="{FF2B5EF4-FFF2-40B4-BE49-F238E27FC236}">
                <a16:creationId xmlns:a16="http://schemas.microsoft.com/office/drawing/2014/main" id="{DB128008-77A7-5FDB-9385-E19AC967333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01600" y="329184"/>
            <a:ext cx="1133856" cy="478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Picture 48" descr="ChemCam, la cámara con un láser de Curiosity">
            <a:extLst>
              <a:ext uri="{FF2B5EF4-FFF2-40B4-BE49-F238E27FC236}">
                <a16:creationId xmlns:a16="http://schemas.microsoft.com/office/drawing/2014/main" id="{72510708-5A55-7979-497E-D84EB810180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667006" y="2136817"/>
            <a:ext cx="1535739" cy="1044303"/>
          </a:xfrm>
          <a:prstGeom prst="rect">
            <a:avLst/>
          </a:prstGeom>
        </p:spPr>
      </p:pic>
      <p:sp>
        <p:nvSpPr>
          <p:cNvPr id="55" name="Google Shape;392;p11">
            <a:extLst>
              <a:ext uri="{FF2B5EF4-FFF2-40B4-BE49-F238E27FC236}">
                <a16:creationId xmlns:a16="http://schemas.microsoft.com/office/drawing/2014/main" id="{3CBEEFBC-8FF4-6564-350F-A4313A5F7C2D}"/>
              </a:ext>
            </a:extLst>
          </p:cNvPr>
          <p:cNvSpPr/>
          <p:nvPr/>
        </p:nvSpPr>
        <p:spPr>
          <a:xfrm>
            <a:off x="10094976" y="5739410"/>
            <a:ext cx="1417696" cy="224056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57" name="Google Shape;393;p11">
            <a:extLst>
              <a:ext uri="{FF2B5EF4-FFF2-40B4-BE49-F238E27FC236}">
                <a16:creationId xmlns:a16="http://schemas.microsoft.com/office/drawing/2014/main" id="{8B43D0BA-3F4E-4BF4-E7B1-2A904CD46275}"/>
              </a:ext>
            </a:extLst>
          </p:cNvPr>
          <p:cNvSpPr/>
          <p:nvPr/>
        </p:nvSpPr>
        <p:spPr>
          <a:xfrm>
            <a:off x="10168128" y="5739409"/>
            <a:ext cx="1335024" cy="25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800"/>
              <a:buFont typeface="Courier New"/>
              <a:buNone/>
            </a:pPr>
            <a:r>
              <a:rPr lang="en-US" sz="800" b="1" dirty="0">
                <a:solidFill>
                  <a:srgbClr val="1F6B4A"/>
                </a:solidFill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RECOMMENDED</a:t>
            </a:r>
            <a:endParaRPr sz="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62" name="Google Shape;386;p11">
            <a:extLst>
              <a:ext uri="{FF2B5EF4-FFF2-40B4-BE49-F238E27FC236}">
                <a16:creationId xmlns:a16="http://schemas.microsoft.com/office/drawing/2014/main" id="{5BE600E5-CCEF-F813-0A1F-427E0A85F8B1}"/>
              </a:ext>
            </a:extLst>
          </p:cNvPr>
          <p:cNvSpPr/>
          <p:nvPr/>
        </p:nvSpPr>
        <p:spPr>
          <a:xfrm>
            <a:off x="5465128" y="5755074"/>
            <a:ext cx="1169940" cy="242979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63" name="Google Shape;387;p11">
            <a:extLst>
              <a:ext uri="{FF2B5EF4-FFF2-40B4-BE49-F238E27FC236}">
                <a16:creationId xmlns:a16="http://schemas.microsoft.com/office/drawing/2014/main" id="{29AF6A6E-1181-7BDB-C1F0-FD1EA72E10EA}"/>
              </a:ext>
            </a:extLst>
          </p:cNvPr>
          <p:cNvSpPr/>
          <p:nvPr/>
        </p:nvSpPr>
        <p:spPr>
          <a:xfrm>
            <a:off x="5519992" y="5727642"/>
            <a:ext cx="1100712" cy="28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A44A34"/>
              </a:buClr>
              <a:buSzPts val="800"/>
            </a:pPr>
            <a:r>
              <a:rPr lang="en-US" sz="800" b="1" dirty="0">
                <a:solidFill>
                  <a:srgbClr val="A44A3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ourier New"/>
              </a:rPr>
              <a:t>Eliminated</a:t>
            </a:r>
            <a:endParaRPr sz="1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52" name="Google Shape;386;p11">
            <a:extLst>
              <a:ext uri="{FF2B5EF4-FFF2-40B4-BE49-F238E27FC236}">
                <a16:creationId xmlns:a16="http://schemas.microsoft.com/office/drawing/2014/main" id="{EF632E1F-F11A-E7E2-2607-12EB6FE7E640}"/>
              </a:ext>
            </a:extLst>
          </p:cNvPr>
          <p:cNvSpPr/>
          <p:nvPr/>
        </p:nvSpPr>
        <p:spPr>
          <a:xfrm>
            <a:off x="3111446" y="5755074"/>
            <a:ext cx="1169940" cy="242979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53" name="Google Shape;387;p11">
            <a:extLst>
              <a:ext uri="{FF2B5EF4-FFF2-40B4-BE49-F238E27FC236}">
                <a16:creationId xmlns:a16="http://schemas.microsoft.com/office/drawing/2014/main" id="{AF7F9395-6A5B-4191-E741-E3F054E976C6}"/>
              </a:ext>
            </a:extLst>
          </p:cNvPr>
          <p:cNvSpPr/>
          <p:nvPr/>
        </p:nvSpPr>
        <p:spPr>
          <a:xfrm>
            <a:off x="3166310" y="5727642"/>
            <a:ext cx="1100712" cy="28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A44A34"/>
              </a:buClr>
              <a:buSzPts val="800"/>
            </a:pPr>
            <a:r>
              <a:rPr lang="en-US" sz="800" b="1" dirty="0">
                <a:solidFill>
                  <a:srgbClr val="A44A3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ourier New"/>
              </a:rPr>
              <a:t>Eliminated</a:t>
            </a:r>
            <a:endParaRPr sz="1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54" name="Google Shape;386;p11">
            <a:extLst>
              <a:ext uri="{FF2B5EF4-FFF2-40B4-BE49-F238E27FC236}">
                <a16:creationId xmlns:a16="http://schemas.microsoft.com/office/drawing/2014/main" id="{C2BFBECB-F335-53D0-0F21-BD1004D699A7}"/>
              </a:ext>
            </a:extLst>
          </p:cNvPr>
          <p:cNvSpPr/>
          <p:nvPr/>
        </p:nvSpPr>
        <p:spPr>
          <a:xfrm>
            <a:off x="757764" y="5755074"/>
            <a:ext cx="1169940" cy="242979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55" name="Google Shape;387;p11">
            <a:extLst>
              <a:ext uri="{FF2B5EF4-FFF2-40B4-BE49-F238E27FC236}">
                <a16:creationId xmlns:a16="http://schemas.microsoft.com/office/drawing/2014/main" id="{9809C88B-F9C4-1DDC-56DE-92188FB8BAA9}"/>
              </a:ext>
            </a:extLst>
          </p:cNvPr>
          <p:cNvSpPr/>
          <p:nvPr/>
        </p:nvSpPr>
        <p:spPr>
          <a:xfrm>
            <a:off x="812628" y="5727642"/>
            <a:ext cx="1100712" cy="28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A44A34"/>
              </a:buClr>
              <a:buSzPts val="800"/>
            </a:pPr>
            <a:r>
              <a:rPr lang="en-US" sz="800" b="1" dirty="0">
                <a:solidFill>
                  <a:srgbClr val="A44A3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ourier New"/>
              </a:rPr>
              <a:t>Eliminated</a:t>
            </a:r>
            <a:endParaRPr sz="1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56" name="Google Shape;386;p11">
            <a:extLst>
              <a:ext uri="{FF2B5EF4-FFF2-40B4-BE49-F238E27FC236}">
                <a16:creationId xmlns:a16="http://schemas.microsoft.com/office/drawing/2014/main" id="{2D7A32C6-15C2-9A58-2AFC-3CB8ED217F46}"/>
              </a:ext>
            </a:extLst>
          </p:cNvPr>
          <p:cNvSpPr/>
          <p:nvPr/>
        </p:nvSpPr>
        <p:spPr>
          <a:xfrm>
            <a:off x="7840401" y="5755074"/>
            <a:ext cx="1169940" cy="242979"/>
          </a:xfrm>
          <a:prstGeom prst="roundRect">
            <a:avLst>
              <a:gd name="adj" fmla="val 16667"/>
            </a:avLst>
          </a:prstGeom>
          <a:solidFill>
            <a:srgbClr val="F8E8F7"/>
          </a:solidFill>
          <a:ln w="9525" cap="flat" cmpd="sng">
            <a:solidFill>
              <a:srgbClr val="DA83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57" name="Google Shape;387;p11">
            <a:extLst>
              <a:ext uri="{FF2B5EF4-FFF2-40B4-BE49-F238E27FC236}">
                <a16:creationId xmlns:a16="http://schemas.microsoft.com/office/drawing/2014/main" id="{26A7567A-9B03-F8D2-9BA1-548D0FA7CB92}"/>
              </a:ext>
            </a:extLst>
          </p:cNvPr>
          <p:cNvSpPr/>
          <p:nvPr/>
        </p:nvSpPr>
        <p:spPr>
          <a:xfrm>
            <a:off x="7895265" y="5727642"/>
            <a:ext cx="1100712" cy="28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A44A34"/>
              </a:buClr>
              <a:buSzPts val="800"/>
            </a:pPr>
            <a:r>
              <a:rPr lang="en-US" sz="800" b="1" dirty="0">
                <a:solidFill>
                  <a:srgbClr val="A44A34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ourier New"/>
              </a:rPr>
              <a:t>Eliminated</a:t>
            </a:r>
            <a:endParaRPr sz="18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58" name="Google Shape;429;p12">
            <a:extLst>
              <a:ext uri="{FF2B5EF4-FFF2-40B4-BE49-F238E27FC236}">
                <a16:creationId xmlns:a16="http://schemas.microsoft.com/office/drawing/2014/main" id="{D9FC47E0-E67C-119B-E39E-4C5DFEF85AFE}"/>
              </a:ext>
            </a:extLst>
          </p:cNvPr>
          <p:cNvSpPr/>
          <p:nvPr/>
        </p:nvSpPr>
        <p:spPr>
          <a:xfrm rot="5400000">
            <a:off x="10718980" y="3557965"/>
            <a:ext cx="259364" cy="1732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9" name="Google Shape;429;p12">
            <a:extLst>
              <a:ext uri="{FF2B5EF4-FFF2-40B4-BE49-F238E27FC236}">
                <a16:creationId xmlns:a16="http://schemas.microsoft.com/office/drawing/2014/main" id="{3D900802-3397-1565-15D3-FC0E2C20E0F4}"/>
              </a:ext>
            </a:extLst>
          </p:cNvPr>
          <p:cNvSpPr/>
          <p:nvPr/>
        </p:nvSpPr>
        <p:spPr>
          <a:xfrm rot="5400000">
            <a:off x="5981464" y="3562726"/>
            <a:ext cx="259364" cy="1732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0" name="Google Shape;429;p12">
            <a:extLst>
              <a:ext uri="{FF2B5EF4-FFF2-40B4-BE49-F238E27FC236}">
                <a16:creationId xmlns:a16="http://schemas.microsoft.com/office/drawing/2014/main" id="{148A25B1-5809-819C-AE9F-0C6F19141964}"/>
              </a:ext>
            </a:extLst>
          </p:cNvPr>
          <p:cNvSpPr/>
          <p:nvPr/>
        </p:nvSpPr>
        <p:spPr>
          <a:xfrm rot="5400000">
            <a:off x="1243948" y="3567487"/>
            <a:ext cx="259364" cy="1732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1" name="Google Shape;429;p12">
            <a:extLst>
              <a:ext uri="{FF2B5EF4-FFF2-40B4-BE49-F238E27FC236}">
                <a16:creationId xmlns:a16="http://schemas.microsoft.com/office/drawing/2014/main" id="{BAE1F130-0D92-0471-2EA5-192B18B8C4D7}"/>
              </a:ext>
            </a:extLst>
          </p:cNvPr>
          <p:cNvSpPr/>
          <p:nvPr/>
        </p:nvSpPr>
        <p:spPr>
          <a:xfrm rot="5400000">
            <a:off x="3593335" y="3513880"/>
            <a:ext cx="259364" cy="1732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5" name="Picture 464" descr="Psyche's Gamma Ray and Neutron Detection Instrument Arrives in California  for Spacecraft Installation | Johns Hopkins University Applied Physics  Laboratory">
            <a:extLst>
              <a:ext uri="{FF2B5EF4-FFF2-40B4-BE49-F238E27FC236}">
                <a16:creationId xmlns:a16="http://schemas.microsoft.com/office/drawing/2014/main" id="{CE7AF99C-1A64-4E52-B270-794C16FFC89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223054" y="1979749"/>
            <a:ext cx="1145474" cy="1313860"/>
          </a:xfrm>
          <a:prstGeom prst="rect">
            <a:avLst/>
          </a:prstGeom>
        </p:spPr>
      </p:pic>
      <p:sp>
        <p:nvSpPr>
          <p:cNvPr id="467" name="Google Shape;184;p7">
            <a:extLst>
              <a:ext uri="{FF2B5EF4-FFF2-40B4-BE49-F238E27FC236}">
                <a16:creationId xmlns:a16="http://schemas.microsoft.com/office/drawing/2014/main" id="{01535AC1-57BB-E5D9-78E9-65606012E017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13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473" name="BJPseudoFooter">
            <a:extLst>
              <a:ext uri="{FF2B5EF4-FFF2-40B4-BE49-F238E27FC236}">
                <a16:creationId xmlns:a16="http://schemas.microsoft.com/office/drawing/2014/main" id="{7C5C399D-6ED9-3DEF-5B4F-E922A661B7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5" descr="/home/claude/work/a2/glow_deep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5" descr="/home/claude/work/a2/orbiter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 rot="504685">
            <a:off x="6981825" y="15367"/>
            <a:ext cx="4805356" cy="604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15" descr="/home/claude/work/a2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06379" y="293641"/>
            <a:ext cx="1133856" cy="47823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5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07C"/>
              </a:buClr>
              <a:buSzPts val="800"/>
              <a:buFont typeface="Courier New"/>
              <a:buNone/>
            </a:pP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 dirty="0">
                <a:solidFill>
                  <a:srgbClr val="F0CCED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658368" y="530352"/>
            <a:ext cx="9052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A7C0"/>
              </a:buClr>
              <a:buSzPts val="2600"/>
              <a:buFont typeface="Arial"/>
              <a:buNone/>
            </a:pPr>
            <a:r>
              <a:rPr lang="en-US" sz="2600" b="1" dirty="0">
                <a:solidFill>
                  <a:schemeClr val="tx1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Recommendation</a:t>
            </a:r>
            <a:endParaRPr sz="2600" dirty="0">
              <a:solidFill>
                <a:schemeClr val="tx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658368" y="137160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000"/>
              <a:buFont typeface="Courier New"/>
              <a:buNone/>
            </a:pPr>
            <a:r>
              <a:rPr lang="en-US" sz="1000" dirty="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RECOMMENDED PAYLOAD ENHANCEMENT</a:t>
            </a:r>
            <a:endParaRPr sz="1000" dirty="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658368" y="1645920"/>
            <a:ext cx="8778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-US" sz="38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Gamma-Ray Spectrometer</a:t>
            </a:r>
            <a:endParaRPr sz="38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658368" y="2468880"/>
            <a:ext cx="1737360" cy="9144"/>
          </a:xfrm>
          <a:prstGeom prst="rect">
            <a:avLst/>
          </a:prstGeom>
          <a:solidFill>
            <a:srgbClr val="4A58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658368" y="2560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BBE6"/>
              </a:buClr>
              <a:buSzPts val="1200"/>
              <a:buFont typeface="Courier New"/>
              <a:buNone/>
            </a:pPr>
            <a:r>
              <a:rPr lang="en-US" sz="1200" dirty="0">
                <a:solidFill>
                  <a:srgbClr val="F8E8F7"/>
                </a:solidFill>
                <a:latin typeface="Courier New"/>
                <a:ea typeface="Courier New"/>
                <a:cs typeface="Courier New"/>
                <a:sym typeface="Courier New"/>
              </a:rPr>
              <a:t>RAMSES Main Orbiter</a:t>
            </a:r>
            <a:endParaRPr sz="1200" dirty="0">
              <a:solidFill>
                <a:srgbClr val="F8E8F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658368" y="303580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A7C0"/>
              </a:buClr>
              <a:buSzPts val="1200"/>
              <a:buFont typeface="Courier New"/>
              <a:buNone/>
            </a:pPr>
            <a:r>
              <a:rPr lang="en-US" sz="1200" dirty="0">
                <a:solidFill>
                  <a:srgbClr val="F8E8F7"/>
                </a:solidFill>
                <a:latin typeface="Courier New"/>
                <a:ea typeface="Courier New"/>
                <a:cs typeface="Courier New"/>
                <a:sym typeface="Courier New"/>
              </a:rPr>
              <a:t>WHY</a:t>
            </a:r>
            <a:endParaRPr sz="1200" dirty="0">
              <a:solidFill>
                <a:srgbClr val="F8E8F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658368" y="3328416"/>
            <a:ext cx="2014057" cy="1207008"/>
          </a:xfrm>
          <a:prstGeom prst="roundRect">
            <a:avLst>
              <a:gd name="adj" fmla="val 6061"/>
            </a:avLst>
          </a:prstGeom>
          <a:solidFill>
            <a:srgbClr val="111A2E"/>
          </a:solidFill>
          <a:ln w="3175" cap="flat" cmpd="sng">
            <a:solidFill>
              <a:schemeClr val="tx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859536" y="349300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11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859536" y="3785616"/>
            <a:ext cx="1611721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Independent of reflected light</a:t>
            </a:r>
            <a:endParaRPr sz="14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2873593" y="3328416"/>
            <a:ext cx="2014057" cy="1207008"/>
          </a:xfrm>
          <a:prstGeom prst="roundRect">
            <a:avLst>
              <a:gd name="adj" fmla="val 6061"/>
            </a:avLst>
          </a:prstGeom>
          <a:solidFill>
            <a:srgbClr val="111A2E"/>
          </a:solidFill>
          <a:ln w="3175" cap="flat" cmpd="sng">
            <a:solidFill>
              <a:schemeClr val="tx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3074761" y="349300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1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3074761" y="3785616"/>
            <a:ext cx="1611721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Measures elemental abundance</a:t>
            </a:r>
            <a:endParaRPr sz="14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5088819" y="3328416"/>
            <a:ext cx="2014057" cy="1207008"/>
          </a:xfrm>
          <a:prstGeom prst="roundRect">
            <a:avLst>
              <a:gd name="adj" fmla="val 6061"/>
            </a:avLst>
          </a:prstGeom>
          <a:solidFill>
            <a:srgbClr val="111A2E"/>
          </a:solidFill>
          <a:ln w="3175" cap="flat" cmpd="sng">
            <a:solidFill>
              <a:schemeClr val="tx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5289987" y="349300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1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5289987" y="3785616"/>
            <a:ext cx="1611721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Samples below the weathered layer</a:t>
            </a:r>
            <a:endParaRPr sz="14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7304044" y="3328416"/>
            <a:ext cx="2014057" cy="1207008"/>
          </a:xfrm>
          <a:prstGeom prst="roundRect">
            <a:avLst>
              <a:gd name="adj" fmla="val 6061"/>
            </a:avLst>
          </a:prstGeom>
          <a:solidFill>
            <a:srgbClr val="111A2E"/>
          </a:solidFill>
          <a:ln w="3175" cap="flat" cmpd="sng">
            <a:solidFill>
              <a:schemeClr val="tx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7505212" y="349300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sz="11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7505212" y="3785616"/>
            <a:ext cx="1611721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Strengthens HAMLET's interpretation</a:t>
            </a:r>
            <a:endParaRPr sz="14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9519270" y="3328416"/>
            <a:ext cx="2014057" cy="1207008"/>
          </a:xfrm>
          <a:prstGeom prst="roundRect">
            <a:avLst>
              <a:gd name="adj" fmla="val 6061"/>
            </a:avLst>
          </a:prstGeom>
          <a:solidFill>
            <a:srgbClr val="111A2E"/>
          </a:solidFill>
          <a:ln w="3175" cap="flat" cmpd="sng">
            <a:solidFill>
              <a:schemeClr val="tx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9720438" y="349300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sz="11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9720438" y="3785616"/>
            <a:ext cx="1611721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Fits the existing mission architecture</a:t>
            </a:r>
            <a:endParaRPr sz="14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658368" y="4828032"/>
            <a:ext cx="2880360" cy="849376"/>
          </a:xfrm>
          <a:prstGeom prst="roundRect">
            <a:avLst>
              <a:gd name="adj" fmla="val 6897"/>
            </a:avLst>
          </a:prstGeom>
          <a:solidFill>
            <a:srgbClr val="111A2E"/>
          </a:solidFill>
          <a:ln w="31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658368" y="504748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HAMLET</a:t>
            </a:r>
            <a:endParaRPr sz="17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58368" y="532384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A7C0"/>
              </a:buClr>
              <a:buSzPts val="1050"/>
              <a:buFont typeface="Arial"/>
              <a:buNone/>
            </a:pPr>
            <a:r>
              <a:rPr lang="en-US" sz="1050" dirty="0">
                <a:solidFill>
                  <a:srgbClr val="9BA7C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Mineralogy</a:t>
            </a:r>
            <a:endParaRPr sz="105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3581400" y="4971111"/>
            <a:ext cx="548640" cy="6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None/>
            </a:pPr>
            <a:r>
              <a:rPr lang="en-US" sz="2800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2400" dirty="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4206240" y="4828032"/>
            <a:ext cx="2880360" cy="849376"/>
          </a:xfrm>
          <a:prstGeom prst="roundRect">
            <a:avLst>
              <a:gd name="adj" fmla="val 6897"/>
            </a:avLst>
          </a:prstGeom>
          <a:solidFill>
            <a:srgbClr val="D9F7DA"/>
          </a:solidFill>
          <a:ln w="19050" cap="flat" cmpd="sng">
            <a:solidFill>
              <a:srgbClr val="2CCE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4206240" y="508843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700"/>
              <a:buFont typeface="Arial"/>
              <a:buNone/>
            </a:pPr>
            <a:r>
              <a:rPr lang="en-US" sz="1700" dirty="0">
                <a:solidFill>
                  <a:schemeClr val="bg2">
                    <a:lumMod val="50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Gamma-Ray Spectrometer</a:t>
            </a:r>
            <a:endParaRPr sz="1700" dirty="0">
              <a:solidFill>
                <a:schemeClr val="bg2">
                  <a:lumMod val="50000"/>
                </a:schemeClr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4206240" y="534416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BE92"/>
              </a:buClr>
              <a:buSzPts val="1050"/>
              <a:buFont typeface="Arial"/>
              <a:buNone/>
            </a:pPr>
            <a:r>
              <a:rPr lang="en-US" sz="1050" dirty="0">
                <a:solidFill>
                  <a:schemeClr val="bg2">
                    <a:lumMod val="50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Elements</a:t>
            </a:r>
            <a:endParaRPr sz="1050" dirty="0">
              <a:solidFill>
                <a:schemeClr val="bg2">
                  <a:lumMod val="50000"/>
                </a:schemeClr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7301897" y="5166360"/>
            <a:ext cx="384048" cy="23774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7813812" y="4817872"/>
            <a:ext cx="3719515" cy="859536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7967472" y="4974088"/>
            <a:ext cx="3515976" cy="50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600" dirty="0">
                <a:latin typeface="29LT Adir" panose="00000506000000000000" pitchFamily="50" charset="-78"/>
                <a:cs typeface="29LT Adir" panose="00000506000000000000" pitchFamily="50" charset="-78"/>
              </a:rPr>
              <a:t>Better composition interpretation</a:t>
            </a:r>
          </a:p>
        </p:txBody>
      </p:sp>
      <p:pic>
        <p:nvPicPr>
          <p:cNvPr id="3" name="Google Shape;603;p16" descr="/home/claude/work/a2/logo_dark.png">
            <a:extLst>
              <a:ext uri="{FF2B5EF4-FFF2-40B4-BE49-F238E27FC236}">
                <a16:creationId xmlns:a16="http://schemas.microsoft.com/office/drawing/2014/main" id="{E79C2C81-CBBD-8EC4-05B7-ECCAF553A92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0465" y="4850643"/>
            <a:ext cx="612495" cy="35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84;p7">
            <a:extLst>
              <a:ext uri="{FF2B5EF4-FFF2-40B4-BE49-F238E27FC236}">
                <a16:creationId xmlns:a16="http://schemas.microsoft.com/office/drawing/2014/main" id="{B44C4DB9-79F6-48F8-0E62-5632393171C3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14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1" name="BJPseudoFooter">
            <a:extLst>
              <a:ext uri="{FF2B5EF4-FFF2-40B4-BE49-F238E27FC236}">
                <a16:creationId xmlns:a16="http://schemas.microsoft.com/office/drawing/2014/main" id="{EC7DF03D-7C29-90F5-5B24-F9C109C1FD2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5" descr="/home/claude/work/a2/light_wash.jpg">
            <a:extLst>
              <a:ext uri="{FF2B5EF4-FFF2-40B4-BE49-F238E27FC236}">
                <a16:creationId xmlns:a16="http://schemas.microsoft.com/office/drawing/2014/main" id="{C812C237-C969-7E3B-06B7-04890142ACE6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4383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83;p16">
            <a:extLst>
              <a:ext uri="{FF2B5EF4-FFF2-40B4-BE49-F238E27FC236}">
                <a16:creationId xmlns:a16="http://schemas.microsoft.com/office/drawing/2014/main" id="{F5509857-A179-8EED-8EA1-5B469B73EB8D}"/>
              </a:ext>
            </a:extLst>
          </p:cNvPr>
          <p:cNvSpPr/>
          <p:nvPr/>
        </p:nvSpPr>
        <p:spPr>
          <a:xfrm>
            <a:off x="1223550" y="1180571"/>
            <a:ext cx="10024555" cy="729204"/>
          </a:xfrm>
          <a:prstGeom prst="roundRect">
            <a:avLst>
              <a:gd name="adj" fmla="val 9722"/>
            </a:avLst>
          </a:prstGeom>
          <a:solidFill>
            <a:srgbClr val="F8E8F7"/>
          </a:solidFill>
          <a:ln w="9525" cap="flat" cmpd="sng">
            <a:solidFill>
              <a:srgbClr val="D979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>
                <a:solidFill>
                  <a:srgbClr val="13234C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>
                <a:solidFill>
                  <a:srgbClr val="79839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658368" y="530352"/>
            <a:ext cx="9052560" cy="47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Next Steps </a:t>
            </a:r>
            <a:endParaRPr sz="30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3025331" y="2089314"/>
            <a:ext cx="30632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3299651" y="230877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APL</a:t>
            </a:r>
            <a:endParaRPr sz="2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3299651" y="2711106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9839A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Johns Hopkins Applied Physics Laboratory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3299651" y="318659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Instrument build &amp; integration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6317171" y="2089314"/>
            <a:ext cx="30632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 cap="flat" cmpd="sng">
            <a:solidFill>
              <a:srgbClr val="EEC4EB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6591491" y="230877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LLNL</a:t>
            </a:r>
            <a:endParaRPr sz="22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6591491" y="2711106"/>
            <a:ext cx="2514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9839A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Lawrence Livermore National Laboratory</a:t>
            </a:r>
            <a:endParaRPr sz="12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6591491" y="318659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1B29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51B29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High-purity germanium detector technology</a:t>
            </a:r>
            <a:endParaRPr sz="12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3811478" y="4134189"/>
            <a:ext cx="4731403" cy="491550"/>
          </a:xfrm>
          <a:prstGeom prst="roundRect">
            <a:avLst>
              <a:gd name="adj" fmla="val 9722"/>
            </a:avLst>
          </a:prstGeom>
          <a:solidFill>
            <a:srgbClr val="F8E8F7"/>
          </a:solidFill>
          <a:ln w="9525" cap="flat" cmpd="sng">
            <a:solidFill>
              <a:srgbClr val="D979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4122374" y="4027649"/>
            <a:ext cx="10253167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6316"/>
              </a:buClr>
              <a:buSzPts val="1400"/>
              <a:buFont typeface="Courier New"/>
              <a:buNone/>
            </a:pPr>
            <a:r>
              <a:rPr lang="en-US" sz="1400" dirty="0">
                <a:solidFill>
                  <a:srgbClr val="7030A0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Instrument Heritage</a:t>
            </a:r>
            <a:r>
              <a:rPr lang="en-US" sz="14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:  </a:t>
            </a:r>
            <a:r>
              <a:rPr lang="en-US" sz="1400" dirty="0" err="1">
                <a:solidFill>
                  <a:srgbClr val="13234C"/>
                </a:solidFill>
                <a:latin typeface="Courier New"/>
                <a:ea typeface="Courier New"/>
                <a:cs typeface="Courier New"/>
                <a:sym typeface="Courier New"/>
              </a:rPr>
              <a:t>MEGANE·MESSENGER·Psyche</a:t>
            </a:r>
            <a:r>
              <a:rPr lang="en-US" sz="1400" dirty="0">
                <a:solidFill>
                  <a:srgbClr val="13234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606870" y="4698891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ourier New"/>
              <a:buNone/>
            </a:pPr>
            <a:r>
              <a:rPr lang="en-US" sz="12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WHAT’S NEXT?</a:t>
            </a:r>
            <a:endParaRPr sz="1200" dirty="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2583776" y="5009787"/>
            <a:ext cx="346649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 cap="flat" cmpd="sng">
            <a:solidFill>
              <a:srgbClr val="D979D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2794088" y="5210193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2788316" y="5210193"/>
            <a:ext cx="310896" cy="310896"/>
          </a:xfrm>
          <a:prstGeom prst="rect">
            <a:avLst/>
          </a:prstGeom>
          <a:solidFill>
            <a:srgbClr val="7030A0"/>
          </a:solidFill>
          <a:ln>
            <a:solidFill>
              <a:srgbClr val="F8E8F7"/>
            </a:solidFill>
          </a:ln>
          <a:effectLst>
            <a:softEdge rad="635000"/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050"/>
            </a:pPr>
            <a:r>
              <a:rPr lang="en-US" sz="1050" b="1" dirty="0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01</a:t>
            </a:r>
            <a:endParaRPr sz="1050" dirty="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3223856" y="5174379"/>
            <a:ext cx="258866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ESA / JAXA </a:t>
            </a:r>
            <a:r>
              <a:rPr lang="en-US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Engagement </a:t>
            </a:r>
            <a:endParaRPr sz="14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2821520" y="5590233"/>
            <a:ext cx="299100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Confirm the status of the mission and the possibility of collaboration. </a:t>
            </a:r>
            <a:endParaRPr sz="12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6667386" y="5009787"/>
            <a:ext cx="346649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9525" cap="flat" cmpd="sng">
            <a:solidFill>
              <a:srgbClr val="D979D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25400" dir="5400000" algn="bl" rotWithShape="0">
              <a:srgbClr val="0B1226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6900086" y="5194350"/>
            <a:ext cx="310896" cy="310896"/>
          </a:xfrm>
          <a:prstGeom prst="ellipse">
            <a:avLst/>
          </a:prstGeom>
          <a:solidFill>
            <a:srgbClr val="1323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6905130" y="5210955"/>
            <a:ext cx="310896" cy="310896"/>
          </a:xfrm>
          <a:prstGeom prst="rect">
            <a:avLst/>
          </a:prstGeom>
          <a:solidFill>
            <a:srgbClr val="7030A0"/>
          </a:solidFill>
          <a:ln>
            <a:solidFill>
              <a:srgbClr val="F8E8F7"/>
            </a:solidFill>
          </a:ln>
          <a:effectLst>
            <a:softEdge rad="635000"/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 b="1" dirty="0">
                <a:solidFill>
                  <a:srgbClr val="FFFFFF"/>
                </a:solidFill>
                <a:latin typeface="29LT Adir" panose="00000506000000000000" pitchFamily="50" charset="-78"/>
                <a:ea typeface="Courier New"/>
                <a:cs typeface="29LT Adir" panose="00000506000000000000" pitchFamily="50" charset="-78"/>
                <a:sym typeface="Courier New"/>
              </a:rPr>
              <a:t>02</a:t>
            </a:r>
            <a:endParaRPr sz="1050" dirty="0">
              <a:solidFill>
                <a:schemeClr val="dk1"/>
              </a:solidFill>
              <a:latin typeface="29LT Adir" panose="00000506000000000000" pitchFamily="50" charset="-78"/>
              <a:ea typeface="Courier New"/>
              <a:cs typeface="29LT Adir" panose="00000506000000000000" pitchFamily="50" charset="-78"/>
              <a:sym typeface="Courier New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7307466" y="5174379"/>
            <a:ext cx="258866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234C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APL / LLNL </a:t>
            </a:r>
            <a:r>
              <a:rPr lang="en-US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E</a:t>
            </a:r>
            <a:r>
              <a:rPr lang="en-US" sz="1400" b="1" dirty="0">
                <a:solidFill>
                  <a:srgbClr val="13234C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ngagement</a:t>
            </a:r>
            <a:endParaRPr sz="14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6905130" y="5590233"/>
            <a:ext cx="299100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4C5468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Discuss the gamma ray payload specifications and availability. </a:t>
            </a:r>
            <a:endParaRPr sz="12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4846320" y="6272784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900"/>
              <a:buFont typeface="Arial"/>
              <a:buNone/>
            </a:pP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3" name="Google Shape;603;p16" descr="/home/claude/work/a2/logo_dark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16340" y="122984"/>
            <a:ext cx="1450538" cy="81473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B2AAAEE-D3AA-444B-01A1-8C9518488CCC}"/>
              </a:ext>
            </a:extLst>
          </p:cNvPr>
          <p:cNvSpPr txBox="1"/>
          <p:nvPr/>
        </p:nvSpPr>
        <p:spPr>
          <a:xfrm>
            <a:off x="1274606" y="1267560"/>
            <a:ext cx="99734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4C5468"/>
              </a:buClr>
              <a:buSzPts val="1400"/>
            </a:pPr>
            <a:r>
              <a:rPr lang="en-US" sz="1400" dirty="0">
                <a:solidFill>
                  <a:schemeClr val="tx2">
                    <a:lumMod val="25000"/>
                  </a:schemeClr>
                </a:solidFill>
                <a:latin typeface="29LT Adir" panose="00000506000000000000" pitchFamily="50" charset="-78"/>
                <a:cs typeface="29LT Adir" panose="00000506000000000000" pitchFamily="50" charset="-78"/>
              </a:rPr>
              <a:t>Psyche is the closest heritage mission: the same measurement — orbital elemental composition of an asteroid — is central to our proposed GRS. We therefore use its flight-proven architecture as the reference point, while targeting a smaller implementation compatible with RAMSES.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4C5468"/>
              </a:buClr>
              <a:buSzPts val="1400"/>
              <a:buFont typeface="Arial"/>
              <a:buNone/>
            </a:pPr>
            <a:endParaRPr lang="en-US" sz="1400" dirty="0">
              <a:solidFill>
                <a:schemeClr val="tx2">
                  <a:lumMod val="25000"/>
                </a:schemeClr>
              </a:solidFill>
              <a:highlight>
                <a:srgbClr val="FFFF00"/>
              </a:highlight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22" name="Google Shape;184;p7">
            <a:extLst>
              <a:ext uri="{FF2B5EF4-FFF2-40B4-BE49-F238E27FC236}">
                <a16:creationId xmlns:a16="http://schemas.microsoft.com/office/drawing/2014/main" id="{A751A375-D766-850E-2F05-7F5201DF6F5A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15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28" name="BJPseudoFooter">
            <a:extLst>
              <a:ext uri="{FF2B5EF4-FFF2-40B4-BE49-F238E27FC236}">
                <a16:creationId xmlns:a16="http://schemas.microsoft.com/office/drawing/2014/main" id="{1600A98D-3EAE-12B6-A6CC-761E4DC0B16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7" descr="/home/claude/work/a2/glow_deep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17" descr="/home/claude/work/a2/earth_lef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82511" y="68997"/>
            <a:ext cx="6172608" cy="5641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17" descr="/home/claude/work/a2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88577" y="329184"/>
            <a:ext cx="1133856" cy="478231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17"/>
          <p:cNvSpPr/>
          <p:nvPr/>
        </p:nvSpPr>
        <p:spPr>
          <a:xfrm>
            <a:off x="658368" y="6272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07C"/>
              </a:buClr>
              <a:buSzPts val="800"/>
              <a:buFont typeface="Courier New"/>
              <a:buNone/>
            </a:pP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BASELINE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GAPS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dirty="0">
                <a:solidFill>
                  <a:srgbClr val="54607C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r>
              <a:rPr lang="en-US" sz="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800" b="1" dirty="0">
                <a:solidFill>
                  <a:srgbClr val="F0CCED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sz="800" dirty="0">
              <a:solidFill>
                <a:srgbClr val="F0CCE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658368" y="1298448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Why This Matters to SSA</a:t>
            </a:r>
            <a:endParaRPr sz="360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658368" y="2395728"/>
            <a:ext cx="1737360" cy="9144"/>
          </a:xfrm>
          <a:prstGeom prst="rect">
            <a:avLst/>
          </a:prstGeom>
          <a:solidFill>
            <a:srgbClr val="4A58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658368" y="268833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Courier New"/>
              <a:buNone/>
            </a:pPr>
            <a:r>
              <a:rPr lang="en-US" sz="16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16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1207008" y="265176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Scientific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1207008" y="2980944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A7C0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9BA7C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Adds a dataset RAMSES cannot generate independently.</a:t>
            </a:r>
            <a:endParaRPr sz="14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58368" y="3401568"/>
            <a:ext cx="5943600" cy="9144"/>
          </a:xfrm>
          <a:prstGeom prst="rect">
            <a:avLst/>
          </a:prstGeom>
          <a:solidFill>
            <a:srgbClr val="212C4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658368" y="35478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Courier New"/>
              <a:buNone/>
            </a:pPr>
            <a:r>
              <a:rPr lang="en-US" sz="16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6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1207008" y="351129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Strategic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1207008" y="3840480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A7C0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9BA7C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Moves SSA from observer to contributor on a flagship mission.</a:t>
            </a:r>
            <a:endParaRPr sz="14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658368" y="4261104"/>
            <a:ext cx="5943600" cy="9144"/>
          </a:xfrm>
          <a:prstGeom prst="rect">
            <a:avLst/>
          </a:prstGeom>
          <a:solidFill>
            <a:srgbClr val="212C4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658368" y="44074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Courier New"/>
              <a:buNone/>
            </a:pPr>
            <a:r>
              <a:rPr lang="en-US" sz="16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6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1207008" y="4370832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Programmatic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1207008" y="4700016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A7C0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rgbClr val="9BA7C0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Uses a proven instrument and a proven partnership model.</a:t>
            </a:r>
            <a:endParaRPr sz="1400" dirty="0">
              <a:solidFill>
                <a:schemeClr val="dk1"/>
              </a:solidFill>
              <a:latin typeface="29LT Adir" panose="00000506000000000000" pitchFamily="50" charset="-78"/>
              <a:cs typeface="29LT Adir" panose="00000506000000000000" pitchFamily="50" charset="-78"/>
              <a:sym typeface="Arial"/>
            </a:endParaRPr>
          </a:p>
        </p:txBody>
      </p:sp>
      <p:sp>
        <p:nvSpPr>
          <p:cNvPr id="3" name="Google Shape;184;p7">
            <a:extLst>
              <a:ext uri="{FF2B5EF4-FFF2-40B4-BE49-F238E27FC236}">
                <a16:creationId xmlns:a16="http://schemas.microsoft.com/office/drawing/2014/main" id="{E7F5DE55-2F39-AE72-2558-4C9E844B5625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16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9" name="BJPseudoFooter">
            <a:extLst>
              <a:ext uri="{FF2B5EF4-FFF2-40B4-BE49-F238E27FC236}">
                <a16:creationId xmlns:a16="http://schemas.microsoft.com/office/drawing/2014/main" id="{4C7AE328-7976-442D-8821-5683F401654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18" descr="ESA - ESA's Ramses mission to asteroid Apophis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-13303"/>
            <a:ext cx="12144705" cy="688460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8"/>
          <p:cNvSpPr/>
          <p:nvPr/>
        </p:nvSpPr>
        <p:spPr>
          <a:xfrm>
            <a:off x="1005840" y="283464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n-US" sz="5400" b="1" dirty="0">
                <a:solidFill>
                  <a:srgbClr val="FFFFFF"/>
                </a:solidFill>
                <a:latin typeface="29LT Adir" panose="00000506000000000000" pitchFamily="50" charset="-78"/>
                <a:cs typeface="29LT Adir" panose="00000506000000000000" pitchFamily="50" charset="-78"/>
                <a:sym typeface="Arial"/>
              </a:rPr>
              <a:t>Thank you!</a:t>
            </a:r>
            <a:endParaRPr sz="5400" dirty="0">
              <a:solidFill>
                <a:schemeClr val="dk1"/>
              </a:solidFill>
              <a:latin typeface="29LT Adir" panose="00000506000000000000" pitchFamily="50" charset="-78"/>
              <a:ea typeface="Calibri"/>
              <a:cs typeface="29LT Adir" panose="00000506000000000000" pitchFamily="50" charset="-78"/>
              <a:sym typeface="Calibri"/>
            </a:endParaRPr>
          </a:p>
        </p:txBody>
      </p:sp>
      <p:pic>
        <p:nvPicPr>
          <p:cNvPr id="641" name="Google Shape;641;p18" descr="/home/claude/work/a2/logo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85730" y="329184"/>
            <a:ext cx="1636703" cy="6903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4;p7">
            <a:extLst>
              <a:ext uri="{FF2B5EF4-FFF2-40B4-BE49-F238E27FC236}">
                <a16:creationId xmlns:a16="http://schemas.microsoft.com/office/drawing/2014/main" id="{27F53CF7-1FDA-B722-FA5F-B712B6D2A4DD}"/>
              </a:ext>
            </a:extLst>
          </p:cNvPr>
          <p:cNvSpPr/>
          <p:nvPr/>
        </p:nvSpPr>
        <p:spPr>
          <a:xfrm>
            <a:off x="10881360" y="6272784"/>
            <a:ext cx="6949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9839A"/>
              </a:buClr>
              <a:buSzPts val="1000"/>
              <a:buFont typeface="Arial"/>
              <a:buNone/>
            </a:pPr>
            <a:r>
              <a:rPr lang="en-US" sz="1100" dirty="0">
                <a:solidFill>
                  <a:srgbClr val="79839A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17</a:t>
            </a:r>
            <a:endParaRPr sz="1100" dirty="0">
              <a:solidFill>
                <a:schemeClr val="dk1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9" name="BJPseudoFooter">
            <a:extLst>
              <a:ext uri="{FF2B5EF4-FFF2-40B4-BE49-F238E27FC236}">
                <a16:creationId xmlns:a16="http://schemas.microsoft.com/office/drawing/2014/main" id="{C48581E5-480B-3A86-5496-692CFC87E5C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26159" y="6581001"/>
            <a:ext cx="93968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en-US" sz="1200">
                <a:solidFill>
                  <a:srgbClr val="339966"/>
                </a:solidFill>
                <a:latin typeface="Calibri" panose="020F0502020204030204" pitchFamily="34" charset="0"/>
              </a:rPr>
              <a:t>Public</a:t>
            </a:r>
            <a:r>
              <a:rPr lang="en-US" sz="1200">
                <a:latin typeface="Calibri" panose="020F0502020204030204" pitchFamily="34" charset="0"/>
              </a:rPr>
              <a:t>   </a:t>
            </a:r>
            <a:r>
              <a:rPr lang="ar-SA" sz="1200">
                <a:solidFill>
                  <a:srgbClr val="339966"/>
                </a:solidFill>
                <a:latin typeface="Calibri" panose="020F0502020204030204" pitchFamily="34" charset="0"/>
              </a:rPr>
              <a:t>عام</a:t>
            </a:r>
            <a:endParaRPr lang="en-US" sz="1200">
              <a:solidFill>
                <a:srgbClr val="3399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  Public   عام"/>
  <p:tag name="BJHEADERFOOTERTEXTMARKING" val="   Public   عام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WrappedLabelHistory xmlns:xsd="http://www.w3.org/2001/XMLSchema" xmlns:xsi="http://www.w3.org/2001/XMLSchema-instance" xmlns="http://www.boldonjames.com/2016/02/Classifier/internal/wrappedLabelHistory">
  <Value>PD94bWwgdmVyc2lvbj0iMS4wIiBlbmNvZGluZz0idXMtYXNjaWkiPz48bGFiZWxIaXN0b3J5IHhtbG5zOnhzZD0iaHR0cDovL3d3dy53My5vcmcvMjAwMS9YTUxTY2hlbWEiIHhtbG5zOnhzaT0iaHR0cDovL3d3dy53My5vcmcvMjAwMS9YTUxTY2hlbWEtaW5zdGFuY2UiIHhtbG5zPSJodHRwOi8vd3d3LmJvbGRvbmphbWVzLmNvbS8yMDE2LzAyL0NsYXNzaWZpZXIvaW50ZXJuYWwvbGFiZWxIaXN0b3J5Ij48aXRlbT48c2lzbCBzaXNsVmVyc2lvbj0iMCIgcG9saWN5PSI4YjljYjhiZi0yZDk0LTQ2MjItOTg4Yi05M2IyMGY2YmU4OTQiIG9yaWdpbj0idXNlclNlbGVjdGVkIiAvPjxVc2VyTmFtZT5TU0NccXVheWRoaWJuPC9Vc2VyTmFtZT48RGF0ZVRpbWU+OC8yMy8yMDI2IDI6NTc6MzQgUE08L0RhdGVUaW1lPjxMYWJlbFN0cmluZz5ObyBNYXJraW5nPC9MYWJlbFN0cmluZz48L2l0ZW0+PGl0ZW0+PHNpc2wgc2lzbFZlcnNpb249IjAiIHBvbGljeT0iOGI5Y2I4YmYtMmQ5NC00NjIyLTk4OGItOTNiMjBmNmJlODk0IiBvcmlnaW49InVzZXJTZWxlY3RlZCI+PGVsZW1lbnQgdWlkPSJmZGNkMzg5MS05YjExLTRkMGUtYTQ2Ny1mNjE2MWQ5YTRkM2MiIHZhbHVlPSIiIHhtbG5zPSJodHRwOi8vd3d3LmJvbGRvbmphbWVzLmNvbS8yMDA4LzAxL3NpZS9pbnRlcm5hbC9sYWJlbCIgLz48L3Npc2w+PFVzZXJOYW1lPlNTQ1xxdWF5ZGhpYm48L1VzZXJOYW1lPjxEYXRlVGltZT44LzI3LzIwMjYgOToyMjozMyBBTTwvRGF0ZVRpbWU+PExhYmVsU3RyaW5nPlB1YmxpYyA8L0xhYmVsU3RyaW5nPjwvaXRlbT48L2xhYmVsSGlzdG9yeT4=</Value>
</WrappedLabelHistory>
</file>

<file path=customXml/item2.xml><?xml version="1.0" encoding="utf-8"?>
<sisl xmlns:xsd="http://www.w3.org/2001/XMLSchema" xmlns:xsi="http://www.w3.org/2001/XMLSchema-instance" xmlns="http://www.boldonjames.com/2008/01/sie/internal/label" sislVersion="0" policy="8b9cb8bf-2d94-4622-988b-93b20f6be894" origin="userSelected">
  <element uid="fdcd3891-9b11-4d0e-a467-f6161d9a4d3c" value=""/>
</sisl>
</file>

<file path=customXml/itemProps1.xml><?xml version="1.0" encoding="utf-8"?>
<ds:datastoreItem xmlns:ds="http://schemas.openxmlformats.org/officeDocument/2006/customXml" ds:itemID="{879383E2-1923-408F-A885-538F7ABD17EB}">
  <ds:schemaRefs>
    <ds:schemaRef ds:uri="http://www.w3.org/2001/XMLSchema"/>
    <ds:schemaRef ds:uri="http://www.boldonjames.com/2016/02/Classifier/internal/wrappedLabelHistory"/>
  </ds:schemaRefs>
</ds:datastoreItem>
</file>

<file path=customXml/itemProps2.xml><?xml version="1.0" encoding="utf-8"?>
<ds:datastoreItem xmlns:ds="http://schemas.openxmlformats.org/officeDocument/2006/customXml" ds:itemID="{F7E55106-0350-407B-ABF9-2AD7FB5698DD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3365</TotalTime>
  <Words>1930</Words>
  <Application>Microsoft Office PowerPoint</Application>
  <PresentationFormat>Widescreen</PresentationFormat>
  <Paragraphs>391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29LT Adir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keywords>Public </cp:keywords>
  <cp:lastModifiedBy>Noora Al-Quaydhib</cp:lastModifiedBy>
  <cp:revision>15</cp:revision>
  <dcterms:modified xsi:type="dcterms:W3CDTF">2026-08-27T13:51:08Z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aa9f0fb5-7ae0-414d-aa4c-c6c3b02d5df4</vt:lpwstr>
  </property>
  <property fmtid="{D5CDD505-2E9C-101B-9397-08002B2CF9AE}" pid="3" name="bjClsUserRVM">
    <vt:lpwstr>[]</vt:lpwstr>
  </property>
  <property fmtid="{D5CDD505-2E9C-101B-9397-08002B2CF9AE}" pid="4" name="bjSaver">
    <vt:lpwstr>RoS5091pzVkqbevZHv0gwGNV2OYvI6N/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policy="8b9cb8bf-2d94-4622-988b-93b20f6be894" origin="userSelected" xmlns="http://www.boldonj</vt:lpwstr>
  </property>
  <property fmtid="{D5CDD505-2E9C-101B-9397-08002B2CF9AE}" pid="6" name="bjDocumentLabelXML-0">
    <vt:lpwstr>ames.com/2008/01/sie/internal/label"&gt;&lt;element uid="fdcd3891-9b11-4d0e-a467-f6161d9a4d3c" value="" /&gt;&lt;/sisl&gt;</vt:lpwstr>
  </property>
  <property fmtid="{D5CDD505-2E9C-101B-9397-08002B2CF9AE}" pid="7" name="bjDocumentSecurityLabel">
    <vt:lpwstr>Public </vt:lpwstr>
  </property>
  <property fmtid="{D5CDD505-2E9C-101B-9397-08002B2CF9AE}" pid="8" name="bjSlideMasterFooterText">
    <vt:lpwstr>   Public   عام</vt:lpwstr>
  </property>
  <property fmtid="{D5CDD505-2E9C-101B-9397-08002B2CF9AE}" pid="9" name="bjLabelHistoryID">
    <vt:lpwstr>{879383E2-1923-408F-A885-538F7ABD17EB}</vt:lpwstr>
  </property>
</Properties>
</file>